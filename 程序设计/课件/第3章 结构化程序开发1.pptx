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7"/>
  </p:notesMasterIdLst>
  <p:handoutMasterIdLst>
    <p:handoutMasterId r:id="rId68"/>
  </p:handoutMasterIdLst>
  <p:sldIdLst>
    <p:sldId id="313" r:id="rId2"/>
    <p:sldId id="597" r:id="rId3"/>
    <p:sldId id="727" r:id="rId4"/>
    <p:sldId id="723" r:id="rId5"/>
    <p:sldId id="383" r:id="rId6"/>
    <p:sldId id="573" r:id="rId7"/>
    <p:sldId id="575" r:id="rId8"/>
    <p:sldId id="576" r:id="rId9"/>
    <p:sldId id="595" r:id="rId10"/>
    <p:sldId id="578" r:id="rId11"/>
    <p:sldId id="574" r:id="rId12"/>
    <p:sldId id="594" r:id="rId13"/>
    <p:sldId id="572" r:id="rId14"/>
    <p:sldId id="385" r:id="rId15"/>
    <p:sldId id="503" r:id="rId16"/>
    <p:sldId id="387" r:id="rId17"/>
    <p:sldId id="556" r:id="rId18"/>
    <p:sldId id="582" r:id="rId19"/>
    <p:sldId id="592" r:id="rId20"/>
    <p:sldId id="728" r:id="rId21"/>
    <p:sldId id="579" r:id="rId22"/>
    <p:sldId id="557" r:id="rId23"/>
    <p:sldId id="593" r:id="rId24"/>
    <p:sldId id="558" r:id="rId25"/>
    <p:sldId id="390" r:id="rId26"/>
    <p:sldId id="559" r:id="rId27"/>
    <p:sldId id="580" r:id="rId28"/>
    <p:sldId id="394" r:id="rId29"/>
    <p:sldId id="561" r:id="rId30"/>
    <p:sldId id="396" r:id="rId31"/>
    <p:sldId id="397" r:id="rId32"/>
    <p:sldId id="400" r:id="rId33"/>
    <p:sldId id="401" r:id="rId34"/>
    <p:sldId id="402" r:id="rId35"/>
    <p:sldId id="403" r:id="rId36"/>
    <p:sldId id="404" r:id="rId37"/>
    <p:sldId id="553" r:id="rId38"/>
    <p:sldId id="562" r:id="rId39"/>
    <p:sldId id="408" r:id="rId40"/>
    <p:sldId id="411" r:id="rId41"/>
    <p:sldId id="413" r:id="rId42"/>
    <p:sldId id="583" r:id="rId43"/>
    <p:sldId id="415" r:id="rId44"/>
    <p:sldId id="417" r:id="rId45"/>
    <p:sldId id="420" r:id="rId46"/>
    <p:sldId id="563" r:id="rId47"/>
    <p:sldId id="421" r:id="rId48"/>
    <p:sldId id="422" r:id="rId49"/>
    <p:sldId id="424" r:id="rId50"/>
    <p:sldId id="564" r:id="rId51"/>
    <p:sldId id="427" r:id="rId52"/>
    <p:sldId id="584" r:id="rId53"/>
    <p:sldId id="429" r:id="rId54"/>
    <p:sldId id="596" r:id="rId55"/>
    <p:sldId id="430" r:id="rId56"/>
    <p:sldId id="431" r:id="rId57"/>
    <p:sldId id="432" r:id="rId58"/>
    <p:sldId id="435" r:id="rId59"/>
    <p:sldId id="565" r:id="rId60"/>
    <p:sldId id="566" r:id="rId61"/>
    <p:sldId id="439" r:id="rId62"/>
    <p:sldId id="440" r:id="rId63"/>
    <p:sldId id="441" r:id="rId64"/>
    <p:sldId id="730" r:id="rId65"/>
    <p:sldId id="729" r:id="rId6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700000"/>
    <a:srgbClr val="0000CC"/>
    <a:srgbClr val="00FF00"/>
    <a:srgbClr val="CC6600"/>
    <a:srgbClr val="FF3300"/>
    <a:srgbClr val="0000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76415" autoAdjust="0"/>
  </p:normalViewPr>
  <p:slideViewPr>
    <p:cSldViewPr>
      <p:cViewPr varScale="1">
        <p:scale>
          <a:sx n="57" d="100"/>
          <a:sy n="57" d="100"/>
        </p:scale>
        <p:origin x="1437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98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56A8CBB9-D0E0-4761-98F5-D13530F5FD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400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408B5520-7A4B-4997-B737-3EA5229BD8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811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要特别注意在编写程序之前程序算法的设计过程。</a:t>
            </a: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程序设计首先是要设计求解问题的算法，然后是编写程序、调试和测试程序。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15D578-C38F-43D6-A012-8CDDE68CE2B7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如果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while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语句或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do_while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语句循环体中，使控制转入对循环条件表达式的计算和测试；如果在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语句的循环体中，使控制转入到对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控制结构的表达式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的求值</a:t>
            </a:r>
            <a:endParaRPr lang="zh-CN" altLang="en-US" dirty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876D7-9264-4BC7-921A-C45566D1E903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8B5520-7A4B-4997-B737-3EA5229BD84E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22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D31AD-8C09-45BB-9B8B-C4E2D04344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5E637-B403-496A-AA51-52B2722B70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5CAAC-AB5C-4D3B-B6E6-FEEAA59966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E7E0B-21E3-4333-85CB-04D7589FAA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16DC5-D20C-4619-81D5-5FCEBAE8F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D32F9-4118-4B2C-A56A-49D3416359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2B9A9-A850-4289-849D-B19B0CCC0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8AE4A-85A0-476F-B14E-C369E35DD8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25B82-1CC3-4C8A-A31E-A94F88D4ED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70176-89AB-4F25-96A9-A690A4335A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398BF-5AD1-488D-A1F6-EA6156FDE8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404813"/>
            <a:ext cx="8001000" cy="755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4A143-107D-45A7-B9C3-22524932A8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ea typeface="宋体" charset="-122"/>
              </a:defRPr>
            </a:lvl1pPr>
          </a:lstStyle>
          <a:p>
            <a:pPr>
              <a:defRPr/>
            </a:pPr>
            <a:fld id="{7D153A16-4C76-43AE-AEBB-69684DB286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ea typeface="宋体" charset="-122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ea typeface="宋体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57" r:id="rId2"/>
    <p:sldLayoutId id="214748386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8" r:id="rId9"/>
    <p:sldLayoutId id="2147483863" r:id="rId10"/>
    <p:sldLayoutId id="2147483864" r:id="rId11"/>
    <p:sldLayoutId id="214748386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zsc.com/stock-ic/1974.html" TargetMode="External"/><Relationship Id="rId2" Type="http://schemas.openxmlformats.org/officeDocument/2006/relationships/hyperlink" Target="http://www.dzsc.com/stock-ic/1966.html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1C202-0297-4E7C-BF96-29D9D5E0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1052736"/>
            <a:ext cx="8784976" cy="3744416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章 结构化程序</a:t>
            </a:r>
            <a:br>
              <a:rPr lang="en-US" altLang="zh-CN" dirty="0">
                <a:latin typeface="黑体" pitchFamily="2" charset="-122"/>
                <a:ea typeface="黑体" pitchFamily="2" charset="-122"/>
              </a:rPr>
            </a:br>
            <a:r>
              <a:rPr lang="zh-CN" altLang="en-US" dirty="0">
                <a:latin typeface="黑体" pitchFamily="2" charset="-122"/>
                <a:ea typeface="黑体" pitchFamily="2" charset="-122"/>
              </a:rPr>
              <a:t>开发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(I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23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A3E3A-43BC-4D59-94D0-CB23EC81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11684"/>
            <a:ext cx="8229600" cy="913060"/>
          </a:xfrm>
        </p:spPr>
        <p:txBody>
          <a:bodyPr/>
          <a:lstStyle/>
          <a:p>
            <a:r>
              <a:rPr lang="zh-CN" altLang="en-US" dirty="0"/>
              <a:t>再谈数据类型转换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7852B-08BE-423F-9BF9-149D54AD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5E637-B403-496A-AA51-52B2722B709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A746D8-712E-447D-9BA6-4627F7674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84784"/>
            <a:ext cx="3816424" cy="40708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6FE9F6-928A-468F-9F33-442306925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717" y="3789040"/>
            <a:ext cx="4731873" cy="232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3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0B88-136E-4662-971E-BF380C59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D101F3-FFC7-4797-A1B2-380A2AAF3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072" y="31131"/>
            <a:ext cx="6552728" cy="67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5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DA3C54-B7A9-4477-9E1D-720F1951E6B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457989" y="1387643"/>
            <a:ext cx="7858125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/>
              <a:t>void main()</a:t>
            </a:r>
          </a:p>
          <a:p>
            <a:r>
              <a:rPr lang="en-US" altLang="zh-CN" sz="2800" dirty="0"/>
              <a:t>{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 a =1, b=2;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>
                <a:highlight>
                  <a:srgbClr val="FFFF00"/>
                </a:highlight>
              </a:rPr>
              <a:t>a ^= b;        </a:t>
            </a:r>
          </a:p>
          <a:p>
            <a:r>
              <a:rPr lang="en-US" altLang="zh-CN" sz="2400" dirty="0"/>
              <a:t>                 </a:t>
            </a:r>
            <a:r>
              <a:rPr lang="en-US" altLang="zh-CN" sz="2400" dirty="0">
                <a:highlight>
                  <a:srgbClr val="FFFF00"/>
                </a:highlight>
              </a:rPr>
              <a:t>// temp=a ^ b;</a:t>
            </a:r>
          </a:p>
          <a:p>
            <a:r>
              <a:rPr lang="en-US" altLang="zh-CN" sz="2800" dirty="0"/>
              <a:t>	b ^= a ;        </a:t>
            </a:r>
          </a:p>
          <a:p>
            <a:r>
              <a:rPr lang="en-US" altLang="zh-CN" sz="2800" dirty="0"/>
              <a:t>              </a:t>
            </a:r>
            <a:r>
              <a:rPr lang="en-US" altLang="zh-CN" sz="2400" dirty="0"/>
              <a:t>//b=b ^ temp;    </a:t>
            </a:r>
            <a:r>
              <a:rPr lang="en-US" altLang="zh-CN" sz="2400" dirty="0">
                <a:sym typeface="Wingdings" panose="05000000000000000000" pitchFamily="2" charset="2"/>
              </a:rPr>
              <a:t>a</a:t>
            </a:r>
            <a:endParaRPr lang="en-US" altLang="zh-CN" sz="2400" dirty="0"/>
          </a:p>
          <a:p>
            <a:r>
              <a:rPr lang="en-US" altLang="zh-CN" sz="2800" dirty="0"/>
              <a:t>	a ^= b;         </a:t>
            </a:r>
          </a:p>
          <a:p>
            <a:r>
              <a:rPr lang="en-US" altLang="zh-CN" sz="2400" dirty="0"/>
              <a:t>               //a=temp ^ a;    </a:t>
            </a:r>
            <a:r>
              <a:rPr lang="en-US" altLang="zh-CN" sz="2400" dirty="0">
                <a:sym typeface="Wingdings" panose="05000000000000000000" pitchFamily="2" charset="2"/>
              </a:rPr>
              <a:t>b</a:t>
            </a:r>
            <a:endParaRPr lang="en-US" altLang="zh-CN" sz="2400" dirty="0"/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 " a = %d, b = %d\n", a, b);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B51AB3-2D99-42DC-8E5F-1A03A4CC4DBD}"/>
              </a:ext>
            </a:extLst>
          </p:cNvPr>
          <p:cNvSpPr txBox="1"/>
          <p:nvPr/>
        </p:nvSpPr>
        <p:spPr>
          <a:xfrm>
            <a:off x="683568" y="404664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+mj-ea"/>
                <a:ea typeface="+mj-ea"/>
              </a:rPr>
              <a:t>位异或操作交换两个整数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章 结构化程序设计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412875"/>
            <a:ext cx="8064500" cy="561657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本章学习的目标是：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、了解用计算机解决问题的基本方法；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、掌握用结构化控制结构编写程序的方法，能编写简单的程序。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B0480-5266-4254-8514-F9506B8D778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001000" cy="7556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3.1 </a:t>
            </a: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基本语句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836613"/>
            <a:ext cx="8642350" cy="5667375"/>
          </a:xfrm>
        </p:spPr>
        <p:txBody>
          <a:bodyPr>
            <a:normAutofit lnSpcReduction="10000"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9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 b="1" dirty="0"/>
              <a:t>表达式语句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/>
              <a:t>让计算机按照表达式所描述的计算公式做计算，其形式为：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/>
              <a:t>        </a:t>
            </a:r>
            <a:r>
              <a:rPr lang="zh-CN" altLang="en-US" sz="2200" b="1" dirty="0">
                <a:solidFill>
                  <a:srgbClr val="C00000"/>
                </a:solidFill>
              </a:rPr>
              <a:t>表达式 </a:t>
            </a:r>
            <a:r>
              <a:rPr lang="zh-CN" altLang="en-US" sz="2200" b="1" dirty="0">
                <a:solidFill>
                  <a:srgbClr val="FF0000"/>
                </a:solidFill>
              </a:rPr>
              <a:t>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/>
              <a:t>例如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200" b="1" dirty="0"/>
              <a:t> 赋值表达式语句在程序中最经常使用，习惯又称之为赋值语句。</a:t>
            </a:r>
            <a:endParaRPr lang="en-US" altLang="zh-CN" sz="2200" b="1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200" b="1" dirty="0"/>
              <a:t>        k = k+2;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200" b="1" dirty="0"/>
              <a:t>        m = n = j = 3;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zh-CN" altLang="en-US" sz="2200" b="1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200" b="1" dirty="0"/>
              <a:t> </a:t>
            </a:r>
            <a:r>
              <a:rPr lang="zh-CN" altLang="en-US" sz="2200" b="1" dirty="0"/>
              <a:t>函数调用表达式之后接上分号：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/>
              <a:t>        函数调用；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/>
              <a:t>该表达式语句虽未保留函数调用的返回值，但函数调用会引起</a:t>
            </a:r>
            <a:r>
              <a:rPr lang="zh-CN" altLang="en-US" sz="2200" b="1" dirty="0">
                <a:solidFill>
                  <a:srgbClr val="FF0000"/>
                </a:solidFill>
              </a:rPr>
              <a:t>参数传递</a:t>
            </a:r>
            <a:r>
              <a:rPr lang="zh-CN" altLang="en-US" sz="2200" b="1" dirty="0"/>
              <a:t>和</a:t>
            </a:r>
            <a:r>
              <a:rPr lang="zh-CN" altLang="en-US" sz="2200" b="1" dirty="0">
                <a:solidFill>
                  <a:srgbClr val="FF0000"/>
                </a:solidFill>
              </a:rPr>
              <a:t>执行函数体</a:t>
            </a:r>
            <a:r>
              <a:rPr lang="zh-CN" altLang="en-US" sz="2200" b="1" dirty="0"/>
              <a:t>，将使变量的值被初次设定或重新设定，或完成特定的处理工作。</a:t>
            </a:r>
          </a:p>
        </p:txBody>
      </p:sp>
      <p:sp>
        <p:nvSpPr>
          <p:cNvPr id="1024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A0E697-4179-49B6-B540-BF64A167D0D3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4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4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4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4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8913"/>
            <a:ext cx="8280400" cy="631507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空语句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2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空语句是只有一个分号组成的语句，形式为：</a:t>
            </a:r>
            <a:r>
              <a:rPr lang="zh-CN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；</a:t>
            </a: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语言引入空语句是出于以下实用上的考虑。</a:t>
            </a: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为了构造特殊控制结构的需要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。例如，循环控制结构的句法需要一个语句作为循环体，当要循环执行的动作已由循环控制部分完成时，就不再需要有一个实际意义的循环体，这时就需要用一个空语句作为循环体。</a:t>
            </a:r>
            <a:r>
              <a:rPr lang="zh-CN" altLang="en-US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（参考</a:t>
            </a:r>
            <a:r>
              <a:rPr lang="en-US" altLang="zh-CN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for , while </a:t>
            </a:r>
            <a:r>
              <a:rPr lang="zh-CN" altLang="en-US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语句）</a:t>
            </a: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在复合语句的末尾设置一个空语句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，用作转向的目标位置，以便能用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goto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语句将控制转移到复合语句的末尾。</a:t>
            </a:r>
            <a:endParaRPr lang="en-US" altLang="zh-CN" sz="2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引入空语句使语句序列中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连续出现多个分号不再是一种错误</a:t>
            </a:r>
            <a:r>
              <a:rPr lang="zh-CN" altLang="en-US" sz="2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，编译系统遇到这种情况，就认为单独的分号是空语句。</a:t>
            </a:r>
          </a:p>
        </p:txBody>
      </p:sp>
      <p:sp>
        <p:nvSpPr>
          <p:cNvPr id="1229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C0181-F5EF-4C54-BFB0-F929468A7E3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6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6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6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6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6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6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785813"/>
            <a:ext cx="8280400" cy="571817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书写形式：</a:t>
            </a:r>
            <a:r>
              <a:rPr lang="en-US" altLang="zh-CN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break;</a:t>
            </a:r>
            <a:endParaRPr lang="zh-CN" altLang="en-US" sz="32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语句必须出现在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多路按值选择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结构或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循环结构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中。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强制结束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它所在的控制结构，让程序从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这个控制结构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的后继语句继续执行。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语句的应用实例，参见例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3.9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和例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3.12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。注意与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语句的区别</a:t>
            </a:r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05D405-BCA9-4512-A6A0-F526A41D2DD2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7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620688"/>
            <a:ext cx="8280400" cy="600392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continue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语句的书写形式是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  <a:endParaRPr lang="en-US" altLang="zh-CN" sz="2800" b="1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语句只能出现在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循环结构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语句的执行将忽略它所在的循环体中在它之后的语句。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语句提早结束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当前轮次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循环体的执行，进入下一轮循环。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针对不同的循环结构，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的功能有细微的差别。应用实例，参见例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3.18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和例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3.21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D49BF1-EF28-4E44-A298-8CF431C49F77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8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8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8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8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8913"/>
            <a:ext cx="8280400" cy="631507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return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32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语句的执行将结束函数的这次执行，将控制返回到函数调用处。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语句有两种形式：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return 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或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return 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表达式；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第一种形式只能用于函数不返回结果的函数体中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第二种形式用于函数有返回结果的函数体中。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程序在执行第二种形式的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语句时，函数在返回前先计算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return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后的表达式，并以该表达式值作为函数返回值，带回到函数调用处继续计算。具体在第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章介绍。</a:t>
            </a:r>
          </a:p>
        </p:txBody>
      </p:sp>
      <p:sp>
        <p:nvSpPr>
          <p:cNvPr id="1536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C6E3A3-1333-41E2-8F58-74A0249290ED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476250"/>
            <a:ext cx="8280400" cy="6027738"/>
          </a:xfrm>
        </p:spPr>
        <p:txBody>
          <a:bodyPr>
            <a:normAutofit fontScale="925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zh-CN" sz="39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goto</a:t>
            </a:r>
            <a:r>
              <a:rPr lang="zh-CN" altLang="en-US" sz="3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b="1" dirty="0" err="1"/>
              <a:t>goto</a:t>
            </a:r>
            <a:r>
              <a:rPr lang="zh-CN" altLang="en-US" b="1" dirty="0"/>
              <a:t>语句的一般形式为：</a:t>
            </a:r>
            <a:r>
              <a:rPr lang="en-US" altLang="zh-CN" b="1" dirty="0" err="1">
                <a:solidFill>
                  <a:srgbClr val="FF0000"/>
                </a:solidFill>
              </a:rPr>
              <a:t>goto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语句标号；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zh-CN" altLang="en-US" b="1" dirty="0"/>
              <a:t>任何语句都可带语句标号</a:t>
            </a:r>
            <a:r>
              <a:rPr lang="en-US" altLang="zh-CN" b="1" dirty="0"/>
              <a:t>, </a:t>
            </a:r>
            <a:r>
              <a:rPr lang="zh-CN" altLang="en-US" b="1" dirty="0"/>
              <a:t>如果语句有标号，写成如下形式：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/>
              <a:t>标识符 ：语句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/>
              <a:t>例如：         </a:t>
            </a:r>
            <a:r>
              <a:rPr lang="en-US" altLang="zh-CN" b="1" dirty="0"/>
              <a:t>start : </a:t>
            </a:r>
            <a:r>
              <a:rPr lang="en-US" altLang="zh-CN" b="1" dirty="0" err="1"/>
              <a:t>i</a:t>
            </a:r>
            <a:r>
              <a:rPr lang="en-US" altLang="zh-CN" b="1" dirty="0"/>
              <a:t> = 0;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/>
              <a:t>程序可以用</a:t>
            </a:r>
            <a:r>
              <a:rPr lang="en-US" altLang="zh-CN" b="1" dirty="0" err="1"/>
              <a:t>goto</a:t>
            </a:r>
            <a:r>
              <a:rPr lang="zh-CN" altLang="en-US" b="1" dirty="0"/>
              <a:t>语句，将程序的控制无条件地转移到指定的语句处继续执行。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/>
              <a:t>例如：      </a:t>
            </a:r>
            <a:r>
              <a:rPr lang="zh-CN" altLang="en-US" b="1" dirty="0">
                <a:solidFill>
                  <a:srgbClr val="0000CC"/>
                </a:solidFill>
              </a:rPr>
              <a:t>  </a:t>
            </a:r>
            <a:r>
              <a:rPr lang="en-US" altLang="zh-CN" b="1" dirty="0" err="1">
                <a:solidFill>
                  <a:srgbClr val="0000CC"/>
                </a:solidFill>
              </a:rPr>
              <a:t>goto</a:t>
            </a:r>
            <a:r>
              <a:rPr lang="en-US" altLang="zh-CN" b="1" dirty="0">
                <a:solidFill>
                  <a:srgbClr val="0000CC"/>
                </a:solidFill>
              </a:rPr>
              <a:t> start;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/>
              <a:t>程序就转移到以</a:t>
            </a:r>
            <a:r>
              <a:rPr lang="en-US" altLang="zh-CN" b="1" dirty="0"/>
              <a:t>start</a:t>
            </a:r>
            <a:r>
              <a:rPr lang="zh-CN" altLang="en-US" b="1" dirty="0"/>
              <a:t>为标号的语句继续执行。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32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 err="1">
                <a:solidFill>
                  <a:srgbClr val="C00000"/>
                </a:solidFill>
              </a:rPr>
              <a:t>goto</a:t>
            </a:r>
            <a:r>
              <a:rPr lang="zh-CN" altLang="en-US" sz="3000" b="1" dirty="0">
                <a:solidFill>
                  <a:srgbClr val="C00000"/>
                </a:solidFill>
              </a:rPr>
              <a:t>语句使程序的静态结构和程序的动态执行之间有很大的差别，因此应慎重使用</a:t>
            </a:r>
            <a:r>
              <a:rPr lang="en-US" altLang="zh-CN" sz="3000" b="1" dirty="0" err="1">
                <a:solidFill>
                  <a:srgbClr val="C00000"/>
                </a:solidFill>
              </a:rPr>
              <a:t>goto</a:t>
            </a:r>
            <a:r>
              <a:rPr lang="en-US" altLang="zh-CN" sz="3000" b="1" dirty="0">
                <a:solidFill>
                  <a:srgbClr val="C00000"/>
                </a:solidFill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</a:rPr>
              <a:t>语句</a:t>
            </a:r>
            <a:endParaRPr lang="en-US" altLang="zh-CN" sz="3000" dirty="0">
              <a:solidFill>
                <a:srgbClr val="C00000"/>
              </a:solidFill>
            </a:endParaRPr>
          </a:p>
        </p:txBody>
      </p:sp>
      <p:sp>
        <p:nvSpPr>
          <p:cNvPr id="1126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2B522C-85DD-4EB6-BAEB-2A878B3F4B7C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5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5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85860"/>
            <a:ext cx="7965702" cy="4733940"/>
          </a:xfrm>
        </p:spPr>
        <p:txBody>
          <a:bodyPr/>
          <a:lstStyle/>
          <a:p>
            <a:r>
              <a:rPr lang="en-US" altLang="zh-CN" sz="2400" b="1" dirty="0" err="1"/>
              <a:t>goto</a:t>
            </a:r>
            <a:r>
              <a:rPr lang="zh-CN" altLang="en-US" sz="2400" b="1" dirty="0"/>
              <a:t>语句能不能消除呢？</a:t>
            </a:r>
            <a:r>
              <a:rPr lang="en-US" altLang="zh-CN" sz="2400" b="1" dirty="0">
                <a:hlinkClick r:id="rId2"/>
              </a:rPr>
              <a:t>1966</a:t>
            </a:r>
            <a:r>
              <a:rPr lang="zh-CN" altLang="en-US" sz="2400" b="1" dirty="0"/>
              <a:t>年，</a:t>
            </a:r>
            <a:r>
              <a:rPr lang="en-US" altLang="zh-CN" sz="2400" b="1" dirty="0" err="1"/>
              <a:t>G.Jacopini</a:t>
            </a:r>
            <a:r>
              <a:rPr lang="zh-CN" altLang="en-US" sz="2400" b="1" dirty="0"/>
              <a:t>和</a:t>
            </a:r>
            <a:r>
              <a:rPr lang="en-US" altLang="zh-CN" sz="2400" b="1" dirty="0" err="1"/>
              <a:t>C.Bohm</a:t>
            </a:r>
            <a:r>
              <a:rPr lang="zh-CN" altLang="en-US" sz="2400" b="1" dirty="0"/>
              <a:t>从理论上证明：任何程序都可以用顺序结构、条件结构和循环结构表示。</a:t>
            </a:r>
            <a:endParaRPr lang="en-US" altLang="zh-CN" sz="2400" b="1" dirty="0"/>
          </a:p>
          <a:p>
            <a:endParaRPr lang="en-US" altLang="zh-CN" sz="2400" b="1" dirty="0">
              <a:hlinkClick r:id="rId3"/>
            </a:endParaRPr>
          </a:p>
          <a:p>
            <a:r>
              <a:rPr lang="en-US" altLang="zh-CN" sz="2400" b="1" dirty="0">
                <a:hlinkClick r:id="rId3"/>
              </a:rPr>
              <a:t>1974</a:t>
            </a:r>
            <a:r>
              <a:rPr lang="zh-CN" altLang="en-US" sz="2400" b="1" dirty="0"/>
              <a:t>年， </a:t>
            </a:r>
            <a:r>
              <a:rPr lang="en-US" altLang="zh-CN" sz="2400" b="1" dirty="0" err="1"/>
              <a:t>D.E.Knuth</a:t>
            </a:r>
            <a:r>
              <a:rPr lang="zh-CN" altLang="en-US" sz="2400" b="1" dirty="0"/>
              <a:t>对于</a:t>
            </a:r>
            <a:r>
              <a:rPr lang="en-US" altLang="zh-CN" sz="2400" b="1" dirty="0" err="1"/>
              <a:t>goto</a:t>
            </a:r>
            <a:r>
              <a:rPr lang="zh-CN" altLang="en-US" sz="2400" b="1" dirty="0"/>
              <a:t>语句的争论作了评述，他的基本观点：不加限制地使用</a:t>
            </a:r>
            <a:r>
              <a:rPr lang="en-US" altLang="zh-CN" sz="2400" b="1" dirty="0" err="1"/>
              <a:t>goto</a:t>
            </a:r>
            <a:r>
              <a:rPr lang="zh-CN" altLang="en-US" sz="2400" b="1" dirty="0"/>
              <a:t>，特别是使用往回跳的</a:t>
            </a:r>
            <a:r>
              <a:rPr lang="en-US" altLang="zh-CN" sz="2400" b="1" dirty="0" err="1"/>
              <a:t>goto</a:t>
            </a:r>
            <a:r>
              <a:rPr lang="zh-CN" altLang="en-US" sz="2400" b="1" dirty="0"/>
              <a:t>，会使程序的结构难于理解，应尽量避免。另一方面，为提高部分程序的效率，同时不破坏程序的良好结构，</a:t>
            </a:r>
            <a:r>
              <a:rPr lang="zh-CN" altLang="en-US" sz="2400" b="1" dirty="0">
                <a:highlight>
                  <a:srgbClr val="FFFF00"/>
                </a:highlight>
              </a:rPr>
              <a:t>有控制地使用</a:t>
            </a:r>
            <a:r>
              <a:rPr lang="zh-CN" altLang="en-US" sz="2400" b="1" dirty="0"/>
              <a:t>一些</a:t>
            </a:r>
            <a:r>
              <a:rPr lang="en-US" altLang="zh-CN" sz="2400" b="1" dirty="0" err="1"/>
              <a:t>goto</a:t>
            </a:r>
            <a:r>
              <a:rPr lang="zh-CN" altLang="en-US" sz="2400" b="1" dirty="0"/>
              <a:t>语句是有必要的。</a:t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sz="2400" b="1" dirty="0"/>
              <a:t>部分现代语言，比如</a:t>
            </a:r>
            <a:r>
              <a:rPr lang="en-US" altLang="zh-CN" sz="2400" b="1" dirty="0"/>
              <a:t>java</a:t>
            </a:r>
            <a:r>
              <a:rPr lang="zh-CN" altLang="en-US" sz="2400" b="1" dirty="0"/>
              <a:t>，取消了</a:t>
            </a:r>
            <a:r>
              <a:rPr lang="en-US" altLang="zh-CN" sz="2400" b="1" dirty="0" err="1"/>
              <a:t>goto</a:t>
            </a:r>
            <a:r>
              <a:rPr lang="zh-CN" altLang="en-US" sz="2400" b="1" dirty="0"/>
              <a:t>语句，但是具有增强了的</a:t>
            </a:r>
            <a:r>
              <a:rPr lang="en-US" altLang="zh-CN" sz="2400" b="1" dirty="0"/>
              <a:t>break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continue</a:t>
            </a:r>
            <a:r>
              <a:rPr lang="zh-CN" altLang="en-US" sz="2400" b="1" dirty="0"/>
              <a:t>语句。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4A143-107D-45A7-B9C3-22524932A894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04813"/>
            <a:ext cx="8064500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顺序结构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686800" cy="1374775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7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结构化程序设计提供三种基本控制结构：</a:t>
            </a:r>
          </a:p>
          <a:p>
            <a:pPr marL="0" indent="0" algn="just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7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顺序结构  选择结构  循环结构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34A823-4C26-4530-AB25-9B8B52F5C74A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030" name="TextBox 6"/>
          <p:cNvSpPr txBox="1">
            <a:spLocks noChangeArrowheads="1"/>
          </p:cNvSpPr>
          <p:nvPr/>
        </p:nvSpPr>
        <p:spPr bwMode="auto">
          <a:xfrm>
            <a:off x="428055" y="2479302"/>
            <a:ext cx="5584105" cy="41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顺序结构：描述一个计算操作序列，表示从序列的第一个计算开始，顺序执行序列中的每个计算，直至操作序列的最后一个计算。</a:t>
            </a:r>
            <a:endParaRPr lang="en-US" altLang="zh-CN" sz="2400" b="1" dirty="0">
              <a:latin typeface="宋体" pitchFamily="2" charset="-122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endParaRPr lang="zh-CN" altLang="en-US" sz="2400" b="1" dirty="0">
              <a:latin typeface="宋体" pitchFamily="2" charset="-122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在</a:t>
            </a:r>
            <a:r>
              <a:rPr lang="en-US" altLang="zh-CN" sz="2400" b="1" dirty="0">
                <a:latin typeface="宋体" pitchFamily="2" charset="-122"/>
              </a:rPr>
              <a:t>C</a:t>
            </a:r>
            <a:r>
              <a:rPr lang="zh-CN" altLang="en-US" sz="2400" b="1" dirty="0">
                <a:latin typeface="宋体" pitchFamily="2" charset="-122"/>
              </a:rPr>
              <a:t>程序中，</a:t>
            </a:r>
            <a:r>
              <a:rPr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用花括号包围起来的一组计算步骤序列</a:t>
            </a:r>
            <a:r>
              <a:rPr lang="zh-CN" altLang="en-US" sz="2400" b="1" dirty="0">
                <a:latin typeface="宋体" pitchFamily="2" charset="-122"/>
              </a:rPr>
              <a:t>，就构成</a:t>
            </a:r>
            <a:r>
              <a:rPr lang="en-US" altLang="zh-CN" sz="2400" b="1" dirty="0">
                <a:latin typeface="宋体" pitchFamily="2" charset="-122"/>
              </a:rPr>
              <a:t>C</a:t>
            </a:r>
            <a:r>
              <a:rPr lang="zh-CN" altLang="en-US" sz="2400" b="1" dirty="0">
                <a:latin typeface="宋体" pitchFamily="2" charset="-122"/>
              </a:rPr>
              <a:t>语言的复合语句。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在逻辑上，复合语句是单个语句，常用作其它结构的成分语句。</a:t>
            </a:r>
          </a:p>
          <a:p>
            <a:endParaRPr lang="zh-CN" altLang="en-US" sz="2400" dirty="0"/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5715000" y="2428875"/>
          <a:ext cx="3071813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Picture" r:id="rId3" imgW="2743200" imgH="1828800" progId="Word.Picture.8">
                  <p:embed/>
                </p:oleObj>
              </mc:Choice>
              <mc:Fallback>
                <p:oleObj name="Picture" r:id="rId3" imgW="2743200" imgH="18288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931" t="2841" r="31227" b="14145"/>
                      <a:stretch>
                        <a:fillRect/>
                      </a:stretch>
                    </p:blipFill>
                    <p:spPr bwMode="auto">
                      <a:xfrm>
                        <a:off x="5715000" y="2428875"/>
                        <a:ext cx="3071813" cy="371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33375"/>
            <a:ext cx="8591550" cy="6296025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交换变量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y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可分解为以下顺序执行的三个计算：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 = x;    /*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将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的值保护到变量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 */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x    = y;    /*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置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y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值 *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y    = temp; /*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y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置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 *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若把交换变量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y</a:t>
            </a: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的值作为一个不可分割的整体来考虑，应把它们写成复合语句：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</a:t>
            </a:r>
            <a:endParaRPr lang="en-US" altLang="zh-CN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{ 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本复合语句要求外面为它定义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变量 *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temp = x ;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x    = y ;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y    = temp ;</a:t>
            </a:r>
          </a:p>
          <a:p>
            <a:pPr marL="0" indent="0" algn="just" eaLnBrk="1" fontAlgn="auto" hangingPunct="1">
              <a:lnSpc>
                <a:spcPct val="9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} 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6F251A-81AD-4ACF-B507-5959E733A5AA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2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2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2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2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2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908050"/>
            <a:ext cx="8569325" cy="5256213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在构造复合语句时，可能需要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临时工作变量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。如上例中的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变量。在语句序列之前可以插入变量定义，引入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只有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复合语句内的语句可使用的临时变量。从逻辑上，它的独立性更强，它不再要求外面为它定义专用变量。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{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int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temp ;  /*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定义自己专用的临时变量 *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temp = x ;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x    = y ;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y    = temp ;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}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注意！这里的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temp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只在“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{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}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”内有效。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800" b="1" dirty="0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174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244AC8-20F1-421B-865C-5386636B63AC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088313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选择结构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302625" cy="5040312"/>
          </a:xfrm>
        </p:spPr>
        <p:txBody>
          <a:bodyPr>
            <a:normAutofit lnSpcReduction="10000"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选择结构：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两路条件选择结构   与   多路按值选择结构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两路条件选择结构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两路条件选择结构有一个条件和两个供选择的分枝语句组成，用于按条件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成立与不成立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两种情况，作两中选一的控制。当条件成立时，选择分枝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执行；条件不成立时，选择分枝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执行。两路条件选择结构从两种情况中，通过对条件的计算判定，自动选取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</a:rPr>
              <a:t>一个分枝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执行。</a:t>
            </a:r>
            <a:r>
              <a:rPr lang="zh-CN" altLang="en-US" sz="2800" dirty="0"/>
              <a:t> 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2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语句是用于描述两路选择的控制结构。</a:t>
            </a:r>
            <a:endParaRPr lang="zh-CN" altLang="en-US" sz="3200" dirty="0">
              <a:solidFill>
                <a:srgbClr val="003366"/>
              </a:solidFill>
              <a:latin typeface="宋体" pitchFamily="2" charset="-122"/>
            </a:endParaRP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dirty="0">
              <a:solidFill>
                <a:srgbClr val="003366"/>
              </a:solidFill>
              <a:latin typeface="Times New Roman" pitchFamily="18" charset="0"/>
            </a:endParaRP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E8DDBD-29AE-4A3C-859E-06A62C562C18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064500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if 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语句的基本形式 － （含 </a:t>
            </a:r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else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320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424863" cy="792162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1. if (</a:t>
            </a:r>
            <a:r>
              <a:rPr lang="zh-CN" altLang="en-US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 </a:t>
            </a:r>
            <a:r>
              <a:rPr lang="zh-CN" altLang="en-US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 </a:t>
            </a:r>
            <a:r>
              <a:rPr lang="zh-CN" altLang="en-US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 </a:t>
            </a:r>
            <a:r>
              <a:rPr lang="zh-CN" altLang="en-US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语句</a:t>
            </a:r>
            <a:r>
              <a:rPr lang="en-US" altLang="zh-CN" sz="2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2F5BD0-5C98-4F7F-8572-0202B5CD7057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370712" name="Text Box 24"/>
          <p:cNvSpPr txBox="1">
            <a:spLocks noChangeArrowheads="1"/>
          </p:cNvSpPr>
          <p:nvPr/>
        </p:nvSpPr>
        <p:spPr bwMode="auto">
          <a:xfrm>
            <a:off x="500063" y="5919788"/>
            <a:ext cx="7929562" cy="708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当条件成立时，选择语句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执行；条件不成立时，选择语句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执行。语句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可以是单个语句或复合语句。</a:t>
            </a:r>
          </a:p>
        </p:txBody>
      </p:sp>
      <p:sp>
        <p:nvSpPr>
          <p:cNvPr id="2055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25"/>
          <p:cNvGraphicFramePr>
            <a:graphicFrameLocks noChangeAspect="1"/>
          </p:cNvGraphicFramePr>
          <p:nvPr/>
        </p:nvGraphicFramePr>
        <p:xfrm>
          <a:off x="2357438" y="2214563"/>
          <a:ext cx="5572125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Picture" r:id="rId3" imgW="2743200" imgH="1828800" progId="Word.Picture.8">
                  <p:embed/>
                </p:oleObj>
              </mc:Choice>
              <mc:Fallback>
                <p:oleObj name="Picture" r:id="rId3" imgW="2743200" imgH="1828800" progId="Word.Picture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599" t="11067" r="17685" b="6152"/>
                      <a:stretch>
                        <a:fillRect/>
                      </a:stretch>
                    </p:blipFill>
                    <p:spPr bwMode="auto">
                      <a:xfrm>
                        <a:off x="2357438" y="2214563"/>
                        <a:ext cx="5572125" cy="345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52513"/>
            <a:ext cx="8569325" cy="4267200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3.1】</a:t>
            </a: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求</a:t>
            </a: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m = max(a, b)</a:t>
            </a: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。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if ( a &lt; b )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m = b ; /* </a:t>
            </a: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如果</a:t>
            </a: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a &lt; b */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else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m = a; /* </a:t>
            </a:r>
            <a:r>
              <a:rPr lang="zh-CN" altLang="en-US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如果</a:t>
            </a: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a &gt;= b */</a:t>
            </a:r>
          </a:p>
        </p:txBody>
      </p:sp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400EC-69FF-4AF9-9486-BD2BA9F2E7E7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idx="1"/>
          </p:nvPr>
        </p:nvSpPr>
        <p:spPr>
          <a:xfrm>
            <a:off x="179512" y="332656"/>
            <a:ext cx="8713663" cy="4987057"/>
          </a:xfrm>
        </p:spPr>
        <p:txBody>
          <a:bodyPr>
            <a:normAutofit fontScale="92500" lnSpcReduction="10000"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3.2】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已知三角形的三条边长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c,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求三角形的面积。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if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a+b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&gt; c &amp;&amp;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b+c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&gt; a &amp;&amp;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c+a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&gt; b ) {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	float s;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s = ( a + b + c ) / 2.0 ;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	area = </a:t>
            </a:r>
            <a:r>
              <a:rPr lang="en-US" altLang="zh-C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sqrt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(s*(s-a)*(s-b)*(s-c)) ;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}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else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area = 0.0 ;</a:t>
            </a:r>
          </a:p>
        </p:txBody>
      </p:sp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E243A0-8A7B-4123-A637-89F13D8E07F6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4726360" y="3645024"/>
            <a:ext cx="3960440" cy="13085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rgbClr val="000000"/>
                </a:solidFill>
                <a:latin typeface="arial"/>
              </a:rPr>
              <a:t>功 能</a:t>
            </a:r>
            <a:r>
              <a:rPr lang="en-US" altLang="zh-CN" sz="2000" dirty="0">
                <a:solidFill>
                  <a:srgbClr val="000000"/>
                </a:solidFill>
                <a:latin typeface="arial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arial"/>
              </a:rPr>
              <a:t>计算一个非负实数的平方根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arial"/>
              </a:rPr>
              <a:t>函数原型</a:t>
            </a:r>
            <a:r>
              <a:rPr lang="en-US" altLang="zh-CN" sz="200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</a:rPr>
              <a:t>math.h</a:t>
            </a:r>
            <a:r>
              <a:rPr lang="zh-CN" altLang="en-US" sz="2000" dirty="0">
                <a:solidFill>
                  <a:srgbClr val="000000"/>
                </a:solidFill>
                <a:latin typeface="arial"/>
              </a:rPr>
              <a:t>头文件的函数原型为</a:t>
            </a:r>
            <a:r>
              <a:rPr lang="en-US" altLang="zh-CN" sz="2000" dirty="0">
                <a:solidFill>
                  <a:srgbClr val="000000"/>
                </a:solidFill>
                <a:latin typeface="arial"/>
              </a:rPr>
              <a:t>double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</a:rPr>
              <a:t>sqrt</a:t>
            </a:r>
            <a:r>
              <a:rPr lang="en-US" altLang="zh-CN" sz="2000" dirty="0">
                <a:solidFill>
                  <a:srgbClr val="000000"/>
                </a:solidFill>
                <a:latin typeface="arial"/>
              </a:rPr>
              <a:t>(double);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CCBB6-DD49-40B0-9F56-90489EACA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16" y="404664"/>
            <a:ext cx="8229600" cy="936104"/>
          </a:xfrm>
        </p:spPr>
        <p:txBody>
          <a:bodyPr/>
          <a:lstStyle/>
          <a:p>
            <a:r>
              <a:rPr lang="zh-CN" altLang="en-US" dirty="0"/>
              <a:t>注意区别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4705D-96FC-41BB-8096-B659C6F6D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88151"/>
            <a:ext cx="3168352" cy="2244906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 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0507CD-A8F7-44F8-B91A-3ED2E3DB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5E637-B403-496A-AA51-52B2722B709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1755466-E2D7-4181-9A50-59B8C317C32A}"/>
              </a:ext>
            </a:extLst>
          </p:cNvPr>
          <p:cNvSpPr txBox="1">
            <a:spLocks/>
          </p:cNvSpPr>
          <p:nvPr/>
        </p:nvSpPr>
        <p:spPr bwMode="auto">
          <a:xfrm>
            <a:off x="3927658" y="1600302"/>
            <a:ext cx="4061912" cy="2251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 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if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（！表达式）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1FD5B7-09F3-4986-AE84-7A46087CDD78}"/>
              </a:ext>
            </a:extLst>
          </p:cNvPr>
          <p:cNvSpPr txBox="1"/>
          <p:nvPr/>
        </p:nvSpPr>
        <p:spPr>
          <a:xfrm>
            <a:off x="475516" y="4365104"/>
            <a:ext cx="3600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</a:t>
            </a:r>
            <a:r>
              <a:rPr lang="en-US" altLang="zh-CN" sz="2000" b="1" dirty="0"/>
              <a:t>int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=2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j=3;</a:t>
            </a:r>
          </a:p>
          <a:p>
            <a:r>
              <a:rPr lang="en-US" altLang="zh-CN" sz="2000" b="1" dirty="0"/>
              <a:t>if 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&lt;3)</a:t>
            </a:r>
          </a:p>
          <a:p>
            <a:r>
              <a:rPr lang="en-US" altLang="zh-CN" sz="2000" b="1" dirty="0"/>
              <a:t>      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++;</a:t>
            </a:r>
          </a:p>
          <a:p>
            <a:r>
              <a:rPr lang="en-US" altLang="zh-CN" sz="2000" b="1" dirty="0"/>
              <a:t>else</a:t>
            </a:r>
          </a:p>
          <a:p>
            <a:r>
              <a:rPr lang="en-US" altLang="zh-CN" sz="2000" b="1" dirty="0"/>
              <a:t>      </a:t>
            </a:r>
            <a:r>
              <a:rPr lang="en-US" altLang="zh-CN" sz="2000" b="1" dirty="0" err="1"/>
              <a:t>j++</a:t>
            </a:r>
            <a:r>
              <a:rPr lang="en-US" altLang="zh-CN" sz="2000" b="1" dirty="0"/>
              <a:t>;</a:t>
            </a:r>
            <a:endParaRPr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1FE158-9D88-4DE1-A92D-A66597CF3267}"/>
              </a:ext>
            </a:extLst>
          </p:cNvPr>
          <p:cNvSpPr txBox="1"/>
          <p:nvPr/>
        </p:nvSpPr>
        <p:spPr>
          <a:xfrm>
            <a:off x="4389170" y="4365104"/>
            <a:ext cx="3600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 int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=2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j=3;</a:t>
            </a:r>
          </a:p>
          <a:p>
            <a:r>
              <a:rPr lang="en-US" altLang="zh-CN" sz="2000" b="1" dirty="0"/>
              <a:t>if 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&lt;3)</a:t>
            </a:r>
          </a:p>
          <a:p>
            <a:r>
              <a:rPr lang="en-US" altLang="zh-CN" sz="2000" b="1" dirty="0"/>
              <a:t>      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++;</a:t>
            </a:r>
          </a:p>
          <a:p>
            <a:r>
              <a:rPr lang="en-US" altLang="zh-CN" sz="2000" b="1" dirty="0"/>
              <a:t>If 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&gt;=3)</a:t>
            </a:r>
          </a:p>
          <a:p>
            <a:r>
              <a:rPr lang="en-US" altLang="zh-CN" sz="2000" b="1" dirty="0"/>
              <a:t>      </a:t>
            </a:r>
            <a:r>
              <a:rPr lang="en-US" altLang="zh-CN" sz="2000" b="1" dirty="0" err="1"/>
              <a:t>j++</a:t>
            </a:r>
            <a:r>
              <a:rPr lang="en-US" altLang="zh-CN" sz="2000" b="1" dirty="0"/>
              <a:t>;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8720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333375"/>
            <a:ext cx="8424862" cy="1655763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2. if (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)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---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无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else</a:t>
            </a:r>
          </a:p>
          <a:p>
            <a:pPr marL="571500" indent="-57150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3200" b="1" dirty="0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marL="571500" indent="-57150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else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之后的语句为空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F7E3D4-8D2C-4E81-8F9A-760E1A8EAB13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3132138" y="1844675"/>
            <a:ext cx="2759075" cy="3167063"/>
            <a:chOff x="1744" y="1842"/>
            <a:chExt cx="1605" cy="1996"/>
          </a:xfrm>
        </p:grpSpPr>
        <p:sp>
          <p:nvSpPr>
            <p:cNvPr id="23558" name="Line 5"/>
            <p:cNvSpPr>
              <a:spLocks noChangeShapeType="1"/>
            </p:cNvSpPr>
            <p:nvPr/>
          </p:nvSpPr>
          <p:spPr bwMode="auto">
            <a:xfrm>
              <a:off x="2200" y="2568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grpSp>
          <p:nvGrpSpPr>
            <p:cNvPr id="23559" name="Group 6"/>
            <p:cNvGrpSpPr>
              <a:grpSpLocks/>
            </p:cNvGrpSpPr>
            <p:nvPr/>
          </p:nvGrpSpPr>
          <p:grpSpPr bwMode="auto">
            <a:xfrm>
              <a:off x="1744" y="1842"/>
              <a:ext cx="1605" cy="1996"/>
              <a:chOff x="1474" y="1752"/>
              <a:chExt cx="1605" cy="1996"/>
            </a:xfrm>
          </p:grpSpPr>
          <p:sp>
            <p:nvSpPr>
              <p:cNvPr id="23560" name="AutoShape 7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907" cy="454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zh-CN" b="1"/>
                  <a:t> </a:t>
                </a:r>
                <a:r>
                  <a:rPr lang="zh-CN" altLang="en-US" b="1"/>
                  <a:t>表达式？</a:t>
                </a:r>
              </a:p>
            </p:txBody>
          </p:sp>
          <p:sp>
            <p:nvSpPr>
              <p:cNvPr id="23561" name="AutoShape 8"/>
              <p:cNvSpPr>
                <a:spLocks noChangeArrowheads="1"/>
              </p:cNvSpPr>
              <p:nvPr/>
            </p:nvSpPr>
            <p:spPr bwMode="auto">
              <a:xfrm>
                <a:off x="1474" y="2886"/>
                <a:ext cx="862" cy="317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</a:t>
                </a:r>
              </a:p>
            </p:txBody>
          </p:sp>
          <p:sp>
            <p:nvSpPr>
              <p:cNvPr id="23562" name="Line 9"/>
              <p:cNvSpPr>
                <a:spLocks noChangeShapeType="1"/>
              </p:cNvSpPr>
              <p:nvPr/>
            </p:nvSpPr>
            <p:spPr bwMode="auto">
              <a:xfrm>
                <a:off x="1927" y="1752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3563" name="Line 10"/>
              <p:cNvSpPr>
                <a:spLocks noChangeShapeType="1"/>
              </p:cNvSpPr>
              <p:nvPr/>
            </p:nvSpPr>
            <p:spPr bwMode="auto">
              <a:xfrm>
                <a:off x="1927" y="3204"/>
                <a:ext cx="0" cy="5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3564" name="Line 11"/>
              <p:cNvSpPr>
                <a:spLocks noChangeShapeType="1"/>
              </p:cNvSpPr>
              <p:nvPr/>
            </p:nvSpPr>
            <p:spPr bwMode="auto">
              <a:xfrm>
                <a:off x="2381" y="2251"/>
                <a:ext cx="5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3565" name="Line 12"/>
              <p:cNvSpPr>
                <a:spLocks noChangeShapeType="1"/>
              </p:cNvSpPr>
              <p:nvPr/>
            </p:nvSpPr>
            <p:spPr bwMode="auto">
              <a:xfrm>
                <a:off x="2925" y="2251"/>
                <a:ext cx="0" cy="12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3566" name="Line 13"/>
              <p:cNvSpPr>
                <a:spLocks noChangeShapeType="1"/>
              </p:cNvSpPr>
              <p:nvPr/>
            </p:nvSpPr>
            <p:spPr bwMode="auto">
              <a:xfrm>
                <a:off x="1927" y="3475"/>
                <a:ext cx="9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3567" name="Text Box 14"/>
              <p:cNvSpPr txBox="1">
                <a:spLocks noChangeArrowheads="1"/>
              </p:cNvSpPr>
              <p:nvPr/>
            </p:nvSpPr>
            <p:spPr bwMode="auto">
              <a:xfrm>
                <a:off x="2414" y="1990"/>
                <a:ext cx="665" cy="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zh-CN" altLang="en-US" sz="2000" b="1">
                    <a:solidFill>
                      <a:srgbClr val="0000FF"/>
                    </a:solidFill>
                  </a:rPr>
                  <a:t>假（</a:t>
                </a:r>
                <a:r>
                  <a:rPr lang="en-US" altLang="zh-CN" sz="2000" b="1">
                    <a:solidFill>
                      <a:srgbClr val="0000FF"/>
                    </a:solidFill>
                  </a:rPr>
                  <a:t>0</a:t>
                </a:r>
                <a:r>
                  <a:rPr lang="zh-CN" altLang="en-US" sz="2000" b="1">
                    <a:solidFill>
                      <a:srgbClr val="0000FF"/>
                    </a:solidFill>
                  </a:rPr>
                  <a:t>）</a:t>
                </a:r>
              </a:p>
            </p:txBody>
          </p:sp>
          <p:sp>
            <p:nvSpPr>
              <p:cNvPr id="23568" name="Text Box 15"/>
              <p:cNvSpPr txBox="1">
                <a:spLocks noChangeArrowheads="1"/>
              </p:cNvSpPr>
              <p:nvPr/>
            </p:nvSpPr>
            <p:spPr bwMode="auto">
              <a:xfrm>
                <a:off x="1958" y="2564"/>
                <a:ext cx="736" cy="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r>
                  <a:rPr lang="zh-CN" altLang="en-US" sz="2000" b="1">
                    <a:solidFill>
                      <a:srgbClr val="FF3300"/>
                    </a:solidFill>
                  </a:rPr>
                  <a:t>真（非</a:t>
                </a:r>
                <a:r>
                  <a:rPr lang="en-US" altLang="zh-CN" sz="2000" b="1">
                    <a:solidFill>
                      <a:srgbClr val="FF3300"/>
                    </a:solidFill>
                  </a:rPr>
                  <a:t>0</a:t>
                </a:r>
                <a:r>
                  <a:rPr lang="zh-CN" altLang="en-US" sz="2000" b="1">
                    <a:solidFill>
                      <a:srgbClr val="FF3300"/>
                    </a:solidFill>
                  </a:rPr>
                  <a:t>）</a:t>
                </a:r>
              </a:p>
            </p:txBody>
          </p:sp>
        </p:grpSp>
      </p:grpSp>
      <p:sp>
        <p:nvSpPr>
          <p:cNvPr id="400401" name="Text Box 17"/>
          <p:cNvSpPr txBox="1">
            <a:spLocks noChangeArrowheads="1"/>
          </p:cNvSpPr>
          <p:nvPr/>
        </p:nvSpPr>
        <p:spPr bwMode="auto">
          <a:xfrm>
            <a:off x="500063" y="5143500"/>
            <a:ext cx="80010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当条件成立时，选择语句执行；条件不成立时，结束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if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语句的执行。</a:t>
            </a:r>
          </a:p>
          <a:p>
            <a:pPr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496300" cy="5329237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3.3】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若存于变量</a:t>
            </a:r>
            <a:r>
              <a:rPr lang="en-US" altLang="zh-CN" sz="29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中的字符为大写英文字母，则将它改为对应的小写英文字母。</a:t>
            </a:r>
            <a:endParaRPr lang="en-US" altLang="zh-CN" sz="29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char </a:t>
            </a:r>
            <a:r>
              <a:rPr lang="en-US" altLang="zh-CN" sz="29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  <a:endParaRPr lang="zh-CN" altLang="en-US" sz="29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if (</a:t>
            </a:r>
            <a:r>
              <a:rPr lang="en-US" altLang="zh-CN" sz="2900" b="1" dirty="0" err="1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ch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&gt;=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&amp;&amp; </a:t>
            </a:r>
            <a:r>
              <a:rPr lang="en-US" altLang="zh-CN" sz="2900" b="1" dirty="0" err="1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ch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&lt;=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Z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marL="571500" indent="-571500" algn="just" eaLnBrk="1" fontAlgn="auto" hangingPunct="1"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900" b="1" dirty="0" err="1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ch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sz="2900" b="1" dirty="0" err="1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ch</a:t>
            </a:r>
            <a:r>
              <a:rPr lang="zh-CN" altLang="en-US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–</a:t>
            </a:r>
            <a:r>
              <a:rPr lang="zh-CN" altLang="en-US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zh-CN" altLang="en-US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+</a:t>
            </a:r>
            <a:r>
              <a:rPr lang="zh-CN" altLang="en-US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 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900" b="1" dirty="0">
                <a:solidFill>
                  <a:srgbClr val="003366"/>
                </a:solidFill>
                <a:latin typeface="Courier New"/>
                <a:ea typeface="黑体" pitchFamily="2" charset="-122"/>
              </a:rPr>
              <a:t>’</a:t>
            </a:r>
            <a:r>
              <a:rPr lang="en-US" altLang="zh-CN" sz="2900" b="1" dirty="0">
                <a:solidFill>
                  <a:srgbClr val="003366"/>
                </a:solidFill>
                <a:latin typeface="黑体" pitchFamily="2" charset="-122"/>
                <a:ea typeface="黑体" pitchFamily="2" charset="-122"/>
              </a:rPr>
              <a:t>;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571500" indent="-571500" algn="just" eaLnBrk="1" fontAlgn="auto" hangingPunct="1"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/* 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减去大写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‘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’的</a:t>
            </a:r>
            <a:r>
              <a:rPr lang="en-US" altLang="zh-CN" sz="29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ascii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码，加上小写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‘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’的</a:t>
            </a:r>
            <a:r>
              <a:rPr lang="en-US" altLang="zh-CN" sz="29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ascii</a:t>
            </a:r>
            <a:r>
              <a:rPr lang="zh-CN" altLang="en-US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码 *</a:t>
            </a:r>
            <a:r>
              <a:rPr lang="en-US" altLang="zh-CN" sz="2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en-US" altLang="zh-CN" sz="2900" dirty="0"/>
              <a:t> </a:t>
            </a: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F8604-A14C-439D-A242-74FCE400F469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71475"/>
            <a:ext cx="8064500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逐一判定的</a:t>
            </a:r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if 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语句形式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496300" cy="5329237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1)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</a:p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else if 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2)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</a:p>
          <a:p>
            <a:pPr marL="571500" indent="-571500" algn="just" eaLnBrk="1" fontAlgn="auto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………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else if 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m)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m</a:t>
            </a:r>
          </a:p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else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3.4】</a:t>
            </a:r>
            <a:r>
              <a:rPr lang="en-US" altLang="zh-CN" dirty="0"/>
              <a:t> </a:t>
            </a: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if (score &gt;= 90) </a:t>
            </a: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 </a:t>
            </a:r>
            <a:r>
              <a:rPr lang="en-US" altLang="zh-CN" b="1" dirty="0" err="1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("Excellent.\n");</a:t>
            </a: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else if ( score &lt; 60 )  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连续判定 *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</a:t>
            </a:r>
            <a:endParaRPr lang="en-US" altLang="zh-CN" b="1" dirty="0">
              <a:solidFill>
                <a:srgbClr val="33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     </a:t>
            </a:r>
            <a:r>
              <a:rPr lang="en-US" altLang="zh-CN" b="1" dirty="0" err="1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("Dismal.\n") ;</a:t>
            </a:r>
          </a:p>
          <a:p>
            <a:pPr marL="571500" indent="-5715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  else  </a:t>
            </a:r>
            <a:r>
              <a:rPr lang="en-US" altLang="zh-CN" b="1" dirty="0" err="1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("Typical.\n"); </a:t>
            </a:r>
          </a:p>
          <a:p>
            <a:pPr marL="571500" indent="-571500" algn="just" eaLnBrk="1" fontAlgn="auto" hangingPunct="1">
              <a:lnSpc>
                <a:spcPct val="95000"/>
              </a:lnSpc>
              <a:spcBef>
                <a:spcPct val="1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F213A-3575-46BA-BFC2-B3D53265A838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0776AB-7030-421C-9A6C-77E69DC354B8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26627" name="Text Box 19"/>
          <p:cNvSpPr txBox="1">
            <a:spLocks noChangeArrowheads="1"/>
          </p:cNvSpPr>
          <p:nvPr/>
        </p:nvSpPr>
        <p:spPr bwMode="auto">
          <a:xfrm>
            <a:off x="2535238" y="19827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假</a:t>
            </a:r>
          </a:p>
        </p:txBody>
      </p:sp>
      <p:sp>
        <p:nvSpPr>
          <p:cNvPr id="26628" name="Text Box 20"/>
          <p:cNvSpPr txBox="1">
            <a:spLocks noChangeArrowheads="1"/>
          </p:cNvSpPr>
          <p:nvPr/>
        </p:nvSpPr>
        <p:spPr bwMode="auto">
          <a:xfrm>
            <a:off x="1350963" y="27749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</a:rPr>
              <a:t>真</a:t>
            </a:r>
          </a:p>
        </p:txBody>
      </p:sp>
      <p:grpSp>
        <p:nvGrpSpPr>
          <p:cNvPr id="26629" name="Group 42"/>
          <p:cNvGrpSpPr>
            <a:grpSpLocks/>
          </p:cNvGrpSpPr>
          <p:nvPr/>
        </p:nvGrpSpPr>
        <p:grpSpPr bwMode="auto">
          <a:xfrm>
            <a:off x="1042988" y="1628775"/>
            <a:ext cx="7416800" cy="4751388"/>
            <a:chOff x="567" y="935"/>
            <a:chExt cx="4762" cy="3174"/>
          </a:xfrm>
        </p:grpSpPr>
        <p:grpSp>
          <p:nvGrpSpPr>
            <p:cNvPr id="26635" name="Group 40"/>
            <p:cNvGrpSpPr>
              <a:grpSpLocks/>
            </p:cNvGrpSpPr>
            <p:nvPr/>
          </p:nvGrpSpPr>
          <p:grpSpPr bwMode="auto">
            <a:xfrm>
              <a:off x="2563" y="1797"/>
              <a:ext cx="1726" cy="2085"/>
              <a:chOff x="2563" y="1797"/>
              <a:chExt cx="1726" cy="2085"/>
            </a:xfrm>
          </p:grpSpPr>
          <p:sp>
            <p:nvSpPr>
              <p:cNvPr id="26656" name="Line 22"/>
              <p:cNvSpPr>
                <a:spLocks noChangeShapeType="1"/>
              </p:cNvSpPr>
              <p:nvPr/>
            </p:nvSpPr>
            <p:spPr bwMode="auto">
              <a:xfrm>
                <a:off x="3288" y="2024"/>
                <a:ext cx="5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57" name="Line 23"/>
              <p:cNvSpPr>
                <a:spLocks noChangeShapeType="1"/>
              </p:cNvSpPr>
              <p:nvPr/>
            </p:nvSpPr>
            <p:spPr bwMode="auto">
              <a:xfrm>
                <a:off x="3832" y="2024"/>
                <a:ext cx="3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58" name="AutoShape 24"/>
              <p:cNvSpPr>
                <a:spLocks noChangeArrowheads="1"/>
              </p:cNvSpPr>
              <p:nvPr/>
            </p:nvSpPr>
            <p:spPr bwMode="auto">
              <a:xfrm>
                <a:off x="3382" y="2387"/>
                <a:ext cx="907" cy="454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zh-CN" b="1"/>
                  <a:t> </a:t>
                </a:r>
                <a:r>
                  <a:rPr lang="zh-CN" altLang="en-US" b="1"/>
                  <a:t>表达式</a:t>
                </a:r>
                <a:r>
                  <a:rPr lang="en-US" altLang="zh-CN" b="1"/>
                  <a:t>m</a:t>
                </a:r>
              </a:p>
            </p:txBody>
          </p:sp>
          <p:sp>
            <p:nvSpPr>
              <p:cNvPr id="26659" name="Text Box 25"/>
              <p:cNvSpPr txBox="1">
                <a:spLocks noChangeArrowheads="1"/>
              </p:cNvSpPr>
              <p:nvPr/>
            </p:nvSpPr>
            <p:spPr bwMode="auto">
              <a:xfrm>
                <a:off x="2880" y="1797"/>
                <a:ext cx="499" cy="4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600">
                    <a:latin typeface="宋体" pitchFamily="2" charset="-122"/>
                  </a:rPr>
                  <a:t>…</a:t>
                </a:r>
              </a:p>
            </p:txBody>
          </p:sp>
          <p:sp>
            <p:nvSpPr>
              <p:cNvPr id="26660" name="Line 26"/>
              <p:cNvSpPr>
                <a:spLocks noChangeShapeType="1"/>
              </p:cNvSpPr>
              <p:nvPr/>
            </p:nvSpPr>
            <p:spPr bwMode="auto">
              <a:xfrm>
                <a:off x="2563" y="2024"/>
                <a:ext cx="31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61" name="AutoShape 29"/>
              <p:cNvSpPr>
                <a:spLocks noChangeArrowheads="1"/>
              </p:cNvSpPr>
              <p:nvPr/>
            </p:nvSpPr>
            <p:spPr bwMode="auto">
              <a:xfrm>
                <a:off x="3424" y="3339"/>
                <a:ext cx="862" cy="317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</a:t>
                </a:r>
                <a:r>
                  <a:rPr lang="en-US" altLang="zh-CN" b="1"/>
                  <a:t>m</a:t>
                </a:r>
              </a:p>
            </p:txBody>
          </p:sp>
          <p:sp>
            <p:nvSpPr>
              <p:cNvPr id="26662" name="Line 30"/>
              <p:cNvSpPr>
                <a:spLocks noChangeShapeType="1"/>
              </p:cNvSpPr>
              <p:nvPr/>
            </p:nvSpPr>
            <p:spPr bwMode="auto">
              <a:xfrm>
                <a:off x="3833" y="2841"/>
                <a:ext cx="0" cy="4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63" name="Line 34"/>
              <p:cNvSpPr>
                <a:spLocks noChangeShapeType="1"/>
              </p:cNvSpPr>
              <p:nvPr/>
            </p:nvSpPr>
            <p:spPr bwMode="auto">
              <a:xfrm>
                <a:off x="3833" y="3657"/>
                <a:ext cx="0" cy="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26636" name="Group 39"/>
            <p:cNvGrpSpPr>
              <a:grpSpLocks/>
            </p:cNvGrpSpPr>
            <p:nvPr/>
          </p:nvGrpSpPr>
          <p:grpSpPr bwMode="auto">
            <a:xfrm>
              <a:off x="1564" y="1434"/>
              <a:ext cx="1001" cy="2450"/>
              <a:chOff x="1564" y="1434"/>
              <a:chExt cx="1001" cy="2450"/>
            </a:xfrm>
          </p:grpSpPr>
          <p:sp>
            <p:nvSpPr>
              <p:cNvPr id="26650" name="Line 15"/>
              <p:cNvSpPr>
                <a:spLocks noChangeShapeType="1"/>
              </p:cNvSpPr>
              <p:nvPr/>
            </p:nvSpPr>
            <p:spPr bwMode="auto">
              <a:xfrm>
                <a:off x="2109" y="2251"/>
                <a:ext cx="0" cy="10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51" name="Line 16"/>
              <p:cNvSpPr>
                <a:spLocks noChangeShapeType="1"/>
              </p:cNvSpPr>
              <p:nvPr/>
            </p:nvSpPr>
            <p:spPr bwMode="auto">
              <a:xfrm>
                <a:off x="1564" y="1434"/>
                <a:ext cx="5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52" name="Line 17"/>
              <p:cNvSpPr>
                <a:spLocks noChangeShapeType="1"/>
              </p:cNvSpPr>
              <p:nvPr/>
            </p:nvSpPr>
            <p:spPr bwMode="auto">
              <a:xfrm>
                <a:off x="2106" y="1434"/>
                <a:ext cx="3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53" name="AutoShape 21"/>
              <p:cNvSpPr>
                <a:spLocks noChangeArrowheads="1"/>
              </p:cNvSpPr>
              <p:nvPr/>
            </p:nvSpPr>
            <p:spPr bwMode="auto">
              <a:xfrm>
                <a:off x="1610" y="1797"/>
                <a:ext cx="955" cy="454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zh-CN" b="1"/>
                  <a:t> </a:t>
                </a:r>
                <a:r>
                  <a:rPr lang="zh-CN" altLang="en-US" b="1"/>
                  <a:t>表达式</a:t>
                </a:r>
                <a:r>
                  <a:rPr lang="en-US" altLang="zh-CN" b="1"/>
                  <a:t>2</a:t>
                </a:r>
              </a:p>
            </p:txBody>
          </p:sp>
          <p:sp>
            <p:nvSpPr>
              <p:cNvPr id="26654" name="AutoShape 28"/>
              <p:cNvSpPr>
                <a:spLocks noChangeArrowheads="1"/>
              </p:cNvSpPr>
              <p:nvPr/>
            </p:nvSpPr>
            <p:spPr bwMode="auto">
              <a:xfrm>
                <a:off x="1655" y="3339"/>
                <a:ext cx="862" cy="317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</a:t>
                </a:r>
                <a:r>
                  <a:rPr lang="en-US" altLang="zh-CN" b="1"/>
                  <a:t>2</a:t>
                </a:r>
              </a:p>
            </p:txBody>
          </p:sp>
          <p:sp>
            <p:nvSpPr>
              <p:cNvPr id="26655" name="Line 35"/>
              <p:cNvSpPr>
                <a:spLocks noChangeShapeType="1"/>
              </p:cNvSpPr>
              <p:nvPr/>
            </p:nvSpPr>
            <p:spPr bwMode="auto">
              <a:xfrm>
                <a:off x="2109" y="3659"/>
                <a:ext cx="0" cy="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26637" name="Group 38"/>
            <p:cNvGrpSpPr>
              <a:grpSpLocks/>
            </p:cNvGrpSpPr>
            <p:nvPr/>
          </p:nvGrpSpPr>
          <p:grpSpPr bwMode="auto">
            <a:xfrm>
              <a:off x="567" y="935"/>
              <a:ext cx="997" cy="2947"/>
              <a:chOff x="567" y="935"/>
              <a:chExt cx="997" cy="2947"/>
            </a:xfrm>
          </p:grpSpPr>
          <p:sp>
            <p:nvSpPr>
              <p:cNvPr id="26645" name="Line 10"/>
              <p:cNvSpPr>
                <a:spLocks noChangeShapeType="1"/>
              </p:cNvSpPr>
              <p:nvPr/>
            </p:nvSpPr>
            <p:spPr bwMode="auto">
              <a:xfrm>
                <a:off x="1066" y="1661"/>
                <a:ext cx="0" cy="167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6" name="AutoShape 12"/>
              <p:cNvSpPr>
                <a:spLocks noChangeArrowheads="1"/>
              </p:cNvSpPr>
              <p:nvPr/>
            </p:nvSpPr>
            <p:spPr bwMode="auto">
              <a:xfrm>
                <a:off x="567" y="1207"/>
                <a:ext cx="997" cy="454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zh-CN" b="1"/>
                  <a:t> </a:t>
                </a:r>
                <a:r>
                  <a:rPr lang="zh-CN" altLang="en-US" b="1"/>
                  <a:t>表达式</a:t>
                </a:r>
                <a:r>
                  <a:rPr lang="en-US" altLang="zh-CN" b="1"/>
                  <a:t>1</a:t>
                </a:r>
              </a:p>
            </p:txBody>
          </p:sp>
          <p:sp>
            <p:nvSpPr>
              <p:cNvPr id="26647" name="AutoShape 13"/>
              <p:cNvSpPr>
                <a:spLocks noChangeArrowheads="1"/>
              </p:cNvSpPr>
              <p:nvPr/>
            </p:nvSpPr>
            <p:spPr bwMode="auto">
              <a:xfrm>
                <a:off x="612" y="3340"/>
                <a:ext cx="862" cy="317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</a:t>
                </a:r>
                <a:r>
                  <a:rPr lang="en-US" altLang="zh-CN" b="1"/>
                  <a:t>1</a:t>
                </a:r>
              </a:p>
            </p:txBody>
          </p:sp>
          <p:sp>
            <p:nvSpPr>
              <p:cNvPr id="26648" name="Line 14"/>
              <p:cNvSpPr>
                <a:spLocks noChangeShapeType="1"/>
              </p:cNvSpPr>
              <p:nvPr/>
            </p:nvSpPr>
            <p:spPr bwMode="auto">
              <a:xfrm>
                <a:off x="1066" y="935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9" name="Line 36"/>
              <p:cNvSpPr>
                <a:spLocks noChangeShapeType="1"/>
              </p:cNvSpPr>
              <p:nvPr/>
            </p:nvSpPr>
            <p:spPr bwMode="auto">
              <a:xfrm>
                <a:off x="1066" y="3657"/>
                <a:ext cx="0" cy="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26638" name="Group 41"/>
            <p:cNvGrpSpPr>
              <a:grpSpLocks/>
            </p:cNvGrpSpPr>
            <p:nvPr/>
          </p:nvGrpSpPr>
          <p:grpSpPr bwMode="auto">
            <a:xfrm>
              <a:off x="1065" y="2614"/>
              <a:ext cx="4264" cy="1495"/>
              <a:chOff x="1065" y="2614"/>
              <a:chExt cx="4264" cy="1495"/>
            </a:xfrm>
          </p:grpSpPr>
          <p:sp>
            <p:nvSpPr>
              <p:cNvPr id="26639" name="Line 18"/>
              <p:cNvSpPr>
                <a:spLocks noChangeShapeType="1"/>
              </p:cNvSpPr>
              <p:nvPr/>
            </p:nvSpPr>
            <p:spPr bwMode="auto">
              <a:xfrm>
                <a:off x="1065" y="3884"/>
                <a:ext cx="385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0" name="Line 27"/>
              <p:cNvSpPr>
                <a:spLocks noChangeShapeType="1"/>
              </p:cNvSpPr>
              <p:nvPr/>
            </p:nvSpPr>
            <p:spPr bwMode="auto">
              <a:xfrm>
                <a:off x="4287" y="2614"/>
                <a:ext cx="6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1" name="Line 31"/>
              <p:cNvSpPr>
                <a:spLocks noChangeShapeType="1"/>
              </p:cNvSpPr>
              <p:nvPr/>
            </p:nvSpPr>
            <p:spPr bwMode="auto">
              <a:xfrm>
                <a:off x="4921" y="2614"/>
                <a:ext cx="0" cy="7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2" name="AutoShape 32"/>
              <p:cNvSpPr>
                <a:spLocks noChangeArrowheads="1"/>
              </p:cNvSpPr>
              <p:nvPr/>
            </p:nvSpPr>
            <p:spPr bwMode="auto">
              <a:xfrm>
                <a:off x="4467" y="3339"/>
                <a:ext cx="862" cy="317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</a:t>
                </a:r>
                <a:r>
                  <a:rPr lang="en-US" altLang="zh-CN" b="1"/>
                  <a:t>n</a:t>
                </a:r>
              </a:p>
            </p:txBody>
          </p:sp>
          <p:sp>
            <p:nvSpPr>
              <p:cNvPr id="26643" name="Line 33"/>
              <p:cNvSpPr>
                <a:spLocks noChangeShapeType="1"/>
              </p:cNvSpPr>
              <p:nvPr/>
            </p:nvSpPr>
            <p:spPr bwMode="auto">
              <a:xfrm>
                <a:off x="4921" y="3659"/>
                <a:ext cx="0" cy="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6644" name="Line 37"/>
              <p:cNvSpPr>
                <a:spLocks noChangeShapeType="1"/>
              </p:cNvSpPr>
              <p:nvPr/>
            </p:nvSpPr>
            <p:spPr bwMode="auto">
              <a:xfrm>
                <a:off x="2880" y="3884"/>
                <a:ext cx="0" cy="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</p:grpSp>
      <p:sp>
        <p:nvSpPr>
          <p:cNvPr id="26630" name="Text Box 43"/>
          <p:cNvSpPr txBox="1">
            <a:spLocks noChangeArrowheads="1"/>
          </p:cNvSpPr>
          <p:nvPr/>
        </p:nvSpPr>
        <p:spPr bwMode="auto">
          <a:xfrm>
            <a:off x="2935288" y="36385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</a:rPr>
              <a:t>真</a:t>
            </a:r>
          </a:p>
        </p:txBody>
      </p:sp>
      <p:sp>
        <p:nvSpPr>
          <p:cNvPr id="26631" name="Text Box 44"/>
          <p:cNvSpPr txBox="1">
            <a:spLocks noChangeArrowheads="1"/>
          </p:cNvSpPr>
          <p:nvPr/>
        </p:nvSpPr>
        <p:spPr bwMode="auto">
          <a:xfrm>
            <a:off x="5651500" y="45021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</a:rPr>
              <a:t>真</a:t>
            </a:r>
          </a:p>
        </p:txBody>
      </p:sp>
      <p:sp>
        <p:nvSpPr>
          <p:cNvPr id="26632" name="Text Box 47"/>
          <p:cNvSpPr txBox="1">
            <a:spLocks noChangeArrowheads="1"/>
          </p:cNvSpPr>
          <p:nvPr/>
        </p:nvSpPr>
        <p:spPr bwMode="auto">
          <a:xfrm>
            <a:off x="4087813" y="28463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假</a:t>
            </a:r>
          </a:p>
        </p:txBody>
      </p:sp>
      <p:sp>
        <p:nvSpPr>
          <p:cNvPr id="26633" name="Text Box 48"/>
          <p:cNvSpPr txBox="1">
            <a:spLocks noChangeArrowheads="1"/>
          </p:cNvSpPr>
          <p:nvPr/>
        </p:nvSpPr>
        <p:spPr bwMode="auto">
          <a:xfrm>
            <a:off x="6823075" y="37163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假</a:t>
            </a:r>
          </a:p>
        </p:txBody>
      </p:sp>
      <p:sp>
        <p:nvSpPr>
          <p:cNvPr id="372785" name="Rectangle 49"/>
          <p:cNvSpPr>
            <a:spLocks noChangeArrowheads="1"/>
          </p:cNvSpPr>
          <p:nvPr/>
        </p:nvSpPr>
        <p:spPr bwMode="auto">
          <a:xfrm>
            <a:off x="611188" y="981075"/>
            <a:ext cx="489743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连续判定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if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语句的执行过程：</a:t>
            </a:r>
            <a:r>
              <a:rPr lang="zh-CN" altLang="en-US"/>
              <a:t>  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137525" cy="649287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3950"/>
            <a:ext cx="8424862" cy="5184775"/>
          </a:xfrm>
        </p:spPr>
        <p:txBody>
          <a:bodyPr>
            <a:normAutofit/>
          </a:bodyPr>
          <a:lstStyle/>
          <a:p>
            <a:pPr marL="536575" indent="-536575" algn="just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1. if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语句对表达式值的测试以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非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或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作为真或假的标准。因此，当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语句以某表达式值不等于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为条件时，可写成表达式。</a:t>
            </a:r>
          </a:p>
          <a:p>
            <a:pPr marL="536575" indent="-536575" algn="just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x+y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!= 0)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 + y != 0\n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  </a:t>
            </a:r>
          </a:p>
          <a:p>
            <a:pPr marL="536575" indent="-536575" algn="just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可简写成：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x+y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 + y != 0\n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</a:p>
          <a:p>
            <a:pPr marL="536575" indent="-536575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if (x == 0)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 = 0\n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  <a:r>
              <a:rPr lang="en-US" altLang="zh-CN" sz="2800" b="1" dirty="0">
                <a:latin typeface="宋体" pitchFamily="2" charset="-122"/>
              </a:rPr>
              <a:t>  </a:t>
            </a:r>
          </a:p>
          <a:p>
            <a:pPr marL="536575" indent="-536575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可简写成：</a:t>
            </a:r>
            <a:r>
              <a:rPr lang="zh-CN" altLang="en-US" sz="2800" b="1" dirty="0">
                <a:latin typeface="宋体" pitchFamily="2" charset="-122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(!x)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“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 = 0\n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”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</a:p>
          <a:p>
            <a:pPr marL="536575" indent="-536575" algn="just" eaLnBrk="1" fontAlgn="auto" hangingPunct="1">
              <a:spcAft>
                <a:spcPts val="60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2.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语句中的语句是一个简单语句，则这些简单语句之后会有一个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分号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，这是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语言对这些简单语句的基本要求。</a:t>
            </a:r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D05178-6A62-4726-8335-4A863F7BFCC7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00063"/>
            <a:ext cx="8424862" cy="5821362"/>
          </a:xfrm>
        </p:spPr>
        <p:txBody>
          <a:bodyPr>
            <a:noAutofit/>
          </a:bodyPr>
          <a:lstStyle/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若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语句中的语句要用语句序列（即为顺序结构）来实现，则必须将它们改写成复合语句，即逻辑上把它们变成一个语句。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 a &gt; b ) /*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按小到大排列 *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{ temp = a; a = b; b = temp;}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32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4.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在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语句中，每个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总要与它前面的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对应，不可以出现没有对应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 a &lt; b ) max = b;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else max = a;</a:t>
            </a:r>
          </a:p>
          <a:p>
            <a:pPr marL="449263" indent="-449263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else max = c;//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错误</a:t>
            </a:r>
          </a:p>
        </p:txBody>
      </p:sp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AAE4AC-5A4A-4768-910F-F75D2A691729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520112" cy="5400675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在</a:t>
            </a:r>
            <a:r>
              <a:rPr lang="en-US" altLang="zh-CN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语句的成分语句又是</a:t>
            </a:r>
            <a:r>
              <a:rPr lang="en-US" altLang="zh-CN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语句。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400" b="1" dirty="0"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语句嵌套的一般形式：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 (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1 ) 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if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 表达式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）语句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else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else 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if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 表达式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）语句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else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4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说明：</a:t>
            </a:r>
            <a:r>
              <a:rPr lang="en-US" altLang="zh-CN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</a:t>
            </a:r>
            <a:r>
              <a:rPr lang="zh-CN" altLang="en-US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总是与它</a:t>
            </a:r>
            <a:r>
              <a:rPr lang="zh-CN" altLang="en-US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前面最接近</a:t>
            </a:r>
            <a:r>
              <a:rPr lang="zh-CN" altLang="en-US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</a:t>
            </a:r>
            <a:r>
              <a:rPr lang="en-US" altLang="zh-CN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对应。</a:t>
            </a:r>
          </a:p>
        </p:txBody>
      </p:sp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BEFED6-E3E8-42E7-BFB8-FCA670A46C95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401411" name="Text Box 3"/>
          <p:cNvSpPr txBox="1">
            <a:spLocks noChangeArrowheads="1"/>
          </p:cNvSpPr>
          <p:nvPr/>
        </p:nvSpPr>
        <p:spPr bwMode="auto">
          <a:xfrm>
            <a:off x="539750" y="260350"/>
            <a:ext cx="6696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5.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嵌套的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if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519182" y="946702"/>
            <a:ext cx="8424862" cy="5112990"/>
          </a:xfrm>
        </p:spPr>
        <p:txBody>
          <a:bodyPr/>
          <a:lstStyle/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333300"/>
                </a:solidFill>
                <a:latin typeface="宋体" pitchFamily="2" charset="-122"/>
              </a:rPr>
              <a:t>     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if (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1)    </a:t>
            </a:r>
          </a:p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    if (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）  </a:t>
            </a:r>
          </a:p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       语句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else </a:t>
            </a:r>
          </a:p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语句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2</a:t>
            </a:r>
          </a:p>
          <a:p>
            <a:pPr marL="0" indent="0"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要执行到语句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</a:rPr>
              <a:t>2,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表达式条件正确的是？</a:t>
            </a:r>
            <a:br>
              <a:rPr lang="zh-CN" altLang="en-US" sz="3200" b="1" dirty="0">
                <a:latin typeface="宋体" pitchFamily="2" charset="-122"/>
              </a:rPr>
            </a:br>
            <a:endParaRPr lang="en-US" altLang="zh-CN" sz="3200" dirty="0"/>
          </a:p>
        </p:txBody>
      </p:sp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299A24-F300-4598-A27F-5D300DD0FEC6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5500688" y="928688"/>
            <a:ext cx="3500437" cy="3767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zh-CN" altLang="en-US" sz="2400" b="1" dirty="0">
                <a:solidFill>
                  <a:schemeClr val="accent3"/>
                </a:solidFill>
                <a:latin typeface="黑体" pitchFamily="2" charset="-122"/>
                <a:ea typeface="黑体" pitchFamily="2" charset="-122"/>
              </a:rPr>
              <a:t>存在二义性</a:t>
            </a:r>
            <a:endParaRPr lang="en-US" altLang="zh-CN" sz="2400" b="1" dirty="0">
              <a:solidFill>
                <a:schemeClr val="accent3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if (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1)   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if (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） 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     语句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1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else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语句</a:t>
            </a:r>
            <a:r>
              <a:rPr lang="en-US" altLang="zh-CN" sz="3200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2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30725" name="TextBox 4"/>
          <p:cNvSpPr txBox="1">
            <a:spLocks noChangeArrowheads="1"/>
          </p:cNvSpPr>
          <p:nvPr/>
        </p:nvSpPr>
        <p:spPr bwMode="auto">
          <a:xfrm>
            <a:off x="2928938" y="6286500"/>
            <a:ext cx="460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750" y="93256"/>
            <a:ext cx="8064500" cy="6461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50800" dir="5400000" algn="ctr" rotWithShape="0">
              <a:srgbClr val="000000">
                <a:alpha val="84000"/>
              </a:srgb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else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总是与它前面最接近的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if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对应！！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42938" y="4857750"/>
            <a:ext cx="5929312" cy="150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1. !(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3200" b="1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1) &amp;&amp; !(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2)</a:t>
            </a:r>
            <a:endParaRPr lang="en-US" altLang="zh-CN" sz="3200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uiExpand="1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353425" cy="54721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　　</a:t>
            </a:r>
            <a:r>
              <a:rPr lang="zh-CN" altLang="en-US" sz="3300" b="1" dirty="0">
                <a:latin typeface="黑体" pitchFamily="2" charset="-122"/>
                <a:ea typeface="黑体" pitchFamily="2" charset="-122"/>
              </a:rPr>
              <a:t>上例中若要执行语句</a:t>
            </a:r>
            <a:r>
              <a:rPr lang="en-US" altLang="zh-CN" sz="33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300" b="1" dirty="0">
                <a:latin typeface="黑体" pitchFamily="2" charset="-122"/>
                <a:ea typeface="黑体" pitchFamily="2" charset="-122"/>
              </a:rPr>
              <a:t>的条件为：</a:t>
            </a:r>
            <a:br>
              <a:rPr lang="zh-CN" altLang="en-US" sz="3300" b="1" dirty="0">
                <a:latin typeface="黑体" pitchFamily="2" charset="-122"/>
                <a:ea typeface="黑体" pitchFamily="2" charset="-122"/>
              </a:rPr>
            </a:br>
            <a:r>
              <a:rPr lang="en-US" altLang="zh-CN" sz="29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!(</a:t>
            </a:r>
            <a:r>
              <a:rPr lang="zh-CN" altLang="en-US" sz="29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9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3300" b="1" dirty="0">
                <a:latin typeface="黑体" pitchFamily="2" charset="-122"/>
                <a:ea typeface="黑体" pitchFamily="2" charset="-122"/>
              </a:rPr>
              <a:t>可用以下两种方法实现：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zh-CN" altLang="en-US" sz="2900" b="1" dirty="0">
                <a:solidFill>
                  <a:srgbClr val="CC6600"/>
                </a:solidFill>
                <a:latin typeface="黑体" pitchFamily="2" charset="-122"/>
                <a:ea typeface="黑体" pitchFamily="2" charset="-122"/>
              </a:rPr>
              <a:t>方法一：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if (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1)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solidFill>
                  <a:srgbClr val="00808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900" b="1" dirty="0">
                <a:solidFill>
                  <a:srgbClr val="008080"/>
                </a:solidFill>
                <a:latin typeface="黑体" pitchFamily="2" charset="-122"/>
                <a:ea typeface="黑体" pitchFamily="2" charset="-122"/>
              </a:rPr>
              <a:t>　　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{ </a:t>
            </a:r>
            <a:r>
              <a:rPr lang="en-US" altLang="zh-CN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将分支语句变成一个复合语句 *</a:t>
            </a:r>
            <a:r>
              <a:rPr lang="en-US" altLang="zh-CN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　　　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if  (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　语句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1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　　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}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 　　　	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else  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语句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2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zh-CN" altLang="en-US" sz="2900" b="1" dirty="0">
                <a:solidFill>
                  <a:srgbClr val="CC6600"/>
                </a:solidFill>
                <a:latin typeface="黑体" pitchFamily="2" charset="-122"/>
                <a:ea typeface="黑体" pitchFamily="2" charset="-122"/>
              </a:rPr>
              <a:t>方法二：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if (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1)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           if (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2) 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语句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1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           else ;   </a:t>
            </a:r>
            <a:r>
              <a:rPr lang="en-US" altLang="zh-CN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这里有</a:t>
            </a:r>
            <a:r>
              <a:rPr lang="en-US" altLang="zh-CN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个空语句 *</a:t>
            </a:r>
            <a:r>
              <a:rPr lang="en-US" altLang="zh-CN" sz="29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1349375" algn="l"/>
              </a:tabLst>
            </a:pP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        else   </a:t>
            </a:r>
            <a:r>
              <a:rPr lang="zh-CN" altLang="en-US" sz="2900" b="1" dirty="0">
                <a:latin typeface="黑体" pitchFamily="2" charset="-122"/>
                <a:ea typeface="黑体" pitchFamily="2" charset="-122"/>
              </a:rPr>
              <a:t>语句</a:t>
            </a:r>
            <a:r>
              <a:rPr lang="en-US" altLang="zh-CN" sz="29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9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5CF47B-5E49-4E6D-B46B-F41778A39866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3330" y="128563"/>
            <a:ext cx="8135937" cy="609600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3.5】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输入三个整数，输出其中的最大数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>
          <a:xfrm>
            <a:off x="311944" y="795521"/>
            <a:ext cx="8520112" cy="5949950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 charset="-122"/>
              </a:rPr>
              <a:t>为求三个数中的最大者，最简洁的办法是先将其中某一个预作最大者，然后逐一与其它两个数比较，当发现有更大者时，就以它重置最大者。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#include  &lt;</a:t>
            </a:r>
            <a:r>
              <a:rPr lang="en-US" altLang="zh-CN" sz="2800" b="1" dirty="0" err="1">
                <a:latin typeface="宋体" charset="-122"/>
              </a:rPr>
              <a:t>stdio.h</a:t>
            </a:r>
            <a:r>
              <a:rPr lang="en-US" altLang="zh-CN" sz="2800" b="1" dirty="0">
                <a:latin typeface="宋体" charset="-122"/>
              </a:rPr>
              <a:t>&gt;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void main()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{ </a:t>
            </a:r>
            <a:r>
              <a:rPr lang="en-US" altLang="zh-CN" sz="2800" b="1" dirty="0" err="1">
                <a:latin typeface="宋体" charset="-122"/>
              </a:rPr>
              <a:t>int</a:t>
            </a:r>
            <a:r>
              <a:rPr lang="en-US" altLang="zh-CN" sz="2800" b="1" dirty="0">
                <a:latin typeface="宋体" charset="-122"/>
              </a:rPr>
              <a:t> a, b, c, max;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</a:t>
            </a:r>
            <a:r>
              <a:rPr lang="en-US" altLang="zh-CN" sz="2800" b="1" dirty="0" err="1">
                <a:latin typeface="宋体" charset="-122"/>
              </a:rPr>
              <a:t>printf</a:t>
            </a:r>
            <a:r>
              <a:rPr lang="en-US" altLang="zh-CN" sz="2800" b="1" dirty="0">
                <a:latin typeface="宋体" charset="-122"/>
              </a:rPr>
              <a:t>("</a:t>
            </a:r>
            <a:r>
              <a:rPr lang="zh-CN" altLang="en-US" sz="2800" b="1" dirty="0">
                <a:latin typeface="宋体" charset="-122"/>
              </a:rPr>
              <a:t>输入三个整数</a:t>
            </a:r>
            <a:r>
              <a:rPr lang="en-US" altLang="zh-CN" sz="2800" b="1" dirty="0">
                <a:latin typeface="宋体" charset="-122"/>
              </a:rPr>
              <a:t>\n");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</a:t>
            </a:r>
            <a:r>
              <a:rPr lang="en-US" altLang="zh-CN" sz="2800" b="1" dirty="0" err="1">
                <a:latin typeface="宋体" charset="-122"/>
              </a:rPr>
              <a:t>scanf</a:t>
            </a:r>
            <a:r>
              <a:rPr lang="en-US" altLang="zh-CN" sz="2800" b="1" dirty="0">
                <a:latin typeface="宋体" charset="-122"/>
              </a:rPr>
              <a:t>("%</a:t>
            </a:r>
            <a:r>
              <a:rPr lang="en-US" altLang="zh-CN" sz="2800" b="1" dirty="0" err="1">
                <a:latin typeface="宋体" charset="-122"/>
              </a:rPr>
              <a:t>d%d%d</a:t>
            </a:r>
            <a:r>
              <a:rPr lang="en-US" altLang="zh-CN" sz="2800" b="1" dirty="0">
                <a:latin typeface="宋体" charset="-122"/>
              </a:rPr>
              <a:t>", &amp;a, &amp;b, &amp;c);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max = a;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if (max &lt; b) max = b;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if (max &lt; c) max = c;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  </a:t>
            </a:r>
            <a:r>
              <a:rPr lang="en-US" altLang="zh-CN" sz="2800" b="1" dirty="0" err="1">
                <a:latin typeface="宋体" charset="-122"/>
              </a:rPr>
              <a:t>printf</a:t>
            </a:r>
            <a:r>
              <a:rPr lang="en-US" altLang="zh-CN" sz="2800" b="1" dirty="0">
                <a:latin typeface="宋体" charset="-122"/>
              </a:rPr>
              <a:t>("</a:t>
            </a:r>
            <a:r>
              <a:rPr lang="zh-CN" altLang="en-US" sz="2800" b="1" dirty="0">
                <a:latin typeface="宋体" charset="-122"/>
              </a:rPr>
              <a:t>最大数是 </a:t>
            </a:r>
            <a:r>
              <a:rPr lang="en-US" altLang="zh-CN" sz="2800" b="1" dirty="0">
                <a:latin typeface="宋体" charset="-122"/>
              </a:rPr>
              <a:t>%d\n", max);</a:t>
            </a:r>
          </a:p>
          <a:p>
            <a:pPr marL="0" indent="0" algn="just" eaLnBrk="1" fontAlgn="auto" hangingPunct="1"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宋体" charset="-122"/>
              </a:rPr>
              <a:t>}</a:t>
            </a:r>
          </a:p>
        </p:txBody>
      </p:sp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FBDF75-54D9-417E-81C5-D4E251890964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026ED0-8E88-4C39-9A5F-79BB0087CA92}"/>
              </a:ext>
            </a:extLst>
          </p:cNvPr>
          <p:cNvSpPr txBox="1"/>
          <p:nvPr/>
        </p:nvSpPr>
        <p:spPr>
          <a:xfrm>
            <a:off x="5713512" y="2420888"/>
            <a:ext cx="2592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highlight>
                  <a:srgbClr val="FFFF00"/>
                </a:highlight>
              </a:rPr>
              <a:t>求</a:t>
            </a:r>
            <a:r>
              <a:rPr lang="en-US" altLang="zh-CN" sz="2400" dirty="0">
                <a:highlight>
                  <a:srgbClr val="FFFF00"/>
                </a:highlight>
              </a:rPr>
              <a:t>n</a:t>
            </a:r>
            <a:r>
              <a:rPr lang="zh-CN" altLang="en-US" sz="2400" dirty="0">
                <a:highlight>
                  <a:srgbClr val="FFFF00"/>
                </a:highlight>
              </a:rPr>
              <a:t>个数的最大值，至少比较</a:t>
            </a:r>
            <a:r>
              <a:rPr lang="en-US" altLang="zh-CN" sz="2400" dirty="0">
                <a:highlight>
                  <a:srgbClr val="FFFF00"/>
                </a:highlight>
              </a:rPr>
              <a:t>n-1</a:t>
            </a:r>
            <a:r>
              <a:rPr lang="zh-CN" altLang="en-US" sz="2400" dirty="0">
                <a:highlight>
                  <a:srgbClr val="FFFF00"/>
                </a:highlight>
              </a:rPr>
              <a:t>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375650" cy="609600"/>
          </a:xfrm>
        </p:spPr>
        <p:txBody>
          <a:bodyPr/>
          <a:lstStyle/>
          <a:p>
            <a:pPr eaLnBrk="1" hangingPunct="1"/>
            <a:r>
              <a:rPr lang="en-US" altLang="zh-CN" sz="2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3.6】</a:t>
            </a:r>
            <a:r>
              <a:rPr lang="zh-CN" altLang="en-US" sz="2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输入三个整数，按值</a:t>
            </a:r>
            <a:r>
              <a:rPr lang="zh-CN" altLang="en-US" sz="2600" b="1" dirty="0">
                <a:solidFill>
                  <a:schemeClr val="tx1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从大到小</a:t>
            </a:r>
            <a:r>
              <a:rPr lang="zh-CN" altLang="en-US" sz="2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的顺序输出。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137525" cy="5472112"/>
          </a:xfrm>
        </p:spPr>
        <p:txBody>
          <a:bodyPr>
            <a:normAutofit fontScale="92500"/>
          </a:bodyPr>
          <a:lstStyle/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有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、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y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、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三个变量，使满足关系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 &gt;= y &gt;= 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。</a:t>
            </a: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方法：先调整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和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y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，使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 &gt;= y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；再调整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和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，使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 &gt;= 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；至此，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x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为最大值。最后再调整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y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和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，使</a:t>
            </a:r>
            <a:r>
              <a:rPr lang="en-US" altLang="zh-CN" sz="2900" b="1" dirty="0">
                <a:solidFill>
                  <a:srgbClr val="C00000"/>
                </a:solidFill>
                <a:latin typeface="宋体" charset="-122"/>
              </a:rPr>
              <a:t>y &gt;= z</a:t>
            </a:r>
            <a:r>
              <a:rPr lang="zh-CN" altLang="en-US" sz="2900" b="1" dirty="0">
                <a:solidFill>
                  <a:srgbClr val="C00000"/>
                </a:solidFill>
                <a:latin typeface="宋体" charset="-122"/>
              </a:rPr>
              <a:t>。</a:t>
            </a:r>
            <a:endParaRPr lang="en-US" altLang="zh-CN" sz="2900" b="1" dirty="0">
              <a:solidFill>
                <a:srgbClr val="C00000"/>
              </a:solidFill>
              <a:latin typeface="宋体" charset="-122"/>
            </a:endParaRP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900" b="1" dirty="0">
              <a:latin typeface="宋体" charset="-122"/>
            </a:endParaRPr>
          </a:p>
          <a:p>
            <a:pPr marL="0" indent="0" algn="just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#include  &lt;</a:t>
            </a:r>
            <a:r>
              <a:rPr lang="en-US" altLang="zh-CN" sz="3000" b="1" dirty="0" err="1">
                <a:latin typeface="宋体" charset="-122"/>
              </a:rPr>
              <a:t>stdio.h</a:t>
            </a:r>
            <a:r>
              <a:rPr lang="en-US" altLang="zh-CN" sz="3000" b="1" dirty="0">
                <a:latin typeface="宋体" charset="-122"/>
              </a:rPr>
              <a:t>&gt;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void main()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{ </a:t>
            </a:r>
            <a:r>
              <a:rPr lang="en-US" altLang="zh-CN" sz="3000" b="1" dirty="0" err="1">
                <a:latin typeface="宋体" charset="-122"/>
              </a:rPr>
              <a:t>int</a:t>
            </a:r>
            <a:r>
              <a:rPr lang="en-US" altLang="zh-CN" sz="3000" b="1" dirty="0">
                <a:latin typeface="宋体" charset="-122"/>
              </a:rPr>
              <a:t> x, y, z, temp;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</a:t>
            </a:r>
            <a:r>
              <a:rPr lang="en-US" altLang="zh-CN" sz="3000" b="1" dirty="0" err="1">
                <a:latin typeface="宋体" charset="-122"/>
              </a:rPr>
              <a:t>printf</a:t>
            </a:r>
            <a:r>
              <a:rPr lang="en-US" altLang="zh-CN" sz="3000" b="1" dirty="0">
                <a:latin typeface="宋体" charset="-122"/>
              </a:rPr>
              <a:t>("Enter x, y, z.\n");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</a:t>
            </a:r>
            <a:r>
              <a:rPr lang="en-US" altLang="zh-CN" sz="3000" b="1" dirty="0" err="1">
                <a:latin typeface="宋体" charset="-122"/>
              </a:rPr>
              <a:t>scanf</a:t>
            </a:r>
            <a:r>
              <a:rPr lang="en-US" altLang="zh-CN" sz="3000" b="1" dirty="0">
                <a:latin typeface="宋体" charset="-122"/>
              </a:rPr>
              <a:t>("%</a:t>
            </a:r>
            <a:r>
              <a:rPr lang="en-US" altLang="zh-CN" sz="3000" b="1" dirty="0" err="1">
                <a:latin typeface="宋体" charset="-122"/>
              </a:rPr>
              <a:t>d%d%d</a:t>
            </a:r>
            <a:r>
              <a:rPr lang="en-US" altLang="zh-CN" sz="3000" b="1" dirty="0">
                <a:latin typeface="宋体" charset="-122"/>
              </a:rPr>
              <a:t>", &amp;x, &amp;y, &amp;z);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if (x &lt; y) { temp = x; x = y; y = temp;}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if (x &lt; z) { temp = x; x = z; z = temp;}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if (y &lt; z) { temp = y; y = z; z = temp;}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  </a:t>
            </a:r>
            <a:r>
              <a:rPr lang="en-US" altLang="zh-CN" sz="3000" b="1" dirty="0" err="1">
                <a:latin typeface="宋体" charset="-122"/>
              </a:rPr>
              <a:t>printf</a:t>
            </a:r>
            <a:r>
              <a:rPr lang="en-US" altLang="zh-CN" sz="3000" b="1" dirty="0">
                <a:latin typeface="宋体" charset="-122"/>
              </a:rPr>
              <a:t>("%d\</a:t>
            </a:r>
            <a:r>
              <a:rPr lang="en-US" altLang="zh-CN" sz="3000" b="1" dirty="0" err="1">
                <a:latin typeface="宋体" charset="-122"/>
              </a:rPr>
              <a:t>t%d</a:t>
            </a:r>
            <a:r>
              <a:rPr lang="en-US" altLang="zh-CN" sz="3000" b="1" dirty="0">
                <a:latin typeface="宋体" charset="-122"/>
              </a:rPr>
              <a:t>\</a:t>
            </a:r>
            <a:r>
              <a:rPr lang="en-US" altLang="zh-CN" sz="3000" b="1" dirty="0" err="1">
                <a:latin typeface="宋体" charset="-122"/>
              </a:rPr>
              <a:t>t%d</a:t>
            </a:r>
            <a:r>
              <a:rPr lang="en-US" altLang="zh-CN" sz="3000" b="1" dirty="0">
                <a:latin typeface="宋体" charset="-122"/>
              </a:rPr>
              <a:t>\n", x, y, z);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000" b="1" dirty="0">
                <a:latin typeface="宋体" charset="-122"/>
              </a:rPr>
              <a:t>}</a:t>
            </a:r>
          </a:p>
        </p:txBody>
      </p:sp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6AECDD-3647-4FD7-AE4E-E3E198E0AD53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D51A0F-7E21-4300-9CB3-55C1DA15C898}"/>
              </a:ext>
            </a:extLst>
          </p:cNvPr>
          <p:cNvSpPr txBox="1"/>
          <p:nvPr/>
        </p:nvSpPr>
        <p:spPr>
          <a:xfrm>
            <a:off x="5076056" y="2598003"/>
            <a:ext cx="22322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如果扩展到</a:t>
            </a:r>
            <a:r>
              <a:rPr lang="en-US" altLang="zh-CN" sz="2800" b="1" dirty="0">
                <a:solidFill>
                  <a:srgbClr val="C00000"/>
                </a:solidFill>
              </a:rPr>
              <a:t>n</a:t>
            </a:r>
            <a:r>
              <a:rPr lang="zh-CN" altLang="en-US" sz="2800" b="1" dirty="0">
                <a:solidFill>
                  <a:srgbClr val="C00000"/>
                </a:solidFill>
              </a:rPr>
              <a:t>个数的排序？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31188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3.7】</a:t>
            </a:r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求一元二次方程的根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353425" cy="5791200"/>
          </a:xfrm>
        </p:spPr>
        <p:txBody>
          <a:bodyPr/>
          <a:lstStyle/>
          <a:p>
            <a:pPr marL="0" indent="0" algn="just"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设一元二次方程为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ax</a:t>
            </a:r>
            <a:r>
              <a:rPr lang="en-US" altLang="zh-CN" b="1" baseline="30000" dirty="0">
                <a:solidFill>
                  <a:srgbClr val="660033"/>
                </a:solidFill>
                <a:latin typeface="宋体" pitchFamily="2" charset="-122"/>
              </a:rPr>
              <a:t>2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+bx+c=0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，对输入的系数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a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、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b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、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c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，有以下几种情况需要考虑：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(1)a≠0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方程有两个根。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(2)a=0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b≠0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方程退化为</a:t>
            </a:r>
            <a:r>
              <a:rPr lang="en-US" altLang="zh-CN" b="1" dirty="0" err="1">
                <a:solidFill>
                  <a:srgbClr val="660033"/>
                </a:solidFill>
                <a:latin typeface="宋体" pitchFamily="2" charset="-122"/>
              </a:rPr>
              <a:t>bx+c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=0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，方程根为：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-c/b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。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(3)a=0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b=0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方程为同义反复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(c=0)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，或矛盾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(c≠0)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。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CC6600"/>
                </a:solidFill>
                <a:latin typeface="宋体" pitchFamily="2" charset="-122"/>
              </a:rPr>
              <a:t>由以上分析得到以下程序结构：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(1)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输入方程系数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a, b, c;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if ( a != 0.0 ) (2)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求两个根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else  if ( b != 0.0 )  (3)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输出方程根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-c/b;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else  if ( c == 0 )  (4)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输出方程同义反复字样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   else  (5)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输出方程矛盾字样；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C8AD3-8938-417A-80A7-2BF012C170B3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569325" cy="5616575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分析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对步骤⑴、⑶、⑷、⑸，用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C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语言描述非常简单。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分析</a:t>
            </a: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对步骤⑵，根椐判别式： </a:t>
            </a:r>
            <a:b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</a:b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△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=b</a:t>
            </a:r>
            <a:r>
              <a:rPr lang="en-US" altLang="zh-CN" b="1" baseline="30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-4ac≥0</a:t>
            </a:r>
            <a:r>
              <a:rPr lang="zh-CN" altLang="en-US" b="1" dirty="0">
                <a:solidFill>
                  <a:srgbClr val="660033"/>
                </a:solidFill>
                <a:latin typeface="黑体" pitchFamily="2" charset="-122"/>
                <a:ea typeface="黑体" pitchFamily="2" charset="-122"/>
              </a:rPr>
              <a:t>，有两个实根</a:t>
            </a:r>
          </a:p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△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=b</a:t>
            </a:r>
            <a:r>
              <a:rPr lang="en-US" altLang="zh-CN" b="1" baseline="30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-4ac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＜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b="1" dirty="0">
                <a:solidFill>
                  <a:srgbClr val="660033"/>
                </a:solidFill>
                <a:latin typeface="黑体" pitchFamily="2" charset="-122"/>
                <a:ea typeface="黑体" pitchFamily="2" charset="-122"/>
              </a:rPr>
              <a:t>，有两个复根</a:t>
            </a:r>
          </a:p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    </a:t>
            </a:r>
            <a:endParaRPr lang="zh-CN" altLang="en-US" b="1" dirty="0">
              <a:solidFill>
                <a:schemeClr val="accent2"/>
              </a:solidFill>
              <a:latin typeface="宋体" pitchFamily="2" charset="-122"/>
            </a:endParaRPr>
          </a:p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对于两个复根情况，可分别计算它们的实部和虚部。对于实根，也可根据上面给出的公式计算两个根。但是考虑到 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b</a:t>
            </a:r>
            <a:r>
              <a:rPr lang="en-US" altLang="zh-CN" b="1" baseline="30000" dirty="0">
                <a:solidFill>
                  <a:srgbClr val="660033"/>
                </a:solidFill>
                <a:latin typeface="宋体" pitchFamily="2" charset="-122"/>
              </a:rPr>
              <a:t>2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 &gt;&gt; 4ac 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时，有一个根非常接近零。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数值计算中，两个非常接近的数执行减法求出的值的精度很低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。为此先求出一个绝对值大的根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root1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。然后，利用根与系数的关系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:  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root1*root2 = c/a</a:t>
            </a:r>
          </a:p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即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root2=c/(a*root1)</a:t>
            </a:r>
          </a:p>
          <a:p>
            <a:pPr marL="0" indent="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求出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root2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B418D-F048-4BCD-BEEB-2D5A749EAEB4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52513"/>
            <a:ext cx="8686800" cy="54578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math.h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  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使用数学库函数 *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double  a,b,c,delta,re,im,root1,root2;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5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sz="2500" b="1" dirty="0">
                <a:latin typeface="黑体" pitchFamily="2" charset="-122"/>
                <a:ea typeface="黑体" pitchFamily="2" charset="-122"/>
              </a:rPr>
              <a:t>输入方程系数</a:t>
            </a:r>
            <a:r>
              <a:rPr lang="en-US" altLang="zh-CN" sz="2500" b="1" dirty="0" err="1">
                <a:latin typeface="黑体" pitchFamily="2" charset="-122"/>
                <a:ea typeface="黑体" pitchFamily="2" charset="-122"/>
              </a:rPr>
              <a:t>a,b,c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:");</a:t>
            </a:r>
            <a:endParaRPr lang="en-US" altLang="zh-CN" sz="2100" b="1" dirty="0">
              <a:latin typeface="黑体" pitchFamily="2" charset="-122"/>
              <a:ea typeface="黑体" pitchFamily="2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  	</a:t>
            </a:r>
            <a:r>
              <a:rPr lang="en-US" altLang="zh-CN" sz="2500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("%</a:t>
            </a:r>
            <a:r>
              <a:rPr lang="en-US" altLang="zh-CN" sz="2500" b="1" dirty="0" err="1">
                <a:latin typeface="黑体" pitchFamily="2" charset="-122"/>
                <a:ea typeface="黑体" pitchFamily="2" charset="-122"/>
              </a:rPr>
              <a:t>lf%lf%lf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",&amp;</a:t>
            </a:r>
            <a:r>
              <a:rPr lang="en-US" altLang="zh-CN" sz="2500" b="1" dirty="0" err="1">
                <a:latin typeface="黑体" pitchFamily="2" charset="-122"/>
                <a:ea typeface="黑体" pitchFamily="2" charset="-122"/>
              </a:rPr>
              <a:t>a,&amp;b,&amp;c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if (a != 0.0){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有两个根 *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delta = b*b-4.0*a*c;  re = -b/(2.0*a);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im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= sqrt(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fabs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(delta))/(2.0*a);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if (delta&gt;= 0.0){</a:t>
            </a:r>
            <a:r>
              <a:rPr lang="en-US" altLang="zh-CN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两个实根</a:t>
            </a:r>
            <a:r>
              <a:rPr lang="en-US" altLang="zh-CN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, </a:t>
            </a:r>
            <a:r>
              <a:rPr lang="zh-CN" altLang="en-US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先求</a:t>
            </a:r>
            <a:r>
              <a:rPr lang="zh-CN" altLang="en-US" sz="2200" b="1" dirty="0">
                <a:solidFill>
                  <a:srgbClr val="0000FF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绝对值大</a:t>
            </a:r>
            <a:r>
              <a:rPr lang="zh-CN" altLang="en-US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的根*</a:t>
            </a:r>
            <a:r>
              <a:rPr lang="en-US" altLang="zh-CN" sz="2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root1 = re + 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(b &lt; 0.0 ? </a:t>
            </a:r>
            <a:r>
              <a:rPr lang="en-US" altLang="zh-CN" b="1" dirty="0" err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im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: -</a:t>
            </a:r>
            <a:r>
              <a:rPr lang="en-US" altLang="zh-CN" b="1" dirty="0" err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im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root2 = c/(a*root1);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500" b="1" dirty="0">
                <a:latin typeface="黑体" pitchFamily="2" charset="-122"/>
                <a:ea typeface="黑体" pitchFamily="2" charset="-122"/>
              </a:rPr>
              <a:t>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两实根是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:%</a:t>
            </a:r>
            <a:r>
              <a:rPr lang="en-US" altLang="zh-CN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7.5f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,%7.5f\n",root1,root2);</a:t>
            </a:r>
          </a:p>
          <a:p>
            <a:pPr marL="0" indent="0" eaLnBrk="1" hangingPunct="1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3538" algn="l"/>
              </a:tabLst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} </a:t>
            </a:r>
          </a:p>
        </p:txBody>
      </p:sp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7894A-96D3-4335-905E-32ECA43FC73C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5183560" y="0"/>
            <a:ext cx="3960440" cy="17008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000000"/>
                </a:solidFill>
                <a:latin typeface="arial"/>
              </a:rPr>
              <a:t>用法：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  <a:latin typeface="arial"/>
              </a:rPr>
              <a:t>math.h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</a:rPr>
              <a:t>&gt;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arial"/>
              </a:rPr>
              <a:t>功能：求浮点数</a:t>
            </a:r>
            <a:r>
              <a:rPr lang="en-US" altLang="zh-CN" sz="2000" b="1" dirty="0">
                <a:solidFill>
                  <a:srgbClr val="000000"/>
                </a:solidFill>
                <a:latin typeface="arial"/>
              </a:rPr>
              <a:t>x</a:t>
            </a:r>
            <a:r>
              <a:rPr lang="zh-CN" altLang="en-US" sz="2000" b="1" dirty="0">
                <a:solidFill>
                  <a:srgbClr val="000000"/>
                </a:solidFill>
                <a:latin typeface="arial"/>
              </a:rPr>
              <a:t>的绝对值</a:t>
            </a:r>
            <a:endParaRPr lang="en-US" altLang="zh-CN" sz="2000" b="1" dirty="0">
              <a:solidFill>
                <a:srgbClr val="000000"/>
              </a:solidFill>
              <a:latin typeface="arial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arial"/>
              </a:rPr>
              <a:t>double fabs( double x );</a:t>
            </a:r>
            <a:r>
              <a:rPr lang="zh-CN" altLang="en-US" sz="2000" b="1" dirty="0">
                <a:solidFill>
                  <a:srgbClr val="000000"/>
                </a:solidFill>
                <a:latin typeface="arial"/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08050"/>
            <a:ext cx="8664575" cy="55451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else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两复根是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%7.5f+%7.5fI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%7.5f-%7.5fI\n",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       re, fabs(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im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), re, fabs(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im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else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a = 0.0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if (b != 0.0)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单根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%7.5f\n", -c/b);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else if (!c)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方程同义反复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.\n");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else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方程矛盾。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\n");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</a:t>
            </a:r>
            <a:r>
              <a:rPr lang="en-US" altLang="zh-CN" b="1" dirty="0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87FCE-C380-40E8-98DC-F07612EF6155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794385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多路按值选择结构 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052513"/>
            <a:ext cx="8280400" cy="5184775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Ｃ语言提供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switch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语句用于描述多路选择情况。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switch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语句的一般形式为：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switch(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	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{ case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常量表达式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1: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语句序列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case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常量表达式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2: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语句序列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  ...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case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常量表达式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n: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语句序列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default          :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语句序列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n+1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    }</a:t>
            </a:r>
          </a:p>
        </p:txBody>
      </p:sp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A1D24-82FF-4223-95C4-15D6BFBEBCFE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088312" cy="719138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switch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语句的一些说明</a:t>
            </a:r>
          </a:p>
        </p:txBody>
      </p:sp>
      <p:sp>
        <p:nvSpPr>
          <p:cNvPr id="328707" name="Rectangle 1027"/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280400" cy="5432425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lnSpc>
                <a:spcPct val="105000"/>
              </a:lnSpc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switch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后面括号内的表达式只限于是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整型表达式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字符型表达式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枚举型表达式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整数型常量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marL="571500" indent="-571500" algn="just" eaLnBrk="1" fontAlgn="auto" hangingPunct="1">
              <a:lnSpc>
                <a:spcPct val="105000"/>
              </a:lnSpc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当表达式的值与某一个“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case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常量表达式”的值相等时，就执行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case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后面的语句，只要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未遇到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break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语句或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goto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就一直向下执行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，直至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switch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语句出口。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当所有条件都不匹配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时，执行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default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后面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的语句序列。</a:t>
            </a:r>
          </a:p>
          <a:p>
            <a:pPr marL="571500" indent="-571500" eaLnBrk="1" fontAlgn="auto" hangingPunct="1">
              <a:lnSpc>
                <a:spcPct val="105000"/>
              </a:lnSpc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每一个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case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的常量表达式的值必须互不相同。</a:t>
            </a:r>
          </a:p>
          <a:p>
            <a:pPr marL="571500" indent="-571500" eaLnBrk="1" fontAlgn="auto" hangingPunct="1">
              <a:lnSpc>
                <a:spcPct val="105000"/>
              </a:lnSpc>
              <a:spcBef>
                <a:spcPct val="15000"/>
              </a:spcBef>
              <a:spcAft>
                <a:spcPts val="600"/>
              </a:spcAft>
              <a:buClr>
                <a:schemeClr val="accent3"/>
              </a:buCl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语句序列由任意条合法的Ｃ语句构成，也可以没有语句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CB8341-3B12-4DD1-8547-429318053EE0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71475"/>
            <a:ext cx="8064500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switch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语句－执行过程</a:t>
            </a:r>
          </a:p>
        </p:txBody>
      </p:sp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F77C06-871A-41E9-9EA0-B68384C7AAF7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grpSp>
        <p:nvGrpSpPr>
          <p:cNvPr id="39940" name="Group 84"/>
          <p:cNvGrpSpPr>
            <a:grpSpLocks/>
          </p:cNvGrpSpPr>
          <p:nvPr/>
        </p:nvGrpSpPr>
        <p:grpSpPr bwMode="auto">
          <a:xfrm>
            <a:off x="395288" y="1052513"/>
            <a:ext cx="8410575" cy="4751387"/>
            <a:chOff x="213" y="799"/>
            <a:chExt cx="5298" cy="2993"/>
          </a:xfrm>
        </p:grpSpPr>
        <p:grpSp>
          <p:nvGrpSpPr>
            <p:cNvPr id="39942" name="Group 82"/>
            <p:cNvGrpSpPr>
              <a:grpSpLocks/>
            </p:cNvGrpSpPr>
            <p:nvPr/>
          </p:nvGrpSpPr>
          <p:grpSpPr bwMode="auto">
            <a:xfrm>
              <a:off x="1146" y="3566"/>
              <a:ext cx="3866" cy="226"/>
              <a:chOff x="1146" y="3566"/>
              <a:chExt cx="3866" cy="226"/>
            </a:xfrm>
          </p:grpSpPr>
          <p:sp>
            <p:nvSpPr>
              <p:cNvPr id="39980" name="Line 29"/>
              <p:cNvSpPr>
                <a:spLocks noChangeShapeType="1"/>
              </p:cNvSpPr>
              <p:nvPr/>
            </p:nvSpPr>
            <p:spPr bwMode="auto">
              <a:xfrm flipV="1">
                <a:off x="1146" y="3566"/>
                <a:ext cx="3866" cy="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81" name="Line 34"/>
              <p:cNvSpPr>
                <a:spLocks noChangeShapeType="1"/>
              </p:cNvSpPr>
              <p:nvPr/>
            </p:nvSpPr>
            <p:spPr bwMode="auto">
              <a:xfrm>
                <a:off x="2927" y="3580"/>
                <a:ext cx="0" cy="2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39943" name="Group 52"/>
            <p:cNvGrpSpPr>
              <a:grpSpLocks/>
            </p:cNvGrpSpPr>
            <p:nvPr/>
          </p:nvGrpSpPr>
          <p:grpSpPr bwMode="auto">
            <a:xfrm>
              <a:off x="673" y="1484"/>
              <a:ext cx="937" cy="2094"/>
              <a:chOff x="673" y="1484"/>
              <a:chExt cx="937" cy="2094"/>
            </a:xfrm>
          </p:grpSpPr>
          <p:sp>
            <p:nvSpPr>
              <p:cNvPr id="39973" name="Line 41"/>
              <p:cNvSpPr>
                <a:spLocks noChangeShapeType="1"/>
              </p:cNvSpPr>
              <p:nvPr/>
            </p:nvSpPr>
            <p:spPr bwMode="auto">
              <a:xfrm>
                <a:off x="1156" y="2024"/>
                <a:ext cx="0" cy="2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74" name="Line 23"/>
              <p:cNvSpPr>
                <a:spLocks noChangeShapeType="1"/>
              </p:cNvSpPr>
              <p:nvPr/>
            </p:nvSpPr>
            <p:spPr bwMode="auto">
              <a:xfrm>
                <a:off x="1146" y="1484"/>
                <a:ext cx="0" cy="2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75" name="AutoShape 25"/>
              <p:cNvSpPr>
                <a:spLocks noChangeArrowheads="1"/>
              </p:cNvSpPr>
              <p:nvPr/>
            </p:nvSpPr>
            <p:spPr bwMode="auto">
              <a:xfrm>
                <a:off x="675" y="3067"/>
                <a:ext cx="935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n+1</a:t>
                </a:r>
              </a:p>
            </p:txBody>
          </p:sp>
          <p:sp>
            <p:nvSpPr>
              <p:cNvPr id="39976" name="Line 27"/>
              <p:cNvSpPr>
                <a:spLocks noChangeShapeType="1"/>
              </p:cNvSpPr>
              <p:nvPr/>
            </p:nvSpPr>
            <p:spPr bwMode="auto">
              <a:xfrm>
                <a:off x="1146" y="3366"/>
                <a:ext cx="0" cy="2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77" name="AutoShape 40"/>
              <p:cNvSpPr>
                <a:spLocks noChangeArrowheads="1"/>
              </p:cNvSpPr>
              <p:nvPr/>
            </p:nvSpPr>
            <p:spPr bwMode="auto">
              <a:xfrm>
                <a:off x="673" y="1752"/>
                <a:ext cx="937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1</a:t>
                </a:r>
              </a:p>
            </p:txBody>
          </p:sp>
          <p:sp>
            <p:nvSpPr>
              <p:cNvPr id="39978" name="Line 42"/>
              <p:cNvSpPr>
                <a:spLocks noChangeShapeType="1"/>
              </p:cNvSpPr>
              <p:nvPr/>
            </p:nvSpPr>
            <p:spPr bwMode="auto">
              <a:xfrm>
                <a:off x="1156" y="2799"/>
                <a:ext cx="0" cy="2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79" name="Text Box 44"/>
              <p:cNvSpPr txBox="1">
                <a:spLocks noChangeArrowheads="1"/>
              </p:cNvSpPr>
              <p:nvPr/>
            </p:nvSpPr>
            <p:spPr bwMode="auto">
              <a:xfrm>
                <a:off x="1066" y="2341"/>
                <a:ext cx="185" cy="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</p:txBody>
          </p:sp>
        </p:grpSp>
        <p:grpSp>
          <p:nvGrpSpPr>
            <p:cNvPr id="39944" name="Group 70"/>
            <p:cNvGrpSpPr>
              <a:grpSpLocks/>
            </p:cNvGrpSpPr>
            <p:nvPr/>
          </p:nvGrpSpPr>
          <p:grpSpPr bwMode="auto">
            <a:xfrm>
              <a:off x="1716" y="1265"/>
              <a:ext cx="983" cy="2315"/>
              <a:chOff x="1716" y="1265"/>
              <a:chExt cx="983" cy="2315"/>
            </a:xfrm>
          </p:grpSpPr>
          <p:sp>
            <p:nvSpPr>
              <p:cNvPr id="39966" name="Line 21"/>
              <p:cNvSpPr>
                <a:spLocks noChangeShapeType="1"/>
              </p:cNvSpPr>
              <p:nvPr/>
            </p:nvSpPr>
            <p:spPr bwMode="auto">
              <a:xfrm>
                <a:off x="2224" y="3368"/>
                <a:ext cx="0" cy="2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67" name="Line 46"/>
              <p:cNvSpPr>
                <a:spLocks noChangeShapeType="1"/>
              </p:cNvSpPr>
              <p:nvPr/>
            </p:nvSpPr>
            <p:spPr bwMode="auto">
              <a:xfrm>
                <a:off x="2223" y="2205"/>
                <a:ext cx="0" cy="2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68" name="AutoShape 47"/>
              <p:cNvSpPr>
                <a:spLocks noChangeArrowheads="1"/>
              </p:cNvSpPr>
              <p:nvPr/>
            </p:nvSpPr>
            <p:spPr bwMode="auto">
              <a:xfrm>
                <a:off x="1718" y="3067"/>
                <a:ext cx="981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n+1</a:t>
                </a:r>
              </a:p>
            </p:txBody>
          </p:sp>
          <p:sp>
            <p:nvSpPr>
              <p:cNvPr id="39969" name="AutoShape 48"/>
              <p:cNvSpPr>
                <a:spLocks noChangeArrowheads="1"/>
              </p:cNvSpPr>
              <p:nvPr/>
            </p:nvSpPr>
            <p:spPr bwMode="auto">
              <a:xfrm>
                <a:off x="1716" y="1933"/>
                <a:ext cx="983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2</a:t>
                </a:r>
              </a:p>
            </p:txBody>
          </p:sp>
          <p:sp>
            <p:nvSpPr>
              <p:cNvPr id="39970" name="Line 49"/>
              <p:cNvSpPr>
                <a:spLocks noChangeShapeType="1"/>
              </p:cNvSpPr>
              <p:nvPr/>
            </p:nvSpPr>
            <p:spPr bwMode="auto">
              <a:xfrm>
                <a:off x="2223" y="2886"/>
                <a:ext cx="0" cy="1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71" name="Text Box 50"/>
              <p:cNvSpPr txBox="1">
                <a:spLocks noChangeArrowheads="1"/>
              </p:cNvSpPr>
              <p:nvPr/>
            </p:nvSpPr>
            <p:spPr bwMode="auto">
              <a:xfrm>
                <a:off x="2128" y="2478"/>
                <a:ext cx="185" cy="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CN" sz="2400" b="1"/>
                  <a:t>.</a:t>
                </a:r>
              </a:p>
            </p:txBody>
          </p:sp>
          <p:sp>
            <p:nvSpPr>
              <p:cNvPr id="39972" name="Line 51"/>
              <p:cNvSpPr>
                <a:spLocks noChangeShapeType="1"/>
              </p:cNvSpPr>
              <p:nvPr/>
            </p:nvSpPr>
            <p:spPr bwMode="auto">
              <a:xfrm>
                <a:off x="2224" y="1265"/>
                <a:ext cx="0" cy="6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39945" name="Group 81"/>
            <p:cNvGrpSpPr>
              <a:grpSpLocks/>
            </p:cNvGrpSpPr>
            <p:nvPr/>
          </p:nvGrpSpPr>
          <p:grpSpPr bwMode="auto">
            <a:xfrm>
              <a:off x="587" y="799"/>
              <a:ext cx="4425" cy="685"/>
              <a:chOff x="587" y="799"/>
              <a:chExt cx="4425" cy="685"/>
            </a:xfrm>
          </p:grpSpPr>
          <p:sp>
            <p:nvSpPr>
              <p:cNvPr id="39961" name="Line 17"/>
              <p:cNvSpPr>
                <a:spLocks noChangeShapeType="1"/>
              </p:cNvSpPr>
              <p:nvPr/>
            </p:nvSpPr>
            <p:spPr bwMode="auto">
              <a:xfrm flipV="1">
                <a:off x="1635" y="1253"/>
                <a:ext cx="927" cy="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62" name="AutoShape 24"/>
              <p:cNvSpPr>
                <a:spLocks noChangeArrowheads="1"/>
              </p:cNvSpPr>
              <p:nvPr/>
            </p:nvSpPr>
            <p:spPr bwMode="auto">
              <a:xfrm>
                <a:off x="587" y="1055"/>
                <a:ext cx="1114" cy="429"/>
              </a:xfrm>
              <a:prstGeom prst="flowChartDecision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zh-CN" b="1"/>
                  <a:t> </a:t>
                </a:r>
                <a:r>
                  <a:rPr lang="zh-CN" altLang="en-US" b="1"/>
                  <a:t>表达式</a:t>
                </a:r>
                <a:r>
                  <a:rPr lang="en-US" altLang="zh-CN" b="1"/>
                  <a:t>=</a:t>
                </a:r>
                <a:r>
                  <a:rPr lang="zh-CN" altLang="en-US" b="1"/>
                  <a:t>？</a:t>
                </a:r>
              </a:p>
            </p:txBody>
          </p:sp>
          <p:sp>
            <p:nvSpPr>
              <p:cNvPr id="39963" name="Line 26"/>
              <p:cNvSpPr>
                <a:spLocks noChangeShapeType="1"/>
              </p:cNvSpPr>
              <p:nvPr/>
            </p:nvSpPr>
            <p:spPr bwMode="auto">
              <a:xfrm>
                <a:off x="1146" y="799"/>
                <a:ext cx="0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64" name="Text Box 67"/>
              <p:cNvSpPr txBox="1">
                <a:spLocks noChangeArrowheads="1"/>
              </p:cNvSpPr>
              <p:nvPr/>
            </p:nvSpPr>
            <p:spPr bwMode="auto">
              <a:xfrm>
                <a:off x="2653" y="1071"/>
                <a:ext cx="59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spAutoFit/>
              </a:bodyPr>
              <a:lstStyle/>
              <a:p>
                <a:r>
                  <a:rPr lang="en-US" altLang="zh-CN" sz="2800" b="1">
                    <a:latin typeface="宋体" pitchFamily="2" charset="-122"/>
                  </a:rPr>
                  <a:t>……</a:t>
                </a:r>
                <a:endParaRPr lang="en-US" altLang="zh-CN" sz="2000" b="1">
                  <a:latin typeface="宋体" pitchFamily="2" charset="-122"/>
                </a:endParaRPr>
              </a:p>
            </p:txBody>
          </p:sp>
          <p:sp>
            <p:nvSpPr>
              <p:cNvPr id="39965" name="Line 68"/>
              <p:cNvSpPr>
                <a:spLocks noChangeShapeType="1"/>
              </p:cNvSpPr>
              <p:nvPr/>
            </p:nvSpPr>
            <p:spPr bwMode="auto">
              <a:xfrm flipV="1">
                <a:off x="3314" y="1253"/>
                <a:ext cx="1698" cy="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39946" name="Group 77"/>
            <p:cNvGrpSpPr>
              <a:grpSpLocks/>
            </p:cNvGrpSpPr>
            <p:nvPr/>
          </p:nvGrpSpPr>
          <p:grpSpPr bwMode="auto">
            <a:xfrm>
              <a:off x="3515" y="1253"/>
              <a:ext cx="953" cy="2315"/>
              <a:chOff x="3515" y="1253"/>
              <a:chExt cx="953" cy="2315"/>
            </a:xfrm>
          </p:grpSpPr>
          <p:sp>
            <p:nvSpPr>
              <p:cNvPr id="39956" name="Line 60"/>
              <p:cNvSpPr>
                <a:spLocks noChangeShapeType="1"/>
              </p:cNvSpPr>
              <p:nvPr/>
            </p:nvSpPr>
            <p:spPr bwMode="auto">
              <a:xfrm>
                <a:off x="4007" y="3356"/>
                <a:ext cx="0" cy="2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57" name="AutoShape 62"/>
              <p:cNvSpPr>
                <a:spLocks noChangeArrowheads="1"/>
              </p:cNvSpPr>
              <p:nvPr/>
            </p:nvSpPr>
            <p:spPr bwMode="auto">
              <a:xfrm>
                <a:off x="3517" y="3055"/>
                <a:ext cx="951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n+1</a:t>
                </a:r>
              </a:p>
            </p:txBody>
          </p:sp>
          <p:sp>
            <p:nvSpPr>
              <p:cNvPr id="39958" name="Line 66"/>
              <p:cNvSpPr>
                <a:spLocks noChangeShapeType="1"/>
              </p:cNvSpPr>
              <p:nvPr/>
            </p:nvSpPr>
            <p:spPr bwMode="auto">
              <a:xfrm>
                <a:off x="4007" y="1253"/>
                <a:ext cx="7" cy="12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59" name="AutoShape 71"/>
              <p:cNvSpPr>
                <a:spLocks noChangeArrowheads="1"/>
              </p:cNvSpPr>
              <p:nvPr/>
            </p:nvSpPr>
            <p:spPr bwMode="auto">
              <a:xfrm>
                <a:off x="3515" y="2496"/>
                <a:ext cx="951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n</a:t>
                </a:r>
              </a:p>
            </p:txBody>
          </p:sp>
          <p:sp>
            <p:nvSpPr>
              <p:cNvPr id="39960" name="Line 72"/>
              <p:cNvSpPr>
                <a:spLocks noChangeShapeType="1"/>
              </p:cNvSpPr>
              <p:nvPr/>
            </p:nvSpPr>
            <p:spPr bwMode="auto">
              <a:xfrm>
                <a:off x="4014" y="2795"/>
                <a:ext cx="0" cy="2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39947" name="Group 76"/>
            <p:cNvGrpSpPr>
              <a:grpSpLocks/>
            </p:cNvGrpSpPr>
            <p:nvPr/>
          </p:nvGrpSpPr>
          <p:grpSpPr bwMode="auto">
            <a:xfrm>
              <a:off x="4560" y="1253"/>
              <a:ext cx="951" cy="2313"/>
              <a:chOff x="4560" y="1253"/>
              <a:chExt cx="951" cy="2313"/>
            </a:xfrm>
          </p:grpSpPr>
          <p:sp>
            <p:nvSpPr>
              <p:cNvPr id="39953" name="Line 73"/>
              <p:cNvSpPr>
                <a:spLocks noChangeShapeType="1"/>
              </p:cNvSpPr>
              <p:nvPr/>
            </p:nvSpPr>
            <p:spPr bwMode="auto">
              <a:xfrm>
                <a:off x="5012" y="3354"/>
                <a:ext cx="0" cy="2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39954" name="AutoShape 74"/>
              <p:cNvSpPr>
                <a:spLocks noChangeArrowheads="1"/>
              </p:cNvSpPr>
              <p:nvPr/>
            </p:nvSpPr>
            <p:spPr bwMode="auto">
              <a:xfrm>
                <a:off x="4560" y="3053"/>
                <a:ext cx="951" cy="299"/>
              </a:xfrm>
              <a:prstGeom prst="flowChartProcess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zh-CN" altLang="en-US" b="1"/>
                  <a:t>语句序列</a:t>
                </a:r>
                <a:r>
                  <a:rPr lang="en-US" altLang="zh-CN" b="1"/>
                  <a:t>n+1</a:t>
                </a:r>
              </a:p>
            </p:txBody>
          </p:sp>
          <p:sp>
            <p:nvSpPr>
              <p:cNvPr id="39955" name="Line 75"/>
              <p:cNvSpPr>
                <a:spLocks noChangeShapeType="1"/>
              </p:cNvSpPr>
              <p:nvPr/>
            </p:nvSpPr>
            <p:spPr bwMode="auto">
              <a:xfrm>
                <a:off x="5012" y="1253"/>
                <a:ext cx="0" cy="18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  <p:grpSp>
          <p:nvGrpSpPr>
            <p:cNvPr id="39948" name="Group 83"/>
            <p:cNvGrpSpPr>
              <a:grpSpLocks/>
            </p:cNvGrpSpPr>
            <p:nvPr/>
          </p:nvGrpSpPr>
          <p:grpSpPr bwMode="auto">
            <a:xfrm>
              <a:off x="213" y="1434"/>
              <a:ext cx="4799" cy="404"/>
              <a:chOff x="213" y="1434"/>
              <a:chExt cx="4799" cy="404"/>
            </a:xfrm>
          </p:grpSpPr>
          <p:sp>
            <p:nvSpPr>
              <p:cNvPr id="39949" name="Text Box 4"/>
              <p:cNvSpPr txBox="1">
                <a:spLocks noChangeArrowheads="1"/>
              </p:cNvSpPr>
              <p:nvPr/>
            </p:nvSpPr>
            <p:spPr bwMode="auto">
              <a:xfrm>
                <a:off x="213" y="1480"/>
                <a:ext cx="94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zh-CN" altLang="en-US" b="1"/>
                  <a:t>常量表达式</a:t>
                </a:r>
                <a:r>
                  <a:rPr lang="en-US" altLang="zh-CN" b="1"/>
                  <a:t>1</a:t>
                </a:r>
              </a:p>
            </p:txBody>
          </p:sp>
          <p:sp>
            <p:nvSpPr>
              <p:cNvPr id="39950" name="Text Box 45"/>
              <p:cNvSpPr txBox="1">
                <a:spLocks noChangeArrowheads="1"/>
              </p:cNvSpPr>
              <p:nvPr/>
            </p:nvSpPr>
            <p:spPr bwMode="auto">
              <a:xfrm>
                <a:off x="1302" y="1480"/>
                <a:ext cx="94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zh-CN" altLang="en-US" b="1"/>
                  <a:t>常量表达式</a:t>
                </a:r>
                <a:r>
                  <a:rPr lang="en-US" altLang="zh-CN" b="1"/>
                  <a:t>2</a:t>
                </a:r>
              </a:p>
            </p:txBody>
          </p:sp>
          <p:sp>
            <p:nvSpPr>
              <p:cNvPr id="39951" name="Text Box 69"/>
              <p:cNvSpPr txBox="1">
                <a:spLocks noChangeArrowheads="1"/>
              </p:cNvSpPr>
              <p:nvPr/>
            </p:nvSpPr>
            <p:spPr bwMode="auto">
              <a:xfrm>
                <a:off x="3071" y="1521"/>
                <a:ext cx="9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zh-CN" altLang="en-US" b="1"/>
                  <a:t>常量表达式</a:t>
                </a:r>
                <a:r>
                  <a:rPr lang="en-US" altLang="zh-CN" b="1"/>
                  <a:t>n</a:t>
                </a:r>
              </a:p>
            </p:txBody>
          </p:sp>
          <p:sp>
            <p:nvSpPr>
              <p:cNvPr id="39952" name="Text Box 80"/>
              <p:cNvSpPr txBox="1">
                <a:spLocks noChangeArrowheads="1"/>
              </p:cNvSpPr>
              <p:nvPr/>
            </p:nvSpPr>
            <p:spPr bwMode="auto">
              <a:xfrm>
                <a:off x="4316" y="1434"/>
                <a:ext cx="69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zh-CN" altLang="en-US" b="1"/>
                  <a:t>所有条件</a:t>
                </a:r>
              </a:p>
              <a:p>
                <a:r>
                  <a:rPr lang="zh-CN" altLang="en-US" b="1"/>
                  <a:t>都不满足</a:t>
                </a:r>
              </a:p>
            </p:txBody>
          </p:sp>
        </p:grpSp>
      </p:grpSp>
      <p:sp>
        <p:nvSpPr>
          <p:cNvPr id="39941" name="Text Box 85"/>
          <p:cNvSpPr txBox="1">
            <a:spLocks noChangeArrowheads="1"/>
          </p:cNvSpPr>
          <p:nvPr/>
        </p:nvSpPr>
        <p:spPr bwMode="auto">
          <a:xfrm>
            <a:off x="323850" y="5934075"/>
            <a:ext cx="8351838" cy="95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说明：</a:t>
            </a:r>
            <a:r>
              <a:rPr lang="zh-CN" altLang="en-US" sz="2800" b="1" dirty="0">
                <a:solidFill>
                  <a:srgbClr val="0000FF"/>
                </a:solidFill>
              </a:rPr>
              <a:t>执行完一个</a:t>
            </a:r>
            <a:r>
              <a:rPr lang="en-US" altLang="zh-CN" sz="2800" b="1" dirty="0">
                <a:solidFill>
                  <a:srgbClr val="0000FF"/>
                </a:solidFill>
              </a:rPr>
              <a:t>case</a:t>
            </a:r>
            <a:r>
              <a:rPr lang="zh-CN" altLang="en-US" sz="2800" b="1" dirty="0">
                <a:solidFill>
                  <a:srgbClr val="0000FF"/>
                </a:solidFill>
              </a:rPr>
              <a:t>后面的语句，</a:t>
            </a:r>
            <a:r>
              <a:rPr lang="zh-CN" alt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继续到</a:t>
            </a:r>
            <a:r>
              <a:rPr lang="zh-CN" altLang="en-US" sz="2800" b="1" dirty="0">
                <a:solidFill>
                  <a:srgbClr val="0000FF"/>
                </a:solidFill>
              </a:rPr>
              <a:t>下一个</a:t>
            </a:r>
            <a:r>
              <a:rPr lang="en-US" altLang="zh-CN" sz="2800" b="1" dirty="0">
                <a:solidFill>
                  <a:srgbClr val="0000FF"/>
                </a:solidFill>
              </a:rPr>
              <a:t>case</a:t>
            </a:r>
            <a:r>
              <a:rPr lang="zh-CN" altLang="en-US" sz="2800" b="1" dirty="0">
                <a:solidFill>
                  <a:srgbClr val="0000FF"/>
                </a:solidFill>
              </a:rPr>
              <a:t>继续执行。“</a:t>
            </a:r>
            <a:r>
              <a:rPr lang="en-US" altLang="zh-CN" sz="2800" b="1" dirty="0">
                <a:solidFill>
                  <a:srgbClr val="0000FF"/>
                </a:solidFill>
              </a:rPr>
              <a:t>case </a:t>
            </a:r>
            <a:r>
              <a:rPr lang="zh-CN" altLang="en-US" sz="2800" b="1" dirty="0">
                <a:solidFill>
                  <a:srgbClr val="0000FF"/>
                </a:solidFill>
              </a:rPr>
              <a:t>表达式”相当于语句标号！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001000" cy="7556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3.8】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435975" cy="54324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char choice;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("Enter choice !(A, B, C, ...\n");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("%c", &amp;choice);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switch (choice) 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 A chosen!\n");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 B chosen!\n");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en-US" altLang="zh-CN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 C chosen!\n");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default 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("default chosen!\n");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如输入字符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ea typeface="黑体" pitchFamily="2" charset="-122"/>
              </a:rPr>
              <a:t>’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，则程序的执行将输出：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33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 chosen!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C chosen!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default chosen!</a:t>
            </a: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078EE1-ABFF-4771-B77C-83827DAD5A8A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532813" cy="647700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break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语句实现分枝互斥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49250" y="1125538"/>
            <a:ext cx="8543925" cy="5254625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break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作用：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控制转向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switch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语句的后继语句。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例</a:t>
            </a:r>
            <a:r>
              <a:rPr lang="en-US" altLang="zh-CN" b="1" dirty="0"/>
              <a:t>3.9】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根据天气情况，安排活动的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C</a:t>
            </a:r>
            <a:r>
              <a:rPr lang="zh-CN" altLang="en-US" b="1" dirty="0">
                <a:solidFill>
                  <a:srgbClr val="660033"/>
                </a:solidFill>
                <a:latin typeface="宋体" pitchFamily="2" charset="-122"/>
              </a:rPr>
              <a:t>代码。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w_con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;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天气情况变量定义 *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天气如何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?[1: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晴天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,2: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多云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,3: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下雨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]");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d",&amp;w_con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switch 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w_con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 case 1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上街购物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!\n");  break;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case 2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去游泳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!\n");    break;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case 3 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在家看电视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!\n");break;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default: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错误选择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!\n"); 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80F89E-29F3-412E-8BF1-DE0DBB335D64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004048" y="5301208"/>
            <a:ext cx="3600400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语句结束它所在的控制结构，让程序从这个控制结构的后继语句继续执行。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357188"/>
            <a:ext cx="8497887" cy="4643437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由于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switch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语句的表达式不允许是实型，应用于实型值选择情况时，通常需作适当处理并转换为整型。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endParaRPr lang="zh-CN" altLang="en-US" sz="1900" b="1" dirty="0"/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400" b="1" dirty="0"/>
              <a:t>【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3.10】</a:t>
            </a:r>
            <a:r>
              <a:rPr lang="zh-CN" altLang="en-US" sz="2400" b="1" dirty="0"/>
              <a:t>计算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zh-CN" altLang="en-US" sz="2400" b="1" dirty="0"/>
              <a:t>                </a:t>
            </a:r>
            <a:r>
              <a:rPr lang="en-US" altLang="zh-CN" sz="2400" b="1" dirty="0"/>
              <a:t>sin(x)   0.5 ≤ x &lt; 1.5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400" b="1" dirty="0"/>
              <a:t>   y(x)=    ln(x)    1.5 ≤ x &lt; 4.5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400" b="1" dirty="0"/>
              <a:t>                exp(x)   4.5 ≤ x &lt; 7.5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endParaRPr lang="en-US" altLang="zh-CN" sz="2400" b="1" dirty="0"/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zh-CN" altLang="en-US" sz="2400" b="1" dirty="0"/>
              <a:t>为了能用</a:t>
            </a:r>
            <a:r>
              <a:rPr lang="en-US" altLang="zh-CN" sz="2400" b="1" dirty="0"/>
              <a:t>switch</a:t>
            </a:r>
            <a:r>
              <a:rPr lang="zh-CN" altLang="en-US" sz="2400" b="1" dirty="0"/>
              <a:t>语句描述</a:t>
            </a:r>
            <a:r>
              <a:rPr lang="en-US" altLang="zh-CN" sz="2400" b="1" dirty="0"/>
              <a:t>y(x)</a:t>
            </a:r>
            <a:r>
              <a:rPr lang="zh-CN" altLang="en-US" sz="2400" b="1" dirty="0"/>
              <a:t>的计算，要把实型变量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的值映射到整型。即对于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的每个区间用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个或多个整数值表示。例如，将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加上</a:t>
            </a:r>
            <a:r>
              <a:rPr lang="en-US" altLang="zh-CN" sz="2400" b="1" dirty="0"/>
              <a:t>0.5</a:t>
            </a:r>
            <a:r>
              <a:rPr lang="zh-CN" altLang="en-US" sz="2400" b="1" dirty="0"/>
              <a:t>后取整，让区间</a:t>
            </a:r>
            <a:r>
              <a:rPr lang="en-US" altLang="zh-CN" sz="2400" b="1" dirty="0"/>
              <a:t>[0.5,1.5)</a:t>
            </a:r>
            <a:r>
              <a:rPr lang="zh-CN" altLang="en-US" sz="2400" b="1" dirty="0"/>
              <a:t>映射到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，区间</a:t>
            </a:r>
            <a:r>
              <a:rPr lang="en-US" altLang="zh-CN" sz="2400" b="1" dirty="0"/>
              <a:t>[1.5,4.5)</a:t>
            </a:r>
            <a:r>
              <a:rPr lang="zh-CN" altLang="en-US" sz="2400" b="1" dirty="0"/>
              <a:t>映射到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，区间</a:t>
            </a:r>
            <a:r>
              <a:rPr lang="en-US" altLang="zh-CN" sz="2400" b="1" dirty="0"/>
              <a:t>[4.5,7.5)</a:t>
            </a:r>
            <a:r>
              <a:rPr lang="zh-CN" altLang="en-US" sz="2400" b="1" dirty="0"/>
              <a:t>映射到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。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tabLst>
                <a:tab pos="3324225" algn="l"/>
              </a:tabLst>
            </a:pPr>
            <a:r>
              <a:rPr lang="zh-CN" altLang="en-US" sz="2400" b="1" dirty="0">
                <a:solidFill>
                  <a:srgbClr val="CC6600"/>
                </a:solidFill>
                <a:latin typeface="黑体" pitchFamily="2" charset="-122"/>
                <a:ea typeface="黑体" pitchFamily="2" charset="-122"/>
              </a:rPr>
              <a:t>      </a:t>
            </a:r>
            <a:endParaRPr lang="en-US" altLang="zh-CN" sz="2400" b="1" dirty="0"/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5F22A3-DADA-4B18-AAE1-1BE2560480B9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44036" name="AutoShape 6"/>
          <p:cNvSpPr>
            <a:spLocks/>
          </p:cNvSpPr>
          <p:nvPr/>
        </p:nvSpPr>
        <p:spPr bwMode="auto">
          <a:xfrm>
            <a:off x="1428750" y="2000250"/>
            <a:ext cx="71438" cy="647700"/>
          </a:xfrm>
          <a:prstGeom prst="leftBrace">
            <a:avLst>
              <a:gd name="adj1" fmla="val 7555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aphicFrame>
        <p:nvGraphicFramePr>
          <p:cNvPr id="7" name="Content Placeholder 4"/>
          <p:cNvGraphicFramePr>
            <a:graphicFrameLocks/>
          </p:cNvGraphicFramePr>
          <p:nvPr/>
        </p:nvGraphicFramePr>
        <p:xfrm>
          <a:off x="142875" y="4572000"/>
          <a:ext cx="8858280" cy="2141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9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bg1"/>
                          </a:solidFill>
                          <a:latin typeface="黑体" pitchFamily="2" charset="-122"/>
                          <a:ea typeface="黑体" pitchFamily="2" charset="-122"/>
                        </a:rPr>
                        <a:t>X</a:t>
                      </a:r>
                      <a:r>
                        <a:rPr lang="zh-CN" altLang="en-US" sz="3200" b="1" dirty="0">
                          <a:solidFill>
                            <a:schemeClr val="bg1"/>
                          </a:solidFill>
                          <a:latin typeface="黑体" pitchFamily="2" charset="-122"/>
                          <a:ea typeface="黑体" pitchFamily="2" charset="-122"/>
                        </a:rPr>
                        <a:t>取值范围               </a:t>
                      </a:r>
                      <a:endParaRPr lang="zh-CN" altLang="en-US" sz="3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黑体" pitchFamily="2" charset="-122"/>
                          <a:ea typeface="黑体" pitchFamily="2" charset="-122"/>
                        </a:rPr>
                        <a:t>( </a:t>
                      </a:r>
                      <a:r>
                        <a:rPr lang="en-US" altLang="zh-CN" sz="2800" b="1" dirty="0" err="1">
                          <a:solidFill>
                            <a:schemeClr val="bg1"/>
                          </a:solidFill>
                          <a:latin typeface="黑体" pitchFamily="2" charset="-122"/>
                          <a:ea typeface="黑体" pitchFamily="2" charset="-122"/>
                        </a:rPr>
                        <a:t>int</a:t>
                      </a:r>
                      <a:r>
                        <a:rPr lang="en-US" altLang="zh-CN" sz="2800" b="1" dirty="0">
                          <a:solidFill>
                            <a:schemeClr val="bg1"/>
                          </a:solidFill>
                          <a:latin typeface="黑体" pitchFamily="2" charset="-122"/>
                          <a:ea typeface="黑体" pitchFamily="2" charset="-122"/>
                        </a:rPr>
                        <a:t> )(x + 0.5)</a:t>
                      </a:r>
                      <a:endParaRPr lang="zh-CN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bg1"/>
                          </a:solidFill>
                        </a:rPr>
                        <a:t>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Times New Roman" pitchFamily="18" charset="0"/>
                          <a:cs typeface="Times New Roman" pitchFamily="18" charset="0"/>
                        </a:rPr>
                        <a:t>0.5 ≤ x &lt; 1.5</a:t>
                      </a:r>
                      <a:r>
                        <a:rPr lang="en-US" altLang="zh-CN" sz="2800" b="1" dirty="0">
                          <a:solidFill>
                            <a:srgbClr val="0000FF"/>
                          </a:solidFill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sin(x)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Times New Roman" pitchFamily="18" charset="0"/>
                          <a:cs typeface="Times New Roman" pitchFamily="18" charset="0"/>
                        </a:rPr>
                        <a:t>1.5 ≤ x &lt; 4.5</a:t>
                      </a:r>
                      <a:r>
                        <a:rPr lang="en-US" altLang="zh-CN" sz="2800" b="1" dirty="0">
                          <a:solidFill>
                            <a:srgbClr val="FF3300"/>
                          </a:solidFill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zh-CN" altLang="en-US" sz="2800" dirty="0"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zh-CN" altLang="en-US" sz="2800" dirty="0"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latin typeface="Times New Roman" pitchFamily="18" charset="0"/>
                          <a:cs typeface="Times New Roman" pitchFamily="18" charset="0"/>
                        </a:rPr>
                        <a:t>ln</a:t>
                      </a:r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(x)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Times New Roman" pitchFamily="18" charset="0"/>
                          <a:cs typeface="Times New Roman" pitchFamily="18" charset="0"/>
                        </a:rPr>
                        <a:t> 4.5 ≤ x &lt; 7.5</a:t>
                      </a:r>
                      <a:r>
                        <a:rPr lang="en-US" altLang="zh-CN" sz="2800" b="1" dirty="0"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zh-CN" altLang="en-US" sz="2800" dirty="0"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zh-CN" altLang="en-US" sz="2800" dirty="0">
                          <a:latin typeface="Times New Roman" pitchFamily="18" charset="0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itchFamily="18" charset="0"/>
                          <a:cs typeface="Times New Roman" pitchFamily="18" charset="0"/>
                        </a:rPr>
                        <a:t>exp(x)</a:t>
                      </a:r>
                      <a:endParaRPr lang="zh-CN" alt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642938"/>
            <a:ext cx="8497888" cy="6215062"/>
          </a:xfrm>
        </p:spPr>
        <p:txBody>
          <a:bodyPr/>
          <a:lstStyle/>
          <a:p>
            <a:pPr marL="0" indent="0" algn="just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switch ((int)(x+0.5)) {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1: y = sin(x); break;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2: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3: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4: y = ln(x); break;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5: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6: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case 7: y = exp(x); break;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default : 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     printf(</a:t>
            </a:r>
            <a:r>
              <a:rPr lang="en-US" altLang="zh-CN" sz="2800" b="1">
                <a:latin typeface="Arial" charset="0"/>
              </a:rPr>
              <a:t>“</a:t>
            </a:r>
            <a:r>
              <a:rPr lang="zh-CN" altLang="en-US" sz="2800" b="1"/>
              <a:t>自变量</a:t>
            </a:r>
            <a:r>
              <a:rPr lang="en-US" altLang="zh-CN" sz="2800" b="1"/>
              <a:t>x</a:t>
            </a:r>
            <a:r>
              <a:rPr lang="zh-CN" altLang="en-US" sz="2800" b="1"/>
              <a:t>值超出范围</a:t>
            </a:r>
            <a:r>
              <a:rPr lang="en-US" altLang="zh-CN" sz="2800" b="1"/>
              <a:t>\n</a:t>
            </a:r>
            <a:r>
              <a:rPr lang="en-US" altLang="zh-CN" sz="2800" b="1">
                <a:latin typeface="Arial" charset="0"/>
              </a:rPr>
              <a:t>”</a:t>
            </a:r>
            <a:r>
              <a:rPr lang="en-US" altLang="zh-CN" sz="2800" b="1"/>
              <a:t>);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            break;</a:t>
            </a:r>
          </a:p>
          <a:p>
            <a:pPr marL="0" indent="0" eaLnBrk="1" hangingPunct="1">
              <a:buFont typeface="Wingdings" pitchFamily="2" charset="2"/>
              <a:buNone/>
              <a:tabLst>
                <a:tab pos="3324225" algn="l"/>
              </a:tabLst>
            </a:pPr>
            <a:r>
              <a:rPr lang="en-US" altLang="zh-CN" sz="2800" b="1"/>
              <a:t>}</a:t>
            </a:r>
          </a:p>
        </p:txBody>
      </p:sp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F86CEC-8570-4D4D-B3CB-78ED7FDB7DFC}" type="slidenum">
              <a:rPr lang="en-US" altLang="zh-CN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304212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3.4 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循环结构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52513"/>
            <a:ext cx="8686800" cy="5400675"/>
          </a:xfrm>
        </p:spPr>
        <p:txBody>
          <a:bodyPr>
            <a:normAutofit fontScale="92500" lnSpcReduction="10000"/>
          </a:bodyPr>
          <a:lstStyle/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C</a:t>
            </a:r>
            <a:r>
              <a:rPr lang="zh-CN" altLang="en-US" sz="3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语言提供描述三种不同的循环结构的语句： 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循环、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do_while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循环、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循环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循环结构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While语句的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一般形式：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黑体" pitchFamily="2" charset="-122"/>
              </a:rPr>
              <a:t>			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while (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)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 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执行步骤：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Step1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计算表达式的值；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Step2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当表达式的值为真（非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）时，转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Step(3)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  <a:b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当表达式的值为假（为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）时，则结束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语句；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Step3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执行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语句的循环体，并转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Step(1)</a:t>
            </a:r>
            <a:b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（从而构成循环）。</a:t>
            </a:r>
            <a:endParaRPr lang="zh-CN" altLang="en-US" sz="28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DE6CF-4EE0-4672-A901-C067F253BE96}" type="slidenum">
              <a:rPr lang="en-US" altLang="zh-CN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46085" name="AutoShape 4"/>
          <p:cNvSpPr>
            <a:spLocks noChangeArrowheads="1"/>
          </p:cNvSpPr>
          <p:nvPr/>
        </p:nvSpPr>
        <p:spPr bwMode="auto">
          <a:xfrm>
            <a:off x="4929188" y="3357563"/>
            <a:ext cx="1223962" cy="649287"/>
          </a:xfrm>
          <a:prstGeom prst="wedgeRoundRectCallout">
            <a:avLst>
              <a:gd name="adj1" fmla="val -177495"/>
              <a:gd name="adj2" fmla="val -32644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/>
              <a:t>循环体</a:t>
            </a:r>
          </a:p>
        </p:txBody>
      </p:sp>
      <p:sp>
        <p:nvSpPr>
          <p:cNvPr id="46086" name="AutoShape 5"/>
          <p:cNvSpPr>
            <a:spLocks noChangeArrowheads="1"/>
          </p:cNvSpPr>
          <p:nvPr/>
        </p:nvSpPr>
        <p:spPr bwMode="auto">
          <a:xfrm>
            <a:off x="4429125" y="2143125"/>
            <a:ext cx="1727200" cy="649288"/>
          </a:xfrm>
          <a:prstGeom prst="wedgeRoundRectCallout">
            <a:avLst>
              <a:gd name="adj1" fmla="val -73074"/>
              <a:gd name="adj2" fmla="val 61245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 dirty="0"/>
              <a:t>循环条件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71475"/>
            <a:ext cx="7870825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while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语句的流程图表达</a:t>
            </a:r>
          </a:p>
        </p:txBody>
      </p:sp>
      <p:sp>
        <p:nvSpPr>
          <p:cNvPr id="186426" name="Rectangle 58"/>
          <p:cNvSpPr>
            <a:spLocks noGrp="1" noChangeArrowheads="1"/>
          </p:cNvSpPr>
          <p:nvPr>
            <p:ph idx="1"/>
          </p:nvPr>
        </p:nvSpPr>
        <p:spPr>
          <a:xfrm>
            <a:off x="3924300" y="981075"/>
            <a:ext cx="4824413" cy="5472113"/>
          </a:xfrm>
        </p:spPr>
        <p:txBody>
          <a:bodyPr>
            <a:normAutofit/>
          </a:bodyPr>
          <a:lstStyle/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3.11】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语句可描述如下：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0;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1;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while 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&lt;= 100) 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{  s +=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++;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}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8952B7-C9AC-4EE0-9F34-AE8D01247FB2}" type="slidenum">
              <a:rPr lang="en-US" altLang="zh-CN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3078" name="Text Box 56"/>
          <p:cNvSpPr txBox="1">
            <a:spLocks noChangeArrowheads="1"/>
          </p:cNvSpPr>
          <p:nvPr/>
        </p:nvSpPr>
        <p:spPr bwMode="auto">
          <a:xfrm>
            <a:off x="755650" y="1412875"/>
            <a:ext cx="1728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r>
              <a:rPr lang="en-US" altLang="zh-CN" sz="2000" b="1">
                <a:solidFill>
                  <a:srgbClr val="CC6600"/>
                </a:solidFill>
              </a:rPr>
              <a:t>while </a:t>
            </a:r>
            <a:r>
              <a:rPr lang="zh-CN" altLang="en-US" sz="2000" b="1">
                <a:solidFill>
                  <a:srgbClr val="CC6600"/>
                </a:solidFill>
              </a:rPr>
              <a:t>入口</a:t>
            </a:r>
          </a:p>
        </p:txBody>
      </p:sp>
      <p:sp>
        <p:nvSpPr>
          <p:cNvPr id="3079" name="Text Box 57"/>
          <p:cNvSpPr txBox="1">
            <a:spLocks noChangeArrowheads="1"/>
          </p:cNvSpPr>
          <p:nvPr/>
        </p:nvSpPr>
        <p:spPr bwMode="auto">
          <a:xfrm>
            <a:off x="684213" y="5629275"/>
            <a:ext cx="1552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</a:rPr>
              <a:t>while </a:t>
            </a:r>
            <a:r>
              <a:rPr lang="zh-CN" altLang="en-US" sz="2000" b="1">
                <a:solidFill>
                  <a:srgbClr val="0000FF"/>
                </a:solidFill>
              </a:rPr>
              <a:t>出口</a:t>
            </a:r>
          </a:p>
        </p:txBody>
      </p:sp>
      <p:sp>
        <p:nvSpPr>
          <p:cNvPr id="186427" name="AutoShape 59"/>
          <p:cNvSpPr>
            <a:spLocks noChangeArrowheads="1"/>
          </p:cNvSpPr>
          <p:nvPr/>
        </p:nvSpPr>
        <p:spPr bwMode="auto">
          <a:xfrm>
            <a:off x="5572125" y="5373688"/>
            <a:ext cx="3392488" cy="1008062"/>
          </a:xfrm>
          <a:prstGeom prst="wedgeRoundRectCallout">
            <a:avLst>
              <a:gd name="adj1" fmla="val -57630"/>
              <a:gd name="adj2" fmla="val -83069"/>
              <a:gd name="adj3" fmla="val 16667"/>
            </a:avLst>
          </a:prstGeom>
          <a:solidFill>
            <a:schemeClr val="bg2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循环体可改为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 += </a:t>
            </a:r>
            <a:r>
              <a:rPr lang="en-US" altLang="zh-CN" sz="28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++;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081" name="Rectangle 6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4" name="Object 60"/>
          <p:cNvGraphicFramePr>
            <a:graphicFrameLocks noChangeAspect="1"/>
          </p:cNvGraphicFramePr>
          <p:nvPr/>
        </p:nvGraphicFramePr>
        <p:xfrm>
          <a:off x="285750" y="1928813"/>
          <a:ext cx="3357563" cy="364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Picture" r:id="rId4" imgW="2743200" imgH="1828800" progId="Word.Picture.8">
                  <p:embed/>
                </p:oleObj>
              </mc:Choice>
              <mc:Fallback>
                <p:oleObj name="Picture" r:id="rId4" imgW="2743200" imgH="1828800" progId="Word.Picture.8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667" t="5121" r="19792" b="14143"/>
                      <a:stretch>
                        <a:fillRect/>
                      </a:stretch>
                    </p:blipFill>
                    <p:spPr bwMode="auto">
                      <a:xfrm>
                        <a:off x="285750" y="1928813"/>
                        <a:ext cx="3357563" cy="3643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27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6248400" cy="609600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520112" cy="5576887"/>
          </a:xfrm>
        </p:spPr>
        <p:txBody>
          <a:bodyPr/>
          <a:lstStyle/>
          <a:p>
            <a:pPr marL="571500" indent="-571500" eaLnBrk="1" hangingPunct="1"/>
            <a:r>
              <a:rPr lang="zh-CN" altLang="en-US" sz="2800" b="1" dirty="0">
                <a:latin typeface="宋体" pitchFamily="2" charset="-122"/>
              </a:rPr>
              <a:t>循环体如果包含一个以上的语句，应该用花括号括起来，以复合形式出现；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如果不加花括号，则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while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语句的范围只到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while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后面第一个分号处。</a:t>
            </a:r>
          </a:p>
          <a:p>
            <a:pPr marL="571500" indent="-571500" eaLnBrk="1" hangingPunct="1"/>
            <a:r>
              <a:rPr lang="zh-CN" altLang="en-US" sz="2800" b="1" dirty="0">
                <a:latin typeface="宋体" pitchFamily="2" charset="-122"/>
              </a:rPr>
              <a:t>在循环体中，应有使循环趋向于结束的语句。如上例中循环结束的条件是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&gt;100</a:t>
            </a:r>
            <a:r>
              <a:rPr lang="zh-CN" altLang="en-US" sz="2800" b="1" dirty="0">
                <a:latin typeface="宋体" pitchFamily="2" charset="-122"/>
              </a:rPr>
              <a:t>，用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++</a:t>
            </a:r>
            <a:r>
              <a:rPr lang="zh-CN" altLang="en-US" sz="2800" b="1" dirty="0">
                <a:latin typeface="宋体" pitchFamily="2" charset="-122"/>
              </a:rPr>
              <a:t>语句达到此目的；如果无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++</a:t>
            </a:r>
            <a:r>
              <a:rPr lang="zh-CN" altLang="en-US" sz="2800" b="1" dirty="0">
                <a:latin typeface="宋体" pitchFamily="2" charset="-122"/>
              </a:rPr>
              <a:t>语句，将导致循环条件永远成立，永不结束。</a:t>
            </a:r>
          </a:p>
          <a:p>
            <a:pPr marL="571500" indent="-571500" eaLnBrk="1" hangingPunct="1"/>
            <a:r>
              <a:rPr lang="zh-CN" altLang="en-US" sz="2800" b="1" dirty="0">
                <a:latin typeface="宋体" pitchFamily="2" charset="-122"/>
              </a:rPr>
              <a:t>当循环体为空时，可用空语句代替。</a:t>
            </a:r>
          </a:p>
          <a:p>
            <a:pPr marL="571500" indent="-571500" eaLnBrk="1" hangingPunct="1">
              <a:buFont typeface="Wingdings 2" pitchFamily="18" charset="2"/>
              <a:buNone/>
            </a:pPr>
            <a:r>
              <a:rPr lang="zh-CN" altLang="en-US" sz="2800" b="1" dirty="0">
                <a:latin typeface="宋体" pitchFamily="2" charset="-122"/>
              </a:rPr>
              <a:t>  例如：跳过输入的空白类字符：</a:t>
            </a:r>
          </a:p>
          <a:p>
            <a:pPr marL="571500" indent="-571500" eaLnBrk="1" hangingPunct="1">
              <a:buFont typeface="Wingdings 2" pitchFamily="18" charset="2"/>
              <a:buNone/>
            </a:pPr>
            <a:r>
              <a:rPr lang="zh-CN" altLang="en-US" sz="2800" b="1" dirty="0">
                <a:latin typeface="宋体" pitchFamily="2" charset="-122"/>
              </a:rPr>
              <a:t>  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while(( c = 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getchar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() ) == </a:t>
            </a:r>
            <a:r>
              <a:rPr lang="en-US" altLang="zh-CN" sz="28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|| c == </a:t>
            </a:r>
            <a:r>
              <a:rPr lang="en-US" altLang="zh-CN" sz="28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\t</a:t>
            </a:r>
            <a:r>
              <a:rPr lang="en-US" altLang="zh-CN" sz="28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；</a:t>
            </a:r>
          </a:p>
        </p:txBody>
      </p:sp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8772B-C5C1-472F-B827-4A53BEBCEA67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49157" name="AutoShape 17"/>
          <p:cNvSpPr>
            <a:spLocks noChangeArrowheads="1"/>
          </p:cNvSpPr>
          <p:nvPr/>
        </p:nvSpPr>
        <p:spPr bwMode="auto">
          <a:xfrm>
            <a:off x="6715125" y="3929063"/>
            <a:ext cx="2159000" cy="857250"/>
          </a:xfrm>
          <a:prstGeom prst="wedgeRoundRectCallout">
            <a:avLst>
              <a:gd name="adj1" fmla="val 44093"/>
              <a:gd name="adj2" fmla="val 121986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/>
              <a:t>无循环体，</a:t>
            </a:r>
            <a:br>
              <a:rPr lang="zh-CN" altLang="en-US" sz="2400" b="1"/>
            </a:br>
            <a:r>
              <a:rPr lang="zh-CN" altLang="en-US" sz="2400" b="1"/>
              <a:t>用空语句表示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208963" cy="4967287"/>
          </a:xfrm>
        </p:spPr>
        <p:txBody>
          <a:bodyPr/>
          <a:lstStyle/>
          <a:p>
            <a:pPr marL="623888" indent="-623888" eaLnBrk="1" hangingPunct="1">
              <a:buFont typeface="Wingdings" pitchFamily="2" charset="2"/>
              <a:buNone/>
            </a:pPr>
            <a:r>
              <a:rPr lang="zh-CN" altLang="en-US" sz="3400" b="1" dirty="0">
                <a:latin typeface="宋体" pitchFamily="2" charset="-122"/>
              </a:rPr>
              <a:t>有时很难写出循环条件，可用 </a:t>
            </a:r>
            <a:r>
              <a:rPr lang="en-US" altLang="zh-CN" sz="3400" b="1" dirty="0">
                <a:latin typeface="宋体" pitchFamily="2" charset="-122"/>
              </a:rPr>
              <a:t>1 </a:t>
            </a:r>
            <a:r>
              <a:rPr lang="zh-CN" altLang="en-US" sz="3400" b="1" dirty="0">
                <a:latin typeface="宋体" pitchFamily="2" charset="-122"/>
              </a:rPr>
              <a:t>代之</a:t>
            </a:r>
            <a:br>
              <a:rPr lang="zh-CN" altLang="en-US" sz="3400" b="1" dirty="0">
                <a:latin typeface="宋体" pitchFamily="2" charset="-122"/>
              </a:rPr>
            </a:br>
            <a:r>
              <a:rPr lang="zh-CN" altLang="en-US" sz="3400" b="1" dirty="0">
                <a:latin typeface="宋体" pitchFamily="2" charset="-122"/>
              </a:rPr>
              <a:t>（表示条件为真）</a:t>
            </a:r>
            <a:r>
              <a:rPr lang="en-US" altLang="zh-CN" sz="3400" b="1" dirty="0">
                <a:latin typeface="宋体" pitchFamily="2" charset="-122"/>
              </a:rPr>
              <a:t>,</a:t>
            </a:r>
            <a:r>
              <a:rPr lang="zh-CN" altLang="en-US" sz="3400" b="1" dirty="0">
                <a:latin typeface="宋体" pitchFamily="2" charset="-122"/>
              </a:rPr>
              <a:t>但在循环体中必须有 </a:t>
            </a:r>
            <a:r>
              <a:rPr lang="en-US" altLang="zh-CN" sz="3400" b="1" dirty="0">
                <a:latin typeface="宋体" pitchFamily="2" charset="-122"/>
              </a:rPr>
              <a:t>break </a:t>
            </a:r>
            <a:r>
              <a:rPr lang="zh-CN" altLang="en-US" sz="3400" b="1" dirty="0">
                <a:latin typeface="宋体" pitchFamily="2" charset="-122"/>
              </a:rPr>
              <a:t>语句（用于跳出循环）。</a:t>
            </a:r>
          </a:p>
          <a:p>
            <a:pPr marL="623888" indent="-623888" eaLnBrk="1" hangingPunct="1">
              <a:buFont typeface="Wingdings" pitchFamily="2" charset="2"/>
              <a:buNone/>
            </a:pPr>
            <a:r>
              <a:rPr lang="zh-CN" altLang="en-US" sz="3400" b="1" dirty="0">
                <a:solidFill>
                  <a:schemeClr val="bg2"/>
                </a:solidFill>
                <a:latin typeface="宋体" pitchFamily="2" charset="-122"/>
              </a:rPr>
              <a:t>    </a:t>
            </a: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while (1) {</a:t>
            </a:r>
          </a:p>
          <a:p>
            <a:pPr marL="623888" indent="-623888" eaLnBrk="1" hangingPunct="1">
              <a:buFont typeface="Wingdings" pitchFamily="2" charset="2"/>
              <a:buNone/>
            </a:pP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       ...</a:t>
            </a:r>
          </a:p>
          <a:p>
            <a:pPr marL="623888" indent="-623888" eaLnBrk="1" hangingPunct="1">
              <a:buFont typeface="Wingdings" pitchFamily="2" charset="2"/>
              <a:buNone/>
            </a:pP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       if (</a:t>
            </a:r>
            <a:r>
              <a:rPr lang="zh-CN" altLang="en-US" sz="3400" b="1" dirty="0"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) break;</a:t>
            </a:r>
          </a:p>
          <a:p>
            <a:pPr marL="623888" indent="-623888" eaLnBrk="1" hangingPunct="1">
              <a:buFont typeface="Wingdings" pitchFamily="2" charset="2"/>
              <a:buNone/>
            </a:pP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       ...</a:t>
            </a:r>
          </a:p>
          <a:p>
            <a:pPr marL="623888" indent="-623888" eaLnBrk="1" hangingPunct="1">
              <a:buFont typeface="Wingdings" pitchFamily="2" charset="2"/>
              <a:buNone/>
            </a:pPr>
            <a:r>
              <a:rPr lang="en-US" altLang="zh-CN" sz="3400" b="1" dirty="0">
                <a:latin typeface="黑体" pitchFamily="2" charset="-122"/>
                <a:ea typeface="黑体" pitchFamily="2" charset="-122"/>
              </a:rPr>
              <a:t>    }</a:t>
            </a: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331BB7-0108-4A19-AEB5-8B28307ACD00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5004048" y="5157192"/>
            <a:ext cx="3600400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语句结束它所在的控制结构，让程序从这个控制结构的后继语句继续执行。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424863" cy="609600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3.12】</a:t>
            </a:r>
            <a:r>
              <a:rPr lang="zh-CN" altLang="en-US" sz="28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求学生平均成绩，当输入负数时结束</a:t>
            </a:r>
            <a:endParaRPr lang="zh-CN" altLang="en-US" sz="240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66800"/>
            <a:ext cx="8642350" cy="5386388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#include  &lt;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stdio.h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&gt; 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void main()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{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sum, count, mark;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sum = 0;  count = 0;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while (1)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{ /*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循环条件永远为真 *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输入成绩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小于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结束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)\n"); 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scanf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("%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d",&amp;mark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);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if (mark &lt; 0) break;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/*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跳出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while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循环 *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sum += mark;   </a:t>
            </a:r>
            <a:r>
              <a:rPr lang="en-US" altLang="zh-CN" sz="2400" b="1" dirty="0">
                <a:highlight>
                  <a:srgbClr val="FFFF00"/>
                </a:highligh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count++; 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}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if(count)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平均成绩为：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%.2f\n", ((float)sum)/count);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else  </a:t>
            </a:r>
            <a:r>
              <a:rPr lang="en-US" altLang="zh-CN" sz="24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没有数据输入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.\n");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}</a:t>
            </a: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971077-E132-47BE-9FBE-8867AAF5EFA6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2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298450"/>
            <a:ext cx="8497888" cy="75406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3.13】</a:t>
            </a:r>
            <a:r>
              <a:rPr lang="zh-CN" altLang="en-US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统计输入字符行中，</a:t>
            </a:r>
            <a:r>
              <a:rPr lang="zh-CN" altLang="en-US" sz="2800" dirty="0">
                <a:solidFill>
                  <a:schemeClr val="tx1"/>
                </a:solidFill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空白类</a:t>
            </a:r>
            <a:r>
              <a:rPr lang="zh-CN" altLang="en-US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字符、数字符和其它字符的个数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08720"/>
            <a:ext cx="8642350" cy="5949280"/>
          </a:xfrm>
        </p:spPr>
        <p:txBody>
          <a:bodyPr/>
          <a:lstStyle/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{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c,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nwhite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nother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ndigit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nwhite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nother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ndigit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=0; 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”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输入字符行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\n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”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while ((c =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getchar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()) !=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\n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{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switch ( c ) {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 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 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6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7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8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 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9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 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       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ndigit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++; break;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:case 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\t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: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nwhite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++; break;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default: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nother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++; break;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}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}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”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digit = %d\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twhite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space = %d\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tother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%d\n</a:t>
            </a:r>
            <a:r>
              <a:rPr lang="en-US" altLang="zh-CN" sz="2400" b="1" dirty="0">
                <a:latin typeface="Courier New" pitchFamily="49" charset="0"/>
                <a:ea typeface="黑体" pitchFamily="2" charset="-122"/>
              </a:rPr>
              <a:t>”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ndigit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nwhite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nother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536575" indent="-536575" algn="just" eaLnBrk="1" hangingPunct="1">
              <a:lnSpc>
                <a:spcPct val="8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5A884-B424-4780-8FE4-51D573ED3C74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569325" cy="58578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do-while</a:t>
            </a:r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循环结构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/>
          </a:bodyPr>
          <a:lstStyle/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dirty="0">
                <a:latin typeface="Times New Roman" pitchFamily="18" charset="0"/>
              </a:rPr>
              <a:t>do-</a:t>
            </a:r>
            <a:r>
              <a:rPr lang="en-US" altLang="zh-CN" sz="3200" dirty="0" err="1">
                <a:latin typeface="Times New Roman" pitchFamily="18" charset="0"/>
              </a:rPr>
              <a:t>while语句的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一般形式：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do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 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执行步骤：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执行</a:t>
            </a:r>
            <a:r>
              <a:rPr lang="en-US" altLang="zh-CN" sz="2400" dirty="0">
                <a:latin typeface="Times New Roman" pitchFamily="18" charset="0"/>
              </a:rPr>
              <a:t>do-while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语句的循环体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;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Step2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求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之后的表达式的值；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Step3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当表达式的值为真（非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）时，转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Step1</a:t>
            </a:r>
            <a:b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（从而构成循环）；如值为假（为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），则结束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语句。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注意：分号是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do-while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语句的结束符，不能省略。</a:t>
            </a:r>
          </a:p>
        </p:txBody>
      </p:sp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3346B7-0ED3-4198-970C-B052A817BC48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51205" name="AutoShape 4"/>
          <p:cNvSpPr>
            <a:spLocks noChangeArrowheads="1"/>
          </p:cNvSpPr>
          <p:nvPr/>
        </p:nvSpPr>
        <p:spPr bwMode="auto">
          <a:xfrm>
            <a:off x="4429125" y="1643063"/>
            <a:ext cx="1428750" cy="647700"/>
          </a:xfrm>
          <a:prstGeom prst="wedgeRoundRectCallout">
            <a:avLst>
              <a:gd name="adj1" fmla="val -143944"/>
              <a:gd name="adj2" fmla="val 50227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800" b="1"/>
              <a:t>循环体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293072" y="2563688"/>
            <a:ext cx="1727200" cy="649288"/>
          </a:xfrm>
          <a:prstGeom prst="wedgeRoundRectCallout">
            <a:avLst>
              <a:gd name="adj1" fmla="val -83974"/>
              <a:gd name="adj2" fmla="val 1185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 dirty="0"/>
              <a:t>循环条件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71475"/>
            <a:ext cx="7870825" cy="609600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do-while</a:t>
            </a:r>
            <a:r>
              <a:rPr lang="zh-CN" altLang="en-US" sz="36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语句的流程图表达</a:t>
            </a:r>
          </a:p>
        </p:txBody>
      </p:sp>
      <p:sp>
        <p:nvSpPr>
          <p:cNvPr id="378902" name="Rectangle 22"/>
          <p:cNvSpPr>
            <a:spLocks noGrp="1" noChangeArrowheads="1"/>
          </p:cNvSpPr>
          <p:nvPr>
            <p:ph idx="1"/>
          </p:nvPr>
        </p:nvSpPr>
        <p:spPr>
          <a:xfrm>
            <a:off x="3492500" y="1268413"/>
            <a:ext cx="5400675" cy="4895850"/>
          </a:xfrm>
        </p:spPr>
        <p:txBody>
          <a:bodyPr>
            <a:normAutofit/>
          </a:bodyPr>
          <a:lstStyle/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3.14】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do-while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语句可描述如下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s = 0; 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1;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do  { 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s +=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} while 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&lt;= 100);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EF173-8393-4A6E-87D9-80023F33314F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4102" name="Text Box 20"/>
          <p:cNvSpPr txBox="1">
            <a:spLocks noChangeArrowheads="1"/>
          </p:cNvSpPr>
          <p:nvPr/>
        </p:nvSpPr>
        <p:spPr bwMode="auto">
          <a:xfrm>
            <a:off x="695325" y="1381125"/>
            <a:ext cx="20494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 b="1"/>
              <a:t>do-while </a:t>
            </a:r>
            <a:r>
              <a:rPr lang="zh-CN" altLang="en-US" sz="2000" b="1"/>
              <a:t>入口</a:t>
            </a:r>
          </a:p>
        </p:txBody>
      </p:sp>
      <p:sp>
        <p:nvSpPr>
          <p:cNvPr id="4103" name="Text Box 21"/>
          <p:cNvSpPr txBox="1">
            <a:spLocks noChangeArrowheads="1"/>
          </p:cNvSpPr>
          <p:nvPr/>
        </p:nvSpPr>
        <p:spPr bwMode="auto">
          <a:xfrm>
            <a:off x="684213" y="5132388"/>
            <a:ext cx="20494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000" b="1"/>
              <a:t>do-while </a:t>
            </a:r>
            <a:r>
              <a:rPr lang="zh-CN" altLang="en-US" sz="2000" b="1"/>
              <a:t>出口</a:t>
            </a:r>
          </a:p>
        </p:txBody>
      </p:sp>
      <p:sp>
        <p:nvSpPr>
          <p:cNvPr id="4104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25"/>
          <p:cNvGraphicFramePr>
            <a:graphicFrameLocks noChangeAspect="1"/>
          </p:cNvGraphicFramePr>
          <p:nvPr/>
        </p:nvGraphicFramePr>
        <p:xfrm>
          <a:off x="357188" y="1857375"/>
          <a:ext cx="3000375" cy="328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Picture" r:id="rId3" imgW="2743200" imgH="1828800" progId="Word.Picture.8">
                  <p:embed/>
                </p:oleObj>
              </mc:Choice>
              <mc:Fallback>
                <p:oleObj name="Picture" r:id="rId3" imgW="2743200" imgH="1828800" progId="Word.Picture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217" t="6224" r="21527" b="8194"/>
                      <a:stretch>
                        <a:fillRect/>
                      </a:stretch>
                    </p:blipFill>
                    <p:spPr bwMode="auto">
                      <a:xfrm>
                        <a:off x="357188" y="1857375"/>
                        <a:ext cx="3000375" cy="328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宋体" pitchFamily="2" charset="-122"/>
              </a:rPr>
              <a:t>        </a:t>
            </a:r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1DF72-DF23-41F9-BBD5-35A005E3771F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68313" y="1268413"/>
            <a:ext cx="8291512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当循环体有多个语句组成时，必须要将这多个语句改造成复合语句，即加花括号。当循环体只有一个语句时，也可以不用花括号。例如：</a:t>
            </a:r>
          </a:p>
          <a:p>
            <a:pPr marL="536575" indent="-536575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0; </a:t>
            </a:r>
          </a:p>
          <a:p>
            <a:pPr marL="536575" indent="-536575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1;</a:t>
            </a:r>
          </a:p>
          <a:p>
            <a:pPr marL="536575" indent="-536575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do</a:t>
            </a:r>
          </a:p>
          <a:p>
            <a:pPr marL="536575" indent="-536575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s +=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++; </a:t>
            </a:r>
          </a:p>
          <a:p>
            <a:pPr marL="536575" indent="-536575"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while (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&lt;= 100);</a:t>
            </a:r>
            <a:r>
              <a:rPr lang="en-US" altLang="zh-CN" sz="3200" dirty="0"/>
              <a:t>    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07375" cy="762000"/>
          </a:xfrm>
        </p:spPr>
        <p:txBody>
          <a:bodyPr/>
          <a:lstStyle/>
          <a:p>
            <a:pPr eaLnBrk="1" hangingPunct="1"/>
            <a:r>
              <a:rPr lang="zh-CN" altLang="en-US" sz="32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宋体" pitchFamily="2" charset="-122"/>
              </a:rPr>
              <a:t>        </a:t>
            </a:r>
          </a:p>
        </p:txBody>
      </p:sp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2966D-9A23-4F9D-BFFB-A621AE8504A9}" type="slidenum">
              <a:rPr lang="en-US" altLang="zh-CN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405508" name="Text Box 4"/>
          <p:cNvSpPr txBox="1">
            <a:spLocks noChangeArrowheads="1"/>
          </p:cNvSpPr>
          <p:nvPr/>
        </p:nvSpPr>
        <p:spPr bwMode="auto">
          <a:xfrm>
            <a:off x="468313" y="1268413"/>
            <a:ext cx="8291512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6575" indent="-536575" eaLnBrk="0" hangingPunct="0">
              <a:lnSpc>
                <a:spcPct val="110000"/>
              </a:lnSpc>
              <a:spcBef>
                <a:spcPct val="25000"/>
              </a:spcBef>
              <a:buFontTx/>
              <a:buAutoNum type="arabicPeriod"/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与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语句一样，当循环体由多个语句组成时，必须把它们书写成复合语句。</a:t>
            </a:r>
          </a:p>
          <a:p>
            <a:pPr marL="536575" indent="-536575" eaLnBrk="0" hangingPunct="0">
              <a:lnSpc>
                <a:spcPct val="110000"/>
              </a:lnSpc>
              <a:spcBef>
                <a:spcPct val="25000"/>
              </a:spcBef>
              <a:buFontTx/>
              <a:buAutoNum type="arabicPeriod"/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与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do-while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区别</a:t>
            </a:r>
          </a:p>
          <a:p>
            <a:pPr marL="536575" indent="-536575" eaLnBrk="0" hangingPunct="0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：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先判别表达式，后执行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循环体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，当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表达式第一次为假时，循环体一次也不执行。</a:t>
            </a:r>
          </a:p>
          <a:p>
            <a:pPr marL="536575" indent="-536575" eaLnBrk="0" hangingPunct="0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do-while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：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先执行循环体，后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判别表达式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。因此，使用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do-while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至少执行一次循环体。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591550" cy="4824412"/>
          </a:xfrm>
        </p:spPr>
        <p:txBody>
          <a:bodyPr>
            <a:normAutofit/>
          </a:bodyPr>
          <a:lstStyle/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3.15】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求方程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f(x)=3x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+4x</a:t>
            </a:r>
            <a:r>
              <a:rPr lang="en-US" altLang="zh-CN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-2x+5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的实根。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说明：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1.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牛顿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迭代方法求方程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f(x)=0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的根的近似解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: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sz="36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k+1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=</a:t>
            </a:r>
            <a:r>
              <a:rPr lang="en-US" altLang="zh-CN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sz="36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-f(</a:t>
            </a:r>
            <a:r>
              <a:rPr lang="en-US" altLang="zh-CN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sz="36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)/f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/>
              </a:rPr>
              <a:t>’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sz="36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 </a:t>
            </a: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k=0,1,…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3600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2.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当修正量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</a:t>
            </a:r>
            <a:r>
              <a:rPr lang="en-US" altLang="zh-CN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=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f(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x</a:t>
            </a:r>
            <a:r>
              <a:rPr lang="en-US" altLang="zh-CN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k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)/f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Courier New"/>
              </a:rPr>
              <a:t>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x</a:t>
            </a:r>
            <a:r>
              <a:rPr lang="en-US" altLang="zh-CN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k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)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的绝对值小于某个很小数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ε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时，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k+1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就作为方程的近似解。</a:t>
            </a:r>
          </a:p>
          <a:p>
            <a:pPr marL="623888" indent="-623888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下面的程序取迭代初值为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-2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ε= 1.0e-6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</a:t>
            </a:r>
          </a:p>
        </p:txBody>
      </p:sp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09DFCE-9087-4E7C-AC75-9F2DE1002541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97F6E-B334-4075-8125-432EFB65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04788"/>
            <a:ext cx="8229600" cy="1143000"/>
          </a:xfrm>
        </p:spPr>
        <p:txBody>
          <a:bodyPr/>
          <a:lstStyle/>
          <a:p>
            <a:r>
              <a:rPr lang="en-US" altLang="zh-CN" dirty="0"/>
              <a:t>Newton method</a:t>
            </a:r>
            <a:r>
              <a:rPr lang="zh-CN" altLang="en-US" dirty="0"/>
              <a:t>牛顿法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5258E-4263-406A-8C81-2E05B781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5E637-B403-496A-AA51-52B2722B709D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212523-A9EC-47C4-BC77-4FC94C76F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1820227"/>
            <a:ext cx="9013636" cy="369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268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692150"/>
            <a:ext cx="8542337" cy="568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math.h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 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引用数学函数 *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#define </a:t>
            </a:r>
            <a:r>
              <a:rPr lang="en-US" altLang="zh-CN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Epsilon    1.0e-6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double x, d;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x = -2.0;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do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d = (((3.0*x+4.0)*x-2.0)*x+5.0)/</a:t>
            </a:r>
            <a:br>
              <a:rPr lang="en-US" altLang="zh-CN" b="1" dirty="0">
                <a:latin typeface="黑体" pitchFamily="2" charset="-122"/>
                <a:ea typeface="黑体" pitchFamily="2" charset="-122"/>
              </a:rPr>
            </a:b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((9.0*x+8.0)*x-2.0);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f(x)/f'(x) 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x = x-d;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} while (fabs(d) &gt; Epsilon);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("The root is %.6f\n", x);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            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结果为：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The root is -2.053319</a:t>
            </a:r>
          </a:p>
        </p:txBody>
      </p:sp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0871A7-2070-4B92-A444-47B848D38AEB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52513"/>
            <a:ext cx="8820150" cy="5562600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寻找一个最小整数，要求满足以下条件：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7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#include  &lt;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&gt; 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{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= 2;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do 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	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++;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while(!(i%3 == 2 &amp;&amp; i%5 == 3 &amp;&amp; i%7 == 4));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，被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，被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的最小数是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:</a:t>
            </a:r>
            <a:b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</a:b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%d\n",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);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AEF51F-8319-4630-8BB0-DD05C0678D63}" type="slidenum">
              <a:rPr lang="en-US" altLang="zh-CN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591550" cy="73025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一个运行效率更高的求解方法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52513"/>
            <a:ext cx="8497888" cy="5562600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latin typeface="宋体" pitchFamily="2" charset="-122"/>
              </a:rPr>
              <a:t>采用分阶段的办法，先让变量在保证满足条件被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除余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情况下，寻找被</a:t>
            </a:r>
            <a:r>
              <a:rPr lang="en-US" altLang="zh-CN" b="1" dirty="0">
                <a:latin typeface="宋体" pitchFamily="2" charset="-122"/>
              </a:rPr>
              <a:t>5</a:t>
            </a:r>
            <a:r>
              <a:rPr lang="zh-CN" altLang="en-US" b="1" dirty="0">
                <a:latin typeface="宋体" pitchFamily="2" charset="-122"/>
              </a:rPr>
              <a:t>除余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的解；接着在保证被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除余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和被</a:t>
            </a:r>
            <a:r>
              <a:rPr lang="en-US" altLang="zh-CN" b="1" dirty="0">
                <a:latin typeface="宋体" pitchFamily="2" charset="-122"/>
              </a:rPr>
              <a:t>5</a:t>
            </a:r>
            <a:r>
              <a:rPr lang="zh-CN" altLang="en-US" b="1" dirty="0">
                <a:latin typeface="宋体" pitchFamily="2" charset="-122"/>
              </a:rPr>
              <a:t>除余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的条件下，寻找被</a:t>
            </a:r>
            <a:r>
              <a:rPr lang="en-US" altLang="zh-CN" b="1" dirty="0">
                <a:latin typeface="宋体" pitchFamily="2" charset="-122"/>
              </a:rPr>
              <a:t>7</a:t>
            </a:r>
            <a:r>
              <a:rPr lang="zh-CN" altLang="en-US" b="1" dirty="0">
                <a:latin typeface="宋体" pitchFamily="2" charset="-122"/>
              </a:rPr>
              <a:t>除余</a:t>
            </a:r>
            <a:r>
              <a:rPr lang="en-US" altLang="zh-CN" b="1" dirty="0">
                <a:latin typeface="宋体" pitchFamily="2" charset="-122"/>
              </a:rPr>
              <a:t>4</a:t>
            </a:r>
            <a:r>
              <a:rPr lang="zh-CN" altLang="en-US" b="1" dirty="0">
                <a:latin typeface="宋体" pitchFamily="2" charset="-122"/>
              </a:rPr>
              <a:t>的解，这样做能简化循环条件，并能加快找解的速度。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  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int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= 2; /*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初值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被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2 */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do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+= 3 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while 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% 5 != 3); 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while 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% 7 != 4)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+= 15;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取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3×5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继续满足被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，被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 */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被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，被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，被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的最小数是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:</a:t>
            </a:r>
            <a:br>
              <a:rPr lang="en-US" altLang="zh-CN" b="1" dirty="0">
                <a:latin typeface="黑体" pitchFamily="2" charset="-122"/>
                <a:ea typeface="黑体" pitchFamily="2" charset="-122"/>
              </a:rPr>
            </a:b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%d\n",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 /*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结果为：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53 */</a:t>
            </a:r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C3896B-AB10-4CC7-B4BF-EA16CC764A25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58373" name="AutoShape 5"/>
          <p:cNvSpPr>
            <a:spLocks/>
          </p:cNvSpPr>
          <p:nvPr/>
        </p:nvSpPr>
        <p:spPr bwMode="auto">
          <a:xfrm>
            <a:off x="3851275" y="3860800"/>
            <a:ext cx="215900" cy="6477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4321175" y="3841750"/>
            <a:ext cx="2744788" cy="7016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找除以</a:t>
            </a:r>
            <a:r>
              <a:rPr lang="en-US" altLang="zh-CN" sz="2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余</a:t>
            </a:r>
            <a:r>
              <a:rPr lang="en-US" altLang="zh-CN" sz="2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的数，</a:t>
            </a:r>
          </a:p>
          <a:p>
            <a:pPr algn="ctr"/>
            <a:r>
              <a:rPr lang="en-US" altLang="zh-CN" sz="20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i+3 </a:t>
            </a:r>
            <a:r>
              <a:rPr lang="zh-CN" altLang="en-US" sz="20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继续满足被</a:t>
            </a:r>
            <a:r>
              <a:rPr lang="en-US" altLang="zh-CN" sz="20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除余</a:t>
            </a:r>
            <a:r>
              <a:rPr lang="en-US" altLang="zh-CN" sz="20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nimBg="1"/>
      <p:bldP spid="5837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569325" cy="7620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for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循环结构</a:t>
            </a:r>
          </a:p>
        </p:txBody>
      </p:sp>
      <p:sp>
        <p:nvSpPr>
          <p:cNvPr id="204803" name="Rectangle 1027"/>
          <p:cNvSpPr>
            <a:spLocks noGrp="1" noChangeArrowheads="1"/>
          </p:cNvSpPr>
          <p:nvPr>
            <p:ph idx="1"/>
          </p:nvPr>
        </p:nvSpPr>
        <p:spPr>
          <a:xfrm>
            <a:off x="166687" y="1125960"/>
            <a:ext cx="8520113" cy="5562600"/>
          </a:xfrm>
        </p:spPr>
        <p:txBody>
          <a:bodyPr>
            <a:normAutofit/>
          </a:bodyPr>
          <a:lstStyle/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for语句的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一般形式：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for(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；表达式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；表达式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3)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执行步骤：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Step1 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计算表达式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endParaRPr lang="zh-CN" altLang="en-US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Step2 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当表达式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的值为真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非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0)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，转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Step3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  <a:b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当表达式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的值为假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为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0)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，结束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语句。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Step3 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执行循环体</a:t>
            </a: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Step4 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计算表达式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endParaRPr lang="zh-CN" altLang="en-US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812800" indent="-8128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Step5 </a:t>
            </a:r>
            <a:r>
              <a:rPr lang="zh-CN" altLang="en-US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转向</a:t>
            </a:r>
            <a:r>
              <a:rPr lang="en-US" altLang="zh-CN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Step2</a:t>
            </a:r>
            <a:endParaRPr lang="zh-CN" altLang="en-US" b="1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F87F2A-AE5E-4D04-BCB9-016F356E196D}" type="slidenum">
              <a:rPr lang="en-US" altLang="zh-CN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8373" name="AutoShape 1028"/>
          <p:cNvSpPr>
            <a:spLocks noChangeArrowheads="1"/>
          </p:cNvSpPr>
          <p:nvPr/>
        </p:nvSpPr>
        <p:spPr bwMode="auto">
          <a:xfrm>
            <a:off x="3643313" y="2214563"/>
            <a:ext cx="1357312" cy="857250"/>
          </a:xfrm>
          <a:prstGeom prst="wedgeRoundRectCallout">
            <a:avLst>
              <a:gd name="adj1" fmla="val -128194"/>
              <a:gd name="adj2" fmla="val -38981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800" b="1"/>
              <a:t>循环体</a:t>
            </a: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5931793" y="940271"/>
            <a:ext cx="17287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r>
              <a:rPr lang="en-US" altLang="zh-CN" sz="2000" b="1"/>
              <a:t>for</a:t>
            </a:r>
            <a:r>
              <a:rPr lang="zh-CN" altLang="en-US" sz="2000" b="1"/>
              <a:t>语句入口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5827018" y="5693246"/>
            <a:ext cx="1687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r>
              <a:rPr lang="en-US" altLang="zh-CN" sz="2000" b="1"/>
              <a:t>for</a:t>
            </a:r>
            <a:r>
              <a:rPr lang="zh-CN" altLang="en-US" sz="2000" b="1"/>
              <a:t>语句出口</a:t>
            </a:r>
          </a:p>
        </p:txBody>
      </p:sp>
      <p:graphicFrame>
        <p:nvGraphicFramePr>
          <p:cNvPr id="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666358"/>
              </p:ext>
            </p:extLst>
          </p:nvPr>
        </p:nvGraphicFramePr>
        <p:xfrm>
          <a:off x="5854263" y="-119296"/>
          <a:ext cx="3214687" cy="435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9" name="Picture" r:id="rId3" imgW="2743200" imgH="2505456" progId="Word.Picture.8">
                  <p:embed/>
                </p:oleObj>
              </mc:Choice>
              <mc:Fallback>
                <p:oleObj name="Picture" r:id="rId3" imgW="2743200" imgH="2505456" progId="Word.Picture.8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931" t="2841" r="31227" b="360"/>
                      <a:stretch>
                        <a:fillRect/>
                      </a:stretch>
                    </p:blipFill>
                    <p:spPr bwMode="auto">
                      <a:xfrm>
                        <a:off x="5854263" y="-119296"/>
                        <a:ext cx="3214687" cy="435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951288" y="242197"/>
            <a:ext cx="1727200" cy="649288"/>
          </a:xfrm>
          <a:prstGeom prst="wedgeRoundRectCallout">
            <a:avLst>
              <a:gd name="adj1" fmla="val -53533"/>
              <a:gd name="adj2" fmla="val 175360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 dirty="0"/>
              <a:t>循环条件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71475"/>
            <a:ext cx="7870825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for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语句的流程图表达</a:t>
            </a:r>
          </a:p>
        </p:txBody>
      </p:sp>
      <p:sp>
        <p:nvSpPr>
          <p:cNvPr id="379926" name="Rectangle 22"/>
          <p:cNvSpPr>
            <a:spLocks noGrp="1" noChangeArrowheads="1"/>
          </p:cNvSpPr>
          <p:nvPr>
            <p:ph idx="1"/>
          </p:nvPr>
        </p:nvSpPr>
        <p:spPr>
          <a:xfrm>
            <a:off x="899592" y="1412875"/>
            <a:ext cx="4824413" cy="3960813"/>
          </a:xfrm>
        </p:spPr>
        <p:txBody>
          <a:bodyPr>
            <a:normAutofit/>
          </a:bodyPr>
          <a:lstStyle/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【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3.17】</a:t>
            </a:r>
            <a:r>
              <a:rPr lang="zh-CN" altLang="en-US" sz="3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求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语句可描述如下：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0;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=1;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&lt;=100;i++) </a:t>
            </a:r>
          </a:p>
          <a:p>
            <a:pPr marL="342900" indent="-34290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s +=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;   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7074D-F4CD-4417-9971-386375D31378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379935" name="Rectangle 31"/>
          <p:cNvSpPr>
            <a:spLocks noChangeArrowheads="1"/>
          </p:cNvSpPr>
          <p:nvPr/>
        </p:nvSpPr>
        <p:spPr bwMode="auto">
          <a:xfrm>
            <a:off x="827584" y="2996952"/>
            <a:ext cx="4897438" cy="17970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sp>
        <p:nvSpPr>
          <p:cNvPr id="379936" name="Line 32"/>
          <p:cNvSpPr>
            <a:spLocks noChangeShapeType="1"/>
          </p:cNvSpPr>
          <p:nvPr/>
        </p:nvSpPr>
        <p:spPr bwMode="auto">
          <a:xfrm>
            <a:off x="6156325" y="4868863"/>
            <a:ext cx="0" cy="647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79937" name="Text Box 33"/>
          <p:cNvSpPr txBox="1">
            <a:spLocks noChangeArrowheads="1"/>
          </p:cNvSpPr>
          <p:nvPr/>
        </p:nvSpPr>
        <p:spPr bwMode="auto">
          <a:xfrm>
            <a:off x="1023417" y="5527675"/>
            <a:ext cx="4559300" cy="85090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zh-CN" sz="2400" b="1" dirty="0"/>
              <a:t>for(s=0,i=1;i&lt;=100;i++)</a:t>
            </a:r>
          </a:p>
          <a:p>
            <a:r>
              <a:rPr lang="en-US" altLang="zh-CN" sz="2400" b="1" dirty="0"/>
              <a:t>    s +=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;</a:t>
            </a:r>
          </a:p>
        </p:txBody>
      </p:sp>
      <p:sp>
        <p:nvSpPr>
          <p:cNvPr id="379938" name="Text Box 34"/>
          <p:cNvSpPr txBox="1">
            <a:spLocks noChangeArrowheads="1"/>
          </p:cNvSpPr>
          <p:nvPr/>
        </p:nvSpPr>
        <p:spPr bwMode="auto">
          <a:xfrm>
            <a:off x="6372225" y="5013325"/>
            <a:ext cx="1423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sz="2400" b="1">
                <a:solidFill>
                  <a:srgbClr val="FF3300"/>
                </a:solidFill>
                <a:ea typeface="黑体" pitchFamily="2" charset="-122"/>
              </a:rPr>
              <a:t>可改写为</a:t>
            </a:r>
          </a:p>
        </p:txBody>
      </p:sp>
      <p:sp>
        <p:nvSpPr>
          <p:cNvPr id="51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7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35" grpId="0" animBg="1" autoUpdateAnimBg="0"/>
      <p:bldP spid="379936" grpId="0" animBg="1"/>
      <p:bldP spid="379937" grpId="0" animBg="1" autoUpdateAnimBg="0"/>
      <p:bldP spid="379938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6248400" cy="609600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424862" cy="5576887"/>
          </a:xfrm>
        </p:spPr>
        <p:txBody>
          <a:bodyPr>
            <a:normAutofit/>
          </a:bodyPr>
          <a:lstStyle/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1. 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语句的形式也可用以下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语句来表达：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while (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2)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{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}</a:t>
            </a:r>
          </a:p>
          <a:p>
            <a:pPr marL="571500" indent="-57150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2. 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是控制循环的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条件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；表达式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的作用是对控制循环的有关变量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赋初值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（允许对多个变量赋初值，用逗号分隔）；表达式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用于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修正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有关变量；语句是循环体。  </a:t>
            </a:r>
          </a:p>
        </p:txBody>
      </p:sp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2E943F-1D61-4D45-A814-AC0D4BA3DF89}" type="slidenum">
              <a:rPr lang="en-US" altLang="zh-CN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981075"/>
            <a:ext cx="8424862" cy="5543550"/>
          </a:xfrm>
        </p:spPr>
        <p:txBody>
          <a:bodyPr>
            <a:normAutofit lnSpcReduction="10000"/>
          </a:bodyPr>
          <a:lstStyle/>
          <a:p>
            <a:pPr marL="0" indent="0" algn="just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 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语句的一般形式中，表达式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b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都可以省略。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省略：表示没有赋初值部分，或在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语句前已为有关变量赋了初值。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如求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的另一种程序描述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s = 0;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= 1;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for( ;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&lt;= 100;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++)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s +=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;</a:t>
            </a:r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B4F8A-83D1-4219-83E3-5DF2E0E7D634}" type="slidenum">
              <a:rPr lang="en-US" altLang="zh-CN"/>
              <a:pPr>
                <a:defRPr/>
              </a:pPr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1027"/>
          <p:cNvSpPr>
            <a:spLocks noGrp="1" noChangeArrowheads="1"/>
          </p:cNvSpPr>
          <p:nvPr>
            <p:ph idx="1"/>
          </p:nvPr>
        </p:nvSpPr>
        <p:spPr>
          <a:xfrm>
            <a:off x="395288" y="928688"/>
            <a:ext cx="8137525" cy="5589587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求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的更多的不同程序描述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省略：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表示循环条件永远为真，可能循环体内有控制转移语句转出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</a:t>
            </a: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语句。</a:t>
            </a:r>
          </a:p>
          <a:p>
            <a:pPr marL="0" indent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for( s = 0,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= 1; 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++ ) {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s +=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;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if(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== 100) break;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10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}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2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省略：</a:t>
            </a: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表示没有修正部分，对变量的修正已在循环体内一起完成。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2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for( s = 0,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= 1;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&lt;= 100; ) 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ct val="2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 s +=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++;</a:t>
            </a: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4F5E1-103E-410D-8B31-95EB4F90655E}" type="slidenum">
              <a:rPr lang="en-US" altLang="zh-CN"/>
              <a:pPr>
                <a:defRPr/>
              </a:pPr>
              <a:t>62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9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9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447087" cy="5467350"/>
          </a:xfrm>
        </p:spPr>
        <p:txBody>
          <a:bodyPr>
            <a:normAutofit/>
          </a:bodyPr>
          <a:lstStyle/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4.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不管表达式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省略情况如何，其中两个分号都不能省略。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如果三个表达式都省略，用以下形式表示：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for( ; ; )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例如：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求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 = 1 + 2 +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…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+ 100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下面都是合理的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语句描述。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① 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for(s=0,i=1;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&lt;=100; s+=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i,i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++);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② for(s=0,i=1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;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s+=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i,i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&lt;100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++);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③ for(s=0,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i=0;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&lt;100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; ++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i,s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+=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</a:p>
          <a:p>
            <a:pPr marL="623888" indent="-623888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④ for(s=0,i=1; 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&lt;=100; s+=</a:t>
            </a:r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++);</a:t>
            </a:r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40A1C6-9FA2-458C-99D7-EF4A094519EE}" type="slidenum">
              <a:rPr lang="en-US" altLang="zh-CN"/>
              <a:pPr>
                <a:defRPr/>
              </a:pPr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0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0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58022-938C-486A-B8DE-19C3D11A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注意陷阱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1C7B4-8FCA-4254-8E7A-577ACF249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sz="3200" dirty="0"/>
              <a:t>四则运算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数据类型转换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运算符的优先级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运算符的结合顺序</a:t>
            </a:r>
            <a:endParaRPr lang="en-US" altLang="zh-CN" sz="3200" dirty="0"/>
          </a:p>
          <a:p>
            <a:pPr marL="514350" indent="-514350">
              <a:buAutoNum type="arabicPeriod"/>
            </a:pPr>
            <a:r>
              <a:rPr lang="zh-CN" altLang="en-US" sz="3200" dirty="0"/>
              <a:t>程序比较与数学比较的区别</a:t>
            </a:r>
            <a:endParaRPr lang="en-US" altLang="zh-CN" sz="3200" dirty="0"/>
          </a:p>
          <a:p>
            <a:pPr marL="514350" indent="-514350">
              <a:buAutoNum type="arabicPeriod"/>
            </a:pPr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77AAD-5B8E-4877-AEA3-5901DADD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5E637-B403-496A-AA51-52B2722B709D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7127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9026956-4572-4C25-8441-79CE27B4B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031"/>
            <a:ext cx="8964488" cy="66478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078D490-70F9-4398-B27D-75376586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200" y="-163899"/>
            <a:ext cx="8229600" cy="795114"/>
          </a:xfrm>
        </p:spPr>
        <p:txBody>
          <a:bodyPr/>
          <a:lstStyle/>
          <a:p>
            <a:r>
              <a:rPr lang="zh-CN" altLang="en-US" dirty="0"/>
              <a:t>习题精讲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3AD2C-0259-46F6-BCA3-C28A858B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D5E637-B403-496A-AA51-52B2722B709D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7E5866-E9CE-4E66-A8A4-BBF659EDE81A}"/>
              </a:ext>
            </a:extLst>
          </p:cNvPr>
          <p:cNvSpPr txBox="1"/>
          <p:nvPr/>
        </p:nvSpPr>
        <p:spPr>
          <a:xfrm>
            <a:off x="3995936" y="188640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E29B9A-39BE-490D-AF2E-74541D4C9E64}"/>
              </a:ext>
            </a:extLst>
          </p:cNvPr>
          <p:cNvSpPr txBox="1"/>
          <p:nvPr/>
        </p:nvSpPr>
        <p:spPr>
          <a:xfrm>
            <a:off x="8532440" y="611396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59EA05-D38A-472C-9BE2-AC6E909614D1}"/>
              </a:ext>
            </a:extLst>
          </p:cNvPr>
          <p:cNvSpPr txBox="1"/>
          <p:nvPr/>
        </p:nvSpPr>
        <p:spPr>
          <a:xfrm>
            <a:off x="7740352" y="1187460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6881CB-4498-454C-B157-777DE5C18D2D}"/>
              </a:ext>
            </a:extLst>
          </p:cNvPr>
          <p:cNvSpPr txBox="1"/>
          <p:nvPr/>
        </p:nvSpPr>
        <p:spPr>
          <a:xfrm>
            <a:off x="4572000" y="1763524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C0599C-C591-4D3E-A31F-776755302C02}"/>
              </a:ext>
            </a:extLst>
          </p:cNvPr>
          <p:cNvSpPr txBox="1"/>
          <p:nvPr/>
        </p:nvSpPr>
        <p:spPr>
          <a:xfrm>
            <a:off x="5220072" y="2483604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1417A5-68C9-4A42-A1FD-625171F8587F}"/>
              </a:ext>
            </a:extLst>
          </p:cNvPr>
          <p:cNvSpPr txBox="1"/>
          <p:nvPr/>
        </p:nvSpPr>
        <p:spPr>
          <a:xfrm>
            <a:off x="3932312" y="3059668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B781DC-4E48-498C-ADB8-6E4601AF2AC8}"/>
              </a:ext>
            </a:extLst>
          </p:cNvPr>
          <p:cNvSpPr txBox="1"/>
          <p:nvPr/>
        </p:nvSpPr>
        <p:spPr>
          <a:xfrm>
            <a:off x="3059832" y="3568405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5CB8E7-B3A6-4F71-8416-D693C4B64A48}"/>
              </a:ext>
            </a:extLst>
          </p:cNvPr>
          <p:cNvSpPr txBox="1"/>
          <p:nvPr/>
        </p:nvSpPr>
        <p:spPr>
          <a:xfrm>
            <a:off x="2483768" y="4149080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F0B075-BE27-4268-AC8C-FFD14EEAA77F}"/>
              </a:ext>
            </a:extLst>
          </p:cNvPr>
          <p:cNvSpPr txBox="1"/>
          <p:nvPr/>
        </p:nvSpPr>
        <p:spPr>
          <a:xfrm>
            <a:off x="6876256" y="4653136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436B31-DFD0-4D46-9F5E-FAF070E35269}"/>
              </a:ext>
            </a:extLst>
          </p:cNvPr>
          <p:cNvSpPr txBox="1"/>
          <p:nvPr/>
        </p:nvSpPr>
        <p:spPr>
          <a:xfrm>
            <a:off x="4444702" y="5987018"/>
            <a:ext cx="43204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040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12890</TotalTime>
  <Words>6431</Words>
  <Application>Microsoft Office PowerPoint</Application>
  <PresentationFormat>全屏显示(4:3)</PresentationFormat>
  <Paragraphs>713</Paragraphs>
  <Slides>65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80" baseType="lpstr">
      <vt:lpstr>黑体</vt:lpstr>
      <vt:lpstr>楷体_GB2312</vt:lpstr>
      <vt:lpstr>隶书</vt:lpstr>
      <vt:lpstr>宋体</vt:lpstr>
      <vt:lpstr>Arial</vt:lpstr>
      <vt:lpstr>Arial</vt:lpstr>
      <vt:lpstr>Calibri</vt:lpstr>
      <vt:lpstr>Constantia</vt:lpstr>
      <vt:lpstr>Courier New</vt:lpstr>
      <vt:lpstr>Times New Roman</vt:lpstr>
      <vt:lpstr>Verdana</vt:lpstr>
      <vt:lpstr>Wingdings</vt:lpstr>
      <vt:lpstr>Wingdings 2</vt:lpstr>
      <vt:lpstr>Flow</vt:lpstr>
      <vt:lpstr>Picture</vt:lpstr>
      <vt:lpstr>第3章 结构化程序 开发(I） </vt:lpstr>
      <vt:lpstr>再谈数据类型转换</vt:lpstr>
      <vt:lpstr>PowerPoint 演示文稿</vt:lpstr>
      <vt:lpstr>PowerPoint 演示文稿</vt:lpstr>
      <vt:lpstr>第3章 结构化程序设计</vt:lpstr>
      <vt:lpstr>3.1 基本语句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程序的结构</vt:lpstr>
      <vt:lpstr>3.2 顺序结构</vt:lpstr>
      <vt:lpstr>PowerPoint 演示文稿</vt:lpstr>
      <vt:lpstr>PowerPoint 演示文稿</vt:lpstr>
      <vt:lpstr>3.2 选择结构</vt:lpstr>
      <vt:lpstr>if 语句的基本形式 － （含 else）</vt:lpstr>
      <vt:lpstr>PowerPoint 演示文稿</vt:lpstr>
      <vt:lpstr>PowerPoint 演示文稿</vt:lpstr>
      <vt:lpstr>注意区别</vt:lpstr>
      <vt:lpstr>PowerPoint 演示文稿</vt:lpstr>
      <vt:lpstr>PowerPoint 演示文稿</vt:lpstr>
      <vt:lpstr>3. 逐一判定的if 语句形式</vt:lpstr>
      <vt:lpstr>PowerPoint 演示文稿</vt:lpstr>
      <vt:lpstr>说明</vt:lpstr>
      <vt:lpstr>PowerPoint 演示文稿</vt:lpstr>
      <vt:lpstr>PowerPoint 演示文稿</vt:lpstr>
      <vt:lpstr>PowerPoint 演示文稿</vt:lpstr>
      <vt:lpstr>PowerPoint 演示文稿</vt:lpstr>
      <vt:lpstr>【例3.5】输入三个整数，输出其中的最大数</vt:lpstr>
      <vt:lpstr>【例3.6】输入三个整数，按值从大到小的顺序输出。</vt:lpstr>
      <vt:lpstr>【例3.7】求一元二次方程的根</vt:lpstr>
      <vt:lpstr>PowerPoint 演示文稿</vt:lpstr>
      <vt:lpstr>PowerPoint 演示文稿</vt:lpstr>
      <vt:lpstr>PowerPoint 演示文稿</vt:lpstr>
      <vt:lpstr>多路按值选择结构 </vt:lpstr>
      <vt:lpstr>switch 语句的一些说明</vt:lpstr>
      <vt:lpstr>switch 语句－执行过程</vt:lpstr>
      <vt:lpstr>【例3.8】 </vt:lpstr>
      <vt:lpstr>用break语句实现分枝互斥</vt:lpstr>
      <vt:lpstr>PowerPoint 演示文稿</vt:lpstr>
      <vt:lpstr>PowerPoint 演示文稿</vt:lpstr>
      <vt:lpstr>3.4  循环结构</vt:lpstr>
      <vt:lpstr>while语句的流程图表达</vt:lpstr>
      <vt:lpstr>说明</vt:lpstr>
      <vt:lpstr>PowerPoint 演示文稿</vt:lpstr>
      <vt:lpstr>【例3.12】求学生平均成绩，当输入负数时结束</vt:lpstr>
      <vt:lpstr>【例3.13】统计输入字符行中，空白类字符、数字符和其它字符的个数</vt:lpstr>
      <vt:lpstr>do-while循环结构</vt:lpstr>
      <vt:lpstr>do-while语句的流程图表达</vt:lpstr>
      <vt:lpstr>PowerPoint 演示文稿</vt:lpstr>
      <vt:lpstr>说明</vt:lpstr>
      <vt:lpstr>PowerPoint 演示文稿</vt:lpstr>
      <vt:lpstr>Newton method牛顿法</vt:lpstr>
      <vt:lpstr>PowerPoint 演示文稿</vt:lpstr>
      <vt:lpstr>PowerPoint 演示文稿</vt:lpstr>
      <vt:lpstr>一个运行效率更高的求解方法</vt:lpstr>
      <vt:lpstr>for循环结构</vt:lpstr>
      <vt:lpstr>for 语句的流程图表达</vt:lpstr>
      <vt:lpstr>说明</vt:lpstr>
      <vt:lpstr>PowerPoint 演示文稿</vt:lpstr>
      <vt:lpstr>PowerPoint 演示文稿</vt:lpstr>
      <vt:lpstr>PowerPoint 演示文稿</vt:lpstr>
      <vt:lpstr>注意陷阱</vt:lpstr>
      <vt:lpstr>习题精讲</vt:lpstr>
    </vt:vector>
  </TitlesOfParts>
  <Manager/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结构化程序开发</dc:title>
  <dc:subject>程序设计</dc:subject>
  <dc:creator>xkl&amp;zzz</dc:creator>
  <cp:lastModifiedBy>王轶彤</cp:lastModifiedBy>
  <cp:revision>312</cp:revision>
  <dcterms:created xsi:type="dcterms:W3CDTF">1998-12-15T03:10:56Z</dcterms:created>
  <dcterms:modified xsi:type="dcterms:W3CDTF">2026-09-24T03:50:11Z</dcterms:modified>
</cp:coreProperties>
</file>