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677" r:id="rId2"/>
  </p:sldMasterIdLst>
  <p:notesMasterIdLst>
    <p:notesMasterId r:id="rId56"/>
  </p:notesMasterIdLst>
  <p:handoutMasterIdLst>
    <p:handoutMasterId r:id="rId57"/>
  </p:handoutMasterIdLst>
  <p:sldIdLst>
    <p:sldId id="313" r:id="rId3"/>
    <p:sldId id="725" r:id="rId4"/>
    <p:sldId id="728" r:id="rId5"/>
    <p:sldId id="517" r:id="rId6"/>
    <p:sldId id="427" r:id="rId7"/>
    <p:sldId id="428" r:id="rId8"/>
    <p:sldId id="429" r:id="rId9"/>
    <p:sldId id="430" r:id="rId10"/>
    <p:sldId id="518" r:id="rId11"/>
    <p:sldId id="720" r:id="rId12"/>
    <p:sldId id="719" r:id="rId13"/>
    <p:sldId id="709" r:id="rId14"/>
    <p:sldId id="519" r:id="rId15"/>
    <p:sldId id="521" r:id="rId16"/>
    <p:sldId id="554" r:id="rId17"/>
    <p:sldId id="687" r:id="rId18"/>
    <p:sldId id="523" r:id="rId19"/>
    <p:sldId id="705" r:id="rId20"/>
    <p:sldId id="526" r:id="rId21"/>
    <p:sldId id="527" r:id="rId22"/>
    <p:sldId id="529" r:id="rId23"/>
    <p:sldId id="528" r:id="rId24"/>
    <p:sldId id="716" r:id="rId25"/>
    <p:sldId id="530" r:id="rId26"/>
    <p:sldId id="531" r:id="rId27"/>
    <p:sldId id="532" r:id="rId28"/>
    <p:sldId id="534" r:id="rId29"/>
    <p:sldId id="539" r:id="rId30"/>
    <p:sldId id="540" r:id="rId31"/>
    <p:sldId id="688" r:id="rId32"/>
    <p:sldId id="541" r:id="rId33"/>
    <p:sldId id="544" r:id="rId34"/>
    <p:sldId id="545" r:id="rId35"/>
    <p:sldId id="546" r:id="rId36"/>
    <p:sldId id="547" r:id="rId37"/>
    <p:sldId id="718" r:id="rId38"/>
    <p:sldId id="723" r:id="rId39"/>
    <p:sldId id="548" r:id="rId40"/>
    <p:sldId id="549" r:id="rId41"/>
    <p:sldId id="550" r:id="rId42"/>
    <p:sldId id="552" r:id="rId43"/>
    <p:sldId id="717" r:id="rId44"/>
    <p:sldId id="555" r:id="rId45"/>
    <p:sldId id="556" r:id="rId46"/>
    <p:sldId id="557" r:id="rId47"/>
    <p:sldId id="714" r:id="rId48"/>
    <p:sldId id="689" r:id="rId49"/>
    <p:sldId id="690" r:id="rId50"/>
    <p:sldId id="561" r:id="rId51"/>
    <p:sldId id="708" r:id="rId52"/>
    <p:sldId id="564" r:id="rId53"/>
    <p:sldId id="726" r:id="rId54"/>
    <p:sldId id="727" r:id="rId5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36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36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36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36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0000FF"/>
    <a:srgbClr val="CC0000"/>
    <a:srgbClr val="0099FF"/>
    <a:srgbClr val="CC0066"/>
    <a:srgbClr val="FF3300"/>
    <a:srgbClr val="000099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92" autoAdjust="0"/>
  </p:normalViewPr>
  <p:slideViewPr>
    <p:cSldViewPr>
      <p:cViewPr varScale="1">
        <p:scale>
          <a:sx n="87" d="100"/>
          <a:sy n="87" d="100"/>
        </p:scale>
        <p:origin x="360" y="6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24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CDFBFB5-8A88-4040-BB9E-7D2CBBA278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43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862A6FA-2CFA-40A5-8673-C5A5B4E901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61628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CN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CN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76250"/>
            <a:ext cx="7656512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16013" y="1916113"/>
            <a:ext cx="3667125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35538" y="1916113"/>
            <a:ext cx="3668712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B2BFDB9-FD25-4588-A417-B2A3337B88F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zh-CN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28443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42250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78271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73697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18056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348848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001131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179925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zh-CN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78331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897507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altLang="zh-CN"/>
              <a:t>Click to edit Master text styles</a:t>
            </a:r>
          </a:p>
          <a:p>
            <a:pPr lvl="1" eaLnBrk="1" latinLnBrk="0" hangingPunct="1"/>
            <a:r>
              <a:rPr lang="en-US" altLang="zh-CN"/>
              <a:t>Second level</a:t>
            </a:r>
          </a:p>
          <a:p>
            <a:pPr lvl="2" eaLnBrk="1" latinLnBrk="0" hangingPunct="1"/>
            <a:r>
              <a:rPr lang="en-US" altLang="zh-CN"/>
              <a:t>Third level</a:t>
            </a:r>
          </a:p>
          <a:p>
            <a:pPr lvl="3" eaLnBrk="1" latinLnBrk="0" hangingPunct="1"/>
            <a:r>
              <a:rPr lang="en-US" altLang="zh-CN"/>
              <a:t>Fourth level</a:t>
            </a:r>
          </a:p>
          <a:p>
            <a:pPr lvl="4" eaLnBrk="1" latinLnBrk="0" hangingPunct="1"/>
            <a:r>
              <a:rPr lang="en-US" altLang="zh-CN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889690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476250"/>
            <a:ext cx="7656512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16013" y="1916113"/>
            <a:ext cx="3667125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935538" y="1916113"/>
            <a:ext cx="3668712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935538" y="4049713"/>
            <a:ext cx="3668712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5814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08706CB-7635-45AD-A7DC-7E8D0CB7F2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16109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zh-CN"/>
              <a:t>Click to edit Master text styles</a:t>
            </a:r>
          </a:p>
          <a:p>
            <a:pPr lvl="1" eaLnBrk="1" latinLnBrk="0" hangingPunct="1"/>
            <a:r>
              <a:rPr kumimoji="0" lang="en-US" altLang="zh-CN"/>
              <a:t>Second level</a:t>
            </a:r>
          </a:p>
          <a:p>
            <a:pPr lvl="2" eaLnBrk="1" latinLnBrk="0" hangingPunct="1"/>
            <a:r>
              <a:rPr kumimoji="0" lang="en-US" altLang="zh-CN"/>
              <a:t>Third level</a:t>
            </a:r>
          </a:p>
          <a:p>
            <a:pPr lvl="3" eaLnBrk="1" latinLnBrk="0" hangingPunct="1"/>
            <a:r>
              <a:rPr kumimoji="0" lang="en-US" altLang="zh-CN"/>
              <a:t>Fourth level</a:t>
            </a:r>
          </a:p>
          <a:p>
            <a:pPr lvl="4" eaLnBrk="1" latinLnBrk="0" hangingPunct="1"/>
            <a:r>
              <a:rPr kumimoji="0" lang="en-US" altLang="zh-CN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8B27F99-712D-4C13-83EA-F271460F102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6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altLang="zh-CN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zh-CN"/>
              <a:t>Click to edit Master text styles</a:t>
            </a:r>
          </a:p>
          <a:p>
            <a:pPr lvl="1" eaLnBrk="1" latinLnBrk="0" hangingPunct="1"/>
            <a:r>
              <a:rPr kumimoji="0" lang="en-US" altLang="zh-CN"/>
              <a:t>Second level</a:t>
            </a:r>
          </a:p>
          <a:p>
            <a:pPr lvl="2" eaLnBrk="1" latinLnBrk="0" hangingPunct="1"/>
            <a:r>
              <a:rPr kumimoji="0" lang="en-US" altLang="zh-CN"/>
              <a:t>Third level</a:t>
            </a:r>
          </a:p>
          <a:p>
            <a:pPr lvl="3" eaLnBrk="1" latinLnBrk="0" hangingPunct="1"/>
            <a:r>
              <a:rPr kumimoji="0" lang="en-US" altLang="zh-CN"/>
              <a:t>Fourth level</a:t>
            </a:r>
          </a:p>
          <a:p>
            <a:pPr lvl="4" eaLnBrk="1" latinLnBrk="0" hangingPunct="1"/>
            <a:r>
              <a:rPr kumimoji="0" lang="en-US" altLang="zh-CN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9/18/2025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  <p:extLst>
      <p:ext uri="{BB962C8B-B14F-4D97-AF65-F5344CB8AC3E}">
        <p14:creationId xmlns:p14="http://schemas.microsoft.com/office/powerpoint/2010/main" val="63438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1C202-0297-4E7C-BF96-29D9D5E0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544" y="1772816"/>
            <a:ext cx="7560840" cy="2507704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章 基本数据类型及其运算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(II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）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9234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869E0-A732-43D5-8D8F-4DFFCE5A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16632"/>
            <a:ext cx="8229600" cy="864096"/>
          </a:xfrm>
        </p:spPr>
        <p:txBody>
          <a:bodyPr/>
          <a:lstStyle/>
          <a:p>
            <a:r>
              <a:rPr lang="zh-CN" altLang="en-US" dirty="0"/>
              <a:t>再谈浮点型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16E7067-6346-44C0-9437-1902C4E29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1268760"/>
            <a:ext cx="8229600" cy="25511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9AA3A11-D4F2-44D7-999E-77771B3541D0}"/>
              </a:ext>
            </a:extLst>
          </p:cNvPr>
          <p:cNvSpPr txBox="1"/>
          <p:nvPr/>
        </p:nvSpPr>
        <p:spPr>
          <a:xfrm>
            <a:off x="215516" y="3981871"/>
            <a:ext cx="87129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400" dirty="0"/>
              <a:t>输出宽度</a:t>
            </a:r>
            <a:endParaRPr lang="en-US" altLang="zh-CN" sz="2400" dirty="0"/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zh-CN" altLang="en-US" sz="2400" dirty="0"/>
              <a:t>小数点和符号都占位数</a:t>
            </a:r>
            <a:endParaRPr lang="en-US" altLang="zh-CN" sz="2400" dirty="0"/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zh-CN" altLang="en-US" sz="2400" dirty="0"/>
              <a:t>总宽度不足时，前面补空格。例如</a:t>
            </a:r>
            <a:r>
              <a:rPr lang="en-US" altLang="zh-CN" sz="2400" dirty="0"/>
              <a:t>%8.2</a:t>
            </a:r>
            <a:r>
              <a:rPr lang="zh-CN" altLang="en-US" sz="2400" dirty="0"/>
              <a:t>输出</a:t>
            </a:r>
            <a:r>
              <a:rPr lang="en-US" altLang="zh-CN" sz="2400" dirty="0"/>
              <a:t>3.14159</a:t>
            </a:r>
            <a:r>
              <a:rPr lang="zh-CN" altLang="en-US" sz="2400" dirty="0"/>
              <a:t>，实际输出危</a:t>
            </a:r>
            <a:r>
              <a:rPr lang="en-US" altLang="zh-CN" sz="2400" dirty="0"/>
              <a:t>3.14</a:t>
            </a:r>
            <a:r>
              <a:rPr lang="zh-CN" altLang="en-US" sz="2400" dirty="0"/>
              <a:t>（前面</a:t>
            </a:r>
            <a:r>
              <a:rPr lang="en-US" altLang="zh-CN" sz="2400" dirty="0"/>
              <a:t>4</a:t>
            </a:r>
            <a:r>
              <a:rPr lang="zh-CN" altLang="en-US" sz="2400" dirty="0"/>
              <a:t>个空格）</a:t>
            </a:r>
            <a:endParaRPr lang="en-US" altLang="zh-CN" sz="2400" dirty="0"/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zh-CN" altLang="en-US" sz="2400" dirty="0"/>
              <a:t>总宽度不够时，按实际输出。如例</a:t>
            </a:r>
            <a:r>
              <a:rPr lang="en-US" altLang="zh-CN" sz="2400" dirty="0"/>
              <a:t>2.4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zh-CN" sz="2400" dirty="0"/>
              <a:t>-1</a:t>
            </a:r>
            <a:r>
              <a:rPr lang="zh-CN" altLang="en-US" sz="2400" dirty="0"/>
              <a:t>的机器表示</a:t>
            </a:r>
            <a:r>
              <a:rPr lang="en-US" altLang="zh-CN" sz="2400" dirty="0"/>
              <a:t>1111 1111 1111 1111 1111 1111 1111 1111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altLang="zh-CN" sz="2400" dirty="0"/>
              <a:t>16</a:t>
            </a:r>
            <a:r>
              <a:rPr lang="zh-CN" altLang="en-US" sz="2400" dirty="0"/>
              <a:t>进制输出</a:t>
            </a:r>
            <a:r>
              <a:rPr lang="en-US" altLang="zh-CN" sz="2400" dirty="0"/>
              <a:t>FFFF </a:t>
            </a:r>
            <a:r>
              <a:rPr lang="en-US" altLang="zh-CN" sz="2400" dirty="0" err="1"/>
              <a:t>FFFF</a:t>
            </a:r>
            <a:r>
              <a:rPr lang="zh-CN" altLang="en-US" sz="2400" dirty="0"/>
              <a:t>，</a:t>
            </a:r>
            <a:r>
              <a:rPr lang="en-US" altLang="zh-CN" sz="2400" dirty="0"/>
              <a:t>8</a:t>
            </a:r>
            <a:r>
              <a:rPr lang="zh-CN" altLang="en-US" sz="2400" dirty="0"/>
              <a:t>进制</a:t>
            </a:r>
            <a:r>
              <a:rPr lang="en-US" altLang="zh-CN" sz="2400" dirty="0"/>
              <a:t>377 7777 7777</a:t>
            </a:r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71500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FD932-346C-4B18-9F67-5D3AA2952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68" y="332656"/>
            <a:ext cx="8229600" cy="1143000"/>
          </a:xfrm>
        </p:spPr>
        <p:txBody>
          <a:bodyPr/>
          <a:lstStyle/>
          <a:p>
            <a:r>
              <a:rPr lang="zh-CN" altLang="en-US" dirty="0"/>
              <a:t>输出实例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02A795-5CD3-4F48-B793-609A3053E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29" y="1700808"/>
            <a:ext cx="9116733" cy="3168352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9938C54-84CE-4EC8-BF5E-D0A4458BC580}"/>
              </a:ext>
            </a:extLst>
          </p:cNvPr>
          <p:cNvCxnSpPr/>
          <p:nvPr/>
        </p:nvCxnSpPr>
        <p:spPr>
          <a:xfrm>
            <a:off x="6012160" y="2132856"/>
            <a:ext cx="72008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EC0D8C4-C3D2-44F6-8F2D-7D3A6884DAF2}"/>
              </a:ext>
            </a:extLst>
          </p:cNvPr>
          <p:cNvCxnSpPr>
            <a:cxnSpLocks/>
          </p:cNvCxnSpPr>
          <p:nvPr/>
        </p:nvCxnSpPr>
        <p:spPr>
          <a:xfrm>
            <a:off x="1979712" y="4293096"/>
            <a:ext cx="1224136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C1F0D3D0-AD10-4386-93B1-C5858A0EB4D5}"/>
              </a:ext>
            </a:extLst>
          </p:cNvPr>
          <p:cNvSpPr/>
          <p:nvPr/>
        </p:nvSpPr>
        <p:spPr>
          <a:xfrm>
            <a:off x="611560" y="5517232"/>
            <a:ext cx="1944216" cy="792088"/>
          </a:xfrm>
          <a:prstGeom prst="wedgeRoundRectCallout">
            <a:avLst>
              <a:gd name="adj1" fmla="val -38488"/>
              <a:gd name="adj2" fmla="val -13803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小数点后</a:t>
            </a:r>
            <a:r>
              <a:rPr lang="en-US" altLang="zh-CN" sz="1600" dirty="0">
                <a:solidFill>
                  <a:schemeClr val="tx1"/>
                </a:solidFill>
              </a:rPr>
              <a:t>6</a:t>
            </a:r>
            <a:r>
              <a:rPr lang="zh-CN" altLang="en-US" sz="1600" dirty="0">
                <a:solidFill>
                  <a:schemeClr val="tx1"/>
                </a:solidFill>
              </a:rPr>
              <a:t>位，有效数字</a:t>
            </a:r>
            <a:r>
              <a:rPr lang="en-US" altLang="zh-CN" sz="1600" dirty="0">
                <a:solidFill>
                  <a:schemeClr val="tx1"/>
                </a:solidFill>
              </a:rPr>
              <a:t>7</a:t>
            </a:r>
            <a:r>
              <a:rPr lang="zh-CN" altLang="en-US" sz="1600" dirty="0">
                <a:solidFill>
                  <a:schemeClr val="tx1"/>
                </a:solidFill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91423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147050" cy="838200"/>
          </a:xfrm>
        </p:spPr>
        <p:txBody>
          <a:bodyPr>
            <a:normAutofit/>
          </a:bodyPr>
          <a:lstStyle/>
          <a:p>
            <a:r>
              <a:rPr lang="en-US" altLang="zh-CN" sz="44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2.3  </a:t>
            </a:r>
            <a:r>
              <a:rPr lang="zh-CN" altLang="en-US" sz="44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数据运算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219200"/>
            <a:ext cx="8588375" cy="501808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spcAft>
                <a:spcPts val="600"/>
              </a:spcAft>
            </a:pPr>
            <a:r>
              <a:rPr lang="zh-CN" altLang="en-US" sz="3200" b="1" dirty="0">
                <a:latin typeface="宋体" pitchFamily="2" charset="-122"/>
              </a:rPr>
              <a:t>数据运算由操作数和运算符组成的合法算式来描述。（这样的算式也称为</a:t>
            </a:r>
            <a:r>
              <a:rPr lang="zh-CN" altLang="en-US" sz="3200" b="1" dirty="0">
                <a:solidFill>
                  <a:srgbClr val="C00000"/>
                </a:solidFill>
                <a:latin typeface="宋体" pitchFamily="2" charset="-122"/>
              </a:rPr>
              <a:t>表达式</a:t>
            </a:r>
            <a:r>
              <a:rPr lang="zh-CN" altLang="en-US" sz="3200" b="1" dirty="0">
                <a:latin typeface="宋体" pitchFamily="2" charset="-122"/>
              </a:rPr>
              <a:t>）</a:t>
            </a:r>
            <a:endParaRPr lang="en-US" altLang="zh-CN" sz="3200" b="1" dirty="0">
              <a:latin typeface="宋体" pitchFamily="2" charset="-122"/>
            </a:endParaRPr>
          </a:p>
          <a:p>
            <a:pPr marL="0" indent="0" algn="just">
              <a:spcAft>
                <a:spcPts val="600"/>
              </a:spcAft>
            </a:pPr>
            <a:r>
              <a:rPr lang="zh-CN" altLang="en-US" sz="3200" b="1" dirty="0">
                <a:latin typeface="宋体" pitchFamily="2" charset="-122"/>
              </a:rPr>
              <a:t>根据算符涉及的操作数的多少</a:t>
            </a:r>
            <a:r>
              <a:rPr lang="en-US" altLang="zh-CN" sz="3200" b="1" dirty="0">
                <a:latin typeface="宋体" pitchFamily="2" charset="-122"/>
              </a:rPr>
              <a:t>,</a:t>
            </a:r>
            <a:r>
              <a:rPr lang="zh-CN" altLang="en-US" sz="3200" b="1" dirty="0">
                <a:latin typeface="宋体" pitchFamily="2" charset="-122"/>
              </a:rPr>
              <a:t>分为单目、双目和三目运算</a:t>
            </a:r>
            <a:endParaRPr lang="en-US" altLang="zh-CN" sz="3200" b="1" dirty="0">
              <a:latin typeface="宋体" pitchFamily="2" charset="-122"/>
            </a:endParaRPr>
          </a:p>
          <a:p>
            <a:pPr marL="0" indent="0" algn="just">
              <a:spcAft>
                <a:spcPts val="600"/>
              </a:spcAft>
            </a:pPr>
            <a:r>
              <a:rPr lang="zh-CN" altLang="en-US" sz="3200" b="1" dirty="0">
                <a:latin typeface="宋体" pitchFamily="2" charset="-122"/>
              </a:rPr>
              <a:t>运算符的优先级</a:t>
            </a:r>
            <a:r>
              <a:rPr lang="en-US" altLang="zh-CN" sz="3200" b="1" dirty="0">
                <a:latin typeface="宋体" pitchFamily="2" charset="-122"/>
              </a:rPr>
              <a:t>:  </a:t>
            </a:r>
            <a:r>
              <a:rPr lang="zh-CN" altLang="en-US" sz="3100" b="1" dirty="0">
                <a:latin typeface="宋体" pitchFamily="2" charset="-122"/>
              </a:rPr>
              <a:t>优先级用来标志运算符在表达式中的运算顺序。优先级高的先运算，优先级低的后运算。</a:t>
            </a:r>
            <a:endParaRPr lang="zh-CN" altLang="en-US" sz="3200" b="1" dirty="0">
              <a:latin typeface="宋体" pitchFamily="2" charset="-122"/>
            </a:endParaRPr>
          </a:p>
          <a:p>
            <a:pPr marL="0" indent="0" algn="just">
              <a:spcAft>
                <a:spcPts val="600"/>
              </a:spcAft>
              <a:buFont typeface="Monotype Sorts" pitchFamily="2" charset="2"/>
              <a:buNone/>
            </a:pPr>
            <a:r>
              <a:rPr lang="zh-CN" altLang="en-US" sz="3200" b="1" dirty="0">
                <a:solidFill>
                  <a:srgbClr val="CC0000"/>
                </a:solidFill>
                <a:latin typeface="宋体" pitchFamily="2" charset="-122"/>
              </a:rPr>
              <a:t>如：</a:t>
            </a:r>
            <a:r>
              <a:rPr lang="en-US" altLang="zh-CN" sz="3200" b="1" dirty="0">
                <a:solidFill>
                  <a:srgbClr val="CC0000"/>
                </a:solidFill>
                <a:latin typeface="宋体" pitchFamily="2" charset="-122"/>
              </a:rPr>
              <a:t>x-y*z   </a:t>
            </a:r>
            <a:r>
              <a:rPr lang="zh-CN" altLang="en-US" sz="3200" b="1" dirty="0">
                <a:solidFill>
                  <a:srgbClr val="CC0000"/>
                </a:solidFill>
                <a:latin typeface="宋体" pitchFamily="2" charset="-122"/>
              </a:rPr>
              <a:t>相当于  </a:t>
            </a:r>
            <a:r>
              <a:rPr lang="en-US" altLang="zh-CN" sz="3200" b="1" dirty="0">
                <a:solidFill>
                  <a:srgbClr val="CC0000"/>
                </a:solidFill>
                <a:latin typeface="宋体" pitchFamily="2" charset="-122"/>
              </a:rPr>
              <a:t>x-(y*z)</a:t>
            </a:r>
            <a:r>
              <a:rPr lang="en-US" altLang="zh-CN" sz="3200" b="1" dirty="0">
                <a:latin typeface="宋体" pitchFamily="2" charset="-122"/>
              </a:rPr>
              <a:t> </a:t>
            </a:r>
            <a:endParaRPr lang="en-US" altLang="zh-CN" sz="3200" b="1" dirty="0">
              <a:solidFill>
                <a:srgbClr val="0000FF"/>
              </a:solidFill>
              <a:latin typeface="宋体" pitchFamily="2" charset="-122"/>
            </a:endParaRPr>
          </a:p>
          <a:p>
            <a:pPr marL="0" indent="0" algn="just">
              <a:spcAft>
                <a:spcPts val="600"/>
              </a:spcAft>
            </a:pPr>
            <a:r>
              <a:rPr lang="zh-CN" altLang="en-US" sz="3200" b="1" dirty="0">
                <a:latin typeface="宋体" pitchFamily="2" charset="-122"/>
              </a:rPr>
              <a:t>运算符的结合性</a:t>
            </a:r>
          </a:p>
          <a:p>
            <a:pPr marL="0" indent="0" algn="just">
              <a:spcAft>
                <a:spcPts val="600"/>
              </a:spcAft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    在优先级相同情况下，表达式的计算顺序由结合性来确定。大多数运算符的结合性是从左至右，只有单目、三目和</a:t>
            </a:r>
            <a:r>
              <a:rPr lang="zh-CN" alt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宋体" pitchFamily="2" charset="-122"/>
              </a:rPr>
              <a:t>赋值</a:t>
            </a:r>
            <a:r>
              <a:rPr lang="zh-CN" altLang="en-US" sz="3200" b="1" dirty="0">
                <a:latin typeface="宋体" pitchFamily="2" charset="-122"/>
              </a:rPr>
              <a:t>运算符的结合性是从右至左的。</a:t>
            </a:r>
            <a:endParaRPr lang="en-US" altLang="zh-CN" sz="3200" b="1" dirty="0">
              <a:latin typeface="宋体" pitchFamily="2" charset="-122"/>
            </a:endParaRPr>
          </a:p>
          <a:p>
            <a:pPr marL="0" indent="0" algn="just">
              <a:spcAft>
                <a:spcPts val="600"/>
              </a:spcAft>
              <a:buFont typeface="Monotype Sorts" pitchFamily="2" charset="2"/>
              <a:buNone/>
            </a:pPr>
            <a:r>
              <a:rPr lang="zh-CN" altLang="en-US" sz="3200" b="1" dirty="0">
                <a:solidFill>
                  <a:srgbClr val="CC0000"/>
                </a:solidFill>
                <a:latin typeface="宋体" pitchFamily="2" charset="-122"/>
              </a:rPr>
              <a:t>如：</a:t>
            </a:r>
            <a:r>
              <a:rPr lang="en-US" altLang="zh-CN" sz="3200" b="1" dirty="0">
                <a:solidFill>
                  <a:srgbClr val="CC0000"/>
                </a:solidFill>
                <a:latin typeface="宋体" pitchFamily="2" charset="-122"/>
              </a:rPr>
              <a:t>a=b=c=1.5;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C8E4C-F728-4B97-9D72-08E47BA47CDE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7" name="Right Arrow 6"/>
          <p:cNvSpPr/>
          <p:nvPr/>
        </p:nvSpPr>
        <p:spPr>
          <a:xfrm rot="10800000">
            <a:off x="1187624" y="6165304"/>
            <a:ext cx="1214446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BC041DA0-716C-4049-B24D-E39C46836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116632"/>
            <a:ext cx="8686800" cy="83820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赋值运算</a:t>
            </a:r>
            <a:endParaRPr lang="zh-CN" altLang="en-US" sz="4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EEB22DC4-9805-4711-B2E6-6A2D10260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504" y="1254968"/>
            <a:ext cx="8610600" cy="5486400"/>
          </a:xfrm>
        </p:spPr>
        <p:txBody>
          <a:bodyPr/>
          <a:lstStyle/>
          <a:p>
            <a:pPr algn="just"/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赋值运算最简单形式：  </a:t>
            </a: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变量  </a:t>
            </a:r>
            <a:r>
              <a:rPr lang="en-US" altLang="zh-CN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=  </a:t>
            </a:r>
            <a:r>
              <a:rPr lang="zh-CN" altLang="en-US" b="1" dirty="0">
                <a:solidFill>
                  <a:srgbClr val="FF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表达式</a:t>
            </a:r>
          </a:p>
          <a:p>
            <a:pPr algn="just"/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赋值运算的执行过程：</a:t>
            </a:r>
          </a:p>
          <a:p>
            <a:pPr algn="just">
              <a:buFont typeface="Monotype Sorts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(1)</a:t>
            </a:r>
            <a:r>
              <a:rPr lang="zh-CN" altLang="en-US" sz="2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计算赋值运算符右端表达式；</a:t>
            </a:r>
          </a:p>
          <a:p>
            <a:pPr algn="just">
              <a:buFont typeface="Monotype Sorts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(2)</a:t>
            </a:r>
            <a:r>
              <a:rPr lang="zh-CN" altLang="en-US" sz="2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如表达式类型与赋值运算符左边变量类型不同（仅限于基本类型），将表达式值的类型</a:t>
            </a:r>
            <a:r>
              <a:rPr lang="zh-CN" altLang="en-US" sz="2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转换成变量的类型</a:t>
            </a:r>
            <a:r>
              <a:rPr lang="zh-CN" altLang="en-US" sz="2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；</a:t>
            </a:r>
          </a:p>
          <a:p>
            <a:pPr algn="just">
              <a:buFont typeface="Monotype Sorts" pitchFamily="2" charset="2"/>
              <a:buNone/>
            </a:pPr>
            <a:r>
              <a:rPr lang="en-US" altLang="zh-CN" sz="2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(3)</a:t>
            </a:r>
            <a:r>
              <a:rPr lang="zh-CN" altLang="en-US" sz="2400" b="1" dirty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将求得的值赋给变量。</a:t>
            </a:r>
            <a:endParaRPr lang="zh-CN" alt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algn="just"/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赋值运算一般形式是	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左值表达式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=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表达式</a:t>
            </a:r>
          </a:p>
          <a:p>
            <a:pPr algn="just"/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赋值运算也有结果，经赋值运算后，</a:t>
            </a:r>
            <a:r>
              <a:rPr lang="zh-CN" alt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赋值表达式具有赋值后赋值运算符左边变量</a:t>
            </a:r>
            <a:r>
              <a:rPr lang="zh-CN" alt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同样的类型和值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。</a:t>
            </a:r>
          </a:p>
          <a:p>
            <a:pPr algn="just"/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因赋值运算有值，所以可以进一步参与运算，特别是可以再赋值给其它变量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0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0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0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0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0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>
            <a:extLst>
              <a:ext uri="{FF2B5EF4-FFF2-40B4-BE49-F238E27FC236}">
                <a16:creationId xmlns:a16="http://schemas.microsoft.com/office/drawing/2014/main" id="{B856B8B5-D801-40FB-A8C2-7BFD4AFA0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116632"/>
            <a:ext cx="8686800" cy="83820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赋值运算</a:t>
            </a:r>
            <a:endParaRPr lang="zh-CN" altLang="en-US" sz="4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7E2B9142-6D5E-40B6-B56B-DCBCFF648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610600" cy="54864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赋值运算符的结合性是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“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自右至左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”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的，当连续有多个赋值运算时，是从右至左逐个赋值。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如       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 = y = 4.0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是先将值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4.0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赋给变量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y,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再赋给变量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。如有变量说明：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        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int k;    double x;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则赋值表达式：    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 = k = 3.5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是先将实数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3.5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自动转换成整数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赋给整型变量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k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，然后又将整数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自动转换成实数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3.0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赋给实型变量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，所以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k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的值是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，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的值是</a:t>
            </a:r>
            <a:r>
              <a:rPr lang="en-US" altLang="zh-CN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3.0</a:t>
            </a: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>
            <a:extLst>
              <a:ext uri="{FF2B5EF4-FFF2-40B4-BE49-F238E27FC236}">
                <a16:creationId xmlns:a16="http://schemas.microsoft.com/office/drawing/2014/main" id="{DCD8AC17-66A7-4A4C-A07A-CF883EBC2A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44624"/>
            <a:ext cx="8686800" cy="83820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赋值运算</a:t>
            </a:r>
            <a:endParaRPr lang="zh-CN" altLang="en-US" sz="4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3A8D107E-A1EA-4038-B4B7-9981C889D5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962" y="1326976"/>
            <a:ext cx="8610600" cy="54864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赋值与算术混合运算的例子：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表达式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=4+(j=7)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的值为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11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，使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i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值为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11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，使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j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值为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7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表达式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= (j = 3)+(k = 8) 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的值为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11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，使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i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值为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11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，使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j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值为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k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值为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8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在程序中，经常遇到在变量现有值的基础上作某种修正的运算。如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 = x + 5.0 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这类运算的特点是：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变量既是运算分量，又是赋值对象。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为避免对同一存储对象的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地址重复计算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，Ｃ语言引入复合赋值运算符。它们是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  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+=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-=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、*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=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/=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%=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&lt;&lt;=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&gt;&gt;=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&amp;=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^=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|=</a:t>
            </a:r>
            <a:endParaRPr lang="en-US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2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2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2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2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E3FD4DA1-5CF0-4C0C-B0D6-260E2C9A3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83820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赋值运算</a:t>
            </a:r>
            <a:endParaRPr lang="zh-CN" altLang="en-US" sz="4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D97E21C5-30DB-4BE1-AE26-542982C492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326976"/>
            <a:ext cx="8610600" cy="54864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举例说明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复合赋值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运算的意义：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+=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5.0      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等效于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 = x + 5.0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（</a:t>
            </a:r>
            <a:r>
              <a:rPr lang="zh-CN" altLang="en-US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？ </a:t>
            </a:r>
            <a:r>
              <a:rPr lang="en-US" altLang="zh-CN" sz="2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+=  vs.=+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）</a:t>
            </a:r>
            <a:endParaRPr lang="en-US" altLang="zh-CN" sz="2400" b="1" dirty="0">
              <a:effectLst>
                <a:outerShdw blurRad="38100" dist="38100" dir="2700000" algn="tl">
                  <a:srgbClr val="000000"/>
                </a:outerShdw>
              </a:effectLst>
              <a:latin typeface="宋体" panose="02010600030101010101" pitchFamily="2" charset="-122"/>
            </a:endParaRP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 x *= u + v     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等效于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 = x * (u + v)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 a += a -= b + 2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等效于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a = a+(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a=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a-(b+2))  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记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θ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为某个二目运算符，复合赋值运算 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θ=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e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其等效的表达式为   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x = x θ (e)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当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e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是一个复杂表达式时，等效表达式括号是必需的。如  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y *= 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a+b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的等效形式是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y = y * (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a+b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)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赋值运算符和所有复合赋值运算符的优先级全相同，都是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“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anose="02010600030101010101" pitchFamily="2" charset="-122"/>
              </a:rPr>
              <a:t>自右至左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”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结合，优先级高于逗号运算符的优先级，低于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C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语言中其它所有运算符的优先级。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3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3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3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3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3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3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3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3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7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91513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算术运算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"/>
          </p:nvPr>
        </p:nvSpPr>
        <p:spPr>
          <a:xfrm>
            <a:off x="266700" y="1484784"/>
            <a:ext cx="8610600" cy="409108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单目：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+(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取正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-(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取负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双目：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+(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加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-(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减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、*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乘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除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%(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求余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加、减、乘、除和求余运算都是双目运算符，结合性都是从左至右的。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</a:t>
            </a: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取正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(+)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、取负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(-)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是单目运算符，结合性是从右至左，优先级高于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+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-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、*、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% 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等双目运算符。</a:t>
            </a: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52F3-F99E-4F1E-B555-6646E449A9E2}" type="slidenum">
              <a:rPr lang="en-US" altLang="zh-CN"/>
              <a:pPr/>
              <a:t>9</a:t>
            </a:fld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91513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算术运算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"/>
          </p:nvPr>
        </p:nvSpPr>
        <p:spPr>
          <a:xfrm>
            <a:off x="266700" y="1098550"/>
            <a:ext cx="8610600" cy="52578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单目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：</a:t>
            </a: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+(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取正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-(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取负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宋体" pitchFamily="2" charset="-122"/>
              </a:rPr>
              <a:t>prinft</a:t>
            </a:r>
            <a:r>
              <a:rPr lang="en-US" altLang="zh-CN" sz="2400" b="1" dirty="0">
                <a:solidFill>
                  <a:srgbClr val="0000FF"/>
                </a:solidFill>
                <a:latin typeface="宋体" pitchFamily="2" charset="-122"/>
              </a:rPr>
              <a:t>(“</a:t>
            </a:r>
            <a:r>
              <a:rPr lang="en-US" altLang="zh-CN" sz="2400" b="1" dirty="0" err="1">
                <a:solidFill>
                  <a:srgbClr val="0000FF"/>
                </a:solidFill>
                <a:latin typeface="宋体" pitchFamily="2" charset="-122"/>
              </a:rPr>
              <a:t>i</a:t>
            </a:r>
            <a:r>
              <a:rPr lang="en-US" altLang="zh-CN" sz="2400" b="1" dirty="0">
                <a:solidFill>
                  <a:srgbClr val="0000FF"/>
                </a:solidFill>
                <a:latin typeface="宋体" pitchFamily="2" charset="-122"/>
              </a:rPr>
              <a:t>=%</a:t>
            </a:r>
            <a:r>
              <a:rPr lang="en-US" altLang="zh-CN" sz="2400" b="1" dirty="0" err="1">
                <a:solidFill>
                  <a:srgbClr val="0000FF"/>
                </a:solidFill>
                <a:latin typeface="宋体" pitchFamily="2" charset="-122"/>
              </a:rPr>
              <a:t>d,j</a:t>
            </a:r>
            <a:r>
              <a:rPr lang="en-US" altLang="zh-CN" sz="2400" b="1" dirty="0">
                <a:solidFill>
                  <a:srgbClr val="0000FF"/>
                </a:solidFill>
                <a:latin typeface="宋体" pitchFamily="2" charset="-122"/>
              </a:rPr>
              <a:t>=%d”,+</a:t>
            </a:r>
            <a:r>
              <a:rPr lang="en-US" altLang="zh-CN" sz="2400" b="1" dirty="0" err="1">
                <a:solidFill>
                  <a:srgbClr val="0000FF"/>
                </a:solidFill>
                <a:latin typeface="宋体" pitchFamily="2" charset="-122"/>
              </a:rPr>
              <a:t>i</a:t>
            </a:r>
            <a:r>
              <a:rPr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宋体" pitchFamily="2" charset="-122"/>
              </a:rPr>
              <a:t>-j)</a:t>
            </a:r>
            <a:r>
              <a:rPr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；</a:t>
            </a:r>
            <a:endParaRPr lang="en-US" altLang="zh-CN" sz="2400" b="1" dirty="0">
              <a:solidFill>
                <a:srgbClr val="0000FF"/>
              </a:solidFill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sz="2400" b="1" dirty="0">
              <a:solidFill>
                <a:srgbClr val="0000FF"/>
              </a:solidFill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双目：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+(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加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-(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减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、*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乘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除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%(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求余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</a:t>
            </a: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/(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除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：</a:t>
            </a: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两个整数相除结果为整数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，如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: 7/4 = 1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  </a:t>
            </a: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如果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-5/3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呢？ 通常是取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-1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“向零取整”</a:t>
            </a: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highlight>
                <a:srgbClr val="FFFF00"/>
              </a:highligh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   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如果有一个操作数为实数，则结果也为实数</a:t>
            </a: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52F3-F99E-4F1E-B555-6646E449A9E2}" type="slidenum">
              <a:rPr lang="en-US" altLang="zh-CN"/>
              <a:pPr/>
              <a:t>10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0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0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0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0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02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91513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算术运算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25538"/>
            <a:ext cx="8610600" cy="5503862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求余运算符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(%): 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要求参与运算的两个分量均为整型数据，如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5 % 3 = 2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求余运算所得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结果的符号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与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highlight>
                  <a:srgbClr val="FFFF00"/>
                </a:highlight>
                <a:latin typeface="宋体" pitchFamily="2" charset="-122"/>
              </a:rPr>
              <a:t>被除数的符号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相同</a:t>
            </a:r>
            <a:endParaRPr lang="en-US" altLang="zh-CN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a%b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= a-(a/b)*b  (b!=0)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如</a:t>
            </a:r>
            <a:r>
              <a:rPr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:  -5 % 3 = -2  ,  5 % -3 = 2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 -5 % -3 = -2     5 % 3 = 2  </a:t>
            </a:r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452F3-F99E-4F1E-B555-6646E449A9E2}" type="slidenum">
              <a:rPr lang="en-US" altLang="zh-CN"/>
              <a:pPr/>
              <a:t>11</a:t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C </a:t>
            </a:r>
            <a:r>
              <a:rPr lang="zh-CN" altLang="en-US" sz="44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程序中常用的数学函数</a:t>
            </a:r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395288" y="2786061"/>
          <a:ext cx="8424862" cy="3592510"/>
        </p:xfrm>
        <a:graphic>
          <a:graphicData uri="http://schemas.openxmlformats.org/drawingml/2006/table">
            <a:tbl>
              <a:tblPr>
                <a:effectLst>
                  <a:outerShdw blurRad="50800" dist="50800" dir="3360000" algn="ctr" rotWithShape="0">
                    <a:schemeClr val="accent2">
                      <a:lumMod val="40000"/>
                      <a:lumOff val="60000"/>
                      <a:alpha val="43000"/>
                    </a:schemeClr>
                  </a:outerShdw>
                </a:effectLst>
              </a:tblPr>
              <a:tblGrid>
                <a:gridCol w="1533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3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3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5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85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函数名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功  能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函数名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功  能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5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sqrt(x)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计算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的平方根，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应大于等于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exp(x)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计算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20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的值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5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fabs(x)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计算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的绝对值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pow(x,y)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计算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3000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的值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5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log(x)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计算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lnx</a:t>
                      </a:r>
                      <a:r>
                        <a:rPr kumimoji="0" 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的值</a:t>
                      </a:r>
                      <a:endParaRPr kumimoji="0" 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sin(x)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计算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sinx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的值，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为弧度值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5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log10(x)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计算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lgx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的值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cos(x)</a:t>
                      </a: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计算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cosx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的值，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为弧度值</a:t>
                      </a:r>
                      <a:endParaRPr kumimoji="0" 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  <a:alpha val="5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785786" y="2000240"/>
            <a:ext cx="3910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cs typeface="Times New Roman" pitchFamily="18" charset="0"/>
              </a:rPr>
              <a:t>#</a:t>
            </a:r>
            <a:r>
              <a:rPr lang="zh-CN" altLang="en-US" dirty="0">
                <a:cs typeface="Times New Roman" pitchFamily="18" charset="0"/>
              </a:rPr>
              <a:t> </a:t>
            </a:r>
            <a:r>
              <a:rPr lang="en-US" altLang="zh-CN" dirty="0">
                <a:cs typeface="Times New Roman" pitchFamily="18" charset="0"/>
              </a:rPr>
              <a:t>include </a:t>
            </a:r>
            <a:r>
              <a:rPr lang="zh-CN" altLang="en-US" dirty="0">
                <a:cs typeface="Times New Roman" pitchFamily="18" charset="0"/>
              </a:rPr>
              <a:t> </a:t>
            </a:r>
            <a:r>
              <a:rPr lang="en-US" altLang="zh-CN" dirty="0">
                <a:cs typeface="Times New Roman" pitchFamily="18" charset="0"/>
              </a:rPr>
              <a:t>&lt;</a:t>
            </a:r>
            <a:r>
              <a:rPr lang="en-US" altLang="zh-CN" dirty="0" err="1">
                <a:cs typeface="Times New Roman" pitchFamily="18" charset="0"/>
              </a:rPr>
              <a:t>math.h</a:t>
            </a:r>
            <a:r>
              <a:rPr lang="en-US" altLang="zh-CN" dirty="0">
                <a:cs typeface="Times New Roman" pitchFamily="18" charset="0"/>
              </a:rPr>
              <a:t>&gt;</a:t>
            </a:r>
            <a:endParaRPr lang="zh-CN" altLang="en-US" dirty="0"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28600"/>
            <a:ext cx="8375650" cy="838200"/>
          </a:xfrm>
        </p:spPr>
        <p:txBody>
          <a:bodyPr/>
          <a:lstStyle/>
          <a:p>
            <a:r>
              <a:rPr lang="zh-CN" altLang="en-US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自增运算符：前缀   </a:t>
            </a:r>
            <a:r>
              <a:rPr lang="en-US" altLang="zh-CN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++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81075"/>
            <a:ext cx="8640763" cy="563880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sz="3200" b="1" dirty="0"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单目运算符</a:t>
            </a:r>
            <a:endParaRPr lang="en-US" altLang="zh-CN" sz="3200" b="1" dirty="0">
              <a:highlight>
                <a:srgbClr val="FFFF00"/>
              </a:highligh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运算对象为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整数类型变量</a:t>
            </a:r>
            <a:r>
              <a:rPr lang="zh-CN" altLang="en-US" sz="3200" b="1" dirty="0">
                <a:latin typeface="宋体" pitchFamily="2" charset="-122"/>
              </a:rPr>
              <a:t>或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指针变量</a:t>
            </a:r>
            <a:endParaRPr lang="en-US" altLang="zh-CN" sz="3200" b="1" dirty="0">
              <a:highlight>
                <a:srgbClr val="FFFF00"/>
              </a:highlight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sz="3200" b="1" dirty="0"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宋体" pitchFamily="2" charset="-122"/>
              </a:rPr>
              <a:t>++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变量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</a:rPr>
              <a:t>运算规则：</a:t>
            </a:r>
            <a:r>
              <a:rPr lang="zh-CN" altLang="en-US" sz="3200" b="1" dirty="0">
                <a:latin typeface="宋体" pitchFamily="2" charset="-122"/>
              </a:rPr>
              <a:t>先使变量值增加</a:t>
            </a:r>
            <a:r>
              <a:rPr lang="en-US" altLang="zh-CN" sz="3200" b="1" dirty="0">
                <a:latin typeface="宋体" pitchFamily="2" charset="-122"/>
              </a:rPr>
              <a:t>1</a:t>
            </a:r>
            <a:r>
              <a:rPr lang="zh-CN" altLang="en-US" sz="3200" b="1" dirty="0">
                <a:latin typeface="宋体" pitchFamily="2" charset="-122"/>
              </a:rPr>
              <a:t>个单位，再引用该变量，即以增</a:t>
            </a:r>
            <a:r>
              <a:rPr lang="en-US" altLang="zh-CN" sz="3200" b="1" dirty="0">
                <a:latin typeface="宋体" pitchFamily="2" charset="-122"/>
              </a:rPr>
              <a:t>1</a:t>
            </a:r>
            <a:r>
              <a:rPr lang="zh-CN" altLang="en-US" sz="3200" b="1" dirty="0">
                <a:latin typeface="宋体" pitchFamily="2" charset="-122"/>
              </a:rPr>
              <a:t>后的变量值为结果。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宋体" pitchFamily="2" charset="-122"/>
              </a:rPr>
              <a:t>例：   </a:t>
            </a:r>
            <a:r>
              <a:rPr lang="en-US" altLang="zh-CN" sz="3200" b="1" dirty="0">
                <a:latin typeface="宋体" pitchFamily="2" charset="-122"/>
              </a:rPr>
              <a:t>++x   </a:t>
            </a:r>
            <a:r>
              <a:rPr lang="zh-CN" altLang="en-US" sz="3200" b="1" dirty="0">
                <a:latin typeface="宋体" pitchFamily="2" charset="-122"/>
              </a:rPr>
              <a:t>等价  </a:t>
            </a:r>
            <a:r>
              <a:rPr lang="en-US" altLang="zh-CN" sz="3200" b="1" dirty="0">
                <a:latin typeface="宋体" pitchFamily="2" charset="-122"/>
              </a:rPr>
              <a:t>x=x+1</a:t>
            </a: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sz="3200" b="1" i="1" dirty="0">
              <a:latin typeface="宋体" pitchFamily="2" charset="-122"/>
            </a:endParaRPr>
          </a:p>
          <a:p>
            <a:pPr marL="0" indent="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200" b="1" i="1" dirty="0">
                <a:latin typeface="宋体" pitchFamily="2" charset="-122"/>
              </a:rPr>
              <a:t>如果 </a:t>
            </a:r>
            <a:r>
              <a:rPr lang="en-US" altLang="zh-CN" sz="3200" b="1" i="1" dirty="0">
                <a:latin typeface="宋体" pitchFamily="2" charset="-122"/>
              </a:rPr>
              <a:t>x</a:t>
            </a:r>
            <a:r>
              <a:rPr lang="zh-CN" altLang="en-US" sz="3200" b="1" i="1" dirty="0">
                <a:latin typeface="宋体" pitchFamily="2" charset="-122"/>
              </a:rPr>
              <a:t>是指针，并且是指向数组的某个元素，则 </a:t>
            </a:r>
            <a:r>
              <a:rPr lang="en-US" altLang="zh-CN" sz="3200" b="1" i="1" dirty="0">
                <a:latin typeface="宋体" pitchFamily="2" charset="-122"/>
              </a:rPr>
              <a:t>++x </a:t>
            </a:r>
            <a:r>
              <a:rPr lang="zh-CN" altLang="en-US" sz="3200" b="1" i="1" dirty="0">
                <a:latin typeface="宋体" pitchFamily="2" charset="-122"/>
              </a:rPr>
              <a:t>使它指向数组的后一个元素。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AA84C-B64E-4209-8828-BB8F08533C38}" type="slidenum">
              <a:rPr lang="en-US" altLang="zh-CN"/>
              <a:pPr/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1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1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326438" cy="838200"/>
          </a:xfrm>
        </p:spPr>
        <p:txBody>
          <a:bodyPr/>
          <a:lstStyle/>
          <a:p>
            <a:r>
              <a:rPr lang="zh-CN" altLang="en-US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自增运算符：后缀   </a:t>
            </a:r>
            <a:r>
              <a:rPr lang="en-US" altLang="zh-CN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++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25538"/>
            <a:ext cx="8713788" cy="5040312"/>
          </a:xfrm>
        </p:spPr>
        <p:txBody>
          <a:bodyPr/>
          <a:lstStyle/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solidFill>
                  <a:srgbClr val="C00000"/>
                </a:solidFill>
                <a:latin typeface="宋体" pitchFamily="2" charset="-122"/>
              </a:rPr>
              <a:t>变量 </a:t>
            </a:r>
            <a:r>
              <a:rPr lang="en-US" altLang="zh-CN" sz="3200" b="1" dirty="0">
                <a:solidFill>
                  <a:srgbClr val="C00000"/>
                </a:solidFill>
                <a:latin typeface="宋体" pitchFamily="2" charset="-122"/>
              </a:rPr>
              <a:t>++</a:t>
            </a:r>
            <a:r>
              <a:rPr lang="en-US" altLang="zh-CN" b="1" dirty="0">
                <a:solidFill>
                  <a:srgbClr val="C00000"/>
                </a:solidFill>
                <a:latin typeface="宋体" pitchFamily="2" charset="-122"/>
              </a:rPr>
              <a:t> 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说明：对变量的要求同前缀 </a:t>
            </a:r>
            <a:r>
              <a:rPr lang="en-US" altLang="zh-CN" sz="3200" b="1" dirty="0">
                <a:latin typeface="宋体" pitchFamily="2" charset="-122"/>
              </a:rPr>
              <a:t>++ </a:t>
            </a:r>
            <a:r>
              <a:rPr lang="zh-CN" altLang="en-US" sz="3200" b="1" dirty="0">
                <a:latin typeface="宋体" pitchFamily="2" charset="-122"/>
              </a:rPr>
              <a:t>。</a:t>
            </a:r>
            <a:endParaRPr lang="zh-CN" altLang="en-US" sz="3600" dirty="0">
              <a:latin typeface="宋体" pitchFamily="2" charset="-122"/>
            </a:endParaRP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运算规则：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先引用变量，然后使该变量增加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个单位。</a:t>
            </a:r>
          </a:p>
          <a:p>
            <a:pPr marL="0" indent="0" algn="just">
              <a:buFont typeface="Monotype Sorts" pitchFamily="2" charset="2"/>
              <a:buNone/>
            </a:pPr>
            <a:endParaRPr lang="zh-CN" altLang="en-US" b="1" dirty="0">
              <a:latin typeface="宋体" pitchFamily="2" charset="-122"/>
            </a:endParaRP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例：</a:t>
            </a:r>
            <a:r>
              <a:rPr lang="en-US" altLang="zh-CN" sz="3200" b="1" dirty="0" err="1">
                <a:latin typeface="宋体" pitchFamily="2" charset="-122"/>
              </a:rPr>
              <a:t>i,j</a:t>
            </a:r>
            <a:r>
              <a:rPr lang="en-US" altLang="zh-CN" sz="3200" b="1" dirty="0">
                <a:latin typeface="宋体" pitchFamily="2" charset="-122"/>
              </a:rPr>
              <a:t> </a:t>
            </a:r>
            <a:r>
              <a:rPr lang="zh-CN" altLang="en-US" sz="3200" b="1" dirty="0">
                <a:latin typeface="宋体" pitchFamily="2" charset="-122"/>
              </a:rPr>
              <a:t>为整型变量，且 </a:t>
            </a:r>
            <a:r>
              <a:rPr lang="en-US" altLang="zh-CN" sz="3200" b="1" dirty="0" err="1">
                <a:latin typeface="宋体" pitchFamily="2" charset="-122"/>
              </a:rPr>
              <a:t>i</a:t>
            </a:r>
            <a:r>
              <a:rPr lang="en-US" altLang="zh-CN" sz="3200" b="1" dirty="0">
                <a:latin typeface="宋体" pitchFamily="2" charset="-122"/>
              </a:rPr>
              <a:t> </a:t>
            </a:r>
            <a:r>
              <a:rPr lang="zh-CN" altLang="en-US" sz="3200" b="1" dirty="0">
                <a:latin typeface="宋体" pitchFamily="2" charset="-122"/>
              </a:rPr>
              <a:t>现有值为 </a:t>
            </a:r>
            <a:r>
              <a:rPr lang="en-US" altLang="zh-CN" sz="3200" b="1" dirty="0">
                <a:latin typeface="宋体" pitchFamily="2" charset="-122"/>
              </a:rPr>
              <a:t>4 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en-US" altLang="zh-CN" sz="3200" b="1" dirty="0">
                <a:latin typeface="宋体" pitchFamily="2" charset="-122"/>
              </a:rPr>
              <a:t>    </a:t>
            </a:r>
            <a:r>
              <a:rPr lang="en-US" altLang="zh-CN" sz="3200" b="1" dirty="0">
                <a:solidFill>
                  <a:srgbClr val="CC0066"/>
                </a:solidFill>
                <a:latin typeface="宋体" pitchFamily="2" charset="-122"/>
              </a:rPr>
              <a:t>①</a:t>
            </a:r>
            <a:r>
              <a:rPr lang="en-US" altLang="zh-CN" sz="3200" b="1" dirty="0">
                <a:latin typeface="宋体" pitchFamily="2" charset="-122"/>
              </a:rPr>
              <a:t> </a:t>
            </a:r>
            <a:r>
              <a:rPr lang="en-US" altLang="zh-CN" sz="3200" b="1" dirty="0">
                <a:solidFill>
                  <a:srgbClr val="CC0066"/>
                </a:solidFill>
                <a:latin typeface="宋体" pitchFamily="2" charset="-122"/>
              </a:rPr>
              <a:t>j = ++</a:t>
            </a:r>
            <a:r>
              <a:rPr lang="en-US" altLang="zh-CN" sz="3200" b="1" dirty="0" err="1">
                <a:solidFill>
                  <a:srgbClr val="CC0066"/>
                </a:solidFill>
                <a:latin typeface="宋体" pitchFamily="2" charset="-122"/>
              </a:rPr>
              <a:t>i</a:t>
            </a:r>
            <a:r>
              <a:rPr lang="zh-CN" altLang="en-US" sz="3200" b="1" dirty="0">
                <a:solidFill>
                  <a:srgbClr val="CC0066"/>
                </a:solidFill>
                <a:latin typeface="宋体" pitchFamily="2" charset="-122"/>
              </a:rPr>
              <a:t>；</a:t>
            </a:r>
            <a:r>
              <a:rPr lang="zh-CN" altLang="en-US" sz="3200" b="1" dirty="0">
                <a:latin typeface="宋体" pitchFamily="2" charset="-122"/>
              </a:rPr>
              <a:t>  结果：</a:t>
            </a:r>
            <a:r>
              <a:rPr lang="en-US" altLang="zh-CN" sz="3200" b="1" dirty="0" err="1">
                <a:latin typeface="宋体" pitchFamily="2" charset="-122"/>
              </a:rPr>
              <a:t>i</a:t>
            </a:r>
            <a:r>
              <a:rPr lang="en-US" altLang="zh-CN" sz="3200" b="1" dirty="0">
                <a:latin typeface="宋体" pitchFamily="2" charset="-122"/>
              </a:rPr>
              <a:t> = 5 , j = 5 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en-US" altLang="zh-CN" sz="3200" b="1" dirty="0">
                <a:latin typeface="宋体" pitchFamily="2" charset="-122"/>
              </a:rPr>
              <a:t>    </a:t>
            </a:r>
            <a:r>
              <a:rPr lang="en-US" altLang="zh-CN" sz="3200" b="1" dirty="0">
                <a:solidFill>
                  <a:srgbClr val="CC0066"/>
                </a:solidFill>
                <a:latin typeface="宋体" pitchFamily="2" charset="-122"/>
              </a:rPr>
              <a:t>② j = </a:t>
            </a:r>
            <a:r>
              <a:rPr lang="en-US" altLang="zh-CN" sz="3200" b="1" dirty="0" err="1">
                <a:solidFill>
                  <a:srgbClr val="CC0066"/>
                </a:solidFill>
                <a:latin typeface="宋体" pitchFamily="2" charset="-122"/>
              </a:rPr>
              <a:t>i</a:t>
            </a:r>
            <a:r>
              <a:rPr lang="en-US" altLang="zh-CN" sz="3200" b="1" dirty="0">
                <a:solidFill>
                  <a:srgbClr val="CC0066"/>
                </a:solidFill>
                <a:latin typeface="宋体" pitchFamily="2" charset="-122"/>
              </a:rPr>
              <a:t>++</a:t>
            </a:r>
            <a:r>
              <a:rPr lang="zh-CN" altLang="en-US" sz="3200" b="1" dirty="0">
                <a:solidFill>
                  <a:srgbClr val="CC0066"/>
                </a:solidFill>
                <a:latin typeface="宋体" pitchFamily="2" charset="-122"/>
              </a:rPr>
              <a:t>；</a:t>
            </a:r>
            <a:r>
              <a:rPr lang="zh-CN" altLang="en-US" sz="3200" b="1" dirty="0">
                <a:latin typeface="宋体" pitchFamily="2" charset="-122"/>
              </a:rPr>
              <a:t> 		  </a:t>
            </a:r>
            <a:r>
              <a:rPr lang="en-US" altLang="zh-CN" sz="3200" b="1" dirty="0" err="1">
                <a:latin typeface="宋体" pitchFamily="2" charset="-122"/>
              </a:rPr>
              <a:t>i</a:t>
            </a:r>
            <a:r>
              <a:rPr lang="en-US" altLang="zh-CN" sz="3200" b="1" dirty="0">
                <a:latin typeface="宋体" pitchFamily="2" charset="-122"/>
              </a:rPr>
              <a:t> = 5 , j = 4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AA647-60AD-425F-A5A5-1D9BA079095D}" type="slidenum">
              <a:rPr lang="en-US" altLang="zh-CN"/>
              <a:pPr/>
              <a:t>14</a:t>
            </a:fld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91513" cy="838200"/>
          </a:xfrm>
        </p:spPr>
        <p:txBody>
          <a:bodyPr/>
          <a:lstStyle/>
          <a:p>
            <a:r>
              <a:rPr lang="zh-CN" altLang="en-US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自减运算符：前缀   </a:t>
            </a:r>
            <a:r>
              <a:rPr lang="en-US" altLang="zh-CN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--</a:t>
            </a:r>
          </a:p>
        </p:txBody>
      </p:sp>
      <p:sp>
        <p:nvSpPr>
          <p:cNvPr id="38707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196975"/>
            <a:ext cx="8515350" cy="4968875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一般形式：</a:t>
            </a:r>
            <a:r>
              <a:rPr lang="en-US" altLang="zh-CN" sz="3200" b="1" dirty="0">
                <a:solidFill>
                  <a:srgbClr val="C00000"/>
                </a:solidFill>
                <a:latin typeface="宋体" pitchFamily="2" charset="-122"/>
              </a:rPr>
              <a:t>-- </a:t>
            </a:r>
            <a:r>
              <a:rPr lang="zh-CN" altLang="en-US" sz="3200" b="1" dirty="0">
                <a:solidFill>
                  <a:srgbClr val="C00000"/>
                </a:solidFill>
                <a:latin typeface="宋体" pitchFamily="2" charset="-122"/>
              </a:rPr>
              <a:t>变量</a:t>
            </a:r>
            <a:endParaRPr lang="zh-CN" altLang="en-US" sz="3200" dirty="0">
              <a:solidFill>
                <a:srgbClr val="C00000"/>
              </a:solidFill>
              <a:latin typeface="宋体" pitchFamily="2" charset="-122"/>
            </a:endParaRP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运算规则：先使变量值减少</a:t>
            </a:r>
            <a:r>
              <a:rPr lang="en-US" altLang="zh-CN" sz="3200" b="1" dirty="0">
                <a:latin typeface="宋体" pitchFamily="2" charset="-122"/>
              </a:rPr>
              <a:t>1</a:t>
            </a:r>
            <a:r>
              <a:rPr lang="zh-CN" altLang="en-US" sz="3200" b="1" dirty="0">
                <a:latin typeface="宋体" pitchFamily="2" charset="-122"/>
              </a:rPr>
              <a:t>个单位，再引用该变量。</a:t>
            </a:r>
          </a:p>
          <a:p>
            <a:pPr marL="0" indent="0" algn="just">
              <a:buFont typeface="Monotype Sorts" pitchFamily="2" charset="2"/>
              <a:buNone/>
            </a:pPr>
            <a:endParaRPr lang="zh-CN" altLang="en-US" sz="3200" b="1" dirty="0">
              <a:latin typeface="宋体" pitchFamily="2" charset="-122"/>
            </a:endParaRPr>
          </a:p>
          <a:p>
            <a:pPr marL="0" indent="0" eaLnBrk="0" hangingPunct="0">
              <a:buFont typeface="Monotype Sorts" pitchFamily="2" charset="2"/>
              <a:buNone/>
            </a:pPr>
            <a:r>
              <a:rPr lang="zh-CN" altLang="en-US" sz="3600" b="1" dirty="0">
                <a:latin typeface="Times New Roman" pitchFamily="18" charset="0"/>
              </a:rPr>
              <a:t>   自减运算符：后缀   </a:t>
            </a:r>
            <a:r>
              <a:rPr lang="en-US" altLang="zh-CN" sz="3600" b="1" dirty="0">
                <a:latin typeface="Times New Roman" pitchFamily="18" charset="0"/>
              </a:rPr>
              <a:t>--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一般形式：  </a:t>
            </a:r>
            <a:r>
              <a:rPr lang="zh-CN" altLang="en-US" sz="3200" b="1" dirty="0">
                <a:solidFill>
                  <a:srgbClr val="C00000"/>
                </a:solidFill>
                <a:latin typeface="宋体" pitchFamily="2" charset="-122"/>
              </a:rPr>
              <a:t>变量 </a:t>
            </a:r>
            <a:r>
              <a:rPr lang="en-US" altLang="zh-CN" sz="3200" b="1" dirty="0">
                <a:solidFill>
                  <a:srgbClr val="C00000"/>
                </a:solidFill>
                <a:latin typeface="宋体" pitchFamily="2" charset="-122"/>
              </a:rPr>
              <a:t>-- 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运算规则：先引用变量，然后使该变量减少</a:t>
            </a:r>
            <a:r>
              <a:rPr lang="en-US" altLang="zh-CN" sz="3200" b="1" dirty="0">
                <a:latin typeface="宋体" pitchFamily="2" charset="-122"/>
              </a:rPr>
              <a:t>1</a:t>
            </a:r>
            <a:r>
              <a:rPr lang="zh-CN" altLang="en-US" sz="3200" b="1" dirty="0">
                <a:latin typeface="宋体" pitchFamily="2" charset="-122"/>
              </a:rPr>
              <a:t>个单位。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A1943-6418-4B39-9A17-B7F7AFE1207A}" type="slidenum">
              <a:rPr lang="en-US" altLang="zh-CN"/>
              <a:pPr/>
              <a:t>15</a:t>
            </a:fld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476250"/>
            <a:ext cx="8515350" cy="5689600"/>
          </a:xfrm>
        </p:spPr>
        <p:txBody>
          <a:bodyPr>
            <a:noAutofit/>
          </a:bodyPr>
          <a:lstStyle/>
          <a:p>
            <a:pPr marL="365760" lvl="1" indent="0">
              <a:buFont typeface="Monotype Sorts" pitchFamily="2" charset="2"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例如：</a:t>
            </a:r>
          </a:p>
          <a:p>
            <a:pPr marL="365760" lvl="1" indent="0">
              <a:buFont typeface="Monotype Sorts" pitchFamily="2" charset="2"/>
              <a:buNone/>
            </a:pP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= 4;</a:t>
            </a:r>
          </a:p>
          <a:p>
            <a:pPr marL="365760" lvl="1" indent="0">
              <a:buFont typeface="Monotype Sorts" pitchFamily="2" charset="2"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j = ++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; 		//  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结果为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的结果为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5</a:t>
            </a:r>
          </a:p>
          <a:p>
            <a:pPr marL="365760" lvl="1" indent="0">
              <a:buFont typeface="Monotype Sorts" pitchFamily="2" charset="2"/>
              <a:buNone/>
            </a:pP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= 4;</a:t>
            </a:r>
          </a:p>
          <a:p>
            <a:pPr marL="365760" lvl="1" indent="0">
              <a:buFont typeface="Monotype Sorts" pitchFamily="2" charset="2"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j = 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++;		//  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结果为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的结果为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4</a:t>
            </a:r>
          </a:p>
          <a:p>
            <a:pPr marL="365760" lvl="1" indent="0">
              <a:buFont typeface="Monotype Sorts" pitchFamily="2" charset="2"/>
              <a:buNone/>
            </a:pP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= 4;</a:t>
            </a:r>
          </a:p>
          <a:p>
            <a:pPr marL="365760" lvl="1" indent="0">
              <a:buFont typeface="Monotype Sorts" pitchFamily="2" charset="2"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j = --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; 		//  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结果为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的结果为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3</a:t>
            </a:r>
          </a:p>
          <a:p>
            <a:pPr marL="365760" lvl="1" indent="0">
              <a:buFont typeface="Monotype Sorts" pitchFamily="2" charset="2"/>
              <a:buNone/>
            </a:pP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= 4;</a:t>
            </a:r>
          </a:p>
          <a:p>
            <a:pPr marL="365760" lvl="1" indent="0">
              <a:buFont typeface="Monotype Sorts" pitchFamily="2" charset="2"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j = 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--;		//  </a:t>
            </a:r>
            <a:r>
              <a:rPr lang="en-US" altLang="zh-CN" b="1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结果为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的结果为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4</a:t>
            </a:r>
          </a:p>
          <a:p>
            <a:pPr marL="365760" lvl="1" indent="0"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对变量进行自增（或自减）运算，采用前缀形式或后缀形式，对变量本身来说，效果是相同的，但表达式的值不同。前缀形式是变量自增（减）运算之后的新值，后缀形式是变量自增（减）运算之前的值。 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83032-3938-467E-9611-8D47CF1E089A}" type="slidenum">
              <a:rPr lang="en-US" altLang="zh-CN"/>
              <a:pPr/>
              <a:t>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1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1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1" name="Rectangle 3"/>
          <p:cNvSpPr>
            <a:spLocks noGrp="1" noChangeArrowheads="1"/>
          </p:cNvSpPr>
          <p:nvPr>
            <p:ph type="title"/>
          </p:nvPr>
        </p:nvSpPr>
        <p:spPr>
          <a:xfrm>
            <a:off x="755650" y="404813"/>
            <a:ext cx="7656513" cy="863600"/>
          </a:xfrm>
        </p:spPr>
        <p:txBody>
          <a:bodyPr/>
          <a:lstStyle/>
          <a:p>
            <a:r>
              <a:rPr lang="zh-CN" altLang="en-US" sz="44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自增</a:t>
            </a:r>
            <a:r>
              <a:rPr lang="en-US" altLang="zh-CN" sz="44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44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自减运算符注意事项：</a:t>
            </a:r>
            <a:endParaRPr lang="zh-CN" altLang="en-US" b="1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55330" name="Rectangle 2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497888" cy="5256212"/>
          </a:xfrm>
        </p:spPr>
        <p:txBody>
          <a:bodyPr/>
          <a:lstStyle/>
          <a:p>
            <a:pPr marL="533400" indent="-533400" algn="just">
              <a:buSzTx/>
            </a:pPr>
            <a:r>
              <a:rPr lang="en-US" altLang="zh-CN" sz="3200" b="1" dirty="0">
                <a:latin typeface="宋体" pitchFamily="2" charset="-122"/>
              </a:rPr>
              <a:t>++</a:t>
            </a:r>
            <a:r>
              <a:rPr lang="zh-CN" altLang="en-US" sz="3200" b="1" dirty="0">
                <a:latin typeface="宋体" pitchFamily="2" charset="-122"/>
              </a:rPr>
              <a:t>和</a:t>
            </a:r>
            <a:r>
              <a:rPr lang="en-US" altLang="zh-CN" sz="3200" b="1" dirty="0">
                <a:latin typeface="宋体" pitchFamily="2" charset="-122"/>
              </a:rPr>
              <a:t>--</a:t>
            </a:r>
            <a:r>
              <a:rPr lang="zh-CN" altLang="en-US" sz="3200" b="1" dirty="0">
                <a:latin typeface="宋体" pitchFamily="2" charset="-122"/>
              </a:rPr>
              <a:t>运算符只能用于变量，不能用于常量或表达式。如 </a:t>
            </a:r>
            <a:r>
              <a:rPr lang="en-US" altLang="zh-CN" sz="3200" b="1" dirty="0">
                <a:solidFill>
                  <a:srgbClr val="CC0000"/>
                </a:solidFill>
                <a:latin typeface="宋体" pitchFamily="2" charset="-122"/>
              </a:rPr>
              <a:t>4++</a:t>
            </a:r>
            <a:r>
              <a:rPr lang="en-US" altLang="zh-CN" sz="3200" b="1" dirty="0">
                <a:latin typeface="宋体" pitchFamily="2" charset="-122"/>
              </a:rPr>
              <a:t> </a:t>
            </a:r>
            <a:r>
              <a:rPr lang="zh-CN" altLang="en-US" sz="3200" b="1" dirty="0">
                <a:latin typeface="宋体" pitchFamily="2" charset="-122"/>
              </a:rPr>
              <a:t>或 </a:t>
            </a:r>
            <a:r>
              <a:rPr lang="en-US" altLang="zh-CN" sz="3200" b="1" dirty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en-US" altLang="zh-CN" sz="3200" b="1" dirty="0" err="1">
                <a:solidFill>
                  <a:srgbClr val="CC0000"/>
                </a:solidFill>
                <a:latin typeface="宋体" pitchFamily="2" charset="-122"/>
              </a:rPr>
              <a:t>i+j</a:t>
            </a:r>
            <a:r>
              <a:rPr lang="en-US" altLang="zh-CN" sz="3200" b="1" dirty="0">
                <a:solidFill>
                  <a:srgbClr val="CC0000"/>
                </a:solidFill>
                <a:latin typeface="宋体" pitchFamily="2" charset="-122"/>
              </a:rPr>
              <a:t>)++</a:t>
            </a:r>
            <a:r>
              <a:rPr lang="en-US" altLang="zh-CN" sz="3200" b="1" dirty="0">
                <a:latin typeface="宋体" pitchFamily="2" charset="-122"/>
              </a:rPr>
              <a:t> </a:t>
            </a:r>
            <a:r>
              <a:rPr lang="zh-CN" altLang="en-US" sz="3200" b="1" dirty="0">
                <a:latin typeface="宋体" pitchFamily="2" charset="-122"/>
              </a:rPr>
              <a:t>都是不合法的。</a:t>
            </a:r>
            <a:endParaRPr lang="en-US" altLang="zh-CN" sz="3200" b="1" dirty="0">
              <a:latin typeface="宋体" pitchFamily="2" charset="-122"/>
            </a:endParaRPr>
          </a:p>
          <a:p>
            <a:pPr marL="533400" indent="-533400" algn="just">
              <a:buSzTx/>
            </a:pPr>
            <a:r>
              <a:rPr lang="en-US" altLang="zh-CN" sz="3200" b="1" dirty="0">
                <a:latin typeface="宋体" pitchFamily="2" charset="-122"/>
              </a:rPr>
              <a:t>++</a:t>
            </a:r>
            <a:r>
              <a:rPr lang="zh-CN" altLang="en-US" sz="3200" b="1" dirty="0">
                <a:latin typeface="宋体" pitchFamily="2" charset="-122"/>
              </a:rPr>
              <a:t>和</a:t>
            </a:r>
            <a:r>
              <a:rPr lang="en-US" altLang="zh-CN" sz="3200" b="1" dirty="0">
                <a:latin typeface="宋体" pitchFamily="2" charset="-122"/>
              </a:rPr>
              <a:t>--</a:t>
            </a:r>
            <a:r>
              <a:rPr lang="zh-CN" altLang="en-US" sz="3200" b="1" dirty="0">
                <a:latin typeface="宋体" pitchFamily="2" charset="-122"/>
              </a:rPr>
              <a:t>是带有</a:t>
            </a:r>
            <a:r>
              <a:rPr lang="zh-CN" altLang="en-US" sz="3200" b="1" dirty="0">
                <a:solidFill>
                  <a:srgbClr val="C00000"/>
                </a:solidFill>
                <a:latin typeface="宋体" pitchFamily="2" charset="-122"/>
              </a:rPr>
              <a:t>副作用</a:t>
            </a:r>
            <a:r>
              <a:rPr lang="zh-CN" altLang="en-US" sz="3200" b="1" dirty="0">
                <a:latin typeface="宋体" pitchFamily="2" charset="-122"/>
              </a:rPr>
              <a:t>的运算符。不要在一个表达式中对同一变量多次使用这样的运算符。如</a:t>
            </a:r>
            <a:r>
              <a:rPr lang="en-US" altLang="zh-CN" sz="3200" b="1" dirty="0" err="1">
                <a:latin typeface="宋体" pitchFamily="2" charset="-122"/>
              </a:rPr>
              <a:t>i</a:t>
            </a:r>
            <a:r>
              <a:rPr lang="en-US" altLang="zh-CN" sz="3200" b="1" dirty="0">
                <a:latin typeface="宋体" pitchFamily="2" charset="-122"/>
              </a:rPr>
              <a:t>=4</a:t>
            </a:r>
            <a:r>
              <a:rPr lang="zh-CN" altLang="en-US" sz="3200" b="1" dirty="0">
                <a:latin typeface="宋体" pitchFamily="2" charset="-122"/>
              </a:rPr>
              <a:t>，表达式</a:t>
            </a:r>
            <a:r>
              <a:rPr lang="en-US" altLang="zh-CN" sz="3200" b="1" dirty="0">
                <a:latin typeface="宋体" pitchFamily="2" charset="-122"/>
              </a:rPr>
              <a:t>(</a:t>
            </a:r>
            <a:r>
              <a:rPr lang="en-US" altLang="zh-CN" sz="3200" b="1" dirty="0" err="1">
                <a:latin typeface="宋体" pitchFamily="2" charset="-122"/>
              </a:rPr>
              <a:t>i</a:t>
            </a:r>
            <a:r>
              <a:rPr lang="en-US" altLang="zh-CN" sz="3200" b="1" dirty="0">
                <a:latin typeface="宋体" pitchFamily="2" charset="-122"/>
              </a:rPr>
              <a:t>++)+(</a:t>
            </a:r>
            <a:r>
              <a:rPr lang="en-US" altLang="zh-CN" sz="3200" b="1" dirty="0" err="1">
                <a:latin typeface="宋体" pitchFamily="2" charset="-122"/>
              </a:rPr>
              <a:t>i</a:t>
            </a:r>
            <a:r>
              <a:rPr lang="en-US" altLang="zh-CN" sz="3200" b="1" dirty="0">
                <a:latin typeface="宋体" pitchFamily="2" charset="-122"/>
              </a:rPr>
              <a:t>++)</a:t>
            </a:r>
            <a:r>
              <a:rPr lang="zh-CN" altLang="en-US" sz="3200" b="1" dirty="0">
                <a:latin typeface="宋体" pitchFamily="2" charset="-122"/>
              </a:rPr>
              <a:t>的值？表达式</a:t>
            </a:r>
            <a:r>
              <a:rPr lang="en-US" altLang="zh-CN" sz="3200" b="1" dirty="0">
                <a:latin typeface="宋体" pitchFamily="2" charset="-122"/>
              </a:rPr>
              <a:t>(++</a:t>
            </a:r>
            <a:r>
              <a:rPr lang="en-US" altLang="zh-CN" sz="3200" b="1" dirty="0" err="1">
                <a:latin typeface="宋体" pitchFamily="2" charset="-122"/>
              </a:rPr>
              <a:t>i</a:t>
            </a:r>
            <a:r>
              <a:rPr lang="en-US" altLang="zh-CN" sz="3200" b="1" dirty="0">
                <a:latin typeface="宋体" pitchFamily="2" charset="-122"/>
              </a:rPr>
              <a:t>)+(++</a:t>
            </a:r>
            <a:r>
              <a:rPr lang="en-US" altLang="zh-CN" sz="3200" b="1" dirty="0" err="1">
                <a:latin typeface="宋体" pitchFamily="2" charset="-122"/>
              </a:rPr>
              <a:t>i</a:t>
            </a:r>
            <a:r>
              <a:rPr lang="en-US" altLang="zh-CN" sz="3200" b="1" dirty="0">
                <a:latin typeface="宋体" pitchFamily="2" charset="-122"/>
              </a:rPr>
              <a:t>)</a:t>
            </a:r>
            <a:r>
              <a:rPr lang="zh-CN" altLang="en-US" sz="3200" b="1" dirty="0">
                <a:latin typeface="宋体" pitchFamily="2" charset="-122"/>
              </a:rPr>
              <a:t>的值为？</a:t>
            </a:r>
          </a:p>
          <a:p>
            <a:pPr marL="533400" indent="-533400" algn="just">
              <a:buSzTx/>
              <a:buNone/>
            </a:pPr>
            <a:endParaRPr lang="en-US" altLang="zh-CN" sz="3200" b="1" dirty="0">
              <a:latin typeface="宋体" pitchFamily="2" charset="-122"/>
            </a:endParaRPr>
          </a:p>
          <a:p>
            <a:pPr marL="533400" indent="-533400" algn="just">
              <a:buSzTx/>
              <a:buNone/>
            </a:pPr>
            <a:r>
              <a:rPr lang="en-US" altLang="zh-CN" sz="3200" b="1" dirty="0"/>
              <a:t>	a = ( j + 1 ) + ( j += 1 )</a:t>
            </a:r>
            <a:r>
              <a:rPr lang="zh-CN" altLang="en-US" sz="3200" b="1" dirty="0"/>
              <a:t>；</a:t>
            </a:r>
            <a:endParaRPr lang="en-US" altLang="zh-CN" sz="3200" b="1" dirty="0"/>
          </a:p>
          <a:p>
            <a:pPr marL="533400" indent="-533400" algn="just">
              <a:buSzTx/>
              <a:buNone/>
            </a:pPr>
            <a:endParaRPr lang="zh-CN" altLang="en-US" sz="3200" b="1" dirty="0">
              <a:latin typeface="宋体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9D107-9473-4E17-83EE-E9DB685CF108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4788024" y="4581475"/>
            <a:ext cx="3672408" cy="20162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C</a:t>
            </a:r>
            <a:r>
              <a:rPr lang="zh-CN" altLang="en-US" sz="2800" b="1" dirty="0"/>
              <a:t>语言并没有具体规定表达式中的</a:t>
            </a:r>
            <a:r>
              <a:rPr lang="zh-CN" altLang="en-US" sz="2800" b="1" dirty="0">
                <a:solidFill>
                  <a:srgbClr val="FFFF00"/>
                </a:solidFill>
              </a:rPr>
              <a:t>子表达式的求值顺序</a:t>
            </a:r>
            <a:endParaRPr lang="zh-CN" altLang="en-US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5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5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5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5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467368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函数调用等也可能引起表达式的</a:t>
            </a:r>
            <a:r>
              <a:rPr lang="zh-CN" altLang="en-US" b="1" dirty="0">
                <a:solidFill>
                  <a:srgbClr val="C00000"/>
                </a:solidFill>
              </a:rPr>
              <a:t>副作用</a:t>
            </a:r>
            <a:r>
              <a:rPr lang="zh-CN" altLang="en-US" b="1" dirty="0"/>
              <a:t>：表达式计算时隐含地修改了一些变量的值。</a:t>
            </a: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r>
              <a:rPr lang="en-US" altLang="zh-CN" sz="2800" b="1" dirty="0">
                <a:latin typeface="宋体" pitchFamily="2" charset="-122"/>
              </a:rPr>
              <a:t>	</a:t>
            </a:r>
            <a:r>
              <a:rPr lang="en-US" altLang="zh-CN" sz="2800" b="1" dirty="0" err="1">
                <a:latin typeface="宋体" pitchFamily="2" charset="-122"/>
              </a:rPr>
              <a:t>i</a:t>
            </a:r>
            <a:r>
              <a:rPr lang="en-US" altLang="zh-CN" sz="2800" b="1" dirty="0">
                <a:latin typeface="宋体" pitchFamily="2" charset="-122"/>
              </a:rPr>
              <a:t>=4</a:t>
            </a:r>
            <a:r>
              <a:rPr lang="zh-CN" altLang="en-US" sz="2800" b="1" dirty="0">
                <a:latin typeface="宋体" pitchFamily="2" charset="-122"/>
              </a:rPr>
              <a:t>，在</a:t>
            </a:r>
            <a:r>
              <a:rPr lang="en-US" altLang="zh-CN" sz="2800" b="1" dirty="0" err="1">
                <a:latin typeface="宋体" pitchFamily="2" charset="-122"/>
              </a:rPr>
              <a:t>printf</a:t>
            </a:r>
            <a:r>
              <a:rPr lang="en-US" altLang="zh-CN" sz="2800" b="1" dirty="0">
                <a:latin typeface="宋体" pitchFamily="2" charset="-122"/>
              </a:rPr>
              <a:t>("%d %d\n", </a:t>
            </a:r>
            <a:r>
              <a:rPr lang="en-US" altLang="zh-CN" sz="2800" b="1" dirty="0" err="1">
                <a:latin typeface="宋体" pitchFamily="2" charset="-122"/>
              </a:rPr>
              <a:t>i</a:t>
            </a:r>
            <a:r>
              <a:rPr lang="en-US" altLang="zh-CN" sz="2800" b="1" dirty="0">
                <a:latin typeface="宋体" pitchFamily="2" charset="-122"/>
              </a:rPr>
              <a:t>, </a:t>
            </a:r>
            <a:r>
              <a:rPr lang="en-US" altLang="zh-CN" sz="2800" b="1" dirty="0" err="1">
                <a:latin typeface="宋体" pitchFamily="2" charset="-122"/>
              </a:rPr>
              <a:t>i</a:t>
            </a:r>
            <a:r>
              <a:rPr lang="en-US" altLang="zh-CN" sz="2800" b="1" dirty="0">
                <a:latin typeface="宋体" pitchFamily="2" charset="-122"/>
              </a:rPr>
              <a:t>++)</a:t>
            </a:r>
            <a:r>
              <a:rPr lang="zh-CN" altLang="en-US" sz="2800" b="1" dirty="0">
                <a:latin typeface="宋体" pitchFamily="2" charset="-122"/>
              </a:rPr>
              <a:t>中，输出的结果可能是</a:t>
            </a:r>
            <a:r>
              <a:rPr lang="en-US" altLang="zh-CN" sz="2800" b="1" dirty="0">
                <a:latin typeface="宋体" pitchFamily="2" charset="-122"/>
              </a:rPr>
              <a:t>4  4</a:t>
            </a:r>
            <a:r>
              <a:rPr lang="zh-CN" altLang="en-US" sz="2800" b="1" dirty="0">
                <a:latin typeface="宋体" pitchFamily="2" charset="-122"/>
              </a:rPr>
              <a:t>（从左到右），也可能是</a:t>
            </a:r>
            <a:r>
              <a:rPr lang="en-US" altLang="zh-CN" sz="2800" b="1" dirty="0">
                <a:latin typeface="宋体" pitchFamily="2" charset="-122"/>
              </a:rPr>
              <a:t>5  4</a:t>
            </a:r>
            <a:r>
              <a:rPr lang="zh-CN" altLang="en-US" sz="2800" b="1" dirty="0">
                <a:latin typeface="宋体" pitchFamily="2" charset="-122"/>
              </a:rPr>
              <a:t>（</a:t>
            </a:r>
            <a:r>
              <a:rPr lang="zh-CN" altLang="en-US" sz="2800" b="1" dirty="0">
                <a:highlight>
                  <a:srgbClr val="FFFF00"/>
                </a:highlight>
                <a:latin typeface="宋体" pitchFamily="2" charset="-122"/>
              </a:rPr>
              <a:t>从右到左</a:t>
            </a:r>
            <a:r>
              <a:rPr lang="zh-CN" altLang="en-US" sz="2800" b="1" dirty="0">
                <a:latin typeface="宋体" pitchFamily="2" charset="-122"/>
              </a:rPr>
              <a:t>）</a:t>
            </a:r>
            <a:endParaRPr lang="en-US" altLang="zh-CN" sz="2800" b="1" dirty="0">
              <a:latin typeface="宋体" pitchFamily="2" charset="-122"/>
            </a:endParaRPr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r>
              <a:rPr lang="en-US" altLang="zh-CN" b="1" dirty="0"/>
              <a:t>	</a:t>
            </a:r>
            <a:r>
              <a:rPr lang="en-US" altLang="zh-CN" b="1" dirty="0" err="1"/>
              <a:t>printf</a:t>
            </a:r>
            <a:r>
              <a:rPr lang="en-US" altLang="zh-CN" b="1" dirty="0"/>
              <a:t>(“%d %d\n”, ++n, </a:t>
            </a:r>
            <a:r>
              <a:rPr lang="en-US" altLang="zh-CN" b="1" dirty="0" err="1"/>
              <a:t>pow</a:t>
            </a:r>
            <a:r>
              <a:rPr lang="en-US" altLang="zh-CN" b="1" dirty="0"/>
              <a:t>(2, n));</a:t>
            </a:r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endParaRPr lang="en-US" altLang="zh-CN" b="1" dirty="0"/>
          </a:p>
          <a:p>
            <a:pPr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</a:t>
            </a:r>
            <a:r>
              <a:rPr lang="zh-CN" altLang="en-US" b="1" dirty="0">
                <a:solidFill>
                  <a:srgbClr val="FF0000"/>
                </a:solidFill>
              </a:rPr>
              <a:t>避免副作用的影响：表达式代码计算的结果不能依赖于表达式计算的顺序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7" name="圆角矩形 6"/>
          <p:cNvSpPr/>
          <p:nvPr/>
        </p:nvSpPr>
        <p:spPr>
          <a:xfrm>
            <a:off x="6156176" y="3423777"/>
            <a:ext cx="2736304" cy="1368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C</a:t>
            </a:r>
            <a:r>
              <a:rPr lang="zh-CN" altLang="en-US" sz="2400" dirty="0"/>
              <a:t>语言不规定实参的求值次序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920037" cy="914400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关系运算</a:t>
            </a:r>
            <a:endParaRPr lang="zh-CN" altLang="en-US" sz="5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58403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285860"/>
            <a:ext cx="8351837" cy="5165725"/>
          </a:xfrm>
        </p:spPr>
        <p:txBody>
          <a:bodyPr>
            <a:normAutofit fontScale="92500"/>
          </a:bodyPr>
          <a:lstStyle/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关系运算符：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&lt;=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&gt;=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==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!=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en-US" altLang="zh-CN" b="1" dirty="0">
                <a:latin typeface="宋体" pitchFamily="2" charset="-122"/>
              </a:rPr>
              <a:t>    </a:t>
            </a:r>
            <a:r>
              <a:rPr lang="zh-CN" altLang="en-US" b="1" dirty="0">
                <a:solidFill>
                  <a:srgbClr val="C00000"/>
                </a:solidFill>
                <a:latin typeface="宋体" pitchFamily="2" charset="-122"/>
              </a:rPr>
              <a:t>关系运算符用于对两个值进行关系比较，判定比较条件是否满足</a:t>
            </a:r>
            <a:r>
              <a:rPr lang="zh-CN" altLang="en-US" b="1" dirty="0">
                <a:latin typeface="宋体" pitchFamily="2" charset="-122"/>
              </a:rPr>
              <a:t>。在Ｃ中，条件满足的值为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；条件不满足为 </a:t>
            </a:r>
            <a:r>
              <a:rPr lang="en-US" altLang="zh-CN" b="1" dirty="0">
                <a:latin typeface="宋体" pitchFamily="2" charset="-122"/>
              </a:rPr>
              <a:t>0</a:t>
            </a:r>
            <a:r>
              <a:rPr lang="zh-CN" altLang="en-US" b="1" dirty="0">
                <a:latin typeface="宋体" pitchFamily="2" charset="-122"/>
              </a:rPr>
              <a:t>。</a:t>
            </a:r>
            <a:endParaRPr lang="zh-CN" altLang="en-US" dirty="0">
              <a:latin typeface="宋体" pitchFamily="2" charset="-122"/>
            </a:endParaRPr>
          </a:p>
          <a:p>
            <a:pPr marL="0" indent="0" algn="just"/>
            <a:r>
              <a:rPr lang="zh-CN" altLang="en-US" sz="3200" b="1" dirty="0">
                <a:latin typeface="宋体" pitchFamily="2" charset="-122"/>
              </a:rPr>
              <a:t>优先级：</a:t>
            </a: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zh-CN" altLang="en-US" sz="3200" b="1" dirty="0">
                <a:latin typeface="宋体" pitchFamily="2" charset="-122"/>
              </a:rPr>
              <a:t>、</a:t>
            </a:r>
            <a:r>
              <a:rPr lang="en-US" altLang="zh-CN" sz="3200" b="1" dirty="0">
                <a:latin typeface="宋体" pitchFamily="2" charset="-122"/>
              </a:rPr>
              <a:t>&lt;=</a:t>
            </a:r>
            <a:r>
              <a:rPr lang="zh-CN" altLang="en-US" sz="3200" b="1" dirty="0">
                <a:latin typeface="宋体" pitchFamily="2" charset="-122"/>
              </a:rPr>
              <a:t>、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zh-CN" altLang="en-US" sz="3200" b="1" dirty="0">
                <a:latin typeface="宋体" pitchFamily="2" charset="-122"/>
              </a:rPr>
              <a:t>、</a:t>
            </a:r>
            <a:r>
              <a:rPr lang="en-US" altLang="zh-CN" sz="3200" b="1" dirty="0">
                <a:latin typeface="宋体" pitchFamily="2" charset="-122"/>
              </a:rPr>
              <a:t>&gt;= 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高于</a:t>
            </a:r>
            <a:r>
              <a:rPr lang="zh-CN" altLang="en-US" sz="3200" b="1" dirty="0">
                <a:latin typeface="宋体" pitchFamily="2" charset="-122"/>
              </a:rPr>
              <a:t> </a:t>
            </a:r>
            <a:r>
              <a:rPr lang="en-US" altLang="zh-CN" sz="3200" b="1" dirty="0">
                <a:latin typeface="宋体" pitchFamily="2" charset="-122"/>
              </a:rPr>
              <a:t>==</a:t>
            </a:r>
            <a:r>
              <a:rPr lang="zh-CN" altLang="en-US" sz="3200" b="1" dirty="0">
                <a:latin typeface="宋体" pitchFamily="2" charset="-122"/>
              </a:rPr>
              <a:t>，</a:t>
            </a:r>
            <a:r>
              <a:rPr lang="en-US" altLang="zh-CN" sz="3200" b="1" dirty="0">
                <a:latin typeface="宋体" pitchFamily="2" charset="-122"/>
              </a:rPr>
              <a:t>!=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如：</a:t>
            </a:r>
            <a:r>
              <a:rPr lang="zh-CN" altLang="en-US" b="1" dirty="0">
                <a:latin typeface="宋体" pitchFamily="2" charset="-122"/>
              </a:rPr>
              <a:t>表达式   </a:t>
            </a:r>
            <a:r>
              <a:rPr lang="en-US" altLang="zh-CN" b="1" dirty="0">
                <a:latin typeface="宋体" pitchFamily="2" charset="-122"/>
              </a:rPr>
              <a:t>x &gt; y == c &lt; d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en-US" altLang="zh-CN" b="1" dirty="0">
                <a:latin typeface="宋体" pitchFamily="2" charset="-122"/>
              </a:rPr>
              <a:t>     </a:t>
            </a:r>
            <a:r>
              <a:rPr lang="zh-CN" altLang="en-US" b="1" dirty="0">
                <a:latin typeface="宋体" pitchFamily="2" charset="-122"/>
              </a:rPr>
              <a:t>等价于  </a:t>
            </a:r>
            <a:r>
              <a:rPr lang="en-US" altLang="zh-CN" b="1" dirty="0">
                <a:latin typeface="宋体" pitchFamily="2" charset="-122"/>
              </a:rPr>
              <a:t>(x &gt; y) == (c &lt; d)</a:t>
            </a:r>
            <a:endParaRPr lang="en-US" altLang="zh-CN" dirty="0">
              <a:latin typeface="宋体" pitchFamily="2" charset="-122"/>
            </a:endParaRPr>
          </a:p>
          <a:p>
            <a:pPr marL="0" indent="0" algn="just"/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关系运算符</a:t>
            </a:r>
            <a:r>
              <a:rPr lang="zh-CN" altLang="en-US" sz="3200" b="1" dirty="0">
                <a:latin typeface="宋体" pitchFamily="2" charset="-122"/>
              </a:rPr>
              <a:t>的优先级低于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算术运算符</a:t>
            </a:r>
            <a:r>
              <a:rPr lang="zh-CN" altLang="en-US" sz="3200" b="1" dirty="0">
                <a:latin typeface="宋体" pitchFamily="2" charset="-122"/>
              </a:rPr>
              <a:t>的优先级</a:t>
            </a:r>
            <a:endParaRPr lang="zh-CN" altLang="en-US" sz="3200" dirty="0">
              <a:latin typeface="宋体" pitchFamily="2" charset="-122"/>
            </a:endParaRP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如：</a:t>
            </a:r>
            <a:r>
              <a:rPr lang="zh-CN" altLang="en-US" sz="3200" dirty="0">
                <a:latin typeface="宋体" pitchFamily="2" charset="-122"/>
              </a:rPr>
              <a:t> </a:t>
            </a:r>
            <a:r>
              <a:rPr lang="en-US" altLang="zh-CN" b="1" dirty="0">
                <a:latin typeface="宋体" pitchFamily="2" charset="-122"/>
              </a:rPr>
              <a:t>x &gt; </a:t>
            </a:r>
            <a:r>
              <a:rPr lang="en-US" altLang="zh-CN" b="1" dirty="0" err="1">
                <a:latin typeface="宋体" pitchFamily="2" charset="-122"/>
              </a:rPr>
              <a:t>u+v</a:t>
            </a:r>
            <a:r>
              <a:rPr lang="en-US" altLang="zh-CN" b="1" dirty="0">
                <a:latin typeface="宋体" pitchFamily="2" charset="-122"/>
              </a:rPr>
              <a:t>  </a:t>
            </a:r>
            <a:r>
              <a:rPr lang="zh-CN" altLang="en-US" b="1" dirty="0">
                <a:latin typeface="宋体" pitchFamily="2" charset="-122"/>
              </a:rPr>
              <a:t>等价于  </a:t>
            </a:r>
            <a:r>
              <a:rPr lang="en-US" altLang="zh-CN" b="1" dirty="0">
                <a:latin typeface="宋体" pitchFamily="2" charset="-122"/>
              </a:rPr>
              <a:t>x &gt; (</a:t>
            </a:r>
            <a:r>
              <a:rPr lang="en-US" altLang="zh-CN" b="1" dirty="0" err="1">
                <a:latin typeface="宋体" pitchFamily="2" charset="-122"/>
              </a:rPr>
              <a:t>u+v</a:t>
            </a:r>
            <a:r>
              <a:rPr lang="en-US" altLang="zh-CN" b="1" dirty="0">
                <a:latin typeface="宋体" pitchFamily="2" charset="-122"/>
              </a:rPr>
              <a:t>)</a:t>
            </a:r>
          </a:p>
          <a:p>
            <a:pPr marL="0" indent="0" algn="just">
              <a:buFont typeface="Monotype Sorts" pitchFamily="2" charset="2"/>
              <a:buNone/>
            </a:pPr>
            <a:endParaRPr lang="en-US" altLang="zh-CN" b="1" dirty="0">
              <a:latin typeface="宋体" pitchFamily="2" charset="-122"/>
            </a:endParaRPr>
          </a:p>
          <a:p>
            <a:pPr marL="0" indent="0" algn="just"/>
            <a:r>
              <a:rPr lang="zh-CN" altLang="en-US" sz="2800" b="1" dirty="0">
                <a:latin typeface="宋体" pitchFamily="2" charset="-122"/>
              </a:rPr>
              <a:t>关系运算符的结合方向是</a:t>
            </a:r>
            <a:r>
              <a:rPr lang="zh-CN" altLang="en-US" sz="2800" b="1" dirty="0">
                <a:highlight>
                  <a:srgbClr val="FFFF00"/>
                </a:highlight>
                <a:latin typeface="宋体" pitchFamily="2" charset="-122"/>
              </a:rPr>
              <a:t>自左向右</a:t>
            </a:r>
            <a:r>
              <a:rPr lang="zh-CN" altLang="en-US" sz="2800" b="1" dirty="0">
                <a:latin typeface="宋体" pitchFamily="2" charset="-122"/>
              </a:rPr>
              <a:t>的</a:t>
            </a:r>
            <a:endParaRPr lang="zh-CN" altLang="en-US" sz="2800" dirty="0">
              <a:latin typeface="宋体" pitchFamily="2" charset="-122"/>
            </a:endParaRPr>
          </a:p>
          <a:p>
            <a:pPr marL="0" indent="0" algn="just">
              <a:buFont typeface="Monotype Sorts" pitchFamily="2" charset="2"/>
              <a:buNone/>
            </a:pPr>
            <a:endParaRPr lang="en-US" altLang="zh-CN" b="1" dirty="0">
              <a:latin typeface="宋体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E8C76-E949-4E9E-A5DD-BA34C2FE4EFD}" type="slidenum">
              <a:rPr lang="en-US" altLang="zh-CN"/>
              <a:pPr/>
              <a:t>19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8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8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920037" cy="91440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逻辑运算</a:t>
            </a:r>
            <a:endParaRPr lang="zh-CN" altLang="en-US" sz="4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5942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96975"/>
            <a:ext cx="8299450" cy="4895850"/>
          </a:xfrm>
        </p:spPr>
        <p:txBody>
          <a:bodyPr>
            <a:normAutofit lnSpcReduction="10000"/>
          </a:bodyPr>
          <a:lstStyle/>
          <a:p>
            <a:pPr marL="1074738" indent="-1074738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逻辑运算符</a:t>
            </a:r>
          </a:p>
          <a:p>
            <a:pPr marL="1074738" indent="-1074738" algn="just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   </a:t>
            </a:r>
            <a:r>
              <a:rPr lang="en-US" altLang="zh-CN" b="1" dirty="0">
                <a:latin typeface="宋体" pitchFamily="2" charset="-122"/>
              </a:rPr>
              <a:t>&amp;&amp;(</a:t>
            </a:r>
            <a:r>
              <a:rPr lang="zh-CN" altLang="en-US" b="1" dirty="0">
                <a:latin typeface="宋体" pitchFamily="2" charset="-122"/>
              </a:rPr>
              <a:t>逻辑与</a:t>
            </a:r>
            <a:r>
              <a:rPr lang="en-US" altLang="zh-CN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||(</a:t>
            </a:r>
            <a:r>
              <a:rPr lang="zh-CN" altLang="en-US" b="1" dirty="0">
                <a:latin typeface="宋体" pitchFamily="2" charset="-122"/>
              </a:rPr>
              <a:t>逻辑或</a:t>
            </a:r>
            <a:r>
              <a:rPr lang="en-US" altLang="zh-CN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!(</a:t>
            </a:r>
            <a:r>
              <a:rPr lang="zh-CN" altLang="en-US" b="1" dirty="0">
                <a:latin typeface="宋体" pitchFamily="2" charset="-122"/>
              </a:rPr>
              <a:t>逻辑非</a:t>
            </a:r>
            <a:r>
              <a:rPr lang="en-US" altLang="zh-CN" b="1" dirty="0">
                <a:latin typeface="宋体" pitchFamily="2" charset="-122"/>
              </a:rPr>
              <a:t>)</a:t>
            </a:r>
          </a:p>
          <a:p>
            <a:pPr marL="1074738" indent="-1074738" algn="just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其中：运算符 </a:t>
            </a:r>
            <a:r>
              <a:rPr lang="en-US" altLang="zh-CN" b="1" dirty="0">
                <a:latin typeface="宋体" pitchFamily="2" charset="-122"/>
              </a:rPr>
              <a:t>&amp;&amp; </a:t>
            </a:r>
            <a:r>
              <a:rPr lang="zh-CN" altLang="en-US" b="1" dirty="0">
                <a:latin typeface="宋体" pitchFamily="2" charset="-122"/>
              </a:rPr>
              <a:t>和 </a:t>
            </a:r>
            <a:r>
              <a:rPr lang="en-US" altLang="zh-CN" b="1" dirty="0">
                <a:latin typeface="宋体" pitchFamily="2" charset="-122"/>
              </a:rPr>
              <a:t>|| </a:t>
            </a:r>
            <a:r>
              <a:rPr lang="zh-CN" altLang="en-US" b="1" dirty="0">
                <a:latin typeface="宋体" pitchFamily="2" charset="-122"/>
              </a:rPr>
              <a:t>是双目运算符，要求有两个运算分量；运算符 </a:t>
            </a:r>
            <a:r>
              <a:rPr lang="en-US" altLang="zh-CN" b="1" dirty="0">
                <a:latin typeface="宋体" pitchFamily="2" charset="-122"/>
              </a:rPr>
              <a:t>! </a:t>
            </a:r>
            <a:r>
              <a:rPr lang="zh-CN" altLang="en-US" b="1" dirty="0">
                <a:latin typeface="宋体" pitchFamily="2" charset="-122"/>
              </a:rPr>
              <a:t>是</a:t>
            </a:r>
            <a:r>
              <a:rPr lang="zh-CN" altLang="en-US" b="1" dirty="0">
                <a:highlight>
                  <a:srgbClr val="FFFF00"/>
                </a:highlight>
                <a:latin typeface="宋体" pitchFamily="2" charset="-122"/>
              </a:rPr>
              <a:t>单目运算符</a:t>
            </a:r>
            <a:r>
              <a:rPr lang="zh-CN" altLang="en-US" b="1" dirty="0">
                <a:latin typeface="宋体" pitchFamily="2" charset="-122"/>
              </a:rPr>
              <a:t>，只要求一个运算分量。</a:t>
            </a:r>
          </a:p>
          <a:p>
            <a:pPr marL="1074738" indent="-1074738" algn="just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优先级：</a:t>
            </a:r>
            <a:r>
              <a:rPr lang="en-US" altLang="zh-CN" b="1" dirty="0">
                <a:latin typeface="宋体" pitchFamily="2" charset="-122"/>
              </a:rPr>
              <a:t>!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&amp;&amp;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||</a:t>
            </a:r>
          </a:p>
          <a:p>
            <a:pPr marL="1074738" indent="-1074738" algn="just">
              <a:buNone/>
            </a:pPr>
            <a:r>
              <a:rPr lang="zh-CN" altLang="en-US" b="1" dirty="0">
                <a:latin typeface="宋体" pitchFamily="2" charset="-122"/>
              </a:rPr>
              <a:t>说明：</a:t>
            </a:r>
            <a:endParaRPr lang="en-US" altLang="zh-CN" b="1" dirty="0">
              <a:latin typeface="宋体" pitchFamily="2" charset="-122"/>
            </a:endParaRPr>
          </a:p>
          <a:p>
            <a:pPr marL="1074738" indent="-1074738" algn="just"/>
            <a:r>
              <a:rPr lang="zh-CN" altLang="en-US" b="1" dirty="0">
                <a:latin typeface="宋体" pitchFamily="2" charset="-122"/>
              </a:rPr>
              <a:t>逻辑运算结果是一个逻辑量，用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表示真，用</a:t>
            </a:r>
            <a:r>
              <a:rPr lang="en-US" altLang="zh-CN" b="1" dirty="0">
                <a:latin typeface="宋体" pitchFamily="2" charset="-122"/>
              </a:rPr>
              <a:t>0</a:t>
            </a:r>
            <a:r>
              <a:rPr lang="zh-CN" altLang="en-US" b="1" dirty="0">
                <a:latin typeface="宋体" pitchFamily="2" charset="-122"/>
              </a:rPr>
              <a:t>表示假。</a:t>
            </a:r>
            <a:endParaRPr lang="en-US" altLang="zh-CN" b="1" dirty="0">
              <a:latin typeface="宋体" pitchFamily="2" charset="-122"/>
            </a:endParaRPr>
          </a:p>
          <a:p>
            <a:pPr marL="1074738" indent="-1074738" algn="just"/>
            <a:r>
              <a:rPr lang="zh-CN" altLang="en-US" b="1" dirty="0">
                <a:latin typeface="宋体" pitchFamily="2" charset="-122"/>
              </a:rPr>
              <a:t>判定一个运算分量的值为真或假时，以运算分量的值</a:t>
            </a:r>
            <a:r>
              <a:rPr lang="zh-CN" altLang="en-US" b="1" dirty="0">
                <a:solidFill>
                  <a:srgbClr val="C00000"/>
                </a:solidFill>
                <a:latin typeface="宋体" pitchFamily="2" charset="-122"/>
              </a:rPr>
              <a:t>不等于</a:t>
            </a:r>
            <a:r>
              <a:rPr lang="zh-CN" altLang="en-US" b="1" dirty="0">
                <a:latin typeface="宋体" pitchFamily="2" charset="-122"/>
              </a:rPr>
              <a:t>零为真，值等于</a:t>
            </a:r>
            <a:r>
              <a:rPr lang="en-US" altLang="zh-CN" b="1" dirty="0">
                <a:latin typeface="宋体" pitchFamily="2" charset="-122"/>
              </a:rPr>
              <a:t>0</a:t>
            </a:r>
            <a:r>
              <a:rPr lang="zh-CN" altLang="en-US" b="1" dirty="0">
                <a:latin typeface="宋体" pitchFamily="2" charset="-122"/>
              </a:rPr>
              <a:t>为假。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7F037-FD22-4DFA-B108-1CF0BC772E2E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4572000" y="428604"/>
            <a:ext cx="4185761" cy="120032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语言的</a:t>
            </a:r>
            <a:r>
              <a:rPr lang="zh-CN" altLang="en-US" dirty="0">
                <a:solidFill>
                  <a:srgbClr val="FFFF00"/>
                </a:solidFill>
              </a:rPr>
              <a:t>数据类型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zh-CN" altLang="en-US" dirty="0"/>
              <a:t>没有逻辑型！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5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642919"/>
            <a:ext cx="8135938" cy="581027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solidFill>
                  <a:srgbClr val="0000FF"/>
                </a:solidFill>
                <a:latin typeface="宋体" pitchFamily="2" charset="-122"/>
              </a:rPr>
              <a:t>                </a:t>
            </a:r>
            <a:r>
              <a:rPr lang="zh-CN" altLang="en-US" sz="3600" b="1" dirty="0">
                <a:latin typeface="黑体" pitchFamily="2" charset="-122"/>
                <a:ea typeface="黑体" pitchFamily="2" charset="-122"/>
              </a:rPr>
              <a:t>逻辑运算真值表</a:t>
            </a:r>
            <a:endParaRPr lang="zh-CN" altLang="en-US" b="1" dirty="0">
              <a:latin typeface="黑体" pitchFamily="2" charset="-122"/>
              <a:ea typeface="黑体" pitchFamily="2" charset="-122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endParaRPr lang="en-US" altLang="zh-CN" sz="3200" b="1" dirty="0">
              <a:latin typeface="宋体" pitchFamily="2" charset="-122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endParaRPr lang="en-US" altLang="zh-CN" sz="3200" b="1" dirty="0">
              <a:latin typeface="宋体" pitchFamily="2" charset="-122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endParaRPr lang="en-US" altLang="zh-CN" sz="3200" b="1" dirty="0">
              <a:latin typeface="宋体" pitchFamily="2" charset="-122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endParaRPr lang="en-US" altLang="zh-CN" sz="3200" b="1" dirty="0">
              <a:latin typeface="宋体" pitchFamily="2" charset="-122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endParaRPr lang="en-US" altLang="zh-CN" sz="3200" b="1" dirty="0">
              <a:latin typeface="宋体" pitchFamily="2" charset="-122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endParaRPr lang="en-US" altLang="zh-CN" sz="3200" b="1" dirty="0">
              <a:latin typeface="宋体" pitchFamily="2" charset="-122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endParaRPr lang="en-US" altLang="zh-CN" sz="3000" b="1" dirty="0">
              <a:latin typeface="宋体" pitchFamily="2" charset="-122"/>
            </a:endParaRP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000" b="1" dirty="0">
                <a:latin typeface="宋体" pitchFamily="2" charset="-122"/>
              </a:rPr>
              <a:t>优先级：</a:t>
            </a:r>
            <a:r>
              <a:rPr lang="en-US" altLang="zh-CN" sz="3000" b="1" dirty="0">
                <a:latin typeface="宋体" pitchFamily="2" charset="-122"/>
              </a:rPr>
              <a:t>! </a:t>
            </a:r>
            <a:r>
              <a:rPr lang="zh-CN" altLang="en-US" sz="3000" b="1" dirty="0">
                <a:latin typeface="宋体" pitchFamily="2" charset="-122"/>
              </a:rPr>
              <a:t>（非）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000" b="1" dirty="0">
                <a:latin typeface="宋体" pitchFamily="2" charset="-122"/>
              </a:rPr>
              <a:t>        算术运算符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000" b="1" dirty="0">
                <a:latin typeface="宋体" pitchFamily="2" charset="-122"/>
              </a:rPr>
              <a:t>        关系运算符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3000" b="1" dirty="0">
                <a:latin typeface="宋体" pitchFamily="2" charset="-122"/>
              </a:rPr>
              <a:t>        </a:t>
            </a:r>
            <a:r>
              <a:rPr lang="en-US" altLang="zh-CN" sz="3000" b="1" dirty="0">
                <a:latin typeface="宋体" pitchFamily="2" charset="-122"/>
              </a:rPr>
              <a:t>&amp;&amp; </a:t>
            </a:r>
            <a:r>
              <a:rPr lang="zh-CN" altLang="en-US" sz="3000" b="1" dirty="0">
                <a:latin typeface="宋体" pitchFamily="2" charset="-122"/>
              </a:rPr>
              <a:t>和 </a:t>
            </a:r>
            <a:r>
              <a:rPr lang="en-US" altLang="zh-CN" sz="3000" b="1" dirty="0">
                <a:latin typeface="宋体" pitchFamily="2" charset="-122"/>
              </a:rPr>
              <a:t>||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3000" b="1" dirty="0">
                <a:latin typeface="宋体" pitchFamily="2" charset="-122"/>
              </a:rPr>
              <a:t>       </a:t>
            </a:r>
            <a:r>
              <a:rPr lang="zh-CN" altLang="en-US" sz="3000" b="1" dirty="0">
                <a:latin typeface="宋体" pitchFamily="2" charset="-122"/>
              </a:rPr>
              <a:t> 赋值运算符	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ACFB8-802A-4B9B-AD4A-E68D324734B1}" type="slidenum">
              <a:rPr lang="en-US" altLang="zh-CN"/>
              <a:pPr/>
              <a:t>21</a:t>
            </a:fld>
            <a:endParaRPr lang="en-US" altLang="zh-CN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71670" y="1142984"/>
          <a:ext cx="5072098" cy="2651760"/>
        </p:xfrm>
        <a:graphic>
          <a:graphicData uri="http://schemas.openxmlformats.org/drawingml/2006/table">
            <a:tbl>
              <a:tblPr firstRow="1" bandRow="1">
                <a:effectLst>
                  <a:outerShdw blurRad="165100" dist="63500" dir="6000000" algn="ctr" rotWithShape="0">
                    <a:srgbClr val="000000">
                      <a:alpha val="95000"/>
                    </a:srgbClr>
                  </a:outerShdw>
                </a:effectLst>
                <a:tableStyleId>{5C22544A-7EE6-4342-B048-85BDC9FD1C3A}</a:tableStyleId>
              </a:tblPr>
              <a:tblGrid>
                <a:gridCol w="857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67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+mn-ea"/>
                          <a:ea typeface="+mn-ea"/>
                        </a:rPr>
                        <a:t>a</a:t>
                      </a:r>
                      <a:endParaRPr lang="zh-CN" altLang="en-US" sz="24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+mn-ea"/>
                          <a:ea typeface="+mn-ea"/>
                        </a:rPr>
                        <a:t>b</a:t>
                      </a:r>
                      <a:endParaRPr lang="zh-CN" altLang="en-US" sz="24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+mn-ea"/>
                          <a:ea typeface="+mn-ea"/>
                        </a:rPr>
                        <a:t>!a</a:t>
                      </a:r>
                      <a:endParaRPr lang="zh-CN" altLang="en-US" sz="24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+mn-ea"/>
                          <a:ea typeface="+mn-ea"/>
                        </a:rPr>
                        <a:t>a&amp;&amp;b</a:t>
                      </a:r>
                      <a:endParaRPr lang="zh-CN" altLang="en-US" sz="24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latin typeface="+mn-ea"/>
                          <a:ea typeface="+mn-ea"/>
                        </a:rPr>
                        <a:t>a || b	</a:t>
                      </a:r>
                      <a:endParaRPr lang="zh-CN" altLang="en-US" sz="2400" b="1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2400" b="1" baseline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非</a:t>
                      </a:r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2400" b="1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chemeClr val="bg2">
                        <a:lumMod val="50000"/>
                        <a:alpha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Up Arrow 5"/>
          <p:cNvSpPr/>
          <p:nvPr/>
        </p:nvSpPr>
        <p:spPr>
          <a:xfrm>
            <a:off x="4357686" y="4286256"/>
            <a:ext cx="357190" cy="17859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57232"/>
            <a:ext cx="8610600" cy="5772168"/>
          </a:xfrm>
        </p:spPr>
        <p:txBody>
          <a:bodyPr>
            <a:normAutofit/>
          </a:bodyPr>
          <a:lstStyle/>
          <a:p>
            <a:pPr marL="0" indent="0"/>
            <a:r>
              <a:rPr lang="zh-CN" altLang="en-US" sz="3200" b="1" dirty="0">
                <a:latin typeface="宋体" pitchFamily="2" charset="-122"/>
              </a:rPr>
              <a:t>逻辑运算符按优先级排列为： </a:t>
            </a:r>
            <a:r>
              <a:rPr lang="en-US" altLang="zh-CN" sz="3200" b="1" dirty="0">
                <a:highlight>
                  <a:srgbClr val="FFFF00"/>
                </a:highlight>
                <a:latin typeface="宋体" pitchFamily="2" charset="-122"/>
              </a:rPr>
              <a:t>! 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、</a:t>
            </a:r>
            <a:r>
              <a:rPr lang="en-US" altLang="zh-CN" sz="3200" b="1" dirty="0">
                <a:highlight>
                  <a:srgbClr val="FFFF00"/>
                </a:highlight>
                <a:latin typeface="宋体" pitchFamily="2" charset="-122"/>
              </a:rPr>
              <a:t>&amp;&amp;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、</a:t>
            </a:r>
            <a:r>
              <a:rPr lang="en-US" altLang="zh-CN" sz="3200" b="1" dirty="0">
                <a:highlight>
                  <a:srgbClr val="FFFF00"/>
                </a:highlight>
                <a:latin typeface="宋体" pitchFamily="2" charset="-122"/>
              </a:rPr>
              <a:t>||</a:t>
            </a:r>
          </a:p>
          <a:p>
            <a:r>
              <a:rPr lang="zh-CN" altLang="en-US" sz="3200" b="1" dirty="0"/>
              <a:t>逻辑非运算</a:t>
            </a:r>
            <a:r>
              <a:rPr lang="en-US" altLang="zh-CN" sz="3200" b="1" dirty="0"/>
              <a:t>!  </a:t>
            </a:r>
            <a:r>
              <a:rPr lang="zh-CN" altLang="en-US" sz="3200" b="1" dirty="0"/>
              <a:t>作用于任何非零值得</a:t>
            </a:r>
            <a:r>
              <a:rPr lang="en-US" altLang="zh-CN" sz="3200" b="1" dirty="0"/>
              <a:t>0, </a:t>
            </a:r>
            <a:r>
              <a:rPr lang="zh-CN" altLang="en-US" sz="3200" b="1" dirty="0"/>
              <a:t>作用于零值得</a:t>
            </a:r>
            <a:r>
              <a:rPr lang="en-US" altLang="zh-CN" sz="3200" b="1" dirty="0"/>
              <a:t>1</a:t>
            </a:r>
            <a:r>
              <a:rPr lang="zh-CN" altLang="en-US" sz="3200" b="1" dirty="0"/>
              <a:t>。同样可以作用于字符，指针变量、常量。</a:t>
            </a:r>
            <a:endParaRPr lang="en-US" altLang="zh-CN" sz="3200" b="1" dirty="0"/>
          </a:p>
          <a:p>
            <a:pPr>
              <a:buNone/>
            </a:pPr>
            <a:r>
              <a:rPr lang="zh-CN" altLang="en-US" sz="3200" b="1" dirty="0"/>
              <a:t>   例如  </a:t>
            </a:r>
            <a:r>
              <a:rPr lang="en-US" altLang="zh-CN" sz="3200" b="1" dirty="0"/>
              <a:t>if </a:t>
            </a:r>
            <a:r>
              <a:rPr lang="zh-CN" altLang="en-US" sz="3200" b="1" dirty="0"/>
              <a:t>（！</a:t>
            </a:r>
            <a:r>
              <a:rPr lang="en-US" altLang="zh-CN" sz="3200" b="1" dirty="0"/>
              <a:t>valid</a:t>
            </a:r>
            <a:r>
              <a:rPr lang="zh-CN" altLang="en-US" sz="3200" b="1" dirty="0"/>
              <a:t>）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等价于 </a:t>
            </a:r>
            <a:r>
              <a:rPr lang="en-US" altLang="zh-CN" sz="3200" b="1" dirty="0"/>
              <a:t>if</a:t>
            </a:r>
            <a:r>
              <a:rPr lang="zh-CN" altLang="en-US" sz="3200" b="1" dirty="0"/>
              <a:t>（</a:t>
            </a:r>
            <a:r>
              <a:rPr lang="en-US" altLang="zh-CN" sz="3200" b="1" dirty="0"/>
              <a:t>valid  == 0</a:t>
            </a:r>
            <a:r>
              <a:rPr lang="zh-CN" altLang="en-US" sz="3200" b="1" dirty="0"/>
              <a:t>）</a:t>
            </a:r>
          </a:p>
          <a:p>
            <a:pPr marL="0" indent="0"/>
            <a:r>
              <a:rPr lang="en-US" altLang="zh-CN" sz="3200" b="1" dirty="0">
                <a:latin typeface="宋体" pitchFamily="2" charset="-122"/>
              </a:rPr>
              <a:t>&amp;&amp; </a:t>
            </a:r>
            <a:r>
              <a:rPr lang="zh-CN" altLang="en-US" sz="3200" b="1" dirty="0">
                <a:latin typeface="宋体" pitchFamily="2" charset="-122"/>
              </a:rPr>
              <a:t>和 </a:t>
            </a:r>
            <a:r>
              <a:rPr lang="en-US" altLang="zh-CN" sz="3200" b="1" dirty="0">
                <a:latin typeface="宋体" pitchFamily="2" charset="-122"/>
              </a:rPr>
              <a:t>|| </a:t>
            </a:r>
            <a:r>
              <a:rPr lang="zh-CN" altLang="en-US" sz="3200" b="1" dirty="0">
                <a:latin typeface="宋体" pitchFamily="2" charset="-122"/>
              </a:rPr>
              <a:t>的优先级低于关系运算符的优先级；</a:t>
            </a:r>
            <a:r>
              <a:rPr lang="en-US" altLang="zh-CN" sz="3200" b="1" dirty="0">
                <a:latin typeface="宋体" pitchFamily="2" charset="-122"/>
              </a:rPr>
              <a:t>! </a:t>
            </a:r>
            <a:r>
              <a:rPr lang="zh-CN" altLang="en-US" sz="3200" b="1" dirty="0">
                <a:latin typeface="宋体" pitchFamily="2" charset="-122"/>
              </a:rPr>
              <a:t>的优先级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高于</a:t>
            </a:r>
            <a:r>
              <a:rPr lang="zh-CN" altLang="en-US" sz="3200" b="1" dirty="0">
                <a:latin typeface="宋体" pitchFamily="2" charset="-122"/>
              </a:rPr>
              <a:t>算术运算符的优先级。逻辑运算符</a:t>
            </a:r>
            <a:r>
              <a:rPr lang="en-US" altLang="zh-CN" sz="3200" b="1" dirty="0">
                <a:latin typeface="宋体" pitchFamily="2" charset="-122"/>
              </a:rPr>
              <a:t>||</a:t>
            </a:r>
            <a:r>
              <a:rPr lang="zh-CN" altLang="en-US" sz="3200" b="1" dirty="0">
                <a:latin typeface="宋体" pitchFamily="2" charset="-122"/>
              </a:rPr>
              <a:t>和</a:t>
            </a:r>
            <a:r>
              <a:rPr lang="en-US" altLang="zh-CN" sz="3200" b="1" dirty="0">
                <a:latin typeface="宋体" pitchFamily="2" charset="-122"/>
              </a:rPr>
              <a:t>&amp;&amp;</a:t>
            </a:r>
            <a:r>
              <a:rPr lang="zh-CN" altLang="en-US" sz="3200" b="1" dirty="0">
                <a:latin typeface="宋体" pitchFamily="2" charset="-122"/>
              </a:rPr>
              <a:t>的结合方向是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自左至右</a:t>
            </a:r>
            <a:r>
              <a:rPr lang="zh-CN" altLang="en-US" sz="3200" b="1" dirty="0">
                <a:latin typeface="宋体" pitchFamily="2" charset="-122"/>
              </a:rPr>
              <a:t>，而逻辑运算符</a:t>
            </a:r>
            <a:r>
              <a:rPr lang="en-US" altLang="zh-CN" sz="3200" b="1" dirty="0">
                <a:latin typeface="宋体" pitchFamily="2" charset="-122"/>
              </a:rPr>
              <a:t>!</a:t>
            </a:r>
            <a:r>
              <a:rPr lang="zh-CN" altLang="en-US" sz="3200" b="1" dirty="0">
                <a:latin typeface="宋体" pitchFamily="2" charset="-122"/>
              </a:rPr>
              <a:t>的结合方向是自右至左。</a:t>
            </a:r>
            <a:endParaRPr lang="en-US" altLang="zh-CN" sz="3200" b="1" dirty="0">
              <a:latin typeface="宋体" pitchFamily="2" charset="-122"/>
            </a:endParaRPr>
          </a:p>
          <a:p>
            <a:pPr marL="0" indent="0"/>
            <a:endParaRPr lang="zh-CN" altLang="en-US" sz="3200" b="1" dirty="0">
              <a:latin typeface="宋体" pitchFamily="2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F6D0-6EE7-450A-8EFA-8C0C4C7E8FC9}" type="slidenum">
              <a:rPr lang="en-US" altLang="zh-CN"/>
              <a:pPr/>
              <a:t>22</a:t>
            </a:fld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428604"/>
            <a:ext cx="8229600" cy="78581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关系运算优先级示例</a:t>
            </a:r>
            <a:r>
              <a:rPr lang="en-US" altLang="zh-CN" sz="44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:</a:t>
            </a:r>
            <a:endParaRPr lang="zh-CN" altLang="en-US" sz="440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389120"/>
          </a:xfrm>
        </p:spPr>
        <p:txBody>
          <a:bodyPr>
            <a:noAutofit/>
          </a:bodyPr>
          <a:lstStyle/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a &gt; b &amp;&amp; x &gt; y    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	</a:t>
            </a:r>
            <a:r>
              <a:rPr lang="zh-CN" altLang="en-US" sz="2400" b="1" dirty="0">
                <a:latin typeface="宋体" pitchFamily="2" charset="-122"/>
              </a:rPr>
              <a:t>等效于 </a:t>
            </a:r>
            <a:r>
              <a:rPr lang="en-US" altLang="zh-CN" sz="2400" b="1" dirty="0">
                <a:latin typeface="宋体" pitchFamily="2" charset="-122"/>
              </a:rPr>
              <a:t>(a &gt; b) &amp;&amp; (x &gt; y)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 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a != b || x != y  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	</a:t>
            </a:r>
            <a:r>
              <a:rPr lang="zh-CN" altLang="en-US" sz="2400" b="1" dirty="0">
                <a:latin typeface="宋体" pitchFamily="2" charset="-122"/>
              </a:rPr>
              <a:t>等效于 </a:t>
            </a:r>
            <a:r>
              <a:rPr lang="en-US" altLang="zh-CN" sz="2400" b="1" dirty="0">
                <a:latin typeface="宋体" pitchFamily="2" charset="-122"/>
              </a:rPr>
              <a:t>(a != b) || (x != y)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 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x == 0 || x &lt; y &amp;&amp; z &gt; y 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	</a:t>
            </a:r>
            <a:r>
              <a:rPr lang="zh-CN" altLang="en-US" sz="2400" b="1" dirty="0">
                <a:latin typeface="宋体" pitchFamily="2" charset="-122"/>
              </a:rPr>
              <a:t>等效于 </a:t>
            </a:r>
            <a:r>
              <a:rPr lang="en-US" altLang="zh-CN" sz="2400" b="1" dirty="0">
                <a:latin typeface="宋体" pitchFamily="2" charset="-122"/>
              </a:rPr>
              <a:t>(x == 0) || ((x &lt; y) &amp;&amp; (z &gt; y))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 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!a &amp;&amp; b || x &gt; y &amp;&amp; z &lt; y   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	</a:t>
            </a:r>
            <a:r>
              <a:rPr lang="zh-CN" altLang="en-US" sz="2400" b="1" dirty="0">
                <a:latin typeface="宋体" pitchFamily="2" charset="-122"/>
              </a:rPr>
              <a:t>等效于</a:t>
            </a:r>
            <a:r>
              <a:rPr lang="en-US" altLang="zh-CN" sz="2400" b="1" dirty="0">
                <a:latin typeface="宋体" pitchFamily="2" charset="-122"/>
              </a:rPr>
              <a:t>((</a:t>
            </a:r>
            <a:r>
              <a:rPr lang="zh-CN" altLang="en-US" sz="2400" b="1" dirty="0">
                <a:latin typeface="宋体" pitchFamily="2" charset="-122"/>
              </a:rPr>
              <a:t>！</a:t>
            </a:r>
            <a:r>
              <a:rPr lang="en-US" altLang="zh-CN" sz="2400" b="1" dirty="0">
                <a:latin typeface="宋体" pitchFamily="2" charset="-122"/>
              </a:rPr>
              <a:t>a) &amp;&amp; b) || ((x&gt;y) &amp;&amp;(z&lt;y))</a:t>
            </a:r>
          </a:p>
          <a:p>
            <a:endParaRPr lang="zh-CN" alt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515350" cy="2573338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</a:t>
            </a:r>
            <a:r>
              <a:rPr lang="zh-CN" altLang="en-US" b="1" dirty="0">
                <a:latin typeface="宋体" pitchFamily="2" charset="-122"/>
              </a:rPr>
              <a:t>在算术、关系、逻辑混合运算的表达式中，不同位置上出现的运算分量，应区分哪些是算术运算分量、哪些是关系运算分量和哪些是逻辑运算分量。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例  如</a:t>
            </a:r>
            <a:r>
              <a:rPr lang="en-US" altLang="zh-CN" b="1" dirty="0">
                <a:latin typeface="宋体" pitchFamily="2" charset="-122"/>
              </a:rPr>
              <a:t>:     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2 &gt; 1 &amp;&amp; 4 &amp;&amp; 7 &lt; 3 + !0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等效于</a:t>
            </a:r>
            <a:r>
              <a:rPr lang="en-US" altLang="zh-CN" b="1" dirty="0">
                <a:latin typeface="宋体" pitchFamily="2" charset="-122"/>
              </a:rPr>
              <a:t>:  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((2 &gt; 1) &amp;&amp; </a:t>
            </a:r>
            <a:r>
              <a:rPr lang="en-US" altLang="zh-CN" b="1" dirty="0">
                <a:solidFill>
                  <a:srgbClr val="660033"/>
                </a:solidFill>
                <a:highlight>
                  <a:srgbClr val="FFFF00"/>
                </a:highlight>
                <a:latin typeface="宋体" pitchFamily="2" charset="-122"/>
              </a:rPr>
              <a:t>4</a:t>
            </a:r>
            <a:r>
              <a:rPr lang="en-US" altLang="zh-CN" b="1" dirty="0">
                <a:solidFill>
                  <a:srgbClr val="660033"/>
                </a:solidFill>
                <a:latin typeface="宋体" pitchFamily="2" charset="-122"/>
              </a:rPr>
              <a:t>) &amp;&amp; (7 &lt; (3 + (!0)))</a:t>
            </a:r>
            <a:r>
              <a:rPr lang="en-US" altLang="zh-CN" b="1" dirty="0">
                <a:latin typeface="宋体" pitchFamily="2" charset="-122"/>
              </a:rPr>
              <a:t> </a:t>
            </a:r>
          </a:p>
          <a:p>
            <a:pPr marL="0" indent="0">
              <a:buFont typeface="Monotype Sorts" pitchFamily="2" charset="2"/>
              <a:buNone/>
            </a:pPr>
            <a:endParaRPr lang="en-US" altLang="zh-CN" b="1" dirty="0">
              <a:solidFill>
                <a:srgbClr val="000099"/>
              </a:solidFill>
              <a:latin typeface="宋体" pitchFamily="2" charset="-122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5D956-9FF7-4509-B0FB-05F4772D8D98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62500" name="Line 4"/>
          <p:cNvSpPr>
            <a:spLocks noChangeShapeType="1"/>
          </p:cNvSpPr>
          <p:nvPr/>
        </p:nvSpPr>
        <p:spPr bwMode="auto">
          <a:xfrm>
            <a:off x="2339975" y="3573463"/>
            <a:ext cx="9366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2501" name="Text Box 5"/>
          <p:cNvSpPr txBox="1">
            <a:spLocks noChangeArrowheads="1"/>
          </p:cNvSpPr>
          <p:nvPr/>
        </p:nvSpPr>
        <p:spPr bwMode="auto">
          <a:xfrm>
            <a:off x="2574925" y="3559175"/>
            <a:ext cx="3413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/>
              <a:t>1</a:t>
            </a:r>
          </a:p>
        </p:txBody>
      </p:sp>
      <p:sp>
        <p:nvSpPr>
          <p:cNvPr id="362502" name="Line 6"/>
          <p:cNvSpPr>
            <a:spLocks noChangeShapeType="1"/>
          </p:cNvSpPr>
          <p:nvPr/>
        </p:nvSpPr>
        <p:spPr bwMode="auto">
          <a:xfrm>
            <a:off x="6643702" y="3571876"/>
            <a:ext cx="1023923" cy="1587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2503" name="Text Box 7"/>
          <p:cNvSpPr txBox="1">
            <a:spLocks noChangeArrowheads="1"/>
          </p:cNvSpPr>
          <p:nvPr/>
        </p:nvSpPr>
        <p:spPr bwMode="auto">
          <a:xfrm>
            <a:off x="7215206" y="3643314"/>
            <a:ext cx="3413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/>
              <a:t>1</a:t>
            </a:r>
          </a:p>
        </p:txBody>
      </p:sp>
      <p:sp>
        <p:nvSpPr>
          <p:cNvPr id="362504" name="Line 8"/>
          <p:cNvSpPr>
            <a:spLocks noChangeShapeType="1"/>
          </p:cNvSpPr>
          <p:nvPr/>
        </p:nvSpPr>
        <p:spPr bwMode="auto">
          <a:xfrm>
            <a:off x="2571736" y="4143379"/>
            <a:ext cx="1714512" cy="1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2505" name="Text Box 9"/>
          <p:cNvSpPr txBox="1">
            <a:spLocks noChangeArrowheads="1"/>
          </p:cNvSpPr>
          <p:nvPr/>
        </p:nvSpPr>
        <p:spPr bwMode="auto">
          <a:xfrm>
            <a:off x="3222625" y="4144963"/>
            <a:ext cx="3413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/>
              <a:t>1</a:t>
            </a:r>
          </a:p>
        </p:txBody>
      </p:sp>
      <p:sp>
        <p:nvSpPr>
          <p:cNvPr id="362506" name="Line 10"/>
          <p:cNvSpPr>
            <a:spLocks noChangeShapeType="1"/>
          </p:cNvSpPr>
          <p:nvPr/>
        </p:nvSpPr>
        <p:spPr bwMode="auto">
          <a:xfrm>
            <a:off x="5929323" y="4143381"/>
            <a:ext cx="171451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2507" name="Text Box 11"/>
          <p:cNvSpPr txBox="1">
            <a:spLocks noChangeArrowheads="1"/>
          </p:cNvSpPr>
          <p:nvPr/>
        </p:nvSpPr>
        <p:spPr bwMode="auto">
          <a:xfrm>
            <a:off x="6678613" y="4149725"/>
            <a:ext cx="3413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/>
              <a:t>4</a:t>
            </a:r>
          </a:p>
        </p:txBody>
      </p:sp>
      <p:sp>
        <p:nvSpPr>
          <p:cNvPr id="362508" name="Line 12"/>
          <p:cNvSpPr>
            <a:spLocks noChangeShapeType="1"/>
          </p:cNvSpPr>
          <p:nvPr/>
        </p:nvSpPr>
        <p:spPr bwMode="auto">
          <a:xfrm>
            <a:off x="5286380" y="4857758"/>
            <a:ext cx="1928826" cy="2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2509" name="Text Box 13"/>
          <p:cNvSpPr txBox="1">
            <a:spLocks noChangeArrowheads="1"/>
          </p:cNvSpPr>
          <p:nvPr/>
        </p:nvSpPr>
        <p:spPr bwMode="auto">
          <a:xfrm>
            <a:off x="6029325" y="4794250"/>
            <a:ext cx="4143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/>
              <a:t>0</a:t>
            </a:r>
          </a:p>
        </p:txBody>
      </p:sp>
      <p:sp>
        <p:nvSpPr>
          <p:cNvPr id="362510" name="Line 14"/>
          <p:cNvSpPr>
            <a:spLocks noChangeShapeType="1"/>
          </p:cNvSpPr>
          <p:nvPr/>
        </p:nvSpPr>
        <p:spPr bwMode="auto">
          <a:xfrm>
            <a:off x="2857488" y="5715014"/>
            <a:ext cx="3643338" cy="1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62511" name="Text Box 15"/>
          <p:cNvSpPr txBox="1">
            <a:spLocks noChangeArrowheads="1"/>
          </p:cNvSpPr>
          <p:nvPr/>
        </p:nvSpPr>
        <p:spPr bwMode="auto">
          <a:xfrm>
            <a:off x="4427538" y="565785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3200" b="1"/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2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2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2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2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2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2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2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2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2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2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2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2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2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2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2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62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62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500" grpId="0" animBg="1"/>
      <p:bldP spid="362501" grpId="0"/>
      <p:bldP spid="362502" grpId="0" animBg="1"/>
      <p:bldP spid="362503" grpId="0"/>
      <p:bldP spid="362504" grpId="0" animBg="1"/>
      <p:bldP spid="362505" grpId="0"/>
      <p:bldP spid="362506" grpId="0" animBg="1"/>
      <p:bldP spid="362507" grpId="0"/>
      <p:bldP spid="362508" grpId="0" animBg="1"/>
      <p:bldP spid="362509" grpId="0"/>
      <p:bldP spid="362510" grpId="0" animBg="1"/>
      <p:bldP spid="3625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404813"/>
            <a:ext cx="8280400" cy="738187"/>
          </a:xfrm>
        </p:spPr>
        <p:txBody>
          <a:bodyPr/>
          <a:lstStyle/>
          <a:p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说明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280400" cy="4895850"/>
          </a:xfrm>
        </p:spPr>
        <p:txBody>
          <a:bodyPr/>
          <a:lstStyle/>
          <a:p>
            <a:pPr marL="536575" indent="-536575">
              <a:buFont typeface="Monotype Sorts" pitchFamily="2" charset="2"/>
              <a:buNone/>
            </a:pPr>
            <a:r>
              <a:rPr lang="en-US" altLang="zh-CN" b="1" dirty="0">
                <a:latin typeface="+mn-ea"/>
              </a:rPr>
              <a:t>1. </a:t>
            </a:r>
            <a:r>
              <a:rPr lang="zh-CN" altLang="en-US" b="1" dirty="0">
                <a:latin typeface="+mn-ea"/>
              </a:rPr>
              <a:t>逻辑运算的分量也可以是</a:t>
            </a:r>
            <a:r>
              <a:rPr lang="zh-CN" altLang="en-US" b="1" dirty="0">
                <a:highlight>
                  <a:srgbClr val="FFFF00"/>
                </a:highlight>
                <a:latin typeface="+mn-ea"/>
              </a:rPr>
              <a:t>字符型</a:t>
            </a:r>
            <a:r>
              <a:rPr lang="zh-CN" altLang="en-US" b="1" dirty="0">
                <a:latin typeface="+mn-ea"/>
              </a:rPr>
              <a:t>、</a:t>
            </a:r>
            <a:r>
              <a:rPr lang="zh-CN" altLang="en-US" b="1" dirty="0">
                <a:highlight>
                  <a:srgbClr val="FFFF00"/>
                </a:highlight>
                <a:latin typeface="+mn-ea"/>
              </a:rPr>
              <a:t>指针型</a:t>
            </a:r>
            <a:r>
              <a:rPr lang="zh-CN" altLang="en-US" b="1" dirty="0">
                <a:latin typeface="+mn-ea"/>
              </a:rPr>
              <a:t>。以 </a:t>
            </a:r>
            <a:r>
              <a:rPr lang="en-US" altLang="zh-CN" b="1" dirty="0">
                <a:latin typeface="+mn-ea"/>
              </a:rPr>
              <a:t>0</a:t>
            </a:r>
            <a:r>
              <a:rPr lang="zh-CN" altLang="en-US" b="1" dirty="0">
                <a:latin typeface="+mn-ea"/>
              </a:rPr>
              <a:t>或非 </a:t>
            </a:r>
            <a:r>
              <a:rPr lang="en-US" altLang="zh-CN" b="1" dirty="0">
                <a:latin typeface="+mn-ea"/>
              </a:rPr>
              <a:t>0 </a:t>
            </a:r>
            <a:r>
              <a:rPr lang="zh-CN" altLang="en-US" b="1" dirty="0">
                <a:latin typeface="+mn-ea"/>
              </a:rPr>
              <a:t>判定它们的“假”或“真”。</a:t>
            </a:r>
          </a:p>
          <a:p>
            <a:pPr marL="536575" indent="-536575">
              <a:buFont typeface="Monotype Sorts" pitchFamily="2" charset="2"/>
              <a:buNone/>
            </a:pPr>
            <a:r>
              <a:rPr lang="en-US" altLang="zh-CN" b="1" dirty="0">
                <a:latin typeface="+mn-ea"/>
              </a:rPr>
              <a:t>2. “</a:t>
            </a:r>
            <a:r>
              <a:rPr lang="zh-CN" altLang="en-US" b="1" dirty="0">
                <a:latin typeface="+mn-ea"/>
              </a:rPr>
              <a:t>逻辑与”和“逻辑或”运算符的性质：</a:t>
            </a:r>
          </a:p>
          <a:p>
            <a:pPr marL="536575" indent="-536575">
              <a:buFont typeface="Monotype Sorts" pitchFamily="2" charset="2"/>
              <a:buNone/>
            </a:pPr>
            <a:r>
              <a:rPr lang="zh-CN" altLang="en-US" b="1" dirty="0">
                <a:latin typeface="+mn-ea"/>
              </a:rPr>
              <a:t>   </a:t>
            </a:r>
            <a:r>
              <a:rPr lang="en-US" altLang="zh-CN" b="1" dirty="0">
                <a:latin typeface="+mn-ea"/>
              </a:rPr>
              <a:t>a &amp;&amp; b</a:t>
            </a:r>
            <a:r>
              <a:rPr lang="zh-CN" altLang="en-US" b="1" dirty="0">
                <a:latin typeface="+mn-ea"/>
              </a:rPr>
              <a:t>，当 </a:t>
            </a:r>
            <a:r>
              <a:rPr lang="en-US" altLang="zh-CN" b="1" dirty="0">
                <a:latin typeface="+mn-ea"/>
              </a:rPr>
              <a:t>a </a:t>
            </a:r>
            <a:r>
              <a:rPr lang="zh-CN" altLang="en-US" b="1" dirty="0">
                <a:latin typeface="+mn-ea"/>
              </a:rPr>
              <a:t>为 </a:t>
            </a:r>
            <a:r>
              <a:rPr lang="en-US" altLang="zh-CN" b="1" dirty="0">
                <a:latin typeface="+mn-ea"/>
              </a:rPr>
              <a:t>0 </a:t>
            </a:r>
            <a:r>
              <a:rPr lang="zh-CN" altLang="en-US" b="1" dirty="0">
                <a:latin typeface="+mn-ea"/>
              </a:rPr>
              <a:t>时，不管 </a:t>
            </a:r>
            <a:r>
              <a:rPr lang="en-US" altLang="zh-CN" b="1" dirty="0">
                <a:latin typeface="+mn-ea"/>
              </a:rPr>
              <a:t>b </a:t>
            </a:r>
            <a:r>
              <a:rPr lang="zh-CN" altLang="en-US" b="1" dirty="0">
                <a:latin typeface="+mn-ea"/>
              </a:rPr>
              <a:t>为何值（</a:t>
            </a:r>
            <a:r>
              <a:rPr lang="zh-CN" altLang="en-US" b="1" dirty="0">
                <a:highlight>
                  <a:srgbClr val="FFFF00"/>
                </a:highlight>
                <a:latin typeface="+mn-ea"/>
              </a:rPr>
              <a:t>不再计算 </a:t>
            </a:r>
            <a:r>
              <a:rPr lang="en-US" altLang="zh-CN" b="1" dirty="0">
                <a:highlight>
                  <a:srgbClr val="FFFF00"/>
                </a:highlight>
                <a:latin typeface="+mn-ea"/>
              </a:rPr>
              <a:t>b</a:t>
            </a:r>
            <a:r>
              <a:rPr lang="zh-CN" altLang="en-US" b="1" dirty="0">
                <a:latin typeface="+mn-ea"/>
              </a:rPr>
              <a:t>），结果为 </a:t>
            </a:r>
            <a:r>
              <a:rPr lang="en-US" altLang="zh-CN" b="1" dirty="0">
                <a:latin typeface="+mn-ea"/>
              </a:rPr>
              <a:t>0</a:t>
            </a:r>
            <a:r>
              <a:rPr lang="zh-CN" altLang="en-US" b="1" dirty="0">
                <a:latin typeface="+mn-ea"/>
              </a:rPr>
              <a:t>。</a:t>
            </a:r>
          </a:p>
          <a:p>
            <a:pPr marL="536575" indent="-536575">
              <a:buFont typeface="Monotype Sorts" pitchFamily="2" charset="2"/>
              <a:buNone/>
            </a:pPr>
            <a:r>
              <a:rPr lang="zh-CN" altLang="en-US" b="1" dirty="0">
                <a:latin typeface="+mn-ea"/>
              </a:rPr>
              <a:t>   </a:t>
            </a:r>
            <a:r>
              <a:rPr lang="en-US" altLang="zh-CN" b="1" dirty="0">
                <a:latin typeface="+mn-ea"/>
              </a:rPr>
              <a:t>a || b</a:t>
            </a:r>
            <a:r>
              <a:rPr lang="zh-CN" altLang="en-US" b="1" dirty="0">
                <a:latin typeface="+mn-ea"/>
              </a:rPr>
              <a:t>，当 </a:t>
            </a:r>
            <a:r>
              <a:rPr lang="en-US" altLang="zh-CN" b="1" dirty="0">
                <a:latin typeface="+mn-ea"/>
              </a:rPr>
              <a:t>a </a:t>
            </a:r>
            <a:r>
              <a:rPr lang="zh-CN" altLang="en-US" b="1" dirty="0">
                <a:latin typeface="+mn-ea"/>
              </a:rPr>
              <a:t>为 </a:t>
            </a:r>
            <a:r>
              <a:rPr lang="en-US" altLang="zh-CN" b="1" dirty="0">
                <a:latin typeface="+mn-ea"/>
              </a:rPr>
              <a:t>1 </a:t>
            </a:r>
            <a:r>
              <a:rPr lang="zh-CN" altLang="en-US" b="1" dirty="0">
                <a:latin typeface="+mn-ea"/>
              </a:rPr>
              <a:t>时，不管 </a:t>
            </a:r>
            <a:r>
              <a:rPr lang="en-US" altLang="zh-CN" b="1" dirty="0">
                <a:latin typeface="+mn-ea"/>
              </a:rPr>
              <a:t>b </a:t>
            </a:r>
            <a:r>
              <a:rPr lang="zh-CN" altLang="en-US" b="1" dirty="0">
                <a:latin typeface="+mn-ea"/>
              </a:rPr>
              <a:t>为何值（</a:t>
            </a:r>
            <a:r>
              <a:rPr lang="zh-CN" altLang="en-US" b="1" dirty="0">
                <a:highlight>
                  <a:srgbClr val="FFFF00"/>
                </a:highlight>
                <a:latin typeface="+mn-ea"/>
              </a:rPr>
              <a:t>不再计算</a:t>
            </a:r>
            <a:r>
              <a:rPr lang="en-US" altLang="zh-CN" b="1" dirty="0">
                <a:highlight>
                  <a:srgbClr val="FFFF00"/>
                </a:highlight>
                <a:latin typeface="+mn-ea"/>
              </a:rPr>
              <a:t>b</a:t>
            </a:r>
            <a:r>
              <a:rPr lang="zh-CN" altLang="en-US" b="1" dirty="0">
                <a:latin typeface="+mn-ea"/>
              </a:rPr>
              <a:t>），结果为 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。</a:t>
            </a:r>
          </a:p>
          <a:p>
            <a:pPr marL="536575" indent="-536575">
              <a:buFont typeface="Monotype Sorts" pitchFamily="2" charset="2"/>
              <a:buNone/>
            </a:pPr>
            <a:r>
              <a:rPr lang="zh-CN" altLang="en-US" b="1" dirty="0">
                <a:latin typeface="+mn-ea"/>
              </a:rPr>
              <a:t>例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：</a:t>
            </a:r>
            <a:r>
              <a:rPr lang="en-US" altLang="zh-CN" b="1" dirty="0">
                <a:latin typeface="+mn-ea"/>
              </a:rPr>
              <a:t>a=1, b=2, c=3, d=4, m=5, n=6</a:t>
            </a:r>
          </a:p>
          <a:p>
            <a:pPr marL="536575" indent="-536575">
              <a:buFont typeface="Monotype Sorts" pitchFamily="2" charset="2"/>
              <a:buNone/>
            </a:pPr>
            <a:r>
              <a:rPr lang="en-US" altLang="zh-CN" b="1" dirty="0">
                <a:latin typeface="+mn-ea"/>
              </a:rPr>
              <a:t>    (m=</a:t>
            </a:r>
            <a:r>
              <a:rPr lang="en-US" altLang="zh-CN" b="1" dirty="0">
                <a:highlight>
                  <a:srgbClr val="FFFF00"/>
                </a:highlight>
                <a:latin typeface="+mn-ea"/>
              </a:rPr>
              <a:t>a&gt;b</a:t>
            </a:r>
            <a:r>
              <a:rPr lang="en-US" altLang="zh-CN" b="1" dirty="0">
                <a:latin typeface="+mn-ea"/>
              </a:rPr>
              <a:t>) &amp;&amp; (n=c&gt;d) </a:t>
            </a:r>
          </a:p>
          <a:p>
            <a:pPr marL="536575" indent="-536575">
              <a:buFont typeface="Monotype Sorts" pitchFamily="2" charset="2"/>
              <a:buNone/>
            </a:pPr>
            <a:r>
              <a:rPr lang="en-US" altLang="zh-CN" sz="3200" b="1" dirty="0">
                <a:latin typeface="+mn-ea"/>
              </a:rPr>
              <a:t>    </a:t>
            </a:r>
            <a:r>
              <a:rPr lang="en-US" altLang="zh-CN" sz="32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∵ m = 0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</a:rPr>
              <a:t>，∴ </a:t>
            </a:r>
            <a:r>
              <a:rPr lang="en-US" altLang="zh-CN" sz="3200" b="1" dirty="0">
                <a:solidFill>
                  <a:srgbClr val="C00000"/>
                </a:solidFill>
                <a:latin typeface="+mn-ea"/>
              </a:rPr>
              <a:t>n=c&gt;d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</a:rPr>
              <a:t>不计算，</a:t>
            </a:r>
            <a:r>
              <a:rPr lang="en-US" altLang="zh-CN" sz="32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n</a:t>
            </a:r>
            <a:r>
              <a:rPr lang="zh-CN" altLang="en-US" sz="32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仍为</a:t>
            </a:r>
            <a:r>
              <a:rPr lang="en-US" altLang="zh-CN" sz="3200" b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</a:rPr>
              <a:t>6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C72-9641-46F3-835C-0B5C52631BF1}" type="slidenum">
              <a:rPr lang="en-US" altLang="zh-CN"/>
              <a:pPr/>
              <a:t>25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3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3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7" name="Rectangle 3"/>
          <p:cNvSpPr>
            <a:spLocks noGrp="1" noChangeArrowheads="1"/>
          </p:cNvSpPr>
          <p:nvPr>
            <p:ph idx="1"/>
          </p:nvPr>
        </p:nvSpPr>
        <p:spPr>
          <a:xfrm>
            <a:off x="261938" y="847392"/>
            <a:ext cx="8424862" cy="3816201"/>
          </a:xfrm>
        </p:spPr>
        <p:txBody>
          <a:bodyPr>
            <a:normAutofit/>
          </a:bodyPr>
          <a:lstStyle/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例</a:t>
            </a:r>
            <a:r>
              <a:rPr lang="en-US" altLang="zh-CN" b="1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： </a:t>
            </a:r>
            <a:r>
              <a:rPr lang="en-US" altLang="zh-CN" b="1" dirty="0" err="1">
                <a:latin typeface="宋体" pitchFamily="2" charset="-122"/>
              </a:rPr>
              <a:t>int</a:t>
            </a:r>
            <a:r>
              <a:rPr lang="en-US" altLang="zh-CN" b="1" dirty="0">
                <a:latin typeface="宋体" pitchFamily="2" charset="-122"/>
              </a:rPr>
              <a:t> a = 1, b = 1, c = 1;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b="1" dirty="0">
                <a:latin typeface="宋体" pitchFamily="2" charset="-122"/>
              </a:rPr>
              <a:t>      </a:t>
            </a:r>
            <a:r>
              <a:rPr lang="zh-CN" altLang="en-US" b="1" dirty="0">
                <a:latin typeface="宋体" pitchFamily="2" charset="-122"/>
              </a:rPr>
              <a:t>计算 </a:t>
            </a:r>
            <a:r>
              <a:rPr lang="en-US" altLang="zh-CN" b="1" dirty="0">
                <a:latin typeface="宋体" pitchFamily="2" charset="-122"/>
              </a:rPr>
              <a:t>++a || ++b &amp;&amp; ++c </a:t>
            </a:r>
            <a:r>
              <a:rPr lang="zh-CN" altLang="en-US" b="1" dirty="0">
                <a:latin typeface="宋体" pitchFamily="2" charset="-122"/>
              </a:rPr>
              <a:t>，因</a:t>
            </a:r>
            <a:r>
              <a:rPr lang="en-US" altLang="zh-CN" b="1" dirty="0">
                <a:latin typeface="宋体" pitchFamily="2" charset="-122"/>
              </a:rPr>
              <a:t>++a</a:t>
            </a:r>
            <a:r>
              <a:rPr lang="zh-CN" altLang="en-US" b="1" dirty="0">
                <a:latin typeface="宋体" pitchFamily="2" charset="-122"/>
              </a:rPr>
              <a:t>非</a:t>
            </a:r>
            <a:r>
              <a:rPr lang="en-US" altLang="zh-CN" b="1" dirty="0">
                <a:latin typeface="宋体" pitchFamily="2" charset="-122"/>
              </a:rPr>
              <a:t>0</a:t>
            </a:r>
            <a:r>
              <a:rPr lang="zh-CN" altLang="en-US" b="1" dirty="0">
                <a:latin typeface="宋体" pitchFamily="2" charset="-122"/>
              </a:rPr>
              <a:t>，不再计算逻辑或右边表达式</a:t>
            </a:r>
            <a:r>
              <a:rPr lang="en-US" altLang="zh-CN" b="1" dirty="0">
                <a:latin typeface="宋体" pitchFamily="2" charset="-122"/>
              </a:rPr>
              <a:t>++b&amp;&amp;++c</a:t>
            </a:r>
            <a:r>
              <a:rPr lang="zh-CN" altLang="en-US" b="1" dirty="0">
                <a:latin typeface="宋体" pitchFamily="2" charset="-122"/>
              </a:rPr>
              <a:t>。该表达式计算后，变量</a:t>
            </a:r>
            <a:r>
              <a:rPr lang="en-US" altLang="zh-CN" b="1" dirty="0">
                <a:latin typeface="宋体" pitchFamily="2" charset="-122"/>
              </a:rPr>
              <a:t>a</a:t>
            </a:r>
            <a:r>
              <a:rPr lang="zh-CN" altLang="en-US" b="1" dirty="0">
                <a:latin typeface="宋体" pitchFamily="2" charset="-122"/>
              </a:rPr>
              <a:t>的值变为</a:t>
            </a:r>
            <a:r>
              <a:rPr lang="en-US" altLang="zh-CN" b="1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，而变量</a:t>
            </a:r>
            <a:r>
              <a:rPr lang="en-US" altLang="zh-CN" b="1" dirty="0">
                <a:latin typeface="宋体" pitchFamily="2" charset="-122"/>
              </a:rPr>
              <a:t>b</a:t>
            </a:r>
            <a:r>
              <a:rPr lang="zh-CN" altLang="en-US" b="1" dirty="0">
                <a:latin typeface="宋体" pitchFamily="2" charset="-122"/>
              </a:rPr>
              <a:t>和</a:t>
            </a:r>
            <a:r>
              <a:rPr lang="en-US" altLang="zh-CN" b="1" dirty="0">
                <a:latin typeface="宋体" pitchFamily="2" charset="-122"/>
              </a:rPr>
              <a:t>c</a:t>
            </a:r>
            <a:r>
              <a:rPr lang="zh-CN" altLang="en-US" b="1" dirty="0">
                <a:latin typeface="宋体" pitchFamily="2" charset="-122"/>
              </a:rPr>
              <a:t>的值不变，依旧为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。</a:t>
            </a:r>
          </a:p>
          <a:p>
            <a:pPr marL="0" indent="0">
              <a:buFont typeface="Monotype Sorts" pitchFamily="2" charset="2"/>
              <a:buNone/>
            </a:pPr>
            <a:endParaRPr lang="en-US" altLang="zh-CN" b="1" dirty="0">
              <a:latin typeface="宋体" pitchFamily="2" charset="-122"/>
            </a:endParaRP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注意书写顺序</a:t>
            </a:r>
            <a:r>
              <a:rPr lang="en-US" altLang="zh-CN" b="1" dirty="0">
                <a:latin typeface="宋体" pitchFamily="2" charset="-122"/>
              </a:rPr>
              <a:t>: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>
                <a:latin typeface="宋体" pitchFamily="2" charset="-122"/>
              </a:rPr>
              <a:t>如： </a:t>
            </a:r>
            <a:r>
              <a:rPr lang="en-US" altLang="zh-CN" b="1" dirty="0">
                <a:latin typeface="宋体" pitchFamily="2" charset="-122"/>
              </a:rPr>
              <a:t>y/x &gt; 2 </a:t>
            </a:r>
            <a:r>
              <a:rPr lang="zh-CN" altLang="en-US" b="1" dirty="0">
                <a:latin typeface="宋体" pitchFamily="2" charset="-122"/>
              </a:rPr>
              <a:t>且 </a:t>
            </a:r>
            <a:r>
              <a:rPr lang="en-US" altLang="zh-CN" b="1" dirty="0">
                <a:latin typeface="宋体" pitchFamily="2" charset="-122"/>
              </a:rPr>
              <a:t>x != 0</a:t>
            </a:r>
            <a:r>
              <a:rPr lang="zh-CN" altLang="en-US" b="1" dirty="0">
                <a:latin typeface="宋体" pitchFamily="2" charset="-122"/>
              </a:rPr>
              <a:t>，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   应写成： </a:t>
            </a:r>
            <a:r>
              <a:rPr lang="en-US" altLang="zh-CN" b="1" dirty="0">
                <a:latin typeface="宋体" pitchFamily="2" charset="-122"/>
              </a:rPr>
              <a:t>x != 0 &amp;&amp; y/x &gt; 2 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0AF0B-543C-490B-AF09-2D27B1D3590B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693E5A-20C8-4FC7-A8FA-863258AC8F6B}"/>
              </a:ext>
            </a:extLst>
          </p:cNvPr>
          <p:cNvSpPr txBox="1"/>
          <p:nvPr/>
        </p:nvSpPr>
        <p:spPr>
          <a:xfrm>
            <a:off x="5364088" y="3573016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92E93D2-7436-4445-855C-C312BFB5A4CE}"/>
              </a:ext>
            </a:extLst>
          </p:cNvPr>
          <p:cNvSpPr txBox="1"/>
          <p:nvPr/>
        </p:nvSpPr>
        <p:spPr>
          <a:xfrm>
            <a:off x="318319" y="4725144"/>
            <a:ext cx="829126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Font typeface="Monotype Sorts" pitchFamily="2" charset="2"/>
              <a:buNone/>
            </a:pPr>
            <a:r>
              <a:rPr lang="zh-CN" altLang="en-US" sz="2800" b="1" dirty="0">
                <a:latin typeface="宋体" pitchFamily="2" charset="-122"/>
              </a:rPr>
              <a:t>因为，当 </a:t>
            </a:r>
            <a:r>
              <a:rPr lang="en-US" altLang="zh-CN" sz="2800" b="1" dirty="0">
                <a:latin typeface="宋体" pitchFamily="2" charset="-122"/>
              </a:rPr>
              <a:t>x </a:t>
            </a:r>
            <a:r>
              <a:rPr lang="zh-CN" altLang="en-US" sz="2800" b="1" dirty="0">
                <a:latin typeface="宋体" pitchFamily="2" charset="-122"/>
              </a:rPr>
              <a:t>为</a:t>
            </a:r>
            <a:r>
              <a:rPr lang="en-US" altLang="zh-CN" sz="2800" b="1" dirty="0">
                <a:latin typeface="宋体" pitchFamily="2" charset="-122"/>
              </a:rPr>
              <a:t>0</a:t>
            </a:r>
            <a:r>
              <a:rPr lang="zh-CN" altLang="en-US" sz="2800" b="1" dirty="0">
                <a:latin typeface="宋体" pitchFamily="2" charset="-122"/>
              </a:rPr>
              <a:t>时，不会计算 </a:t>
            </a:r>
            <a:r>
              <a:rPr lang="en-US" altLang="zh-CN" sz="2800" b="1" dirty="0">
                <a:latin typeface="宋体" pitchFamily="2" charset="-122"/>
              </a:rPr>
              <a:t>y/x</a:t>
            </a:r>
            <a:r>
              <a:rPr lang="zh-CN" altLang="en-US" sz="2800" b="1" dirty="0">
                <a:latin typeface="宋体" pitchFamily="2" charset="-122"/>
              </a:rPr>
              <a:t>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800" b="1" dirty="0">
                <a:latin typeface="宋体" pitchFamily="2" charset="-122"/>
              </a:rPr>
              <a:t>   而写成</a:t>
            </a:r>
            <a:r>
              <a:rPr lang="en-US" altLang="zh-CN" sz="2800" b="1" dirty="0">
                <a:latin typeface="宋体" pitchFamily="2" charset="-122"/>
              </a:rPr>
              <a:t>:   y/x &gt; 2 &amp;&amp; x != 0  </a:t>
            </a:r>
            <a:r>
              <a:rPr lang="zh-CN" altLang="en-US" sz="2800" b="1" dirty="0">
                <a:latin typeface="宋体" pitchFamily="2" charset="-122"/>
              </a:rPr>
              <a:t>是不正确的，</a:t>
            </a:r>
            <a:br>
              <a:rPr lang="zh-CN" altLang="en-US" sz="2800" b="1" dirty="0">
                <a:latin typeface="宋体" pitchFamily="2" charset="-122"/>
              </a:rPr>
            </a:br>
            <a:r>
              <a:rPr lang="en-US" altLang="zh-CN" sz="2800" b="1" dirty="0">
                <a:latin typeface="宋体" pitchFamily="2" charset="-122"/>
              </a:rPr>
              <a:t>   </a:t>
            </a:r>
            <a:r>
              <a:rPr lang="zh-CN" altLang="en-US" sz="2800" b="1" dirty="0">
                <a:latin typeface="宋体" pitchFamily="2" charset="-122"/>
              </a:rPr>
              <a:t>因为当 </a:t>
            </a:r>
            <a:r>
              <a:rPr lang="en-US" altLang="zh-CN" sz="2800" b="1" dirty="0">
                <a:latin typeface="宋体" pitchFamily="2" charset="-122"/>
              </a:rPr>
              <a:t>x </a:t>
            </a:r>
            <a:r>
              <a:rPr lang="zh-CN" altLang="en-US" sz="2800" b="1" dirty="0">
                <a:latin typeface="宋体" pitchFamily="2" charset="-122"/>
              </a:rPr>
              <a:t>为</a:t>
            </a:r>
            <a:r>
              <a:rPr lang="en-US" altLang="zh-CN" sz="2800" b="1" dirty="0">
                <a:latin typeface="宋体" pitchFamily="2" charset="-122"/>
              </a:rPr>
              <a:t>0</a:t>
            </a:r>
            <a:r>
              <a:rPr lang="zh-CN" altLang="en-US" sz="2800" b="1" dirty="0">
                <a:latin typeface="宋体" pitchFamily="2" charset="-122"/>
              </a:rPr>
              <a:t>时，不能计算 </a:t>
            </a:r>
            <a:r>
              <a:rPr lang="en-US" altLang="zh-CN" sz="2800" b="1" dirty="0">
                <a:latin typeface="宋体" pitchFamily="2" charset="-122"/>
              </a:rPr>
              <a:t>y/x</a:t>
            </a:r>
            <a:r>
              <a:rPr lang="zh-CN" altLang="en-US" b="1" dirty="0">
                <a:latin typeface="宋体" pitchFamily="2" charset="-122"/>
              </a:rPr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4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4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8375650" cy="809625"/>
          </a:xfrm>
        </p:spPr>
        <p:txBody>
          <a:bodyPr/>
          <a:lstStyle/>
          <a:p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示例</a:t>
            </a:r>
            <a:endParaRPr lang="zh-CN" altLang="en-US" sz="4400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6659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43000"/>
            <a:ext cx="8497887" cy="502285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例：判别某一年是否闰年。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闰年条件：每四年一个闰年，但每</a:t>
            </a:r>
            <a:r>
              <a:rPr lang="en-US" altLang="zh-CN" b="1" dirty="0">
                <a:latin typeface="宋体" pitchFamily="2" charset="-122"/>
              </a:rPr>
              <a:t>100</a:t>
            </a:r>
            <a:r>
              <a:rPr lang="zh-CN" altLang="en-US" b="1" dirty="0">
                <a:latin typeface="宋体" pitchFamily="2" charset="-122"/>
              </a:rPr>
              <a:t>年少一个闰年，每</a:t>
            </a:r>
            <a:r>
              <a:rPr lang="en-US" altLang="zh-CN" b="1" dirty="0">
                <a:latin typeface="宋体" pitchFamily="2" charset="-122"/>
              </a:rPr>
              <a:t>400</a:t>
            </a:r>
            <a:r>
              <a:rPr lang="zh-CN" altLang="en-US" b="1" dirty="0">
                <a:latin typeface="宋体" pitchFamily="2" charset="-122"/>
              </a:rPr>
              <a:t>年又增加一个闰年。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(year</a:t>
            </a:r>
            <a:r>
              <a:rPr lang="zh-CN" altLang="en-US" sz="2400" b="1" dirty="0">
                <a:latin typeface="宋体" pitchFamily="2" charset="-122"/>
              </a:rPr>
              <a:t>能被</a:t>
            </a:r>
            <a:r>
              <a:rPr lang="en-US" altLang="zh-CN" sz="2400" b="1" dirty="0">
                <a:latin typeface="宋体" pitchFamily="2" charset="-122"/>
              </a:rPr>
              <a:t>4</a:t>
            </a:r>
            <a:r>
              <a:rPr lang="zh-CN" altLang="en-US" sz="2400" b="1" dirty="0">
                <a:latin typeface="宋体" pitchFamily="2" charset="-122"/>
              </a:rPr>
              <a:t>整除，不能被</a:t>
            </a:r>
            <a:r>
              <a:rPr lang="en-US" altLang="zh-CN" sz="2400" b="1" dirty="0">
                <a:latin typeface="宋体" pitchFamily="2" charset="-122"/>
              </a:rPr>
              <a:t>100</a:t>
            </a:r>
            <a:r>
              <a:rPr lang="zh-CN" altLang="en-US" sz="2400" b="1" dirty="0">
                <a:latin typeface="宋体" pitchFamily="2" charset="-122"/>
              </a:rPr>
              <a:t>整除</a:t>
            </a:r>
            <a:r>
              <a:rPr lang="en-US" altLang="zh-CN" sz="2400" b="1" dirty="0">
                <a:latin typeface="宋体" pitchFamily="2" charset="-122"/>
              </a:rPr>
              <a:t>)</a:t>
            </a:r>
            <a:r>
              <a:rPr lang="zh-CN" altLang="en-US" sz="2400" b="1" dirty="0">
                <a:latin typeface="宋体" pitchFamily="2" charset="-122"/>
              </a:rPr>
              <a:t>或</a:t>
            </a:r>
            <a:r>
              <a:rPr lang="en-US" altLang="zh-CN" sz="2400" b="1" dirty="0">
                <a:latin typeface="宋体" pitchFamily="2" charset="-122"/>
              </a:rPr>
              <a:t>(year</a:t>
            </a:r>
            <a:r>
              <a:rPr lang="zh-CN" altLang="en-US" sz="2400" b="1" dirty="0">
                <a:latin typeface="宋体" pitchFamily="2" charset="-122"/>
              </a:rPr>
              <a:t>能被</a:t>
            </a:r>
            <a:r>
              <a:rPr lang="en-US" altLang="zh-CN" sz="2400" b="1" dirty="0">
                <a:latin typeface="宋体" pitchFamily="2" charset="-122"/>
              </a:rPr>
              <a:t>400</a:t>
            </a:r>
            <a:r>
              <a:rPr lang="zh-CN" altLang="en-US" sz="2400" b="1" dirty="0">
                <a:latin typeface="宋体" pitchFamily="2" charset="-122"/>
              </a:rPr>
              <a:t>整除</a:t>
            </a:r>
            <a:r>
              <a:rPr lang="en-US" altLang="zh-CN" sz="2400" b="1" dirty="0">
                <a:latin typeface="宋体" pitchFamily="2" charset="-122"/>
              </a:rPr>
              <a:t>)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用逻辑表达式可描述闰年条件：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(year % 4 == 0 &amp;&amp; year %100 != 0) || year % 400 == 0</a:t>
            </a:r>
            <a:endParaRPr lang="en-US" altLang="zh-CN" b="1" dirty="0">
              <a:latin typeface="宋体" pitchFamily="2" charset="-122"/>
            </a:endParaRP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用逻辑表达式可描述非闰年条件：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!(year % 4 == 0 &amp;&amp; year %100 !=0 || year % 400 == 0) 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或下面表达式判别非闰年：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宋体" pitchFamily="2" charset="-122"/>
              </a:rPr>
              <a:t>(year % 4 != 0)|| (year %100 == 0 &amp;&amp; year % 400 != 0)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B072-A83A-4196-94B8-B817D57BF9A9}" type="slidenum">
              <a:rPr lang="en-US" altLang="zh-CN"/>
              <a:pPr/>
              <a:t>27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6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6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6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6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6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6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6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28600"/>
            <a:ext cx="8064500" cy="838200"/>
          </a:xfrm>
        </p:spPr>
        <p:txBody>
          <a:bodyPr/>
          <a:lstStyle/>
          <a:p>
            <a:r>
              <a:rPr lang="zh-CN" altLang="en-US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条件运算</a:t>
            </a:r>
            <a:r>
              <a:rPr lang="en-US" altLang="zh-CN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三目运算</a:t>
            </a:r>
            <a:r>
              <a:rPr lang="en-US" altLang="zh-CN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)</a:t>
            </a:r>
            <a:endParaRPr lang="zh-CN" altLang="en-US" sz="360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71715" name="Rectangle 3"/>
          <p:cNvSpPr>
            <a:spLocks noGrp="1" noChangeArrowheads="1"/>
          </p:cNvSpPr>
          <p:nvPr>
            <p:ph idx="1"/>
          </p:nvPr>
        </p:nvSpPr>
        <p:spPr>
          <a:xfrm>
            <a:off x="449263" y="1143000"/>
            <a:ext cx="8154987" cy="5022850"/>
          </a:xfrm>
        </p:spPr>
        <p:txBody>
          <a:bodyPr/>
          <a:lstStyle/>
          <a:p>
            <a:pPr marL="711200" indent="-71120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一般形式： 表达式</a:t>
            </a:r>
            <a:r>
              <a:rPr lang="en-US" altLang="zh-CN" b="1" dirty="0">
                <a:latin typeface="宋体" pitchFamily="2" charset="-122"/>
              </a:rPr>
              <a:t>1 </a:t>
            </a:r>
            <a:r>
              <a:rPr lang="zh-CN" altLang="en-US" b="1" dirty="0">
                <a:latin typeface="宋体" pitchFamily="2" charset="-122"/>
              </a:rPr>
              <a:t>？ 表达式</a:t>
            </a:r>
            <a:r>
              <a:rPr lang="en-US" altLang="zh-CN" b="1" dirty="0">
                <a:latin typeface="宋体" pitchFamily="2" charset="-122"/>
              </a:rPr>
              <a:t>2 </a:t>
            </a:r>
            <a:r>
              <a:rPr lang="zh-CN" altLang="en-US" b="1" dirty="0">
                <a:latin typeface="宋体" pitchFamily="2" charset="-122"/>
              </a:rPr>
              <a:t>：表达式</a:t>
            </a:r>
            <a:r>
              <a:rPr lang="en-US" altLang="zh-CN" b="1" dirty="0">
                <a:latin typeface="宋体" pitchFamily="2" charset="-122"/>
              </a:rPr>
              <a:t>3</a:t>
            </a:r>
          </a:p>
          <a:p>
            <a:pPr marL="711200" indent="-71120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计算规则：</a:t>
            </a:r>
          </a:p>
          <a:p>
            <a:pPr marL="711200" indent="-71120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latin typeface="宋体" pitchFamily="2" charset="-122"/>
              </a:rPr>
              <a:t>(1) </a:t>
            </a:r>
            <a:r>
              <a:rPr lang="zh-CN" altLang="en-US" b="1" dirty="0">
                <a:latin typeface="宋体" pitchFamily="2" charset="-122"/>
              </a:rPr>
              <a:t>计算表达式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的值；</a:t>
            </a:r>
          </a:p>
          <a:p>
            <a:pPr marL="711200" indent="-71120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latin typeface="宋体" pitchFamily="2" charset="-122"/>
              </a:rPr>
              <a:t>(2) </a:t>
            </a:r>
            <a:r>
              <a:rPr lang="zh-CN" altLang="en-US" b="1" dirty="0">
                <a:latin typeface="宋体" pitchFamily="2" charset="-122"/>
              </a:rPr>
              <a:t>如果表达式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的值非</a:t>
            </a:r>
            <a:r>
              <a:rPr lang="en-US" altLang="zh-CN" b="1" dirty="0">
                <a:latin typeface="宋体" pitchFamily="2" charset="-122"/>
              </a:rPr>
              <a:t>0(</a:t>
            </a:r>
            <a:r>
              <a:rPr lang="zh-CN" altLang="en-US" b="1" dirty="0">
                <a:latin typeface="宋体" pitchFamily="2" charset="-122"/>
              </a:rPr>
              <a:t>真</a:t>
            </a:r>
            <a:r>
              <a:rPr lang="en-US" altLang="zh-CN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，则计算表达式</a:t>
            </a:r>
            <a:r>
              <a:rPr lang="en-US" altLang="zh-CN" b="1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，并作为条件运算的结果；</a:t>
            </a:r>
          </a:p>
          <a:p>
            <a:pPr marL="711200" indent="-711200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latin typeface="宋体" pitchFamily="2" charset="-122"/>
              </a:rPr>
              <a:t>(3) </a:t>
            </a:r>
            <a:r>
              <a:rPr lang="zh-CN" altLang="en-US" b="1" dirty="0">
                <a:latin typeface="宋体" pitchFamily="2" charset="-122"/>
              </a:rPr>
              <a:t>如果表达式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的值为</a:t>
            </a:r>
            <a:r>
              <a:rPr lang="en-US" altLang="zh-CN" b="1" dirty="0">
                <a:latin typeface="宋体" pitchFamily="2" charset="-122"/>
              </a:rPr>
              <a:t>0(</a:t>
            </a:r>
            <a:r>
              <a:rPr lang="zh-CN" altLang="en-US" b="1" dirty="0">
                <a:latin typeface="宋体" pitchFamily="2" charset="-122"/>
              </a:rPr>
              <a:t>假</a:t>
            </a:r>
            <a:r>
              <a:rPr lang="en-US" altLang="zh-CN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，则计算表达式</a:t>
            </a:r>
            <a:r>
              <a:rPr lang="en-US" altLang="zh-CN" b="1" dirty="0">
                <a:latin typeface="宋体" pitchFamily="2" charset="-122"/>
              </a:rPr>
              <a:t>3</a:t>
            </a:r>
            <a:r>
              <a:rPr lang="zh-CN" altLang="en-US" b="1" dirty="0">
                <a:latin typeface="宋体" pitchFamily="2" charset="-122"/>
              </a:rPr>
              <a:t>，并作为条件运算的结果。</a:t>
            </a:r>
          </a:p>
          <a:p>
            <a:pPr marL="711200" indent="-71120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例如：    </a:t>
            </a:r>
            <a:r>
              <a:rPr lang="en-US" altLang="zh-CN" b="1" dirty="0">
                <a:latin typeface="宋体" pitchFamily="2" charset="-122"/>
              </a:rPr>
              <a:t>x &gt; y ? x : y</a:t>
            </a:r>
          </a:p>
          <a:p>
            <a:pPr marL="711200" indent="-71120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如 </a:t>
            </a:r>
            <a:r>
              <a:rPr lang="en-US" altLang="zh-CN" b="1" dirty="0">
                <a:latin typeface="宋体" pitchFamily="2" charset="-122"/>
              </a:rPr>
              <a:t>x &gt; y </a:t>
            </a:r>
            <a:r>
              <a:rPr lang="zh-CN" altLang="en-US" b="1" dirty="0">
                <a:latin typeface="宋体" pitchFamily="2" charset="-122"/>
              </a:rPr>
              <a:t>为真，则条件运算取</a:t>
            </a:r>
            <a:r>
              <a:rPr lang="en-US" altLang="zh-CN" b="1" dirty="0">
                <a:latin typeface="宋体" pitchFamily="2" charset="-122"/>
              </a:rPr>
              <a:t>x</a:t>
            </a:r>
            <a:r>
              <a:rPr lang="zh-CN" altLang="en-US" b="1" dirty="0">
                <a:latin typeface="宋体" pitchFamily="2" charset="-122"/>
              </a:rPr>
              <a:t>值，否则取</a:t>
            </a:r>
            <a:r>
              <a:rPr lang="en-US" altLang="zh-CN" b="1" dirty="0">
                <a:latin typeface="宋体" pitchFamily="2" charset="-122"/>
              </a:rPr>
              <a:t>y</a:t>
            </a:r>
            <a:r>
              <a:rPr lang="zh-CN" altLang="en-US" b="1" dirty="0">
                <a:latin typeface="宋体" pitchFamily="2" charset="-122"/>
              </a:rPr>
              <a:t>值。</a:t>
            </a:r>
          </a:p>
          <a:p>
            <a:pPr marL="711200" indent="-711200" algn="just">
              <a:lnSpc>
                <a:spcPct val="90000"/>
              </a:lnSpc>
              <a:buFont typeface="Monotype Sorts" pitchFamily="2" charset="2"/>
              <a:buNone/>
            </a:pPr>
            <a:endParaRPr lang="en-US" altLang="zh-CN" b="1" dirty="0">
              <a:latin typeface="宋体" pitchFamily="2" charset="-122"/>
            </a:endParaRPr>
          </a:p>
          <a:p>
            <a:pPr marL="711200" indent="-711200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条件运算符</a:t>
            </a:r>
            <a:r>
              <a:rPr lang="en-US" altLang="zh-CN" b="1" dirty="0">
                <a:latin typeface="宋体" pitchFamily="2" charset="-122"/>
              </a:rPr>
              <a:t>(?:)</a:t>
            </a:r>
            <a:r>
              <a:rPr lang="zh-CN" altLang="en-US" b="1" dirty="0">
                <a:latin typeface="宋体" pitchFamily="2" charset="-122"/>
              </a:rPr>
              <a:t>优先级</a:t>
            </a:r>
            <a:r>
              <a:rPr lang="zh-CN" altLang="en-US" b="1" dirty="0">
                <a:highlight>
                  <a:srgbClr val="FFFF00"/>
                </a:highlight>
                <a:latin typeface="宋体" pitchFamily="2" charset="-122"/>
              </a:rPr>
              <a:t>高于</a:t>
            </a:r>
            <a:r>
              <a:rPr lang="zh-CN" altLang="en-US" b="1" dirty="0">
                <a:latin typeface="宋体" pitchFamily="2" charset="-122"/>
              </a:rPr>
              <a:t>赋值运算符，</a:t>
            </a:r>
            <a:r>
              <a:rPr lang="zh-CN" altLang="en-US" b="1" dirty="0">
                <a:highlight>
                  <a:srgbClr val="FFFF00"/>
                </a:highlight>
                <a:latin typeface="宋体" pitchFamily="2" charset="-122"/>
              </a:rPr>
              <a:t>低于</a:t>
            </a:r>
            <a:r>
              <a:rPr lang="zh-CN" altLang="en-US" b="1" dirty="0">
                <a:latin typeface="宋体" pitchFamily="2" charset="-122"/>
              </a:rPr>
              <a:t>逻辑运算符、关系运算符和算术运算符。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C492C-3875-4D91-B6F8-A0B56F3D9E88}" type="slidenum">
              <a:rPr lang="en-US" altLang="zh-CN"/>
              <a:pPr/>
              <a:t>28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1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1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1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1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1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1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1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17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18488" cy="838200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条件运算的结合性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43000"/>
            <a:ext cx="8443913" cy="523875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例  如：   </a:t>
            </a:r>
            <a:r>
              <a:rPr lang="en-US" altLang="zh-CN" b="1" dirty="0">
                <a:latin typeface="宋体" pitchFamily="2" charset="-122"/>
              </a:rPr>
              <a:t>max = x &gt; y ? x : y + 1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等效于：   </a:t>
            </a:r>
            <a:r>
              <a:rPr lang="en-US" altLang="zh-CN" b="1" dirty="0">
                <a:latin typeface="宋体" pitchFamily="2" charset="-122"/>
              </a:rPr>
              <a:t>max = ((x &gt; y) ? x : (y + 1))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条件运算符的结合性为“</a:t>
            </a:r>
            <a:r>
              <a:rPr lang="zh-CN" altLang="en-US" b="1" dirty="0">
                <a:solidFill>
                  <a:srgbClr val="C00000"/>
                </a:solidFill>
                <a:latin typeface="宋体" pitchFamily="2" charset="-122"/>
              </a:rPr>
              <a:t>自右至左</a:t>
            </a:r>
            <a:r>
              <a:rPr lang="zh-CN" altLang="en-US" b="1" dirty="0">
                <a:latin typeface="宋体" pitchFamily="2" charset="-122"/>
              </a:rPr>
              <a:t>”。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例  如：   </a:t>
            </a:r>
            <a:r>
              <a:rPr lang="en-US" altLang="zh-CN" b="1" dirty="0">
                <a:latin typeface="宋体" pitchFamily="2" charset="-122"/>
              </a:rPr>
              <a:t>x &gt; y ? x : u &gt; v ? u : v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等效于：   </a:t>
            </a:r>
            <a:r>
              <a:rPr lang="en-US" altLang="zh-CN" b="1" dirty="0">
                <a:latin typeface="宋体" pitchFamily="2" charset="-122"/>
              </a:rPr>
              <a:t>x &gt; y ? x : (u &gt; v ? u : v)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b="1" dirty="0">
                <a:latin typeface="宋体" pitchFamily="2" charset="-122"/>
              </a:rPr>
              <a:t>    </a:t>
            </a:r>
            <a:r>
              <a:rPr lang="zh-CN" altLang="en-US" b="1" dirty="0">
                <a:latin typeface="宋体" pitchFamily="2" charset="-122"/>
              </a:rPr>
              <a:t>条件运算三个运算分量的数据类型可以各不相同。Ｃ语言约定，</a:t>
            </a:r>
            <a:r>
              <a:rPr lang="zh-CN" altLang="en-US" b="1" dirty="0">
                <a:solidFill>
                  <a:srgbClr val="C00000"/>
                </a:solidFill>
                <a:latin typeface="宋体" pitchFamily="2" charset="-122"/>
              </a:rPr>
              <a:t>类型低的向类型高的转换</a:t>
            </a:r>
            <a:r>
              <a:rPr lang="zh-CN" altLang="en-US" b="1" dirty="0">
                <a:latin typeface="宋体" pitchFamily="2" charset="-122"/>
              </a:rPr>
              <a:t>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如：  </a:t>
            </a:r>
            <a:r>
              <a:rPr lang="en-US" altLang="zh-CN" b="1" dirty="0" err="1">
                <a:latin typeface="宋体" pitchFamily="2" charset="-122"/>
              </a:rPr>
              <a:t>i</a:t>
            </a:r>
            <a:r>
              <a:rPr lang="en-US" altLang="zh-CN" b="1" dirty="0">
                <a:latin typeface="宋体" pitchFamily="2" charset="-122"/>
              </a:rPr>
              <a:t> &gt; j ? 2 : 3.5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b="1" dirty="0">
                <a:latin typeface="宋体" pitchFamily="2" charset="-122"/>
              </a:rPr>
              <a:t>     </a:t>
            </a:r>
            <a:r>
              <a:rPr lang="zh-CN" altLang="en-US" b="1" dirty="0">
                <a:latin typeface="宋体" pitchFamily="2" charset="-122"/>
              </a:rPr>
              <a:t>当 </a:t>
            </a:r>
            <a:r>
              <a:rPr lang="en-US" altLang="zh-CN" b="1" dirty="0" err="1">
                <a:latin typeface="宋体" pitchFamily="2" charset="-122"/>
              </a:rPr>
              <a:t>i</a:t>
            </a:r>
            <a:r>
              <a:rPr lang="en-US" altLang="zh-CN" b="1" dirty="0">
                <a:latin typeface="宋体" pitchFamily="2" charset="-122"/>
              </a:rPr>
              <a:t> &gt; j </a:t>
            </a:r>
            <a:r>
              <a:rPr lang="zh-CN" altLang="en-US" b="1" dirty="0">
                <a:latin typeface="宋体" pitchFamily="2" charset="-122"/>
              </a:rPr>
              <a:t>时，条件表达式的值为</a:t>
            </a:r>
            <a:r>
              <a:rPr lang="en-US" altLang="zh-CN" b="1" dirty="0">
                <a:latin typeface="宋体" pitchFamily="2" charset="-122"/>
              </a:rPr>
              <a:t>2.0</a:t>
            </a:r>
            <a:r>
              <a:rPr lang="zh-CN" altLang="en-US" b="1" dirty="0">
                <a:latin typeface="宋体" pitchFamily="2" charset="-122"/>
              </a:rPr>
              <a:t>；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 否则为</a:t>
            </a:r>
            <a:r>
              <a:rPr lang="en-US" altLang="zh-CN" b="1" dirty="0">
                <a:latin typeface="宋体" pitchFamily="2" charset="-122"/>
              </a:rPr>
              <a:t>3.5</a:t>
            </a:r>
            <a:r>
              <a:rPr lang="zh-CN" altLang="en-US" b="1" dirty="0">
                <a:latin typeface="宋体" pitchFamily="2" charset="-122"/>
              </a:rPr>
              <a:t>。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184F8-FE78-4F21-9D75-7714DD091874}" type="slidenum">
              <a:rPr lang="en-US" altLang="zh-CN"/>
              <a:pPr/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2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2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14413" y="258763"/>
            <a:ext cx="7656512" cy="114300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逗号运算</a:t>
            </a:r>
          </a:p>
        </p:txBody>
      </p:sp>
      <p:sp>
        <p:nvSpPr>
          <p:cNvPr id="532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84200" y="1439863"/>
            <a:ext cx="8299450" cy="5043487"/>
          </a:xfrm>
        </p:spPr>
        <p:txBody>
          <a:bodyPr/>
          <a:lstStyle/>
          <a:p>
            <a:pPr marL="1074738" indent="-1074738" algn="just"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形式：表达式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，表达式</a:t>
            </a:r>
            <a:r>
              <a:rPr lang="en-US" altLang="zh-CN" b="1" dirty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，</a:t>
            </a:r>
            <a:r>
              <a:rPr lang="en-US" altLang="zh-CN" b="1" dirty="0">
                <a:latin typeface="Courier New"/>
              </a:rPr>
              <a:t>…</a:t>
            </a:r>
            <a:r>
              <a:rPr lang="en-US" altLang="zh-CN" b="1" dirty="0">
                <a:latin typeface="宋体" pitchFamily="2" charset="-122"/>
              </a:rPr>
              <a:t> </a:t>
            </a:r>
            <a:r>
              <a:rPr lang="zh-CN" altLang="en-US" b="1" dirty="0">
                <a:latin typeface="宋体" pitchFamily="2" charset="-122"/>
              </a:rPr>
              <a:t>，表达式</a:t>
            </a:r>
            <a:r>
              <a:rPr lang="en-US" altLang="zh-CN" b="1" dirty="0">
                <a:latin typeface="宋体" pitchFamily="2" charset="-122"/>
              </a:rPr>
              <a:t>n</a:t>
            </a:r>
          </a:p>
          <a:p>
            <a:pPr marL="1074738" indent="-1074738" algn="just"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作用：顺序计算各表达式，并以</a:t>
            </a:r>
            <a:r>
              <a:rPr lang="zh-CN" altLang="en-US" b="1" dirty="0">
                <a:highlight>
                  <a:srgbClr val="FFFF00"/>
                </a:highlight>
                <a:latin typeface="宋体" pitchFamily="2" charset="-122"/>
              </a:rPr>
              <a:t>表达式</a:t>
            </a:r>
            <a:r>
              <a:rPr lang="en-US" altLang="zh-CN" b="1" dirty="0">
                <a:highlight>
                  <a:srgbClr val="FFFF00"/>
                </a:highlight>
                <a:latin typeface="宋体" pitchFamily="2" charset="-122"/>
              </a:rPr>
              <a:t>n</a:t>
            </a:r>
            <a:r>
              <a:rPr lang="zh-CN" altLang="en-US" b="1" dirty="0">
                <a:highlight>
                  <a:srgbClr val="FFFF00"/>
                </a:highlight>
                <a:latin typeface="宋体" pitchFamily="2" charset="-122"/>
              </a:rPr>
              <a:t>的值</a:t>
            </a:r>
            <a:r>
              <a:rPr lang="zh-CN" altLang="en-US" b="1" dirty="0">
                <a:latin typeface="宋体" pitchFamily="2" charset="-122"/>
              </a:rPr>
              <a:t>为连续逗号运算的结果。</a:t>
            </a:r>
          </a:p>
          <a:p>
            <a:pPr marL="1074738" indent="-1074738" algn="just"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例如</a:t>
            </a:r>
            <a:r>
              <a:rPr lang="zh-CN" altLang="en-US" sz="3200" b="1" dirty="0">
                <a:latin typeface="宋体" pitchFamily="2" charset="-122"/>
              </a:rPr>
              <a:t>：</a:t>
            </a:r>
            <a:r>
              <a:rPr lang="en-US" altLang="zh-CN" b="1" dirty="0">
                <a:latin typeface="宋体" pitchFamily="2" charset="-122"/>
              </a:rPr>
              <a:t>x = (</a:t>
            </a:r>
            <a:r>
              <a:rPr lang="en-US" altLang="zh-CN" b="1" dirty="0" err="1">
                <a:latin typeface="宋体" pitchFamily="2" charset="-122"/>
              </a:rPr>
              <a:t>i</a:t>
            </a:r>
            <a:r>
              <a:rPr lang="en-US" altLang="zh-CN" b="1" dirty="0">
                <a:latin typeface="宋体" pitchFamily="2" charset="-122"/>
              </a:rPr>
              <a:t> = 3, </a:t>
            </a:r>
            <a:r>
              <a:rPr lang="en-US" altLang="zh-CN" b="1" dirty="0" err="1">
                <a:latin typeface="宋体" pitchFamily="2" charset="-122"/>
              </a:rPr>
              <a:t>i</a:t>
            </a:r>
            <a:r>
              <a:rPr lang="en-US" altLang="zh-CN" b="1" dirty="0">
                <a:latin typeface="宋体" pitchFamily="2" charset="-122"/>
              </a:rPr>
              <a:t> * 2)</a:t>
            </a:r>
            <a:r>
              <a:rPr lang="en-US" altLang="zh-CN" sz="3200" b="1" dirty="0">
                <a:latin typeface="宋体" pitchFamily="2" charset="-122"/>
              </a:rPr>
              <a:t> </a:t>
            </a:r>
          </a:p>
          <a:p>
            <a:pPr marL="1074738" indent="-1074738" algn="just"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结果：使</a:t>
            </a:r>
            <a:r>
              <a:rPr lang="en-US" altLang="zh-CN" b="1" dirty="0" err="1">
                <a:latin typeface="宋体" pitchFamily="2" charset="-122"/>
              </a:rPr>
              <a:t>i</a:t>
            </a:r>
            <a:r>
              <a:rPr lang="zh-CN" altLang="en-US" b="1" dirty="0">
                <a:latin typeface="宋体" pitchFamily="2" charset="-122"/>
              </a:rPr>
              <a:t>等于</a:t>
            </a:r>
            <a:r>
              <a:rPr lang="en-US" altLang="zh-CN" b="1" dirty="0">
                <a:latin typeface="宋体" pitchFamily="2" charset="-122"/>
              </a:rPr>
              <a:t>3</a:t>
            </a:r>
            <a:r>
              <a:rPr lang="zh-CN" altLang="en-US" b="1" dirty="0">
                <a:latin typeface="宋体" pitchFamily="2" charset="-122"/>
              </a:rPr>
              <a:t>，</a:t>
            </a:r>
            <a:r>
              <a:rPr lang="en-US" altLang="zh-CN" b="1" dirty="0">
                <a:latin typeface="宋体" pitchFamily="2" charset="-122"/>
              </a:rPr>
              <a:t>x</a:t>
            </a:r>
            <a:r>
              <a:rPr lang="zh-CN" altLang="en-US" b="1" dirty="0">
                <a:latin typeface="宋体" pitchFamily="2" charset="-122"/>
              </a:rPr>
              <a:t>等于</a:t>
            </a:r>
            <a:r>
              <a:rPr lang="en-US" altLang="zh-CN" b="1" dirty="0">
                <a:latin typeface="宋体" pitchFamily="2" charset="-122"/>
              </a:rPr>
              <a:t>6</a:t>
            </a:r>
            <a:r>
              <a:rPr lang="zh-CN" altLang="en-US" b="1" dirty="0">
                <a:latin typeface="宋体" pitchFamily="2" charset="-122"/>
              </a:rPr>
              <a:t>。</a:t>
            </a:r>
          </a:p>
          <a:p>
            <a:pPr marL="1074738" indent="-1074738" algn="just"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说明：</a:t>
            </a:r>
            <a:r>
              <a:rPr lang="en-US" altLang="zh-CN" b="1" dirty="0">
                <a:latin typeface="宋体" pitchFamily="2" charset="-122"/>
              </a:rPr>
              <a:t>1.</a:t>
            </a:r>
            <a:r>
              <a:rPr lang="zh-CN" altLang="en-US" b="1" dirty="0">
                <a:latin typeface="宋体" pitchFamily="2" charset="-122"/>
              </a:rPr>
              <a:t>逗号运算目的是将多个表达式“串联”起来，分别求各表达式的值。</a:t>
            </a:r>
          </a:p>
          <a:p>
            <a:pPr marL="1074738" indent="-1074738" algn="just"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      </a:t>
            </a:r>
            <a:r>
              <a:rPr lang="en-US" altLang="zh-CN" b="1" dirty="0">
                <a:latin typeface="宋体" pitchFamily="2" charset="-122"/>
              </a:rPr>
              <a:t>2.</a:t>
            </a:r>
            <a:r>
              <a:rPr lang="zh-CN" altLang="en-US" b="1" dirty="0">
                <a:latin typeface="宋体" pitchFamily="2" charset="-122"/>
              </a:rPr>
              <a:t>逗号运算常用于</a:t>
            </a:r>
            <a:r>
              <a:rPr lang="en-US" altLang="zh-CN" b="1" dirty="0">
                <a:latin typeface="宋体" pitchFamily="2" charset="-122"/>
              </a:rPr>
              <a:t>for</a:t>
            </a:r>
            <a:r>
              <a:rPr lang="zh-CN" altLang="en-US" b="1" dirty="0">
                <a:latin typeface="宋体" pitchFamily="2" charset="-122"/>
              </a:rPr>
              <a:t>循环结构，用于给多个变量赋初值。</a:t>
            </a:r>
          </a:p>
          <a:p>
            <a:pPr marL="1074738" indent="-1074738" algn="just">
              <a:spcBef>
                <a:spcPct val="5000"/>
              </a:spcBef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      </a:t>
            </a:r>
            <a:r>
              <a:rPr lang="en-US" altLang="zh-CN" b="1" dirty="0">
                <a:latin typeface="宋体" pitchFamily="2" charset="-122"/>
              </a:rPr>
              <a:t>3.</a:t>
            </a:r>
            <a:r>
              <a:rPr lang="zh-CN" altLang="en-US" b="1" dirty="0">
                <a:latin typeface="宋体" pitchFamily="2" charset="-122"/>
              </a:rPr>
              <a:t>逗号运算符的优先级</a:t>
            </a:r>
            <a:r>
              <a:rPr lang="zh-CN" altLang="en-US" b="1" dirty="0">
                <a:highlight>
                  <a:srgbClr val="FFFF00"/>
                </a:highlight>
                <a:latin typeface="宋体" pitchFamily="2" charset="-122"/>
              </a:rPr>
              <a:t>最低</a:t>
            </a:r>
            <a:r>
              <a:rPr lang="zh-CN" altLang="en-US" b="1" dirty="0">
                <a:latin typeface="宋体" pitchFamily="2" charset="-122"/>
              </a:rPr>
              <a:t>。</a:t>
            </a:r>
          </a:p>
          <a:p>
            <a:pPr marL="1074738" indent="-1074738" algn="just">
              <a:spcBef>
                <a:spcPct val="5000"/>
              </a:spcBef>
              <a:buFont typeface="Monotype Sorts" pitchFamily="2" charset="2"/>
              <a:buNone/>
            </a:pPr>
            <a:endParaRPr lang="en-US" altLang="zh-CN" b="1" dirty="0">
              <a:latin typeface="宋体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CD61-10C9-425E-9620-A9D2553BB732}" type="slidenum">
              <a:rPr lang="en-US" altLang="zh-CN"/>
              <a:pPr/>
              <a:t>30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32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32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2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2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28600"/>
            <a:ext cx="8207375" cy="685800"/>
          </a:xfrm>
        </p:spPr>
        <p:txBody>
          <a:bodyPr>
            <a:normAutofit fontScale="90000"/>
          </a:bodyPr>
          <a:lstStyle/>
          <a:p>
            <a:r>
              <a:rPr lang="en-US" altLang="zh-CN" sz="4800" dirty="0" err="1"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sizeof</a:t>
            </a:r>
            <a:r>
              <a:rPr lang="en-US" altLang="zh-CN" sz="4800" dirty="0"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4800" dirty="0"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运算</a:t>
            </a:r>
            <a:r>
              <a:rPr lang="en-US" altLang="zh-CN" sz="4800" dirty="0"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--- &gt;</a:t>
            </a:r>
            <a:r>
              <a:rPr lang="zh-CN" altLang="en-US" sz="4800" dirty="0">
                <a:solidFill>
                  <a:srgbClr val="FF0000"/>
                </a:solidFill>
                <a:effectLst/>
                <a:latin typeface="黑体" pitchFamily="2" charset="-122"/>
                <a:ea typeface="黑体" pitchFamily="2" charset="-122"/>
              </a:rPr>
              <a:t>关键字</a:t>
            </a:r>
            <a:endParaRPr lang="zh-CN" altLang="en-US" sz="4800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7376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25538"/>
            <a:ext cx="8351837" cy="5256212"/>
          </a:xfrm>
        </p:spPr>
        <p:txBody>
          <a:bodyPr/>
          <a:lstStyle/>
          <a:p>
            <a:pPr marL="0" indent="0" algn="just">
              <a:buFont typeface="Monotype Sorts" pitchFamily="2" charset="2"/>
              <a:buNone/>
            </a:pPr>
            <a:r>
              <a:rPr lang="zh-CN" altLang="en-US" sz="2400" b="1" dirty="0">
                <a:latin typeface="宋体" pitchFamily="2" charset="-122"/>
              </a:rPr>
              <a:t>形式： </a:t>
            </a:r>
            <a:r>
              <a:rPr lang="en-US" altLang="zh-CN" sz="2400" b="1" dirty="0" err="1">
                <a:latin typeface="宋体" pitchFamily="2" charset="-122"/>
              </a:rPr>
              <a:t>sizeof</a:t>
            </a:r>
            <a:r>
              <a:rPr lang="en-US" altLang="zh-CN" sz="2400" b="1" dirty="0">
                <a:latin typeface="宋体" pitchFamily="2" charset="-122"/>
              </a:rPr>
              <a:t> (</a:t>
            </a:r>
            <a:r>
              <a:rPr lang="zh-CN" altLang="en-US" sz="2400" b="1" dirty="0">
                <a:latin typeface="宋体" pitchFamily="2" charset="-122"/>
              </a:rPr>
              <a:t>类型名</a:t>
            </a:r>
            <a:r>
              <a:rPr lang="en-US" altLang="zh-CN" sz="2400" b="1" dirty="0">
                <a:latin typeface="宋体" pitchFamily="2" charset="-122"/>
              </a:rPr>
              <a:t>)  </a:t>
            </a:r>
            <a:r>
              <a:rPr lang="zh-CN" altLang="en-US" sz="2400" b="1" dirty="0">
                <a:latin typeface="宋体" pitchFamily="2" charset="-122"/>
              </a:rPr>
              <a:t>或  </a:t>
            </a:r>
            <a:r>
              <a:rPr lang="en-US" altLang="zh-CN" sz="2400" b="1" dirty="0" err="1">
                <a:latin typeface="宋体" pitchFamily="2" charset="-122"/>
              </a:rPr>
              <a:t>sizeof</a:t>
            </a:r>
            <a:r>
              <a:rPr lang="en-US" altLang="zh-CN" sz="2400" b="1" dirty="0">
                <a:latin typeface="宋体" pitchFamily="2" charset="-122"/>
              </a:rPr>
              <a:t>  </a:t>
            </a:r>
            <a:r>
              <a:rPr lang="zh-CN" altLang="en-US" sz="2400" b="1" dirty="0">
                <a:latin typeface="宋体" pitchFamily="2" charset="-122"/>
              </a:rPr>
              <a:t>表达式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2400" b="1" dirty="0">
                <a:latin typeface="宋体" pitchFamily="2" charset="-122"/>
              </a:rPr>
              <a:t>其中表达式为变量名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宋体" pitchFamily="2" charset="-122"/>
              </a:rPr>
              <a:t>作用：</a:t>
            </a:r>
            <a:r>
              <a:rPr lang="zh-CN" altLang="en-US" sz="2000" b="1" dirty="0">
                <a:solidFill>
                  <a:srgbClr val="0000FF"/>
                </a:solidFill>
                <a:latin typeface="宋体" pitchFamily="2" charset="-122"/>
              </a:rPr>
              <a:t> </a:t>
            </a:r>
            <a:r>
              <a:rPr lang="zh-CN" altLang="en-US" sz="2400" b="1" dirty="0">
                <a:latin typeface="宋体" pitchFamily="2" charset="-122"/>
              </a:rPr>
              <a:t>给出</a:t>
            </a:r>
            <a:r>
              <a:rPr lang="zh-CN" altLang="en-US" sz="2400" b="1" dirty="0">
                <a:highlight>
                  <a:srgbClr val="FFFF00"/>
                </a:highlight>
                <a:latin typeface="宋体" pitchFamily="2" charset="-122"/>
              </a:rPr>
              <a:t>运算对象</a:t>
            </a:r>
            <a:r>
              <a:rPr lang="zh-CN" altLang="en-US" sz="2400" b="1" dirty="0">
                <a:latin typeface="宋体" pitchFamily="2" charset="-122"/>
              </a:rPr>
              <a:t>在内存中所占用的字节数。</a:t>
            </a:r>
            <a:endParaRPr lang="zh-CN" altLang="en-US" sz="2400" b="1" dirty="0">
              <a:solidFill>
                <a:srgbClr val="FF3300"/>
              </a:solidFill>
              <a:latin typeface="宋体" pitchFamily="2" charset="-122"/>
            </a:endParaRP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例如：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a[] = { 1,3,5,7,9 };    float b;</a:t>
            </a:r>
          </a:p>
          <a:p>
            <a:pPr>
              <a:buNone/>
            </a:pPr>
            <a:r>
              <a:rPr lang="en-US" sz="2400" b="1" dirty="0"/>
              <a:t>	</a:t>
            </a:r>
            <a:r>
              <a:rPr lang="en-US" sz="2400" b="1" dirty="0" err="1"/>
              <a:t>printf</a:t>
            </a:r>
            <a:r>
              <a:rPr lang="en-US" sz="2400" b="1" dirty="0"/>
              <a:t>(“ %d \n”, </a:t>
            </a:r>
            <a:r>
              <a:rPr lang="en-US" sz="2400" b="1" dirty="0" err="1"/>
              <a:t>sizeof</a:t>
            </a:r>
            <a:r>
              <a:rPr lang="en-US" sz="2400" b="1" dirty="0"/>
              <a:t> (b));	</a:t>
            </a:r>
          </a:p>
          <a:p>
            <a:pPr>
              <a:buNone/>
            </a:pPr>
            <a:r>
              <a:rPr lang="en-US" sz="2400" b="1" dirty="0"/>
              <a:t>/* </a:t>
            </a:r>
            <a:r>
              <a:rPr lang="zh-CN" altLang="en-US" sz="2400" b="1" dirty="0"/>
              <a:t>输出变量</a:t>
            </a:r>
            <a:r>
              <a:rPr lang="en-US" sz="2400" b="1" dirty="0"/>
              <a:t>b</a:t>
            </a:r>
            <a:r>
              <a:rPr lang="zh-CN" altLang="en-US" sz="2400" b="1" dirty="0"/>
              <a:t>占据的内存字节数</a:t>
            </a:r>
            <a:r>
              <a:rPr lang="en-US" sz="2400" b="1" dirty="0"/>
              <a:t>,</a:t>
            </a:r>
            <a:r>
              <a:rPr lang="zh-CN" altLang="en-US" sz="2400" b="1" dirty="0"/>
              <a:t>结果为</a:t>
            </a:r>
            <a:r>
              <a:rPr lang="en-US" sz="2400" b="1" dirty="0"/>
              <a:t>4 */</a:t>
            </a:r>
            <a:endParaRPr lang="zh-CN" altLang="en-US" sz="2400" b="1" dirty="0"/>
          </a:p>
          <a:p>
            <a:pPr>
              <a:buNone/>
            </a:pPr>
            <a:r>
              <a:rPr lang="en-US" sz="2400" b="1" dirty="0"/>
              <a:t>	</a:t>
            </a:r>
            <a:r>
              <a:rPr lang="en-US" sz="2400" b="1" dirty="0" err="1"/>
              <a:t>printf</a:t>
            </a:r>
            <a:r>
              <a:rPr lang="en-US" sz="2400" b="1" dirty="0"/>
              <a:t>(" %d\n", </a:t>
            </a:r>
            <a:r>
              <a:rPr lang="en-US" sz="2400" b="1" dirty="0" err="1"/>
              <a:t>sizeof</a:t>
            </a:r>
            <a:r>
              <a:rPr lang="en-US" sz="2400" b="1" dirty="0"/>
              <a:t> a/</a:t>
            </a:r>
            <a:r>
              <a:rPr lang="en-US" sz="2400" b="1" dirty="0" err="1"/>
              <a:t>sizeof</a:t>
            </a:r>
            <a:r>
              <a:rPr lang="en-US" sz="2400" b="1" dirty="0"/>
              <a:t>(</a:t>
            </a:r>
            <a:r>
              <a:rPr lang="en-US" sz="2400" b="1" dirty="0" err="1"/>
              <a:t>int</a:t>
            </a:r>
            <a:r>
              <a:rPr lang="en-US" sz="2400" b="1" dirty="0"/>
              <a:t>));	</a:t>
            </a:r>
          </a:p>
          <a:p>
            <a:pPr>
              <a:buNone/>
            </a:pPr>
            <a:r>
              <a:rPr lang="en-US" sz="2400" b="1" dirty="0"/>
              <a:t>/* </a:t>
            </a:r>
            <a:r>
              <a:rPr lang="zh-CN" altLang="en-US" sz="2400" b="1" dirty="0"/>
              <a:t>计算数组</a:t>
            </a:r>
            <a:r>
              <a:rPr lang="en-US" sz="2400" b="1" dirty="0"/>
              <a:t>a</a:t>
            </a:r>
            <a:r>
              <a:rPr lang="zh-CN" altLang="en-US" sz="2400" b="1" dirty="0"/>
              <a:t>的元素个数</a:t>
            </a:r>
            <a:r>
              <a:rPr lang="en-US" sz="2400" b="1" dirty="0"/>
              <a:t>,</a:t>
            </a:r>
            <a:r>
              <a:rPr lang="zh-CN" altLang="en-US" sz="2400" b="1" dirty="0"/>
              <a:t>结果为</a:t>
            </a:r>
            <a:r>
              <a:rPr lang="en-US" sz="2400" b="1" dirty="0"/>
              <a:t>5 */</a:t>
            </a:r>
            <a:endParaRPr lang="zh-CN" altLang="en-US" sz="2400" b="1" dirty="0"/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其中</a:t>
            </a:r>
            <a:r>
              <a:rPr lang="en-US" altLang="zh-CN" sz="2400" b="1" dirty="0" err="1"/>
              <a:t>sizeof</a:t>
            </a:r>
            <a:r>
              <a:rPr lang="en-US" altLang="zh-CN" sz="2400" b="1" dirty="0"/>
              <a:t>  a</a:t>
            </a:r>
            <a:r>
              <a:rPr lang="zh-CN" altLang="en-US" sz="2400" b="1" dirty="0"/>
              <a:t>是数组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所占据的</a:t>
            </a:r>
            <a:r>
              <a:rPr lang="zh-CN" altLang="en-US" sz="2400" b="1" dirty="0">
                <a:solidFill>
                  <a:srgbClr val="C00000"/>
                </a:solidFill>
              </a:rPr>
              <a:t>字节数</a:t>
            </a:r>
            <a:r>
              <a:rPr lang="zh-CN" altLang="en-US" sz="2400" b="1" dirty="0"/>
              <a:t>，</a:t>
            </a:r>
            <a:r>
              <a:rPr lang="en-US" altLang="zh-CN" sz="2400" b="1" dirty="0" err="1"/>
              <a:t>sizeof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是一个</a:t>
            </a:r>
            <a:r>
              <a:rPr lang="en-US" altLang="zh-CN" sz="2400" b="1" dirty="0" err="1"/>
              <a:t>int</a:t>
            </a:r>
            <a:r>
              <a:rPr lang="zh-CN" altLang="en-US" sz="2400" b="1" dirty="0"/>
              <a:t>类型的数据对象所需的字节数。表达式</a:t>
            </a:r>
            <a:r>
              <a:rPr lang="en-US" altLang="zh-CN" sz="2400" b="1" dirty="0" err="1"/>
              <a:t>sizeof</a:t>
            </a:r>
            <a:r>
              <a:rPr lang="en-US" altLang="zh-CN" sz="2400" b="1" dirty="0"/>
              <a:t> a / </a:t>
            </a:r>
            <a:r>
              <a:rPr lang="en-US" altLang="zh-CN" sz="2400" b="1" dirty="0" err="1"/>
              <a:t>sizeof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的值等于数组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的元素个数。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19865-EA10-41D2-8919-D39254C2A82F}" type="slidenum">
              <a:rPr lang="en-US" altLang="zh-CN"/>
              <a:pPr/>
              <a:t>31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37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37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3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37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610600" cy="68580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chemeClr val="tx1"/>
                </a:solidFill>
                <a:effectLst/>
                <a:latin typeface="黑体" pitchFamily="2" charset="-122"/>
                <a:ea typeface="黑体" pitchFamily="2" charset="-122"/>
              </a:rPr>
              <a:t>位运算</a:t>
            </a:r>
            <a:endParaRPr lang="zh-CN" altLang="en-US" sz="3200" dirty="0">
              <a:solidFill>
                <a:schemeClr val="folHlink"/>
              </a:solidFill>
              <a:effectLst/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052513"/>
            <a:ext cx="8515350" cy="5256212"/>
          </a:xfrm>
        </p:spPr>
        <p:txBody>
          <a:bodyPr/>
          <a:lstStyle/>
          <a:p>
            <a:pPr marL="0" indent="0" algn="just">
              <a:buFont typeface="Monotype Sorts" pitchFamily="2" charset="2"/>
              <a:buNone/>
            </a:pPr>
            <a:r>
              <a:rPr lang="en-US" altLang="zh-CN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</a:t>
            </a:r>
            <a:r>
              <a:rPr lang="zh-CN" altLang="en-US" sz="3200" b="1" dirty="0">
                <a:latin typeface="宋体" pitchFamily="2" charset="-122"/>
              </a:rPr>
              <a:t>位运算的运算分量只能是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整型或字符型</a:t>
            </a:r>
            <a:r>
              <a:rPr lang="zh-CN" altLang="en-US" sz="3200" b="1" dirty="0">
                <a:latin typeface="宋体" pitchFamily="2" charset="-122"/>
              </a:rPr>
              <a:t>数据，位运算把运算对象看作是由二进位组成的位串信息，按位运算，得到位串信息的结果。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位运算符：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  </a:t>
            </a:r>
            <a:r>
              <a:rPr lang="en-US" altLang="zh-CN" sz="3200" b="1" dirty="0">
                <a:latin typeface="宋体" pitchFamily="2" charset="-122"/>
              </a:rPr>
              <a:t>&amp; (</a:t>
            </a:r>
            <a:r>
              <a:rPr lang="zh-CN" altLang="en-US" sz="3200" b="1" dirty="0">
                <a:latin typeface="宋体" pitchFamily="2" charset="-122"/>
              </a:rPr>
              <a:t>按位与</a:t>
            </a:r>
            <a:r>
              <a:rPr lang="en-US" altLang="zh-CN" sz="3200" b="1" dirty="0">
                <a:latin typeface="宋体" pitchFamily="2" charset="-122"/>
              </a:rPr>
              <a:t>)      | (</a:t>
            </a:r>
            <a:r>
              <a:rPr lang="zh-CN" altLang="en-US" sz="3200" b="1" dirty="0">
                <a:latin typeface="宋体" pitchFamily="2" charset="-122"/>
              </a:rPr>
              <a:t>按位或</a:t>
            </a:r>
            <a:r>
              <a:rPr lang="en-US" altLang="zh-CN" sz="3200" b="1" dirty="0">
                <a:latin typeface="宋体" pitchFamily="2" charset="-122"/>
              </a:rPr>
              <a:t>)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en-US" altLang="zh-CN" sz="3200" b="1" dirty="0">
                <a:latin typeface="宋体" pitchFamily="2" charset="-122"/>
              </a:rPr>
              <a:t>  ^ (</a:t>
            </a:r>
            <a:r>
              <a:rPr lang="zh-CN" altLang="en-US" sz="3200" b="1" dirty="0">
                <a:latin typeface="宋体" pitchFamily="2" charset="-122"/>
              </a:rPr>
              <a:t>按位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异或</a:t>
            </a:r>
            <a:r>
              <a:rPr lang="en-US" altLang="zh-CN" sz="3200" b="1" dirty="0">
                <a:latin typeface="宋体" pitchFamily="2" charset="-122"/>
              </a:rPr>
              <a:t>)    ~ (</a:t>
            </a:r>
            <a:r>
              <a:rPr lang="zh-CN" altLang="en-US" sz="3200" b="1" dirty="0">
                <a:latin typeface="宋体" pitchFamily="2" charset="-122"/>
              </a:rPr>
              <a:t>按位取反</a:t>
            </a:r>
            <a:r>
              <a:rPr lang="en-US" altLang="zh-CN" sz="3200" b="1" dirty="0">
                <a:latin typeface="宋体" pitchFamily="2" charset="-122"/>
              </a:rPr>
              <a:t>)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说明：按位取反是</a:t>
            </a:r>
            <a:r>
              <a:rPr lang="zh-CN" altLang="en-US" sz="3200" b="1" dirty="0">
                <a:highlight>
                  <a:srgbClr val="FFFF00"/>
                </a:highlight>
                <a:latin typeface="宋体" pitchFamily="2" charset="-122"/>
              </a:rPr>
              <a:t>单目运算符</a:t>
            </a:r>
            <a:r>
              <a:rPr lang="zh-CN" altLang="en-US" sz="3200" b="1" dirty="0">
                <a:latin typeface="宋体" pitchFamily="2" charset="-122"/>
              </a:rPr>
              <a:t>，其余均为</a:t>
            </a:r>
            <a:br>
              <a:rPr lang="zh-CN" altLang="en-US" sz="3200" b="1" dirty="0">
                <a:latin typeface="宋体" pitchFamily="2" charset="-122"/>
              </a:rPr>
            </a:br>
            <a:r>
              <a:rPr lang="zh-CN" altLang="en-US" sz="3200" b="1" dirty="0">
                <a:latin typeface="宋体" pitchFamily="2" charset="-122"/>
              </a:rPr>
              <a:t>       双目运算符。</a:t>
            </a:r>
          </a:p>
          <a:p>
            <a:pPr marL="0" indent="0" algn="just"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优先级：</a:t>
            </a:r>
            <a:r>
              <a:rPr lang="en-US" altLang="zh-CN" sz="3200" b="1" dirty="0">
                <a:latin typeface="宋体" pitchFamily="2" charset="-122"/>
              </a:rPr>
              <a:t>~ </a:t>
            </a:r>
            <a:r>
              <a:rPr lang="zh-CN" altLang="en-US" sz="3200" b="1" dirty="0">
                <a:latin typeface="宋体" pitchFamily="2" charset="-122"/>
              </a:rPr>
              <a:t>、 </a:t>
            </a:r>
            <a:r>
              <a:rPr lang="en-US" altLang="zh-CN" sz="3200" b="1" dirty="0">
                <a:latin typeface="宋体" pitchFamily="2" charset="-122"/>
              </a:rPr>
              <a:t>&amp; </a:t>
            </a:r>
            <a:r>
              <a:rPr lang="zh-CN" altLang="en-US" sz="3200" b="1" dirty="0">
                <a:latin typeface="宋体" pitchFamily="2" charset="-122"/>
              </a:rPr>
              <a:t>、 </a:t>
            </a:r>
            <a:r>
              <a:rPr lang="en-US" altLang="zh-CN" sz="3200" b="1" dirty="0">
                <a:latin typeface="宋体" pitchFamily="2" charset="-122"/>
              </a:rPr>
              <a:t>^ </a:t>
            </a:r>
            <a:r>
              <a:rPr lang="zh-CN" altLang="en-US" sz="3200" b="1" dirty="0">
                <a:latin typeface="宋体" pitchFamily="2" charset="-122"/>
              </a:rPr>
              <a:t>、 </a:t>
            </a:r>
            <a:r>
              <a:rPr lang="en-US" altLang="zh-CN" sz="3200" b="1" dirty="0">
                <a:latin typeface="宋体" pitchFamily="2" charset="-122"/>
              </a:rPr>
              <a:t>|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60D85-251B-46DE-8755-276F14B6C2A4}" type="slidenum">
              <a:rPr lang="en-US" altLang="zh-CN"/>
              <a:pPr/>
              <a:t>32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6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6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6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6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6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6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6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6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6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6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28600"/>
            <a:ext cx="8520112" cy="685800"/>
          </a:xfrm>
        </p:spPr>
        <p:txBody>
          <a:bodyPr/>
          <a:lstStyle/>
          <a:p>
            <a:r>
              <a:rPr lang="en-US" altLang="zh-CN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(1)</a:t>
            </a:r>
            <a:r>
              <a:rPr lang="zh-CN" altLang="en-US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位与运算符</a:t>
            </a:r>
            <a:r>
              <a:rPr lang="en-US" altLang="zh-CN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(&amp;)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610600" cy="57150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位与运算的规则如下：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</a:rPr>
              <a:t>     </a:t>
            </a:r>
            <a:r>
              <a:rPr lang="en-US" altLang="zh-CN" sz="2400" b="1" dirty="0">
                <a:solidFill>
                  <a:srgbClr val="C00000"/>
                </a:solidFill>
              </a:rPr>
              <a:t>0 &amp; 0 = 0,  0 &amp; 1 = 0,  1 &amp; 0 = 0,  1 &amp; 1 = 1 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即参加位与运算的两个操作数，如果对应的位均为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时，则该位才为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，否则为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。 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例如：</a:t>
            </a:r>
            <a:r>
              <a:rPr lang="en-US" altLang="zh-CN" sz="2400" b="1" dirty="0"/>
              <a:t>53 &amp; 22</a:t>
            </a:r>
            <a:r>
              <a:rPr lang="zh-CN" altLang="en-US" sz="2400" b="1" dirty="0"/>
              <a:t>的结果为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     </a:t>
            </a:r>
            <a:r>
              <a:rPr lang="en-US" altLang="zh-CN" sz="2400" b="1" dirty="0"/>
              <a:t>0000000000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1 1 0 1 0 1 </a:t>
            </a:r>
            <a:r>
              <a:rPr lang="zh-CN" altLang="en-US" sz="2400" b="1" dirty="0"/>
              <a:t>（十进制</a:t>
            </a:r>
            <a:r>
              <a:rPr lang="en-US" altLang="zh-CN" sz="2400" b="1" dirty="0"/>
              <a:t>53</a:t>
            </a:r>
            <a:r>
              <a:rPr lang="zh-CN" altLang="en-US" sz="2400" b="1" dirty="0"/>
              <a:t>，八进制为</a:t>
            </a:r>
            <a:r>
              <a:rPr lang="en-US" altLang="zh-CN" sz="2400" b="1" dirty="0"/>
              <a:t>65</a:t>
            </a:r>
            <a:r>
              <a:rPr lang="zh-CN" altLang="en-US" sz="2400" b="1" dirty="0"/>
              <a:t>）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  </a:t>
            </a:r>
            <a:r>
              <a:rPr lang="en-US" altLang="zh-CN" sz="2400" b="1" dirty="0"/>
              <a:t>&amp;0000000000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0 1 0 1 1 0</a:t>
            </a:r>
            <a:r>
              <a:rPr lang="zh-CN" altLang="en-US" sz="2400" b="1" dirty="0"/>
              <a:t>（十进制</a:t>
            </a:r>
            <a:r>
              <a:rPr lang="en-US" altLang="zh-CN" sz="2400" b="1" dirty="0"/>
              <a:t>22</a:t>
            </a:r>
            <a:r>
              <a:rPr lang="zh-CN" altLang="en-US" sz="2400" b="1" dirty="0"/>
              <a:t>，八进制为</a:t>
            </a:r>
            <a:r>
              <a:rPr lang="en-US" altLang="zh-CN" sz="2400" b="1" dirty="0"/>
              <a:t>26</a:t>
            </a:r>
            <a:r>
              <a:rPr lang="zh-CN" altLang="en-US" sz="2400" b="1" dirty="0"/>
              <a:t>）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     </a:t>
            </a:r>
            <a:r>
              <a:rPr lang="en-US" altLang="zh-CN" sz="2400" b="1" dirty="0"/>
              <a:t>0000000000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0 1 0 1 0 0 </a:t>
            </a:r>
            <a:r>
              <a:rPr lang="zh-CN" altLang="en-US" sz="2400" b="1" dirty="0"/>
              <a:t>（十进制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，八进制为</a:t>
            </a:r>
            <a:r>
              <a:rPr lang="en-US" altLang="zh-CN" sz="2400" b="1" dirty="0"/>
              <a:t>24</a:t>
            </a:r>
            <a:r>
              <a:rPr lang="zh-CN" altLang="en-US" sz="2400" b="1" dirty="0"/>
              <a:t>）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位与运算主要有两种</a:t>
            </a:r>
            <a:r>
              <a:rPr lang="zh-CN" altLang="en-US" sz="2400" b="1" dirty="0">
                <a:highlight>
                  <a:srgbClr val="FFFF00"/>
                </a:highlight>
              </a:rPr>
              <a:t>典型用法</a:t>
            </a:r>
            <a:r>
              <a:rPr lang="zh-CN" altLang="en-US" sz="2400" b="1" dirty="0"/>
              <a:t>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取位串的某几位。例如，截取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highlight>
                  <a:srgbClr val="FFFF00"/>
                </a:highlight>
              </a:rPr>
              <a:t>最低</a:t>
            </a:r>
            <a:r>
              <a:rPr lang="en-US" altLang="zh-CN" sz="2400" b="1" dirty="0">
                <a:highlight>
                  <a:srgbClr val="FFFF00"/>
                </a:highlight>
              </a:rPr>
              <a:t>7</a:t>
            </a:r>
            <a:r>
              <a:rPr lang="zh-CN" altLang="en-US" sz="2400" b="1" dirty="0">
                <a:highlight>
                  <a:srgbClr val="FFFF00"/>
                </a:highlight>
              </a:rPr>
              <a:t>位</a:t>
            </a:r>
            <a:r>
              <a:rPr lang="zh-CN" altLang="en-US" sz="2400" b="1" dirty="0"/>
              <a:t>的方法是，</a:t>
            </a:r>
            <a:r>
              <a:rPr lang="en-US" altLang="zh-CN" sz="2400" b="1" dirty="0"/>
              <a:t>x &amp; 0177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/>
              <a:t>(0177</a:t>
            </a:r>
            <a:r>
              <a:rPr lang="zh-CN" altLang="en-US" sz="2400" b="1" dirty="0"/>
              <a:t>是八进制的写法，对应的二进制为</a:t>
            </a:r>
            <a:r>
              <a:rPr lang="en-US" altLang="zh-CN" sz="2400" b="1" dirty="0"/>
              <a:t>001  111  111)</a:t>
            </a:r>
            <a:r>
              <a:rPr lang="zh-CN" altLang="en-US" sz="2400" b="1" dirty="0"/>
              <a:t>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保留变量的某几位，其余位置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。例如，</a:t>
            </a:r>
            <a:r>
              <a:rPr lang="zh-CN" altLang="en-US" sz="2400" b="1" dirty="0">
                <a:highlight>
                  <a:srgbClr val="FFFF00"/>
                </a:highlight>
              </a:rPr>
              <a:t>保留</a:t>
            </a:r>
            <a:r>
              <a:rPr lang="zh-CN" altLang="en-US" sz="2400" b="1" dirty="0"/>
              <a:t>变量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最低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位，代码</a:t>
            </a:r>
            <a:r>
              <a:rPr lang="en-US" altLang="zh-CN" sz="2400" b="1" dirty="0"/>
              <a:t>x = x &amp; 077</a:t>
            </a:r>
            <a:r>
              <a:rPr lang="zh-CN" altLang="en-US" sz="2400" b="1" dirty="0"/>
              <a:t>可实现这个要求。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38524-4BA7-4059-BE1B-6B3F51DCBDB2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377860" name="Line 4"/>
          <p:cNvSpPr>
            <a:spLocks noChangeShapeType="1"/>
          </p:cNvSpPr>
          <p:nvPr/>
        </p:nvSpPr>
        <p:spPr bwMode="auto">
          <a:xfrm flipV="1">
            <a:off x="611188" y="3929066"/>
            <a:ext cx="3317870" cy="4759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7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7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7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7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7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7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7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78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6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1838" cy="685800"/>
          </a:xfrm>
        </p:spPr>
        <p:txBody>
          <a:bodyPr/>
          <a:lstStyle/>
          <a:p>
            <a:r>
              <a:rPr lang="en-US" altLang="zh-CN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(2)</a:t>
            </a:r>
            <a:r>
              <a:rPr lang="zh-CN" altLang="en-US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位或运算符</a:t>
            </a:r>
            <a:r>
              <a:rPr lang="en-US" altLang="zh-CN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(|)</a:t>
            </a:r>
          </a:p>
        </p:txBody>
      </p:sp>
      <p:sp>
        <p:nvSpPr>
          <p:cNvPr id="37888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497888" cy="5113337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位或运算的规则如下：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</a:rPr>
              <a:t>      </a:t>
            </a:r>
            <a:r>
              <a:rPr lang="en-US" altLang="zh-CN" sz="2400" b="1" dirty="0">
                <a:solidFill>
                  <a:srgbClr val="C00000"/>
                </a:solidFill>
              </a:rPr>
              <a:t>0 | 0 = 0,  0 | 1 = 1,  1 | 0 = 1,  1 | 1 = 1 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即参加位或运算的两个操作数，如果对应的位均为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时，则该位为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，否则为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。 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例如：</a:t>
            </a:r>
            <a:r>
              <a:rPr lang="en-US" altLang="zh-CN" sz="2400" b="1" dirty="0"/>
              <a:t>53 | 22</a:t>
            </a:r>
            <a:r>
              <a:rPr lang="zh-CN" altLang="en-US" sz="2400" b="1" dirty="0"/>
              <a:t>的结果为</a:t>
            </a:r>
            <a:r>
              <a:rPr lang="en-US" altLang="zh-CN" sz="2400" b="1" dirty="0"/>
              <a:t>55</a:t>
            </a:r>
            <a:r>
              <a:rPr lang="zh-CN" altLang="en-US" sz="2400" b="1" dirty="0"/>
              <a:t>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 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0 000 000 000 110 101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（十进制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53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，八进制为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65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）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|0 000 000 000 010 110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（十进制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22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，八进制为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26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）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0 000 000 000 110 111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（十进制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55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，八进制为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67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）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</a:rPr>
              <a:t>位或运算的典型用法是将一个位串的某几位置成 </a:t>
            </a:r>
            <a:r>
              <a:rPr lang="en-US" altLang="zh-CN" sz="2400" b="1" dirty="0">
                <a:solidFill>
                  <a:srgbClr val="C00000"/>
                </a:solidFill>
              </a:rPr>
              <a:t>1 </a:t>
            </a:r>
            <a:r>
              <a:rPr lang="zh-CN" altLang="en-US" sz="2400" b="1" dirty="0">
                <a:solidFill>
                  <a:srgbClr val="C00000"/>
                </a:solidFill>
              </a:rPr>
              <a:t>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例如，将变量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的最低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位设置为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，其余位不变，代码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        </a:t>
            </a:r>
            <a:r>
              <a:rPr lang="en-US" altLang="zh-CN" sz="2400" b="1" dirty="0"/>
              <a:t>x = 017 | x</a:t>
            </a:r>
            <a:r>
              <a:rPr lang="zh-CN" altLang="en-US" sz="2400" b="1" dirty="0"/>
              <a:t>可实现这个要求。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78DD8-6D07-463B-BD6B-64B55D37D9AC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378884" name="Line 4"/>
          <p:cNvSpPr>
            <a:spLocks noChangeShapeType="1"/>
          </p:cNvSpPr>
          <p:nvPr/>
        </p:nvSpPr>
        <p:spPr bwMode="auto">
          <a:xfrm>
            <a:off x="357158" y="4143381"/>
            <a:ext cx="342902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8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8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8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8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8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8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8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8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88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685800"/>
          </a:xfrm>
        </p:spPr>
        <p:txBody>
          <a:bodyPr/>
          <a:lstStyle/>
          <a:p>
            <a:r>
              <a:rPr lang="en-US" altLang="zh-CN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(3)</a:t>
            </a:r>
            <a:r>
              <a:rPr lang="zh-CN" altLang="en-US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位异或运算符</a:t>
            </a:r>
            <a:r>
              <a:rPr lang="en-US" altLang="zh-CN" sz="36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(^)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052513"/>
            <a:ext cx="8497888" cy="5472112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位异或运算的规则如下：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      </a:t>
            </a:r>
            <a:r>
              <a:rPr lang="en-US" altLang="zh-CN" sz="2400" b="1" dirty="0">
                <a:solidFill>
                  <a:srgbClr val="C00000"/>
                </a:solidFill>
              </a:rPr>
              <a:t>0 ^ 0 = 0,  0 ^ 1 = 1,  1 ^ 0 = 1,  1 ^ 1 = 0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即参加位异或运算的两个操作数，如果对应的位相同时，则该位为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，不相同时为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。 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例如：</a:t>
            </a:r>
            <a:r>
              <a:rPr lang="en-US" altLang="zh-CN" sz="2400" b="1" dirty="0"/>
              <a:t>53 ^ 22</a:t>
            </a:r>
            <a:r>
              <a:rPr lang="zh-CN" altLang="en-US" sz="2400" b="1" dirty="0"/>
              <a:t>的结果为</a:t>
            </a:r>
            <a:r>
              <a:rPr lang="en-US" altLang="zh-CN" sz="2400" b="1" dirty="0"/>
              <a:t>35</a:t>
            </a:r>
            <a:r>
              <a:rPr lang="zh-CN" altLang="en-US" sz="2400" b="1" dirty="0"/>
              <a:t>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0 000 000 000 110 10 1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（十进制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53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，八进制为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65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）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^ 0 000 000 000 010 11 0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（十进制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22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，八进制为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26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）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0 000 000 000 100 01 1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（十进制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35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，八进制为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43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）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>
                <a:solidFill>
                  <a:srgbClr val="C00000"/>
                </a:solidFill>
              </a:rPr>
              <a:t>位异或运算的典型用法是将一个位串某几位取反。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例如，将变量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的最低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位取反，其余位不变，即在最低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位中，原来是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的位变为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，原来是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的位变为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。代码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sz="2400" b="1" dirty="0"/>
              <a:t>     </a:t>
            </a:r>
            <a:r>
              <a:rPr lang="en-US" altLang="zh-CN" sz="2400" b="1" dirty="0"/>
              <a:t>x = 017 ^ x</a:t>
            </a:r>
            <a:r>
              <a:rPr lang="zh-CN" altLang="en-US" sz="2400" b="1" dirty="0"/>
              <a:t>就可实现这个要求。</a:t>
            </a:r>
            <a:r>
              <a:rPr lang="zh-CN" altLang="en-US" sz="2400" dirty="0"/>
              <a:t> 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2D141-0DA8-480E-9C8C-9317293D7789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379908" name="Line 4"/>
          <p:cNvSpPr>
            <a:spLocks noChangeShapeType="1"/>
          </p:cNvSpPr>
          <p:nvPr/>
        </p:nvSpPr>
        <p:spPr bwMode="auto">
          <a:xfrm>
            <a:off x="214282" y="3643314"/>
            <a:ext cx="366868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2928926" y="3143248"/>
            <a:ext cx="428628" cy="1357322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9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9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908" grpId="0" animBg="1"/>
      <p:bldP spid="6" grpId="0" animBg="1"/>
      <p:bldP spid="6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36914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位异或运算符</a:t>
            </a:r>
            <a:r>
              <a:rPr lang="en-US" altLang="zh-CN" sz="40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(^)</a:t>
            </a:r>
            <a:r>
              <a:rPr lang="zh-CN" altLang="en-US" sz="4000" b="1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的意义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34440"/>
            <a:ext cx="8435280" cy="5218896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a^0 =a ;  a^ b ^ a = ?</a:t>
            </a:r>
          </a:p>
          <a:p>
            <a:r>
              <a:rPr lang="zh-CN" altLang="en-US" sz="2800" b="1" dirty="0">
                <a:solidFill>
                  <a:srgbClr val="C00000"/>
                </a:solidFill>
              </a:rPr>
              <a:t>只需要考虑</a:t>
            </a:r>
            <a:r>
              <a:rPr lang="en-US" altLang="zh-CN" sz="2800" b="1" dirty="0">
                <a:solidFill>
                  <a:srgbClr val="C00000"/>
                </a:solidFill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</a:rPr>
              <a:t>位的情况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r>
              <a:rPr lang="en-US" altLang="zh-CN" sz="2800" b="1" dirty="0">
                <a:solidFill>
                  <a:srgbClr val="C00000"/>
                </a:solidFill>
              </a:rPr>
              <a:t>a    		0   0    1    1</a:t>
            </a:r>
          </a:p>
          <a:p>
            <a:r>
              <a:rPr lang="en-US" altLang="zh-CN" sz="2800" b="1" dirty="0">
                <a:solidFill>
                  <a:srgbClr val="C00000"/>
                </a:solidFill>
              </a:rPr>
              <a:t>b    		0   1     0   1</a:t>
            </a:r>
          </a:p>
          <a:p>
            <a:r>
              <a:rPr lang="en-US" altLang="zh-CN" sz="2400" b="1" dirty="0">
                <a:solidFill>
                  <a:srgbClr val="C00000"/>
                </a:solidFill>
              </a:rPr>
              <a:t>a^ b		0     1     1     0</a:t>
            </a:r>
          </a:p>
          <a:p>
            <a:r>
              <a:rPr lang="en-US" altLang="zh-CN" sz="2400" b="1" dirty="0">
                <a:solidFill>
                  <a:srgbClr val="C00000"/>
                </a:solidFill>
              </a:rPr>
              <a:t>a^ b ^ a        0    1     0    1                     </a:t>
            </a:r>
          </a:p>
          <a:p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en-US" altLang="zh-CN" sz="2400" b="1" dirty="0">
                <a:solidFill>
                  <a:srgbClr val="C00000"/>
                </a:solidFill>
              </a:rPr>
              <a:t>a^ b ^ a  =  b</a:t>
            </a:r>
          </a:p>
          <a:p>
            <a:r>
              <a:rPr lang="en-US" altLang="zh-CN" sz="2400" b="1" dirty="0">
                <a:solidFill>
                  <a:srgbClr val="C00000"/>
                </a:solidFill>
              </a:rPr>
              <a:t>^</a:t>
            </a:r>
            <a:r>
              <a:rPr lang="zh-CN" altLang="en-US" sz="2400" b="1" dirty="0">
                <a:solidFill>
                  <a:srgbClr val="C00000"/>
                </a:solidFill>
              </a:rPr>
              <a:t>满足交换律</a:t>
            </a:r>
            <a:r>
              <a:rPr lang="en-US" altLang="zh-CN" sz="2400" b="1" dirty="0">
                <a:solidFill>
                  <a:srgbClr val="C00000"/>
                </a:solidFill>
              </a:rPr>
              <a:t>,</a:t>
            </a:r>
            <a:r>
              <a:rPr lang="zh-CN" altLang="en-US" sz="2400" b="1" dirty="0">
                <a:solidFill>
                  <a:srgbClr val="C00000"/>
                </a:solidFill>
              </a:rPr>
              <a:t>结合律吗？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en-US" altLang="zh-CN" sz="2400" b="1" dirty="0">
                <a:solidFill>
                  <a:srgbClr val="C00000"/>
                </a:solidFill>
              </a:rPr>
              <a:t>^</a:t>
            </a:r>
            <a:r>
              <a:rPr lang="zh-CN" altLang="en-US" sz="2400" b="1" dirty="0">
                <a:solidFill>
                  <a:srgbClr val="C00000"/>
                </a:solidFill>
              </a:rPr>
              <a:t>在具体位上与</a:t>
            </a:r>
            <a:r>
              <a:rPr lang="en-US" altLang="zh-CN" sz="2400" b="1" dirty="0">
                <a:solidFill>
                  <a:srgbClr val="C00000"/>
                </a:solidFill>
              </a:rPr>
              <a:t>1</a:t>
            </a:r>
            <a:r>
              <a:rPr lang="zh-CN" altLang="en-US" sz="2400" b="1" dirty="0">
                <a:solidFill>
                  <a:srgbClr val="C00000"/>
                </a:solidFill>
              </a:rPr>
              <a:t>，或的</a:t>
            </a:r>
            <a:r>
              <a:rPr lang="en-US" altLang="zh-CN" sz="2400" b="1" dirty="0">
                <a:solidFill>
                  <a:srgbClr val="C00000"/>
                </a:solidFill>
              </a:rPr>
              <a:t>0</a:t>
            </a:r>
            <a:r>
              <a:rPr lang="zh-CN" altLang="en-US" sz="2400" b="1" dirty="0">
                <a:solidFill>
                  <a:srgbClr val="C00000"/>
                </a:solidFill>
              </a:rPr>
              <a:t>的操作各是什么意义？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zh-CN" altLang="en-US" sz="2400" b="1" dirty="0">
                <a:highlight>
                  <a:srgbClr val="FFFF00"/>
                </a:highlight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0 ^ 0 = 0</a:t>
            </a:r>
            <a:r>
              <a:rPr lang="en-US" altLang="zh-CN" sz="2400" b="1" dirty="0">
                <a:solidFill>
                  <a:srgbClr val="C00000"/>
                </a:solidFill>
              </a:rPr>
              <a:t>,  </a:t>
            </a:r>
            <a:r>
              <a:rPr lang="en-US" altLang="zh-CN" sz="2400" b="1" dirty="0">
                <a:solidFill>
                  <a:srgbClr val="C00000"/>
                </a:solidFill>
                <a:highlight>
                  <a:srgbClr val="00FFFF"/>
                </a:highlight>
              </a:rPr>
              <a:t>0 ^ 1 = 1</a:t>
            </a:r>
            <a:r>
              <a:rPr lang="en-US" altLang="zh-CN" sz="2400" b="1" dirty="0">
                <a:solidFill>
                  <a:srgbClr val="C00000"/>
                </a:solidFill>
              </a:rPr>
              <a:t>,  </a:t>
            </a:r>
            <a:r>
              <a:rPr lang="en-US" altLang="zh-CN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1 ^ 0 = 1</a:t>
            </a:r>
            <a:r>
              <a:rPr lang="en-US" altLang="zh-CN" sz="2400" b="1" dirty="0">
                <a:solidFill>
                  <a:srgbClr val="C00000"/>
                </a:solidFill>
              </a:rPr>
              <a:t>,  </a:t>
            </a:r>
            <a:r>
              <a:rPr lang="en-US" altLang="zh-CN" sz="2400" b="1" dirty="0">
                <a:solidFill>
                  <a:srgbClr val="C00000"/>
                </a:solidFill>
                <a:highlight>
                  <a:srgbClr val="00FFFF"/>
                </a:highlight>
              </a:rPr>
              <a:t>1 ^ 1 = 0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DA3C54-B7A9-4477-9E1D-720F1951E6B0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642937" y="908720"/>
            <a:ext cx="7858125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</a:p>
          <a:p>
            <a:endParaRPr lang="en-US" altLang="zh-CN" sz="2800" dirty="0"/>
          </a:p>
          <a:p>
            <a:r>
              <a:rPr lang="en-US" altLang="zh-CN" sz="2800" dirty="0"/>
              <a:t>void main()</a:t>
            </a:r>
          </a:p>
          <a:p>
            <a:r>
              <a:rPr lang="en-US" altLang="zh-CN" sz="2800" dirty="0"/>
              <a:t>{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 a =1, b=2;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>
                <a:highlight>
                  <a:srgbClr val="FFFF00"/>
                </a:highlight>
              </a:rPr>
              <a:t>a ^= b;</a:t>
            </a:r>
          </a:p>
          <a:p>
            <a:r>
              <a:rPr lang="en-US" altLang="zh-CN" sz="2800" dirty="0"/>
              <a:t>	b ^= a ;</a:t>
            </a:r>
          </a:p>
          <a:p>
            <a:r>
              <a:rPr lang="en-US" altLang="zh-CN" sz="2800" dirty="0"/>
              <a:t>	a ^= b;</a:t>
            </a:r>
          </a:p>
          <a:p>
            <a:r>
              <a:rPr lang="en-US" altLang="zh-CN" sz="2800" dirty="0"/>
              <a:t>	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 " a = %d, b = %d\n", a, b);</a:t>
            </a:r>
          </a:p>
          <a:p>
            <a:endParaRPr lang="en-US" altLang="zh-CN" sz="2800" dirty="0"/>
          </a:p>
          <a:p>
            <a:r>
              <a:rPr lang="en-US" altLang="zh-CN" sz="2800" dirty="0"/>
              <a:t>}</a:t>
            </a:r>
          </a:p>
          <a:p>
            <a:r>
              <a:rPr lang="zh-CN" altLang="en-US" sz="2800" dirty="0"/>
              <a:t>这段程序什么用途？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685800"/>
          </a:xfrm>
        </p:spPr>
        <p:txBody>
          <a:bodyPr/>
          <a:lstStyle/>
          <a:p>
            <a:r>
              <a:rPr lang="en-US" altLang="zh-CN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(4)</a:t>
            </a:r>
            <a:r>
              <a:rPr lang="zh-CN" altLang="en-US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位取反运算符</a:t>
            </a:r>
            <a:r>
              <a:rPr lang="en-US" altLang="zh-CN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(~)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052513"/>
            <a:ext cx="8640762" cy="525621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dirty="0"/>
              <a:t>位反运算的规则如下</a:t>
            </a:r>
            <a:r>
              <a:rPr lang="zh-CN" altLang="en-US" sz="2400" b="1" dirty="0">
                <a:solidFill>
                  <a:srgbClr val="C00000"/>
                </a:solidFill>
              </a:rPr>
              <a:t>：   </a:t>
            </a:r>
            <a:r>
              <a:rPr lang="en-US" altLang="zh-CN" sz="2400" b="1" dirty="0">
                <a:solidFill>
                  <a:srgbClr val="C00000"/>
                </a:solidFill>
              </a:rPr>
              <a:t>~ 0 = 1,  ~ 1 = 0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dirty="0"/>
              <a:t>位反运算将操作数的各位取反，即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变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变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。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dirty="0"/>
              <a:t>例如：</a:t>
            </a:r>
            <a:r>
              <a:rPr lang="en-US" altLang="zh-CN" sz="2400" b="1" dirty="0"/>
              <a:t>~ 53</a:t>
            </a:r>
            <a:r>
              <a:rPr lang="zh-CN" altLang="en-US" sz="2400" b="1" dirty="0"/>
              <a:t>的结果为 </a:t>
            </a:r>
            <a:r>
              <a:rPr lang="en-US" altLang="zh-CN" sz="2400" b="1" dirty="0"/>
              <a:t>-54</a:t>
            </a:r>
            <a:r>
              <a:rPr lang="zh-CN" altLang="en-US" sz="2400" b="1" dirty="0"/>
              <a:t>。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~ 0 000 000 000 110  101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（十进制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53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，八进制为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65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）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1 111 111  111  001 010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（十进制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-54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，八进制为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177712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）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dirty="0"/>
              <a:t>负数在计算机内部是用补码表示的。一个负数首先应将原码取反变成反码，然后再加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才能变成补码形式。同样，将上述补码的结果</a:t>
            </a:r>
            <a:r>
              <a:rPr lang="en-US" altLang="zh-CN" sz="2400" b="1" dirty="0"/>
              <a:t>1 111 111 111 001 010</a:t>
            </a:r>
            <a:r>
              <a:rPr lang="zh-CN" altLang="en-US" sz="2400" b="1" dirty="0"/>
              <a:t>变为原码，应先将补码减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变为反码</a:t>
            </a:r>
            <a:r>
              <a:rPr lang="en-US" altLang="zh-CN" sz="2400" b="1" dirty="0"/>
              <a:t>1 111 111 111 001 001</a:t>
            </a:r>
            <a:r>
              <a:rPr lang="zh-CN" altLang="en-US" sz="2400" b="1" dirty="0"/>
              <a:t>，再将每位取反（除符号位外）变为原码</a:t>
            </a:r>
            <a:r>
              <a:rPr lang="en-US" altLang="zh-CN" sz="2400" b="1" dirty="0"/>
              <a:t>1 000 000 000 110 110</a:t>
            </a:r>
            <a:r>
              <a:rPr lang="zh-CN" altLang="en-US" sz="2400" b="1" dirty="0"/>
              <a:t>。对应的八进制数是 </a:t>
            </a:r>
            <a:r>
              <a:rPr lang="en-US" altLang="zh-CN" sz="2400" b="1" dirty="0"/>
              <a:t>-66</a:t>
            </a:r>
            <a:r>
              <a:rPr lang="zh-CN" altLang="en-US" sz="2400" b="1" dirty="0"/>
              <a:t>，十进制数就是</a:t>
            </a:r>
            <a:r>
              <a:rPr lang="en-US" altLang="zh-CN" sz="2400" b="1" dirty="0"/>
              <a:t>6×8</a:t>
            </a:r>
            <a:r>
              <a:rPr lang="zh-CN" altLang="en-US" sz="2400" b="1" dirty="0"/>
              <a:t>＋</a:t>
            </a:r>
            <a:r>
              <a:rPr lang="en-US" altLang="zh-CN" sz="2400" b="1" dirty="0"/>
              <a:t>6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54</a:t>
            </a:r>
            <a:r>
              <a:rPr lang="zh-CN" altLang="en-US" sz="2400" b="1" dirty="0"/>
              <a:t>。由于它是负值，结果为</a:t>
            </a:r>
            <a:r>
              <a:rPr lang="en-US" altLang="zh-CN" sz="2400" b="1" dirty="0"/>
              <a:t>-54</a:t>
            </a:r>
            <a:r>
              <a:rPr lang="zh-CN" altLang="en-US" sz="2400" b="1" dirty="0"/>
              <a:t>。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dirty="0"/>
              <a:t>用位运算的组合可以用来描述各种特殊的位串运算。</a:t>
            </a:r>
            <a:endParaRPr lang="en-US" altLang="zh-CN" sz="2400" b="1" dirty="0"/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dirty="0"/>
              <a:t>例如</a:t>
            </a:r>
            <a:r>
              <a:rPr lang="en-US" altLang="zh-CN" sz="2400" b="1" dirty="0"/>
              <a:t>: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/>
              <a:t>       ((k-1)^k) &amp; k</a:t>
            </a:r>
          </a:p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sz="2400" b="1" dirty="0"/>
              <a:t>能取下非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的整型变量</a:t>
            </a:r>
            <a:r>
              <a:rPr lang="en-US" altLang="zh-CN" sz="2400" b="1" dirty="0"/>
              <a:t>k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highlight>
                  <a:srgbClr val="FFFF00"/>
                </a:highlight>
              </a:rPr>
              <a:t>最右边为</a:t>
            </a:r>
            <a:r>
              <a:rPr lang="en-US" altLang="zh-CN" sz="2400" b="1" dirty="0">
                <a:highlight>
                  <a:srgbClr val="FFFF00"/>
                </a:highlight>
              </a:rPr>
              <a:t>1</a:t>
            </a:r>
            <a:r>
              <a:rPr lang="zh-CN" altLang="en-US" sz="2400" b="1" dirty="0">
                <a:highlight>
                  <a:srgbClr val="FFFF00"/>
                </a:highlight>
              </a:rPr>
              <a:t>的位</a:t>
            </a:r>
            <a:r>
              <a:rPr lang="zh-CN" altLang="en-US" sz="2400" b="1" dirty="0"/>
              <a:t>。</a:t>
            </a:r>
            <a:r>
              <a:rPr lang="zh-CN" altLang="en-US" sz="2400" dirty="0"/>
              <a:t> 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EB0FC-016C-422A-B80A-34FCC7D88A89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380932" name="Line 4"/>
          <p:cNvSpPr>
            <a:spLocks noChangeShapeType="1"/>
          </p:cNvSpPr>
          <p:nvPr/>
        </p:nvSpPr>
        <p:spPr bwMode="auto">
          <a:xfrm>
            <a:off x="428596" y="2500306"/>
            <a:ext cx="33115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0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0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0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0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0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0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0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0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0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0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0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0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0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0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0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610600" cy="685800"/>
          </a:xfrm>
        </p:spPr>
        <p:txBody>
          <a:bodyPr/>
          <a:lstStyle/>
          <a:p>
            <a:r>
              <a:rPr lang="zh-CN" altLang="en-US" sz="36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移位运算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96975"/>
            <a:ext cx="8280400" cy="5165725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b="1" dirty="0"/>
              <a:t>移位运算用来将整型数据或字符型数据作为二进位的位串，整体向左或向右移动。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/>
              <a:t>移位运算符有两个：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/>
              <a:t>        左移运算符：  </a:t>
            </a:r>
            <a:r>
              <a:rPr lang="en-US" altLang="zh-CN" b="1" dirty="0"/>
              <a:t>&lt;&lt;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zh-CN" b="1" dirty="0"/>
              <a:t>        </a:t>
            </a:r>
            <a:r>
              <a:rPr lang="zh-CN" altLang="en-US" b="1" dirty="0"/>
              <a:t>右移运算符：  </a:t>
            </a:r>
            <a:r>
              <a:rPr lang="en-US" altLang="zh-CN" b="1" dirty="0"/>
              <a:t>&gt;&gt;</a:t>
            </a:r>
          </a:p>
          <a:p>
            <a:pPr marL="0" indent="0">
              <a:buFont typeface="Monotype Sorts" pitchFamily="2" charset="2"/>
              <a:buNone/>
            </a:pPr>
            <a:endParaRPr lang="en-US" altLang="zh-CN" b="1" dirty="0"/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/>
              <a:t>移位运算有两个操作数，左操作数为移位的数据对象，右操作数的值为移位位数。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/>
              <a:t>移位运算符的优先级</a:t>
            </a:r>
            <a:r>
              <a:rPr lang="zh-CN" altLang="en-US" b="1" dirty="0">
                <a:highlight>
                  <a:srgbClr val="FFFF00"/>
                </a:highlight>
              </a:rPr>
              <a:t>低于算</a:t>
            </a:r>
            <a:r>
              <a:rPr lang="zh-CN" altLang="en-US" b="1" dirty="0"/>
              <a:t>术运算符，</a:t>
            </a:r>
            <a:r>
              <a:rPr lang="zh-CN" altLang="en-US" b="1" dirty="0">
                <a:highlight>
                  <a:srgbClr val="FFFF00"/>
                </a:highlight>
              </a:rPr>
              <a:t>高于</a:t>
            </a:r>
            <a:r>
              <a:rPr lang="zh-CN" altLang="en-US" b="1" dirty="0"/>
              <a:t>关系运算符，它们的结合方向是自左至右。</a:t>
            </a:r>
            <a:r>
              <a:rPr lang="zh-CN" altLang="en-US" dirty="0"/>
              <a:t>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2C796-690E-47BA-BBE0-82ADBB64E0CC}" type="slidenum">
              <a:rPr lang="en-US" altLang="zh-CN"/>
              <a:pPr/>
              <a:t>39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1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1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81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1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1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052513"/>
            <a:ext cx="8515350" cy="5329237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zh-CN" b="1" dirty="0"/>
              <a:t>(1) </a:t>
            </a:r>
            <a:r>
              <a:rPr lang="zh-CN" altLang="en-US" b="1" dirty="0"/>
              <a:t>左移运算 </a:t>
            </a:r>
            <a:r>
              <a:rPr lang="en-US" altLang="zh-CN" b="1" dirty="0"/>
              <a:t>&lt;&lt;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/>
              <a:t>左移运算的规则是，将运算符左侧操作数的每一位二进位向左移动，右边空出的位用</a:t>
            </a:r>
            <a:r>
              <a:rPr lang="en-US" altLang="zh-CN" b="1" dirty="0"/>
              <a:t>0</a:t>
            </a:r>
            <a:r>
              <a:rPr lang="zh-CN" altLang="en-US" b="1" dirty="0"/>
              <a:t>填充，左端移出位的信息就被丢弃。每左移</a:t>
            </a:r>
            <a:r>
              <a:rPr lang="en-US" altLang="zh-CN" b="1" dirty="0"/>
              <a:t>1</a:t>
            </a:r>
            <a:r>
              <a:rPr lang="zh-CN" altLang="en-US" b="1" dirty="0"/>
              <a:t>位相当于乘</a:t>
            </a:r>
            <a:r>
              <a:rPr lang="en-US" altLang="zh-CN" b="1" dirty="0"/>
              <a:t>2</a:t>
            </a:r>
            <a:r>
              <a:rPr lang="zh-CN" altLang="en-US" b="1" dirty="0"/>
              <a:t>（当左移时舍弃位不包含</a:t>
            </a:r>
            <a:r>
              <a:rPr lang="en-US" altLang="zh-CN" b="1" dirty="0"/>
              <a:t>1</a:t>
            </a:r>
            <a:r>
              <a:rPr lang="zh-CN" altLang="en-US" b="1" dirty="0"/>
              <a:t>时）。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/>
              <a:t>例如</a:t>
            </a:r>
            <a:r>
              <a:rPr lang="en-US" altLang="zh-CN" b="1" dirty="0"/>
              <a:t>4 &lt;&lt; 2</a:t>
            </a:r>
            <a:r>
              <a:rPr lang="zh-CN" altLang="en-US" b="1" dirty="0"/>
              <a:t>，结果为</a:t>
            </a:r>
            <a:r>
              <a:rPr lang="en-US" altLang="zh-CN" b="1" dirty="0"/>
              <a:t>16</a:t>
            </a:r>
            <a:r>
              <a:rPr lang="zh-CN" altLang="en-US" b="1" dirty="0"/>
              <a:t>。</a:t>
            </a:r>
          </a:p>
          <a:p>
            <a:pPr marL="0" indent="0">
              <a:buFont typeface="Monotype Sorts" pitchFamily="2" charset="2"/>
              <a:buNone/>
            </a:pPr>
            <a:endParaRPr lang="zh-CN" altLang="en-US" b="1" dirty="0"/>
          </a:p>
          <a:p>
            <a:pPr marL="0" indent="0">
              <a:buFont typeface="Monotype Sorts" pitchFamily="2" charset="2"/>
              <a:buNone/>
            </a:pPr>
            <a:r>
              <a:rPr lang="en-US" altLang="zh-CN" b="1" dirty="0"/>
              <a:t>(2) </a:t>
            </a:r>
            <a:r>
              <a:rPr lang="zh-CN" altLang="en-US" b="1" dirty="0"/>
              <a:t>右移运算 </a:t>
            </a:r>
            <a:r>
              <a:rPr lang="en-US" altLang="zh-CN" b="1" dirty="0"/>
              <a:t>&gt;&gt;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/>
              <a:t>右移运算的规则是，将运算符左侧操作数的每一位二进位向右移动，右端移出的位的信息被丢弃。与左移相反，每右移</a:t>
            </a:r>
            <a:r>
              <a:rPr lang="en-US" altLang="zh-CN" b="1" dirty="0"/>
              <a:t>1</a:t>
            </a:r>
            <a:r>
              <a:rPr lang="zh-CN" altLang="en-US" b="1" dirty="0"/>
              <a:t>位，相当于除以</a:t>
            </a:r>
            <a:r>
              <a:rPr lang="en-US" altLang="zh-CN" b="1" dirty="0"/>
              <a:t>2</a:t>
            </a:r>
            <a:r>
              <a:rPr lang="zh-CN" altLang="en-US" b="1" dirty="0"/>
              <a:t>。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/>
              <a:t>例如</a:t>
            </a:r>
            <a:r>
              <a:rPr lang="en-US" altLang="zh-CN" b="1" dirty="0"/>
              <a:t>12 &gt;&gt; 2</a:t>
            </a:r>
            <a:r>
              <a:rPr lang="zh-CN" altLang="en-US" b="1" dirty="0"/>
              <a:t>，结果为</a:t>
            </a:r>
            <a:r>
              <a:rPr lang="en-US" altLang="zh-CN" b="1" dirty="0"/>
              <a:t>3</a:t>
            </a:r>
            <a:r>
              <a:rPr lang="zh-CN" altLang="en-US" b="1" dirty="0"/>
              <a:t>。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7DBF5-6542-47F9-A268-8075273008FD}" type="slidenum">
              <a:rPr lang="en-US" altLang="zh-CN"/>
              <a:pPr/>
              <a:t>40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2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2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2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2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7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690588"/>
            <a:ext cx="8569325" cy="638175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zh-CN" altLang="en-US" b="1" dirty="0"/>
              <a:t>在右移时，需要注意符号位问题。对无符号数据，右移时，左端空出的位用</a:t>
            </a:r>
            <a:r>
              <a:rPr lang="en-US" altLang="zh-CN" b="1" dirty="0"/>
              <a:t>0</a:t>
            </a:r>
            <a:r>
              <a:rPr lang="zh-CN" altLang="en-US" b="1" dirty="0"/>
              <a:t>填充。对于带符号的数据，如果移位前符号位为</a:t>
            </a:r>
            <a:r>
              <a:rPr lang="en-US" altLang="zh-CN" b="1" dirty="0"/>
              <a:t>0</a:t>
            </a:r>
            <a:r>
              <a:rPr lang="zh-CN" altLang="en-US" b="1" dirty="0"/>
              <a:t>（正数），则左端也是用</a:t>
            </a:r>
            <a:r>
              <a:rPr lang="en-US" altLang="zh-CN" b="1" dirty="0"/>
              <a:t>0</a:t>
            </a:r>
            <a:r>
              <a:rPr lang="zh-CN" altLang="en-US" b="1" dirty="0"/>
              <a:t>填充；如果移位前符号位为</a:t>
            </a:r>
            <a:r>
              <a:rPr lang="en-US" altLang="zh-CN" b="1" dirty="0"/>
              <a:t>1</a:t>
            </a:r>
            <a:r>
              <a:rPr lang="zh-CN" altLang="en-US" b="1" dirty="0"/>
              <a:t>（负数），则左端用</a:t>
            </a:r>
            <a:r>
              <a:rPr lang="en-US" altLang="zh-CN" b="1" dirty="0"/>
              <a:t>0</a:t>
            </a:r>
            <a:r>
              <a:rPr lang="zh-CN" altLang="en-US" b="1" dirty="0"/>
              <a:t>或用</a:t>
            </a:r>
            <a:r>
              <a:rPr lang="en-US" altLang="zh-CN" b="1" dirty="0"/>
              <a:t>1</a:t>
            </a:r>
            <a:r>
              <a:rPr lang="zh-CN" altLang="en-US" b="1" dirty="0"/>
              <a:t>填充，取决于所使用的系统。对于负数右移，用</a:t>
            </a:r>
            <a:r>
              <a:rPr lang="en-US" altLang="zh-CN" b="1" dirty="0"/>
              <a:t>0</a:t>
            </a:r>
            <a:r>
              <a:rPr lang="zh-CN" altLang="en-US" b="1" dirty="0"/>
              <a:t>填充的称为“逻辑右移”，用</a:t>
            </a:r>
            <a:r>
              <a:rPr lang="en-US" altLang="zh-CN" b="1" dirty="0"/>
              <a:t>1</a:t>
            </a:r>
            <a:r>
              <a:rPr lang="zh-CN" altLang="en-US" b="1" dirty="0"/>
              <a:t>填充的称为“算术右移”。</a:t>
            </a:r>
            <a:endParaRPr lang="en-US" altLang="zh-CN" b="1" dirty="0"/>
          </a:p>
          <a:p>
            <a:pPr marL="0" indent="0">
              <a:buFont typeface="Monotype Sorts" pitchFamily="2" charset="2"/>
              <a:buNone/>
            </a:pPr>
            <a:endParaRPr lang="en-US" altLang="zh-CN" b="1" dirty="0">
              <a:latin typeface="宋体" pitchFamily="2" charset="-122"/>
            </a:endParaRP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以下代码能说明系统所采用的右移方法：</a:t>
            </a:r>
          </a:p>
          <a:p>
            <a:pPr marL="0" indent="0"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     </a:t>
            </a:r>
            <a:r>
              <a:rPr lang="en-US" altLang="zh-CN" b="1" dirty="0" err="1">
                <a:latin typeface="宋体" pitchFamily="2" charset="-122"/>
              </a:rPr>
              <a:t>printf</a:t>
            </a:r>
            <a:r>
              <a:rPr lang="en-US" altLang="zh-CN" b="1" dirty="0">
                <a:latin typeface="宋体" pitchFamily="2" charset="-122"/>
              </a:rPr>
              <a:t>("%d\n\n\n", -2&gt;&gt;1);</a:t>
            </a:r>
          </a:p>
          <a:p>
            <a:pPr marL="0" indent="0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b="1" dirty="0">
                <a:latin typeface="宋体" pitchFamily="2" charset="-122"/>
              </a:rPr>
              <a:t>若输出结果为</a:t>
            </a:r>
            <a:r>
              <a:rPr lang="en-US" altLang="zh-CN" b="1" dirty="0">
                <a:latin typeface="宋体" pitchFamily="2" charset="-122"/>
              </a:rPr>
              <a:t>-1</a:t>
            </a:r>
            <a:r>
              <a:rPr lang="zh-CN" altLang="en-US" b="1" dirty="0">
                <a:latin typeface="宋体" pitchFamily="2" charset="-122"/>
              </a:rPr>
              <a:t>，是采用算术右移：即 </a:t>
            </a:r>
            <a:r>
              <a:rPr lang="en-US" altLang="zh-CN" b="1" dirty="0">
                <a:latin typeface="宋体" pitchFamily="2" charset="-122"/>
              </a:rPr>
              <a:t>1110  -〉 1111</a:t>
            </a:r>
            <a:r>
              <a:rPr lang="zh-CN" altLang="en-US" b="1" dirty="0">
                <a:latin typeface="宋体" pitchFamily="2" charset="-122"/>
              </a:rPr>
              <a:t>；输出结果为一个大整数，则为逻辑右移。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8B7A-3196-4F1E-AE36-A3B3E4AE6647}" type="slidenum">
              <a:rPr lang="en-US" altLang="zh-CN"/>
              <a:pPr/>
              <a:t>41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5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5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5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380" y="16379"/>
            <a:ext cx="8229600" cy="1143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38920"/>
            <a:ext cx="8229600" cy="4389120"/>
          </a:xfrm>
        </p:spPr>
        <p:txBody>
          <a:bodyPr/>
          <a:lstStyle/>
          <a:p>
            <a:r>
              <a:rPr lang="zh-CN" altLang="en-US" b="1" dirty="0">
                <a:latin typeface="宋体" pitchFamily="2" charset="-122"/>
              </a:rPr>
              <a:t>移位运算与位运算结合能实现许多与位串运算有关的复杂计算。设变量的位自右至左顺序编号，自</a:t>
            </a:r>
            <a:r>
              <a:rPr lang="en-US" altLang="zh-CN" b="1" dirty="0">
                <a:latin typeface="宋体" pitchFamily="2" charset="-122"/>
              </a:rPr>
              <a:t>0</a:t>
            </a:r>
            <a:r>
              <a:rPr lang="zh-CN" altLang="en-US" b="1" dirty="0">
                <a:latin typeface="宋体" pitchFamily="2" charset="-122"/>
              </a:rPr>
              <a:t>位至</a:t>
            </a:r>
            <a:r>
              <a:rPr lang="en-US" altLang="zh-CN" b="1" dirty="0">
                <a:latin typeface="宋体" pitchFamily="2" charset="-122"/>
              </a:rPr>
              <a:t>31</a:t>
            </a:r>
            <a:r>
              <a:rPr lang="zh-CN" altLang="en-US" b="1" dirty="0">
                <a:latin typeface="宋体" pitchFamily="2" charset="-122"/>
              </a:rPr>
              <a:t>位，有关指定位的表达式是不超过</a:t>
            </a:r>
            <a:r>
              <a:rPr lang="en-US" altLang="zh-CN" b="1" dirty="0">
                <a:latin typeface="宋体" pitchFamily="2" charset="-122"/>
              </a:rPr>
              <a:t>31</a:t>
            </a:r>
            <a:r>
              <a:rPr lang="zh-CN" altLang="en-US" b="1" dirty="0">
                <a:latin typeface="宋体" pitchFamily="2" charset="-122"/>
              </a:rPr>
              <a:t>的正整数。</a:t>
            </a:r>
            <a:endParaRPr lang="en-US" altLang="zh-CN" b="1" dirty="0">
              <a:latin typeface="宋体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zh-CN" b="1" dirty="0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 b="1" dirty="0"/>
              <a:t>以下各代码的意义：</a:t>
            </a:r>
          </a:p>
          <a:p>
            <a:pPr>
              <a:buNone/>
            </a:pPr>
            <a:r>
              <a:rPr lang="zh-CN" altLang="en-US" b="1" dirty="0"/>
              <a:t> 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～（～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0&lt;&lt;n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					</a:t>
            </a:r>
          </a:p>
          <a:p>
            <a:pPr>
              <a:buNone/>
            </a:pP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/* 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实现最低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n(0&lt;=n&lt;=32)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位为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其余位为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的位串信息 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*/</a:t>
            </a:r>
            <a:endParaRPr lang="zh-CN" alt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zh-CN" altLang="en-US" b="1" dirty="0">
              <a:latin typeface="宋体" pitchFamily="2" charset="-122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42</a:t>
            </a:fld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635427" y="4293096"/>
            <a:ext cx="2784608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~0=1111 1111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33178" y="4437112"/>
            <a:ext cx="3569054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~0&lt;&lt;2=1111 1100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7704" y="5382762"/>
            <a:ext cx="417826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~(~0&lt;&lt;2)=0000 0011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83512" cy="792163"/>
          </a:xfrm>
        </p:spPr>
        <p:txBody>
          <a:bodyPr/>
          <a:lstStyle/>
          <a:p>
            <a:r>
              <a:rPr lang="en-US" altLang="zh-CN" sz="3600" b="1" dirty="0">
                <a:latin typeface="黑体" pitchFamily="2" charset="-122"/>
                <a:ea typeface="黑体" pitchFamily="2" charset="-122"/>
              </a:rPr>
              <a:t>2.4 </a:t>
            </a:r>
            <a:r>
              <a:rPr lang="zh-CN" altLang="en-US" sz="3600" b="1" dirty="0">
                <a:latin typeface="黑体" pitchFamily="2" charset="-122"/>
                <a:ea typeface="黑体" pitchFamily="2" charset="-122"/>
              </a:rPr>
              <a:t>表达式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84313"/>
            <a:ext cx="7999413" cy="49688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5000"/>
              </a:lnSpc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表达式：由运算符和运算分量构成的合法算式，描述计算值的规则。</a:t>
            </a:r>
          </a:p>
          <a:p>
            <a:pPr algn="just">
              <a:lnSpc>
                <a:spcPct val="105000"/>
              </a:lnSpc>
              <a:buFont typeface="Monotype Sorts" pitchFamily="2" charset="2"/>
              <a:buNone/>
            </a:pPr>
            <a:r>
              <a:rPr lang="zh-CN" altLang="en-US" sz="3200" b="1" dirty="0">
                <a:latin typeface="宋体" pitchFamily="2" charset="-122"/>
              </a:rPr>
              <a:t>常见表达式：</a:t>
            </a:r>
          </a:p>
          <a:p>
            <a:pPr>
              <a:lnSpc>
                <a:spcPct val="105000"/>
              </a:lnSpc>
              <a:buClr>
                <a:schemeClr val="tx1"/>
              </a:buClr>
              <a:buSzPct val="90000"/>
            </a:pPr>
            <a:r>
              <a:rPr lang="zh-CN" altLang="en-US" sz="3200" b="1" dirty="0">
                <a:latin typeface="宋体" pitchFamily="2" charset="-122"/>
              </a:rPr>
              <a:t>算术表达式</a:t>
            </a:r>
          </a:p>
          <a:p>
            <a:pPr algn="just">
              <a:lnSpc>
                <a:spcPct val="105000"/>
              </a:lnSpc>
              <a:buClr>
                <a:schemeClr val="tx1"/>
              </a:buClr>
              <a:buSzPct val="90000"/>
            </a:pPr>
            <a:r>
              <a:rPr lang="zh-CN" altLang="en-US" sz="3200" b="1" dirty="0">
                <a:latin typeface="宋体" pitchFamily="2" charset="-122"/>
              </a:rPr>
              <a:t>关系表达式</a:t>
            </a:r>
          </a:p>
          <a:p>
            <a:pPr algn="just">
              <a:lnSpc>
                <a:spcPct val="105000"/>
              </a:lnSpc>
              <a:buClr>
                <a:schemeClr val="tx1"/>
              </a:buClr>
              <a:buSzPct val="90000"/>
            </a:pPr>
            <a:r>
              <a:rPr lang="zh-CN" altLang="en-US" sz="3200" b="1" dirty="0">
                <a:latin typeface="宋体" pitchFamily="2" charset="-122"/>
              </a:rPr>
              <a:t>逻辑表达式</a:t>
            </a:r>
          </a:p>
          <a:p>
            <a:pPr algn="just">
              <a:lnSpc>
                <a:spcPct val="105000"/>
              </a:lnSpc>
              <a:buClr>
                <a:schemeClr val="tx1"/>
              </a:buClr>
              <a:buSzPct val="90000"/>
            </a:pPr>
            <a:r>
              <a:rPr lang="zh-CN" altLang="en-US" sz="3200" b="1" dirty="0">
                <a:latin typeface="宋体" pitchFamily="2" charset="-122"/>
              </a:rPr>
              <a:t>赋值表达式</a:t>
            </a:r>
          </a:p>
          <a:p>
            <a:pPr algn="just">
              <a:lnSpc>
                <a:spcPct val="105000"/>
              </a:lnSpc>
              <a:buClr>
                <a:schemeClr val="tx1"/>
              </a:buClr>
              <a:buSzPct val="90000"/>
            </a:pPr>
            <a:r>
              <a:rPr lang="zh-CN" altLang="en-US" sz="3200" b="1" dirty="0">
                <a:latin typeface="宋体" pitchFamily="2" charset="-122"/>
              </a:rPr>
              <a:t>条件表达式</a:t>
            </a:r>
          </a:p>
          <a:p>
            <a:pPr algn="just">
              <a:lnSpc>
                <a:spcPct val="105000"/>
              </a:lnSpc>
              <a:buClr>
                <a:schemeClr val="tx1"/>
              </a:buClr>
              <a:buSzPct val="90000"/>
            </a:pPr>
            <a:r>
              <a:rPr lang="zh-CN" altLang="en-US" sz="3200" b="1" dirty="0">
                <a:latin typeface="宋体" pitchFamily="2" charset="-122"/>
              </a:rPr>
              <a:t>逗号表达式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32485-0EB4-4783-8418-B8B59C976E21}" type="slidenum">
              <a:rPr lang="en-US" altLang="zh-CN"/>
              <a:pPr/>
              <a:t>43</a:t>
            </a:fld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04813"/>
            <a:ext cx="8083550" cy="685800"/>
          </a:xfrm>
        </p:spPr>
        <p:txBody>
          <a:bodyPr>
            <a:normAutofit fontScale="90000"/>
          </a:bodyPr>
          <a:lstStyle/>
          <a:p>
            <a:r>
              <a:rPr lang="zh-CN" altLang="en-US" sz="44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初等表达式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268413"/>
            <a:ext cx="8351838" cy="5108575"/>
          </a:xfrm>
        </p:spPr>
        <p:txBody>
          <a:bodyPr/>
          <a:lstStyle/>
          <a:p>
            <a:pPr marL="0" indent="0">
              <a:buSzPct val="70000"/>
              <a:buFont typeface="Wingdings" pitchFamily="2" charset="2"/>
              <a:buNone/>
            </a:pPr>
            <a:r>
              <a:rPr lang="zh-CN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初等量构成表达式运算的运算分量，有以下几种形式：</a:t>
            </a:r>
          </a:p>
          <a:p>
            <a:pPr marL="0" indent="0">
              <a:buSzPct val="85000"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常量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，如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12,NULL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</a:p>
          <a:p>
            <a:pPr marL="0" indent="0">
              <a:buSzPct val="85000"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变量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，如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x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y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</a:p>
          <a:p>
            <a:pPr marL="0" indent="0">
              <a:buSzPct val="85000"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字符串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，如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"ABCD"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</a:p>
          <a:p>
            <a:pPr marL="0" indent="0">
              <a:buSzPct val="85000"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函数调用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，如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sin(x)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</a:p>
          <a:p>
            <a:pPr marL="0" indent="0">
              <a:buSzPct val="85000"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数组元素变量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，如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a[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i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]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</a:p>
          <a:p>
            <a:pPr marL="0" indent="0">
              <a:buSzPct val="85000"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结构或联合的成分变量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，如 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s.no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</a:p>
          <a:p>
            <a:pPr marL="0" indent="0">
              <a:buSzPct val="85000"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通过指针变量引用结构或联合的成分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，如 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p-&gt;no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</a:p>
          <a:p>
            <a:pPr marL="0" indent="0">
              <a:buSzPct val="85000"/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带圆括号的表达式</a:t>
            </a:r>
            <a:r>
              <a:rPr lang="en-US" altLang="zh-CN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表达式</a:t>
            </a:r>
            <a:r>
              <a:rPr lang="en-US" altLang="zh-CN" b="1" dirty="0">
                <a:solidFill>
                  <a:srgbClr val="CC0000"/>
                </a:solidFill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，如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(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x+y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3BEFA-D0E1-4FA2-93CE-62C180D5F9C8}" type="slidenum">
              <a:rPr lang="en-US" altLang="zh-CN"/>
              <a:pPr/>
              <a:t>44</a:t>
            </a:fld>
            <a:endParaRPr lang="en-US" altLang="zh-C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9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299450" cy="4752975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表达式加上圆括号成为初等表达式，实现用圆括号强制改变运算符的优先级。</a:t>
            </a:r>
          </a:p>
          <a:p>
            <a:pPr marL="0" indent="0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例如：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</a:t>
            </a:r>
            <a:r>
              <a:rPr lang="zh-CN" altLang="en-US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表达式</a:t>
            </a:r>
            <a:r>
              <a:rPr lang="en-US" altLang="zh-CN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(</a:t>
            </a:r>
            <a:r>
              <a:rPr lang="en-US" altLang="zh-CN" b="1" dirty="0" err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x+y</a:t>
            </a:r>
            <a:r>
              <a:rPr lang="en-US" altLang="zh-CN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)*z</a:t>
            </a:r>
          </a:p>
          <a:p>
            <a:pPr marL="0" indent="0">
              <a:lnSpc>
                <a:spcPct val="120000"/>
              </a:lnSpc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   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因</a:t>
            </a:r>
            <a:r>
              <a:rPr lang="en-US" altLang="zh-CN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(</a:t>
            </a:r>
            <a:r>
              <a:rPr lang="en-US" altLang="zh-CN" b="1" dirty="0" err="1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x+y</a:t>
            </a:r>
            <a:r>
              <a:rPr lang="en-US" altLang="zh-CN" b="1" dirty="0">
                <a:solidFill>
                  <a:srgbClr val="CC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是初等表达式，使加法优先于乘法。</a:t>
            </a:r>
          </a:p>
          <a:p>
            <a:pPr marL="0" indent="0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初等量运算符：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()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[]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.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、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-&gt;</a:t>
            </a:r>
            <a:endParaRPr lang="en-US" altLang="zh-CN" b="1" dirty="0">
              <a:solidFill>
                <a:srgbClr val="CC00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0" indent="0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优先级：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最高</a:t>
            </a:r>
          </a:p>
          <a:p>
            <a:pPr marL="0" indent="0">
              <a:lnSpc>
                <a:spcPct val="120000"/>
              </a:lnSpc>
              <a:buFont typeface="Monotype Sort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结合性：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自左向右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B11E3-52C4-44FB-9346-DE81950B70AD}" type="slidenum">
              <a:rPr lang="en-US" altLang="zh-CN"/>
              <a:pPr/>
              <a:t>45</a:t>
            </a:fld>
            <a:endParaRPr lang="en-US" altLang="zh-C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表达式的类型转换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/>
              <a:t>当表达式中出现不同类型数据的混合运算时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会发生类型转换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由于不同数据类型在表示范围和精度上不同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可能会引起数据精度的损失</a:t>
            </a:r>
            <a:endParaRPr lang="en-US" altLang="zh-CN" sz="2800" b="1" dirty="0"/>
          </a:p>
          <a:p>
            <a:pPr>
              <a:buNone/>
            </a:pPr>
            <a:endParaRPr lang="zh-CN" altLang="en-US" sz="2800" b="1" dirty="0"/>
          </a:p>
          <a:p>
            <a:r>
              <a:rPr lang="zh-CN" altLang="en-US" sz="2800" b="1" dirty="0"/>
              <a:t>将取值范围</a:t>
            </a:r>
            <a:r>
              <a:rPr lang="zh-CN" altLang="en-US" sz="2800" b="1" dirty="0">
                <a:solidFill>
                  <a:srgbClr val="FF0000"/>
                </a:solidFill>
              </a:rPr>
              <a:t>小</a:t>
            </a:r>
            <a:r>
              <a:rPr lang="zh-CN" altLang="en-US" sz="2800" b="1" dirty="0"/>
              <a:t>的类型</a:t>
            </a:r>
            <a:r>
              <a:rPr lang="zh-CN" altLang="en-US" sz="2800" b="1" dirty="0">
                <a:solidFill>
                  <a:srgbClr val="FF0000"/>
                </a:solidFill>
              </a:rPr>
              <a:t>转为</a:t>
            </a:r>
            <a:r>
              <a:rPr lang="zh-CN" altLang="en-US" sz="2800" b="1" dirty="0"/>
              <a:t>取值范围</a:t>
            </a:r>
            <a:r>
              <a:rPr lang="zh-CN" altLang="en-US" sz="2800" b="1" dirty="0">
                <a:solidFill>
                  <a:srgbClr val="FF0000"/>
                </a:solidFill>
              </a:rPr>
              <a:t>大</a:t>
            </a:r>
            <a:r>
              <a:rPr lang="zh-CN" altLang="en-US" sz="2800" b="1" dirty="0"/>
              <a:t>的类型不会损失精度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反之不然</a:t>
            </a:r>
          </a:p>
          <a:p>
            <a:pPr lvl="1"/>
            <a:r>
              <a:rPr lang="zh-CN" altLang="en-US" sz="2800" b="1" dirty="0"/>
              <a:t>如浮点数转为整数，会</a:t>
            </a:r>
            <a:r>
              <a:rPr lang="zh-CN" altLang="en-US" sz="2800" b="1" dirty="0">
                <a:highlight>
                  <a:srgbClr val="FFFF00"/>
                </a:highlight>
              </a:rPr>
              <a:t>截除小数部分</a:t>
            </a:r>
            <a:r>
              <a:rPr lang="zh-CN" altLang="en-US" sz="2800" b="1" dirty="0"/>
              <a:t>（</a:t>
            </a:r>
            <a:r>
              <a:rPr lang="zh-CN" altLang="en-US" sz="2800" b="1" dirty="0">
                <a:solidFill>
                  <a:srgbClr val="FF0000"/>
                </a:solidFill>
              </a:rPr>
              <a:t>不按四舍五入</a:t>
            </a:r>
            <a:r>
              <a:rPr lang="zh-CN" altLang="en-US" sz="2800" b="1" dirty="0"/>
              <a:t>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46</a:t>
            </a:fld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1125538"/>
            <a:ext cx="8353425" cy="5181600"/>
          </a:xfrm>
        </p:spPr>
        <p:txBody>
          <a:bodyPr>
            <a:normAutofit fontScale="70000" lnSpcReduction="20000"/>
          </a:bodyPr>
          <a:lstStyle/>
          <a:p>
            <a:pPr marL="1436688" indent="-1436688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Wingdings" pitchFamily="2" charset="2"/>
              </a:rPr>
              <a:t> 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隐式类型转换规则</a:t>
            </a:r>
          </a:p>
          <a:p>
            <a:pPr marL="1436688" indent="-1436688" algn="just">
              <a:lnSpc>
                <a:spcPct val="90000"/>
              </a:lnSpc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</a:t>
            </a:r>
            <a:r>
              <a:rPr lang="zh-CN" altLang="en-US" b="1" dirty="0">
                <a:latin typeface="Times New Roman" pitchFamily="18" charset="0"/>
              </a:rPr>
              <a:t>高                   </a:t>
            </a:r>
            <a:r>
              <a:rPr lang="en-US" altLang="zh-CN" b="1" dirty="0">
                <a:latin typeface="Times New Roman" pitchFamily="18" charset="0"/>
              </a:rPr>
              <a:t>long double</a:t>
            </a:r>
          </a:p>
          <a:p>
            <a:pPr marL="1436688" indent="-1436688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		        </a:t>
            </a:r>
            <a:r>
              <a:rPr lang="en-US" altLang="zh-CN" b="1" dirty="0">
                <a:latin typeface="Times New Roman" pitchFamily="18" charset="0"/>
              </a:rPr>
              <a:t>↑</a:t>
            </a:r>
            <a:endParaRPr lang="en-US" altLang="zh-CN" b="1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marL="1436688" indent="-1436688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                             </a:t>
            </a:r>
            <a:r>
              <a:rPr lang="en-US" altLang="zh-CN" b="1" dirty="0">
                <a:latin typeface="Times New Roman" pitchFamily="18" charset="0"/>
              </a:rPr>
              <a:t>double  </a:t>
            </a:r>
          </a:p>
          <a:p>
            <a:pPr marL="1436688" indent="-1436688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		        ↑</a:t>
            </a:r>
          </a:p>
          <a:p>
            <a:pPr marL="1436688" indent="-1436688"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                               float </a:t>
            </a:r>
          </a:p>
          <a:p>
            <a:pPr marL="1436688" indent="-1436688" algn="just"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                                 ↑</a:t>
            </a:r>
          </a:p>
          <a:p>
            <a:pPr marL="1436688" indent="-1436688" algn="just"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                    unsigned long</a:t>
            </a:r>
          </a:p>
          <a:p>
            <a:pPr marL="1436688" indent="-1436688" algn="just"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		        ↑</a:t>
            </a:r>
          </a:p>
          <a:p>
            <a:pPr marL="1436688" indent="-1436688" algn="just"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		     long</a:t>
            </a:r>
          </a:p>
          <a:p>
            <a:pPr marL="1436688" indent="-1436688" algn="just"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                                ↑</a:t>
            </a:r>
          </a:p>
          <a:p>
            <a:pPr marL="1436688" indent="-1436688" algn="just"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                          unsigned</a:t>
            </a:r>
          </a:p>
          <a:p>
            <a:pPr marL="1436688" indent="-1436688" algn="just"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                                ↑</a:t>
            </a:r>
          </a:p>
          <a:p>
            <a:pPr marL="1436688" indent="-1436688" algn="just"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</a:t>
            </a:r>
            <a:r>
              <a:rPr lang="zh-CN" altLang="en-US" b="1" dirty="0">
                <a:latin typeface="Times New Roman" pitchFamily="18" charset="0"/>
              </a:rPr>
              <a:t>低                            </a:t>
            </a:r>
            <a:r>
              <a:rPr lang="en-US" altLang="zh-CN" b="1" dirty="0" err="1">
                <a:latin typeface="Times New Roman" pitchFamily="18" charset="0"/>
              </a:rPr>
              <a:t>int</a:t>
            </a:r>
            <a:r>
              <a:rPr lang="en-US" altLang="zh-CN" b="1" dirty="0">
                <a:latin typeface="Times New Roman" pitchFamily="18" charset="0"/>
              </a:rPr>
              <a:t>     </a:t>
            </a:r>
            <a:r>
              <a:rPr lang="en-US" altLang="zh-CN" b="1" dirty="0">
                <a:latin typeface="Times New Roman" pitchFamily="18" charset="0"/>
                <a:ea typeface="黑体" pitchFamily="2" charset="-122"/>
              </a:rPr>
              <a:t>←</a:t>
            </a:r>
            <a:r>
              <a:rPr lang="en-US" altLang="zh-CN" b="1" dirty="0">
                <a:latin typeface="Times New Roman" pitchFamily="18" charset="0"/>
              </a:rPr>
              <a:t>  char, short </a:t>
            </a:r>
          </a:p>
          <a:p>
            <a:pPr marL="1436688" indent="-1436688" algn="just"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b="1" dirty="0">
              <a:latin typeface="Times New Roman" pitchFamily="18" charset="0"/>
            </a:endParaRPr>
          </a:p>
          <a:p>
            <a:pPr marL="1436688" indent="-1436688" algn="just"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endParaRPr lang="en-US" altLang="zh-CN" b="1" dirty="0">
              <a:latin typeface="Times New Roman" pitchFamily="18" charset="0"/>
            </a:endParaRPr>
          </a:p>
          <a:p>
            <a:pPr marL="396000" indent="-1436688">
              <a:lnSpc>
                <a:spcPct val="12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zh-CN" altLang="en-US" b="1" dirty="0">
                <a:latin typeface="Times New Roman" pitchFamily="18" charset="0"/>
              </a:rPr>
              <a:t>说明：</a:t>
            </a:r>
            <a:endParaRPr lang="en-US" altLang="zh-CN" b="1" dirty="0">
              <a:latin typeface="Times New Roman" pitchFamily="18" charset="0"/>
            </a:endParaRPr>
          </a:p>
          <a:p>
            <a:pPr marL="396000" indent="-1436688">
              <a:lnSpc>
                <a:spcPct val="12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3100" b="1" dirty="0">
                <a:latin typeface="Times New Roman" pitchFamily="18" charset="0"/>
              </a:rPr>
              <a:t>1. </a:t>
            </a:r>
            <a:r>
              <a:rPr lang="zh-CN" altLang="en-US" sz="3100" b="1" dirty="0">
                <a:latin typeface="Times New Roman" pitchFamily="18" charset="0"/>
              </a:rPr>
              <a:t>横向向左箭头</a:t>
            </a:r>
            <a:r>
              <a:rPr lang="zh-CN" altLang="en-US" sz="3100" b="1" dirty="0">
                <a:latin typeface="Times New Roman" pitchFamily="18" charset="0"/>
                <a:ea typeface="黑体" pitchFamily="2" charset="-122"/>
              </a:rPr>
              <a:t>←，</a:t>
            </a:r>
            <a:r>
              <a:rPr lang="zh-CN" altLang="en-US" sz="3100" b="1" dirty="0">
                <a:latin typeface="Times New Roman" pitchFamily="18" charset="0"/>
              </a:rPr>
              <a:t>表示</a:t>
            </a:r>
            <a:r>
              <a:rPr lang="zh-CN" altLang="en-US" sz="3100" b="1" dirty="0">
                <a:highlight>
                  <a:srgbClr val="FFFF00"/>
                </a:highlight>
                <a:latin typeface="Times New Roman" pitchFamily="18" charset="0"/>
              </a:rPr>
              <a:t>必定的转换</a:t>
            </a:r>
            <a:r>
              <a:rPr lang="zh-CN" altLang="en-US" sz="3100" b="1" dirty="0">
                <a:latin typeface="Times New Roman" pitchFamily="18" charset="0"/>
              </a:rPr>
              <a:t>。如，</a:t>
            </a:r>
            <a:r>
              <a:rPr lang="en-US" altLang="zh-CN" sz="3100" b="1" dirty="0">
                <a:latin typeface="Times New Roman" pitchFamily="18" charset="0"/>
              </a:rPr>
              <a:t>short</a:t>
            </a:r>
            <a:r>
              <a:rPr lang="zh-CN" altLang="en-US" sz="3100" b="1" dirty="0">
                <a:latin typeface="Times New Roman" pitchFamily="18" charset="0"/>
              </a:rPr>
              <a:t>型数据运算前必须先转换为</a:t>
            </a:r>
            <a:r>
              <a:rPr lang="en-US" altLang="zh-CN" sz="3100" b="1" dirty="0" err="1">
                <a:latin typeface="Times New Roman" pitchFamily="18" charset="0"/>
              </a:rPr>
              <a:t>int</a:t>
            </a:r>
            <a:r>
              <a:rPr lang="zh-CN" altLang="en-US" sz="3100" b="1" dirty="0">
                <a:latin typeface="Times New Roman" pitchFamily="18" charset="0"/>
              </a:rPr>
              <a:t>型（即使两个</a:t>
            </a:r>
            <a:r>
              <a:rPr lang="en-US" altLang="zh-CN" sz="3100" b="1" dirty="0">
                <a:latin typeface="Times New Roman" pitchFamily="18" charset="0"/>
              </a:rPr>
              <a:t>short</a:t>
            </a:r>
            <a:r>
              <a:rPr lang="zh-CN" altLang="en-US" sz="3100" b="1" dirty="0">
                <a:latin typeface="Times New Roman" pitchFamily="18" charset="0"/>
              </a:rPr>
              <a:t>数据相加），以</a:t>
            </a:r>
            <a:r>
              <a:rPr lang="zh-CN" altLang="en-US" sz="3100" b="1" dirty="0">
                <a:highlight>
                  <a:srgbClr val="FFFF00"/>
                </a:highlight>
                <a:latin typeface="Times New Roman" pitchFamily="18" charset="0"/>
              </a:rPr>
              <a:t>提高精度</a:t>
            </a:r>
            <a:r>
              <a:rPr lang="zh-CN" altLang="en-US" sz="3100" b="1" dirty="0">
                <a:latin typeface="Times New Roman" pitchFamily="18" charset="0"/>
              </a:rPr>
              <a:t>。</a:t>
            </a:r>
            <a:endParaRPr lang="en-US" altLang="zh-CN" sz="3100" b="1" dirty="0">
              <a:latin typeface="Times New Roman" pitchFamily="18" charset="0"/>
            </a:endParaRPr>
          </a:p>
          <a:p>
            <a:pPr marL="504000" indent="-1436688" algn="just">
              <a:lnSpc>
                <a:spcPct val="12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3100" b="1" dirty="0">
                <a:latin typeface="Times New Roman" pitchFamily="18" charset="0"/>
              </a:rPr>
              <a:t>            </a:t>
            </a:r>
          </a:p>
          <a:p>
            <a:pPr marL="504000" indent="-1436688" algn="just">
              <a:lnSpc>
                <a:spcPct val="120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zh-CN" sz="3100" b="1" dirty="0">
                <a:latin typeface="Times New Roman" pitchFamily="18" charset="0"/>
              </a:rPr>
              <a:t>2.</a:t>
            </a:r>
            <a:r>
              <a:rPr lang="zh-CN" altLang="en-US" sz="3100" b="1" dirty="0">
                <a:latin typeface="Times New Roman" pitchFamily="18" charset="0"/>
              </a:rPr>
              <a:t>纵向的向上箭头↑，表示当运算对象为不同类型时的转换方向。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E115-5FBD-4E94-B7E6-D022818530AC}" type="slidenum">
              <a:rPr lang="en-US" altLang="zh-CN"/>
              <a:pPr/>
              <a:t>47</a:t>
            </a:fld>
            <a:endParaRPr lang="en-US" altLang="zh-CN"/>
          </a:p>
        </p:txBody>
      </p:sp>
      <p:sp>
        <p:nvSpPr>
          <p:cNvPr id="533507" name="Line 3"/>
          <p:cNvSpPr>
            <a:spLocks noChangeShapeType="1"/>
          </p:cNvSpPr>
          <p:nvPr/>
        </p:nvSpPr>
        <p:spPr bwMode="auto">
          <a:xfrm flipH="1" flipV="1">
            <a:off x="1907704" y="1484783"/>
            <a:ext cx="471" cy="266494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33508" name="Text Box 4"/>
          <p:cNvSpPr txBox="1">
            <a:spLocks noChangeArrowheads="1"/>
          </p:cNvSpPr>
          <p:nvPr/>
        </p:nvSpPr>
        <p:spPr bwMode="auto">
          <a:xfrm>
            <a:off x="808038" y="247650"/>
            <a:ext cx="3854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表达式的类型转换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86800" cy="838200"/>
          </a:xfrm>
        </p:spPr>
        <p:txBody>
          <a:bodyPr/>
          <a:lstStyle/>
          <a:p>
            <a:r>
              <a:rPr lang="zh-CN" altLang="en-US" sz="3600" b="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强制类型转换</a:t>
            </a:r>
          </a:p>
        </p:txBody>
      </p:sp>
      <p:sp>
        <p:nvSpPr>
          <p:cNvPr id="53453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25538"/>
            <a:ext cx="8497888" cy="5183187"/>
          </a:xfrm>
        </p:spPr>
        <p:txBody>
          <a:bodyPr/>
          <a:lstStyle/>
          <a:p>
            <a:pPr marL="1074738" indent="-1074738" algn="just"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      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将一种类型的表达式值强制转换成另一种类型。</a:t>
            </a:r>
            <a:endParaRPr lang="zh-CN" altLang="en-US" b="1" dirty="0">
              <a:latin typeface="Times New Roman" pitchFamily="18" charset="0"/>
            </a:endParaRPr>
          </a:p>
          <a:p>
            <a:pPr marL="1074738" indent="-1074738" algn="just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一般格式：</a:t>
            </a:r>
            <a:r>
              <a:rPr lang="zh-CN" altLang="en-US" dirty="0">
                <a:latin typeface="宋体" pitchFamily="2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（类型名）表达式</a:t>
            </a:r>
          </a:p>
          <a:p>
            <a:pPr marL="1074738" indent="-1074738" algn="just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例：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float 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x,y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= 5.2 ,z = 3.5;</a:t>
            </a:r>
          </a:p>
          <a:p>
            <a:pPr marL="1074738" indent="-1074738" algn="just"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k;</a:t>
            </a:r>
          </a:p>
          <a:p>
            <a:pPr marL="1074738" indent="-1074738" algn="just"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x = (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)(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y+z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);</a:t>
            </a:r>
          </a:p>
          <a:p>
            <a:pPr marL="1074738" indent="-1074738" algn="just">
              <a:buFont typeface="Monotype Sorts" pitchFamily="2" charset="2"/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   k = (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)y % (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int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)z; /* k = </a:t>
            </a:r>
            <a:r>
              <a:rPr lang="en-US" altLang="zh-CN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y%z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为错误*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/</a:t>
            </a:r>
          </a:p>
          <a:p>
            <a:pPr marL="1074738" indent="-1074738" algn="just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结果：</a:t>
            </a:r>
            <a:r>
              <a:rPr lang="en-US" altLang="zh-CN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x = 8.0 , k = 2    </a:t>
            </a:r>
          </a:p>
          <a:p>
            <a:pPr marL="1074738" indent="-1074738" algn="just">
              <a:buFont typeface="Monotype Sorts" pitchFamily="2" charset="2"/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说明：类型转换不只改变表达式值的类型，也可能会因两种表示形式上的差异，值的大小会有一些误差。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F7050-F59D-402F-8AF7-140AEC295FB8}" type="slidenum">
              <a:rPr lang="en-US" altLang="zh-CN"/>
              <a:pPr/>
              <a:t>48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520112" cy="685800"/>
          </a:xfrm>
        </p:spPr>
        <p:txBody>
          <a:bodyPr/>
          <a:lstStyle/>
          <a:p>
            <a:r>
              <a:rPr lang="en-US" altLang="zh-CN" sz="28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2.6】</a:t>
            </a:r>
            <a:r>
              <a:rPr lang="zh-CN" altLang="en-US" sz="28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表达式求值例子</a:t>
            </a:r>
            <a:r>
              <a:rPr lang="en-US" altLang="zh-CN" sz="2800" dirty="0">
                <a:solidFill>
                  <a:schemeClr val="tx1"/>
                </a:solidFill>
                <a:latin typeface="黑体" pitchFamily="2" charset="-122"/>
                <a:ea typeface="黑体" pitchFamily="2" charset="-122"/>
              </a:rPr>
              <a:t>1</a:t>
            </a:r>
            <a:endParaRPr lang="zh-CN" altLang="en-US" b="0" dirty="0">
              <a:solidFill>
                <a:schemeClr val="tx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9731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610600" cy="5538788"/>
          </a:xfrm>
        </p:spPr>
        <p:txBody>
          <a:bodyPr>
            <a:noAutofit/>
          </a:bodyPr>
          <a:lstStyle/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#include  &lt;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stdio.h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&gt;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void main()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{ 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int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= 1, j = 2, k = 3;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+= j += k;  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		/*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= 6, j = 5, k = 3 */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("(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&lt;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j?i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++:j++)=%d\n",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&lt; j ?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++ : j++);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		/*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= 6, j = 6 */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endParaRPr lang="en-US" altLang="zh-CN" sz="2400" b="1" dirty="0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("(k+=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&gt;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j?i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++:j++)=%d\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n",k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+=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&gt;j ?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++: j++);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	 /*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= 6, j = 7, </a:t>
            </a:r>
            <a:r>
              <a:rPr lang="en-US" altLang="zh-CN" sz="2400" b="1" dirty="0"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k = 9 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*/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		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B0FFB-A612-4937-9A0B-30D507573CB5}" type="slidenum">
              <a:rPr lang="en-US" altLang="zh-CN"/>
              <a:pPr/>
              <a:t>49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7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7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7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7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7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7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7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7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7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39593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= 3; j = k = 4;  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("(k&gt;=j&gt;=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)=%d", </a:t>
            </a:r>
            <a:r>
              <a:rPr lang="en-US" altLang="zh-CN" sz="2400" b="1" dirty="0"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k &gt;= j &gt;= </a:t>
            </a:r>
            <a:r>
              <a:rPr lang="en-US" altLang="zh-CN" sz="2400" b="1" dirty="0" err="1"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); 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/* </a:t>
            </a:r>
            <a:r>
              <a:rPr lang="zh-CN" altLang="en-US" sz="2400" b="1" dirty="0"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左结合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；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k&gt;=j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结果为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，而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1&lt;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*/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printf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("</a:t>
            </a:r>
            <a:r>
              <a:rPr lang="en-US" altLang="zh-CN" sz="2400" b="1" dirty="0">
                <a:highlight>
                  <a:srgbClr val="FFFF00"/>
                </a:highlight>
                <a:latin typeface="黑体" pitchFamily="2" charset="-122"/>
                <a:ea typeface="黑体" pitchFamily="2" charset="-122"/>
              </a:rPr>
              <a:t>\t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(k&gt;=j&amp;&amp;j&gt;=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)=%d\n", k &gt;= j &amp;&amp; j &gt;=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); 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/* 1 &amp;&amp; 1 */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endParaRPr lang="en-US" altLang="zh-CN" sz="2400" b="1" dirty="0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= j = 2;   k =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++ - 1;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/*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=3 ,j=2, k=1 */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endParaRPr lang="en-US" altLang="zh-CN" sz="2400" b="1" dirty="0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k += -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++ + ++j;   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/* k=1+(-3+(2+1)) */ 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/*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=4, j=3, k=1 */</a:t>
            </a: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endParaRPr lang="en-US" altLang="zh-CN" sz="2400" b="1" dirty="0">
              <a:latin typeface="黑体" pitchFamily="2" charset="-122"/>
              <a:ea typeface="黑体" pitchFamily="2" charset="-122"/>
            </a:endParaRPr>
          </a:p>
          <a:p>
            <a:pPr algn="just">
              <a:lnSpc>
                <a:spcPct val="8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}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50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FB62A7-1575-4280-8484-81F866C0202D}"/>
              </a:ext>
            </a:extLst>
          </p:cNvPr>
          <p:cNvSpPr txBox="1"/>
          <p:nvPr/>
        </p:nvSpPr>
        <p:spPr>
          <a:xfrm>
            <a:off x="6238528" y="928670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！与传统判断不同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0"/>
            <a:ext cx="8610600" cy="685800"/>
          </a:xfrm>
        </p:spPr>
        <p:txBody>
          <a:bodyPr/>
          <a:lstStyle/>
          <a:p>
            <a:r>
              <a:rPr lang="en-US" altLang="zh-CN" sz="2800" dirty="0">
                <a:latin typeface="Times New Roman" pitchFamily="18" charset="0"/>
              </a:rPr>
              <a:t>【</a:t>
            </a:r>
            <a:r>
              <a:rPr lang="zh-CN" altLang="en-US" sz="2800" dirty="0">
                <a:latin typeface="Times New Roman" pitchFamily="18" charset="0"/>
              </a:rPr>
              <a:t>例</a:t>
            </a:r>
            <a:r>
              <a:rPr lang="en-US" altLang="zh-CN" sz="2800" dirty="0">
                <a:latin typeface="Times New Roman" pitchFamily="18" charset="0"/>
              </a:rPr>
              <a:t>2.7】</a:t>
            </a:r>
            <a:r>
              <a:rPr lang="zh-CN" altLang="en-US" sz="2800" dirty="0">
                <a:latin typeface="Times New Roman" pitchFamily="18" charset="0"/>
              </a:rPr>
              <a:t>表达式求值例子</a:t>
            </a:r>
            <a:r>
              <a:rPr lang="en-US" altLang="zh-CN" sz="2800" dirty="0">
                <a:latin typeface="Times New Roman" pitchFamily="18" charset="0"/>
              </a:rPr>
              <a:t>2</a:t>
            </a:r>
            <a:endParaRPr lang="zh-CN" altLang="en-US" sz="2800" dirty="0">
              <a:solidFill>
                <a:srgbClr val="0000FF"/>
              </a:solidFill>
              <a:effectLst/>
              <a:latin typeface="Times New Roman" pitchFamily="18" charset="0"/>
            </a:endParaRPr>
          </a:p>
        </p:txBody>
      </p:sp>
      <p:sp>
        <p:nvSpPr>
          <p:cNvPr id="400387" name="Rectangle 3"/>
          <p:cNvSpPr>
            <a:spLocks noGrp="1" noChangeArrowheads="1"/>
          </p:cNvSpPr>
          <p:nvPr>
            <p:ph idx="1"/>
          </p:nvPr>
        </p:nvSpPr>
        <p:spPr>
          <a:xfrm>
            <a:off x="0" y="642919"/>
            <a:ext cx="8861425" cy="6215082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#include  &lt;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stdio.h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&gt; 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void main()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{  </a:t>
            </a:r>
            <a:r>
              <a:rPr lang="en-US" altLang="zh-CN" sz="2400" b="1" dirty="0" err="1">
                <a:latin typeface="黑体" pitchFamily="2" charset="-122"/>
                <a:ea typeface="黑体" pitchFamily="2" charset="-122"/>
              </a:rPr>
              <a:t>int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a, b, c;    a = b = c = 1;  ++a || ++b &amp;&amp; ++c;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		/*a=2,b=1,c=1 */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 a = b = c = 1;    ++a &amp;&amp; ++b || ++c;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		/* a=2,b=2,c=1 */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 a = b = c = 1;   ++a &amp;&amp; ++b &amp;&amp; ++c;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		/* a=2,b=2,c=2 */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 a = b = c = 1;    --a &amp;&amp; --b || --c;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		/* a=0,b=1,c=0 */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 a = b = c = 1;    --a || --b &amp;&amp; --c;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		/* a=0,b=0,c=1 */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  a = b = c = 1;    --a &amp;&amp; --b &amp;&amp; --c;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		/* a=0,b=1,c=1 */</a:t>
            </a:r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}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01BD5-FF7F-4970-AF6E-CF0C64D3D520}" type="slidenum">
              <a:rPr lang="en-US" altLang="zh-CN"/>
              <a:pPr/>
              <a:t>51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0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0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0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0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0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0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0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0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0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0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0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0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0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0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00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00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9994F-E42E-4050-BFF1-5D4CE4CC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36525"/>
            <a:ext cx="8229600" cy="1143000"/>
          </a:xfrm>
        </p:spPr>
        <p:txBody>
          <a:bodyPr/>
          <a:lstStyle/>
          <a:p>
            <a:r>
              <a:rPr lang="zh-CN" altLang="en-US" dirty="0"/>
              <a:t>习题精讲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77029-4F48-47E2-8D91-74FAD20F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8048"/>
            <a:ext cx="8640960" cy="4930864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dirty="0"/>
              <a:t>1. </a:t>
            </a:r>
            <a:r>
              <a:rPr lang="zh-CN" altLang="zh-CN" sz="2400" dirty="0"/>
              <a:t>设</a:t>
            </a:r>
            <a:r>
              <a:rPr lang="en-US" altLang="zh-CN" sz="2400" dirty="0"/>
              <a:t>int a=7</a:t>
            </a:r>
            <a:r>
              <a:rPr lang="zh-CN" altLang="zh-CN" sz="2400" dirty="0"/>
              <a:t>。在下列语句中，指出能够使</a:t>
            </a:r>
            <a:r>
              <a:rPr lang="en-US" altLang="zh-CN" sz="2400" dirty="0"/>
              <a:t>int b</a:t>
            </a:r>
            <a:r>
              <a:rPr lang="zh-CN" altLang="zh-CN" sz="2400" dirty="0"/>
              <a:t>的值不为</a:t>
            </a:r>
            <a:r>
              <a:rPr lang="en-US" altLang="zh-CN" sz="2400" dirty="0"/>
              <a:t>3</a:t>
            </a:r>
            <a:r>
              <a:rPr lang="zh-CN" altLang="zh-CN" sz="2400" dirty="0"/>
              <a:t>的语句是</a:t>
            </a:r>
            <a:r>
              <a:rPr lang="en-US" altLang="zh-CN" sz="2400" dirty="0"/>
              <a:t>_________</a:t>
            </a:r>
            <a:r>
              <a:rPr lang="zh-CN" altLang="zh-CN" sz="2400" dirty="0"/>
              <a:t>。</a:t>
            </a:r>
          </a:p>
          <a:p>
            <a:pPr marL="0" indent="0">
              <a:buNone/>
            </a:pPr>
            <a:r>
              <a:rPr lang="en-US" altLang="zh-CN" sz="2400" dirty="0"/>
              <a:t>A) b = a/2;                     B) b= 9-(--a);</a:t>
            </a:r>
            <a:endParaRPr lang="zh-CN" altLang="zh-CN" sz="2400" dirty="0"/>
          </a:p>
          <a:p>
            <a:pPr marL="0" indent="0">
              <a:buNone/>
            </a:pPr>
            <a:r>
              <a:rPr lang="en-US" altLang="zh-CN" sz="2400" dirty="0"/>
              <a:t>C) b= a%2;                    D) b= a&lt;3? 2:3;</a:t>
            </a:r>
          </a:p>
          <a:p>
            <a:pPr marL="0" indent="0">
              <a:buNone/>
            </a:pPr>
            <a:r>
              <a:rPr lang="en-US" altLang="zh-CN" sz="2400" dirty="0"/>
              <a:t>2. </a:t>
            </a:r>
            <a:r>
              <a:rPr lang="zh-CN" altLang="en-US" sz="2400" dirty="0"/>
              <a:t>设</a:t>
            </a:r>
            <a:r>
              <a:rPr lang="en-US" altLang="zh-CN" sz="2400" dirty="0"/>
              <a:t>x, y, z, t</a:t>
            </a:r>
            <a:r>
              <a:rPr lang="zh-CN" altLang="en-US" sz="2400" dirty="0"/>
              <a:t>均为</a:t>
            </a:r>
            <a:r>
              <a:rPr lang="en-US" altLang="zh-CN" sz="2400" dirty="0"/>
              <a:t>int</a:t>
            </a:r>
            <a:r>
              <a:rPr lang="zh-CN" altLang="en-US" sz="2400" dirty="0"/>
              <a:t>型变量，则执行下列语句由，</a:t>
            </a:r>
            <a:r>
              <a:rPr lang="en-US" altLang="zh-CN" sz="2400" dirty="0"/>
              <a:t>t </a:t>
            </a:r>
            <a:r>
              <a:rPr lang="zh-CN" altLang="en-US" sz="2400" dirty="0"/>
              <a:t>的值为</a:t>
            </a:r>
            <a:r>
              <a:rPr lang="en-US" altLang="zh-CN" sz="2400" dirty="0"/>
              <a:t>____</a:t>
            </a:r>
          </a:p>
          <a:p>
            <a:pPr marL="0" indent="0">
              <a:buNone/>
            </a:pPr>
            <a:r>
              <a:rPr lang="en-US" altLang="zh-CN" sz="2400" dirty="0"/>
              <a:t>    x=y=z=1;</a:t>
            </a:r>
          </a:p>
          <a:p>
            <a:pPr marL="0" indent="0">
              <a:buNone/>
            </a:pPr>
            <a:r>
              <a:rPr lang="en-US" altLang="zh-CN" sz="2400" dirty="0"/>
              <a:t>   t=++x||++y&amp;&amp;++z;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设</a:t>
            </a:r>
            <a:r>
              <a:rPr lang="en-US" altLang="zh-CN" sz="2400" dirty="0"/>
              <a:t>a=3, b=4, </a:t>
            </a:r>
            <a:r>
              <a:rPr lang="zh-CN" altLang="en-US" sz="2400" dirty="0"/>
              <a:t>执行</a:t>
            </a:r>
            <a:r>
              <a:rPr lang="en-US" altLang="zh-CN" sz="2400" dirty="0" err="1"/>
              <a:t>prinf</a:t>
            </a:r>
            <a:r>
              <a:rPr lang="en-US" altLang="zh-CN" sz="2400" dirty="0"/>
              <a:t>(“%</a:t>
            </a:r>
            <a:r>
              <a:rPr lang="en-US" altLang="zh-CN" sz="2400" dirty="0" err="1"/>
              <a:t>d,%d</a:t>
            </a:r>
            <a:r>
              <a:rPr lang="en-US" altLang="zh-CN" sz="2400" dirty="0"/>
              <a:t>”, (a, b), (b, a))</a:t>
            </a:r>
            <a:r>
              <a:rPr lang="zh-CN" altLang="en-US" sz="2400" dirty="0"/>
              <a:t>的输出</a:t>
            </a:r>
            <a:r>
              <a:rPr lang="en-US" altLang="zh-CN" sz="2400" dirty="0"/>
              <a:t>_______</a:t>
            </a:r>
          </a:p>
          <a:p>
            <a:pPr marL="0" indent="0">
              <a:buNone/>
            </a:pPr>
            <a:endParaRPr lang="zh-CN" altLang="zh-CN" sz="2400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0F6477-B102-4811-9130-71807E17D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396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CB0B88-136E-4662-971E-BF380C59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7F99-712D-4C13-83EA-F271460F102E}" type="slidenum">
              <a:rPr lang="en-US" altLang="zh-CN" smtClean="0"/>
              <a:pPr/>
              <a:t>53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D101F3-FFC7-4797-A1B2-380A2AAF3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1545"/>
            <a:ext cx="6552728" cy="679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52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13424</TotalTime>
  <Words>6037</Words>
  <Application>Microsoft Office PowerPoint</Application>
  <PresentationFormat>全屏显示(4:3)</PresentationFormat>
  <Paragraphs>570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68" baseType="lpstr">
      <vt:lpstr>Monotype Sorts</vt:lpstr>
      <vt:lpstr>黑体</vt:lpstr>
      <vt:lpstr>华文行楷</vt:lpstr>
      <vt:lpstr>楷体_GB2312</vt:lpstr>
      <vt:lpstr>隶书</vt:lpstr>
      <vt:lpstr>宋体</vt:lpstr>
      <vt:lpstr>Arial</vt:lpstr>
      <vt:lpstr>Calibri</vt:lpstr>
      <vt:lpstr>Constantia</vt:lpstr>
      <vt:lpstr>Courier New</vt:lpstr>
      <vt:lpstr>Times New Roman</vt:lpstr>
      <vt:lpstr>Wingdings</vt:lpstr>
      <vt:lpstr>Wingdings 2</vt:lpstr>
      <vt:lpstr>Flow</vt:lpstr>
      <vt:lpstr>Default Theme</vt:lpstr>
      <vt:lpstr>第2章 基本数据类型及其运算(II） </vt:lpstr>
      <vt:lpstr>再谈浮点型</vt:lpstr>
      <vt:lpstr>输出实例</vt:lpstr>
      <vt:lpstr>2.3  数据运算</vt:lpstr>
      <vt:lpstr>赋值运算</vt:lpstr>
      <vt:lpstr>赋值运算</vt:lpstr>
      <vt:lpstr>赋值运算</vt:lpstr>
      <vt:lpstr>赋值运算</vt:lpstr>
      <vt:lpstr>算术运算</vt:lpstr>
      <vt:lpstr>算术运算</vt:lpstr>
      <vt:lpstr>算术运算</vt:lpstr>
      <vt:lpstr>C 程序中常用的数学函数</vt:lpstr>
      <vt:lpstr>自增运算符：前缀   ++</vt:lpstr>
      <vt:lpstr>自增运算符：后缀   ++</vt:lpstr>
      <vt:lpstr>自减运算符：前缀   --</vt:lpstr>
      <vt:lpstr>PowerPoint 演示文稿</vt:lpstr>
      <vt:lpstr>自增/自减运算符注意事项：</vt:lpstr>
      <vt:lpstr>PowerPoint 演示文稿</vt:lpstr>
      <vt:lpstr>关系运算</vt:lpstr>
      <vt:lpstr>逻辑运算</vt:lpstr>
      <vt:lpstr>PowerPoint 演示文稿</vt:lpstr>
      <vt:lpstr>PowerPoint 演示文稿</vt:lpstr>
      <vt:lpstr>关系运算优先级示例:</vt:lpstr>
      <vt:lpstr>PowerPoint 演示文稿</vt:lpstr>
      <vt:lpstr>说明</vt:lpstr>
      <vt:lpstr>PowerPoint 演示文稿</vt:lpstr>
      <vt:lpstr>示例</vt:lpstr>
      <vt:lpstr>条件运算(三目运算)</vt:lpstr>
      <vt:lpstr>条件运算的结合性</vt:lpstr>
      <vt:lpstr>逗号运算</vt:lpstr>
      <vt:lpstr>sizeof 运算--- &gt;关键字</vt:lpstr>
      <vt:lpstr>位运算</vt:lpstr>
      <vt:lpstr>(1)位与运算符(&amp;)</vt:lpstr>
      <vt:lpstr>(2)位或运算符(|)</vt:lpstr>
      <vt:lpstr>(3)位异或运算符(^)</vt:lpstr>
      <vt:lpstr>位异或运算符(^)的意义</vt:lpstr>
      <vt:lpstr>PowerPoint 演示文稿</vt:lpstr>
      <vt:lpstr>(4)位取反运算符(~)</vt:lpstr>
      <vt:lpstr>移位运算</vt:lpstr>
      <vt:lpstr>PowerPoint 演示文稿</vt:lpstr>
      <vt:lpstr>PowerPoint 演示文稿</vt:lpstr>
      <vt:lpstr>PowerPoint 演示文稿</vt:lpstr>
      <vt:lpstr>2.4 表达式</vt:lpstr>
      <vt:lpstr>初等表达式</vt:lpstr>
      <vt:lpstr>PowerPoint 演示文稿</vt:lpstr>
      <vt:lpstr>表达式的类型转换</vt:lpstr>
      <vt:lpstr>PowerPoint 演示文稿</vt:lpstr>
      <vt:lpstr>强制类型转换</vt:lpstr>
      <vt:lpstr>【例2.6】表达式求值例子1</vt:lpstr>
      <vt:lpstr>PowerPoint 演示文稿</vt:lpstr>
      <vt:lpstr>【例2.7】表达式求值例子2</vt:lpstr>
      <vt:lpstr>习题精讲</vt:lpstr>
      <vt:lpstr>PowerPoint 演示文稿</vt:lpstr>
    </vt:vector>
  </TitlesOfParts>
  <Manager/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基本数据及其运算和输入输出</dc:title>
  <dc:subject>程序设计</dc:subject>
  <dc:creator>xkl&amp;zzz</dc:creator>
  <cp:lastModifiedBy>王轶彤</cp:lastModifiedBy>
  <cp:revision>405</cp:revision>
  <dcterms:created xsi:type="dcterms:W3CDTF">1998-12-07T01:46:44Z</dcterms:created>
  <dcterms:modified xsi:type="dcterms:W3CDTF">2025-09-18T04:42:20Z</dcterms:modified>
</cp:coreProperties>
</file>