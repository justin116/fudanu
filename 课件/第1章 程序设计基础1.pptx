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wav" ContentType="audio/x-wav"/>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7" r:id="rId1"/>
  </p:sldMasterIdLst>
  <p:notesMasterIdLst>
    <p:notesMasterId r:id="rId96"/>
  </p:notesMasterIdLst>
  <p:sldIdLst>
    <p:sldId id="473" r:id="rId2"/>
    <p:sldId id="339" r:id="rId3"/>
    <p:sldId id="446" r:id="rId4"/>
    <p:sldId id="476" r:id="rId5"/>
    <p:sldId id="449" r:id="rId6"/>
    <p:sldId id="524" r:id="rId7"/>
    <p:sldId id="543" r:id="rId8"/>
    <p:sldId id="484" r:id="rId9"/>
    <p:sldId id="485" r:id="rId10"/>
    <p:sldId id="486" r:id="rId11"/>
    <p:sldId id="448" r:id="rId12"/>
    <p:sldId id="363" r:id="rId13"/>
    <p:sldId id="475" r:id="rId14"/>
    <p:sldId id="304" r:id="rId15"/>
    <p:sldId id="450" r:id="rId16"/>
    <p:sldId id="451" r:id="rId17"/>
    <p:sldId id="470" r:id="rId18"/>
    <p:sldId id="526" r:id="rId19"/>
    <p:sldId id="454" r:id="rId20"/>
    <p:sldId id="471" r:id="rId21"/>
    <p:sldId id="457" r:id="rId22"/>
    <p:sldId id="527" r:id="rId23"/>
    <p:sldId id="458" r:id="rId24"/>
    <p:sldId id="455" r:id="rId25"/>
    <p:sldId id="481" r:id="rId26"/>
    <p:sldId id="412" r:id="rId27"/>
    <p:sldId id="365" r:id="rId28"/>
    <p:sldId id="366" r:id="rId29"/>
    <p:sldId id="460" r:id="rId30"/>
    <p:sldId id="367" r:id="rId31"/>
    <p:sldId id="461" r:id="rId32"/>
    <p:sldId id="312" r:id="rId33"/>
    <p:sldId id="371" r:id="rId34"/>
    <p:sldId id="528" r:id="rId35"/>
    <p:sldId id="529" r:id="rId36"/>
    <p:sldId id="512" r:id="rId37"/>
    <p:sldId id="305" r:id="rId38"/>
    <p:sldId id="306" r:id="rId39"/>
    <p:sldId id="307" r:id="rId40"/>
    <p:sldId id="308" r:id="rId41"/>
    <p:sldId id="309" r:id="rId42"/>
    <p:sldId id="372" r:id="rId43"/>
    <p:sldId id="464" r:id="rId44"/>
    <p:sldId id="373" r:id="rId45"/>
    <p:sldId id="541" r:id="rId46"/>
    <p:sldId id="378" r:id="rId47"/>
    <p:sldId id="537" r:id="rId48"/>
    <p:sldId id="538" r:id="rId49"/>
    <p:sldId id="540" r:id="rId50"/>
    <p:sldId id="374" r:id="rId51"/>
    <p:sldId id="375" r:id="rId52"/>
    <p:sldId id="530" r:id="rId53"/>
    <p:sldId id="531" r:id="rId54"/>
    <p:sldId id="532" r:id="rId55"/>
    <p:sldId id="533" r:id="rId56"/>
    <p:sldId id="534" r:id="rId57"/>
    <p:sldId id="416" r:id="rId58"/>
    <p:sldId id="466" r:id="rId59"/>
    <p:sldId id="381" r:id="rId60"/>
    <p:sldId id="414" r:id="rId61"/>
    <p:sldId id="379" r:id="rId62"/>
    <p:sldId id="415" r:id="rId63"/>
    <p:sldId id="380" r:id="rId64"/>
    <p:sldId id="382" r:id="rId65"/>
    <p:sldId id="383" r:id="rId66"/>
    <p:sldId id="384" r:id="rId67"/>
    <p:sldId id="385" r:id="rId68"/>
    <p:sldId id="292" r:id="rId69"/>
    <p:sldId id="280" r:id="rId70"/>
    <p:sldId id="281" r:id="rId71"/>
    <p:sldId id="291" r:id="rId72"/>
    <p:sldId id="418" r:id="rId73"/>
    <p:sldId id="443" r:id="rId74"/>
    <p:sldId id="310" r:id="rId75"/>
    <p:sldId id="442" r:id="rId76"/>
    <p:sldId id="419" r:id="rId77"/>
    <p:sldId id="420" r:id="rId78"/>
    <p:sldId id="421" r:id="rId79"/>
    <p:sldId id="521" r:id="rId80"/>
    <p:sldId id="522" r:id="rId81"/>
    <p:sldId id="523" r:id="rId82"/>
    <p:sldId id="513" r:id="rId83"/>
    <p:sldId id="514" r:id="rId84"/>
    <p:sldId id="542" r:id="rId85"/>
    <p:sldId id="517" r:id="rId86"/>
    <p:sldId id="519" r:id="rId87"/>
    <p:sldId id="520" r:id="rId88"/>
    <p:sldId id="422" r:id="rId89"/>
    <p:sldId id="423" r:id="rId90"/>
    <p:sldId id="424" r:id="rId91"/>
    <p:sldId id="425" r:id="rId92"/>
    <p:sldId id="430" r:id="rId93"/>
    <p:sldId id="439" r:id="rId94"/>
    <p:sldId id="440" r:id="rId95"/>
  </p:sldIdLst>
  <p:sldSz cx="9144000" cy="6858000" type="screen4x3"/>
  <p:notesSz cx="6858000" cy="9144000"/>
  <p:defaultTextStyle>
    <a:defPPr>
      <a:defRPr lang="en-US"/>
    </a:defPPr>
    <a:lvl1pPr algn="l" rtl="0" eaLnBrk="0" fontAlgn="base" hangingPunct="0">
      <a:spcBef>
        <a:spcPct val="0"/>
      </a:spcBef>
      <a:spcAft>
        <a:spcPct val="0"/>
      </a:spcAft>
      <a:defRPr sz="3200" kern="1200">
        <a:solidFill>
          <a:schemeClr val="tx1"/>
        </a:solidFill>
        <a:latin typeface="Times New Roman" pitchFamily="18" charset="0"/>
        <a:ea typeface="隶书" pitchFamily="49" charset="-122"/>
        <a:cs typeface="+mn-cs"/>
      </a:defRPr>
    </a:lvl1pPr>
    <a:lvl2pPr marL="457200" algn="l" rtl="0" eaLnBrk="0" fontAlgn="base" hangingPunct="0">
      <a:spcBef>
        <a:spcPct val="0"/>
      </a:spcBef>
      <a:spcAft>
        <a:spcPct val="0"/>
      </a:spcAft>
      <a:defRPr sz="3200" kern="1200">
        <a:solidFill>
          <a:schemeClr val="tx1"/>
        </a:solidFill>
        <a:latin typeface="Times New Roman" pitchFamily="18" charset="0"/>
        <a:ea typeface="隶书" pitchFamily="49" charset="-122"/>
        <a:cs typeface="+mn-cs"/>
      </a:defRPr>
    </a:lvl2pPr>
    <a:lvl3pPr marL="914400" algn="l" rtl="0" eaLnBrk="0" fontAlgn="base" hangingPunct="0">
      <a:spcBef>
        <a:spcPct val="0"/>
      </a:spcBef>
      <a:spcAft>
        <a:spcPct val="0"/>
      </a:spcAft>
      <a:defRPr sz="3200" kern="1200">
        <a:solidFill>
          <a:schemeClr val="tx1"/>
        </a:solidFill>
        <a:latin typeface="Times New Roman" pitchFamily="18" charset="0"/>
        <a:ea typeface="隶书" pitchFamily="49" charset="-122"/>
        <a:cs typeface="+mn-cs"/>
      </a:defRPr>
    </a:lvl3pPr>
    <a:lvl4pPr marL="1371600" algn="l" rtl="0" eaLnBrk="0" fontAlgn="base" hangingPunct="0">
      <a:spcBef>
        <a:spcPct val="0"/>
      </a:spcBef>
      <a:spcAft>
        <a:spcPct val="0"/>
      </a:spcAft>
      <a:defRPr sz="3200" kern="1200">
        <a:solidFill>
          <a:schemeClr val="tx1"/>
        </a:solidFill>
        <a:latin typeface="Times New Roman" pitchFamily="18" charset="0"/>
        <a:ea typeface="隶书" pitchFamily="49" charset="-122"/>
        <a:cs typeface="+mn-cs"/>
      </a:defRPr>
    </a:lvl4pPr>
    <a:lvl5pPr marL="1828800" algn="l" rtl="0" eaLnBrk="0" fontAlgn="base" hangingPunct="0">
      <a:spcBef>
        <a:spcPct val="0"/>
      </a:spcBef>
      <a:spcAft>
        <a:spcPct val="0"/>
      </a:spcAft>
      <a:defRPr sz="3200" kern="1200">
        <a:solidFill>
          <a:schemeClr val="tx1"/>
        </a:solidFill>
        <a:latin typeface="Times New Roman" pitchFamily="18" charset="0"/>
        <a:ea typeface="隶书" pitchFamily="49" charset="-122"/>
        <a:cs typeface="+mn-cs"/>
      </a:defRPr>
    </a:lvl5pPr>
    <a:lvl6pPr marL="2286000" algn="l" defTabSz="914400" rtl="0" eaLnBrk="1" latinLnBrk="0" hangingPunct="1">
      <a:defRPr sz="3200" kern="1200">
        <a:solidFill>
          <a:schemeClr val="tx1"/>
        </a:solidFill>
        <a:latin typeface="Times New Roman" pitchFamily="18" charset="0"/>
        <a:ea typeface="隶书" pitchFamily="49" charset="-122"/>
        <a:cs typeface="+mn-cs"/>
      </a:defRPr>
    </a:lvl6pPr>
    <a:lvl7pPr marL="2743200" algn="l" defTabSz="914400" rtl="0" eaLnBrk="1" latinLnBrk="0" hangingPunct="1">
      <a:defRPr sz="3200" kern="1200">
        <a:solidFill>
          <a:schemeClr val="tx1"/>
        </a:solidFill>
        <a:latin typeface="Times New Roman" pitchFamily="18" charset="0"/>
        <a:ea typeface="隶书" pitchFamily="49" charset="-122"/>
        <a:cs typeface="+mn-cs"/>
      </a:defRPr>
    </a:lvl7pPr>
    <a:lvl8pPr marL="3200400" algn="l" defTabSz="914400" rtl="0" eaLnBrk="1" latinLnBrk="0" hangingPunct="1">
      <a:defRPr sz="3200" kern="1200">
        <a:solidFill>
          <a:schemeClr val="tx1"/>
        </a:solidFill>
        <a:latin typeface="Times New Roman" pitchFamily="18" charset="0"/>
        <a:ea typeface="隶书" pitchFamily="49" charset="-122"/>
        <a:cs typeface="+mn-cs"/>
      </a:defRPr>
    </a:lvl8pPr>
    <a:lvl9pPr marL="3657600" algn="l" defTabSz="914400" rtl="0" eaLnBrk="1" latinLnBrk="0" hangingPunct="1">
      <a:defRPr sz="3200" kern="1200">
        <a:solidFill>
          <a:schemeClr val="tx1"/>
        </a:solidFill>
        <a:latin typeface="Times New Roman" pitchFamily="18" charset="0"/>
        <a:ea typeface="隶书"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0066"/>
    <a:srgbClr val="FF6600"/>
    <a:srgbClr val="CC0000"/>
    <a:srgbClr val="008080"/>
    <a:srgbClr val="0000FF"/>
    <a:srgbClr val="FFFF99"/>
    <a:srgbClr val="00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26" autoAdjust="0"/>
    <p:restoredTop sz="94709" autoAdjust="0"/>
  </p:normalViewPr>
  <p:slideViewPr>
    <p:cSldViewPr>
      <p:cViewPr varScale="1">
        <p:scale>
          <a:sx n="87" d="100"/>
          <a:sy n="87" d="100"/>
        </p:scale>
        <p:origin x="1088" y="60"/>
      </p:cViewPr>
      <p:guideLst>
        <p:guide orient="horz" pos="2160"/>
        <p:guide pos="2880"/>
      </p:guideLst>
    </p:cSldViewPr>
  </p:slideViewPr>
  <p:outlineViewPr>
    <p:cViewPr>
      <p:scale>
        <a:sx n="33" d="100"/>
        <a:sy n="33" d="100"/>
      </p:scale>
      <p:origin x="0" y="1071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5.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473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zh-CN" altLang="en-US"/>
          </a:p>
        </p:txBody>
      </p:sp>
      <p:sp>
        <p:nvSpPr>
          <p:cNvPr id="24473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zh-CN"/>
          </a:p>
        </p:txBody>
      </p:sp>
      <p:sp>
        <p:nvSpPr>
          <p:cNvPr id="9011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24474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4474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ltLang="zh-CN"/>
          </a:p>
        </p:txBody>
      </p:sp>
      <p:sp>
        <p:nvSpPr>
          <p:cNvPr id="24474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CCC4AF74-579E-4D7D-AD7F-D1F891650F9A}" type="slidenum">
              <a:rPr lang="zh-CN" altLang="en-US"/>
              <a:pPr>
                <a:defRPr/>
              </a:pPr>
              <a:t>‹#›</a:t>
            </a:fld>
            <a:endParaRPr lang="en-US" altLang="zh-CN"/>
          </a:p>
        </p:txBody>
      </p:sp>
    </p:spTree>
    <p:extLst>
      <p:ext uri="{BB962C8B-B14F-4D97-AF65-F5344CB8AC3E}">
        <p14:creationId xmlns:p14="http://schemas.microsoft.com/office/powerpoint/2010/main" val="362299550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隶书" pitchFamily="49"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隶书" pitchFamily="49"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隶书" pitchFamily="49"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隶书" pitchFamily="49"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隶书" pitchFamily="49"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B273FC6C-94AC-48FB-B333-32A57964E3EF}"/>
              </a:ext>
            </a:extLst>
          </p:cNvPr>
          <p:cNvSpPr>
            <a:spLocks noGrp="1" noChangeArrowheads="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9060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90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90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90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C90E0BB-99AC-4FA1-AB86-B1187DF2FCE9}" type="slidenum">
              <a:rPr lang="en-US" altLang="zh-CN" sz="1300" smtClean="0"/>
              <a:pPr>
                <a:spcBef>
                  <a:spcPct val="0"/>
                </a:spcBef>
              </a:pPr>
              <a:t>69</a:t>
            </a:fld>
            <a:endParaRPr lang="en-US" altLang="zh-CN" sz="1300"/>
          </a:p>
        </p:txBody>
      </p:sp>
      <p:sp>
        <p:nvSpPr>
          <p:cNvPr id="18435" name="Rectangle 2">
            <a:extLst>
              <a:ext uri="{FF2B5EF4-FFF2-40B4-BE49-F238E27FC236}">
                <a16:creationId xmlns:a16="http://schemas.microsoft.com/office/drawing/2014/main" id="{88474566-9B0A-45C2-957B-22FECE77F8B3}"/>
              </a:ext>
            </a:extLst>
          </p:cNvPr>
          <p:cNvSpPr>
            <a:spLocks noGrp="1" noRot="1" noChangeAspect="1" noChangeArrowheads="1" noTextEdit="1"/>
          </p:cNvSpPr>
          <p:nvPr>
            <p:ph type="sldImg"/>
          </p:nvPr>
        </p:nvSpPr>
        <p:spPr>
          <a:xfrm>
            <a:off x="992188" y="768350"/>
            <a:ext cx="5114925" cy="3836988"/>
          </a:xfrm>
          <a:ln/>
        </p:spPr>
      </p:sp>
      <p:sp>
        <p:nvSpPr>
          <p:cNvPr id="18436" name="Rectangle 3">
            <a:extLst>
              <a:ext uri="{FF2B5EF4-FFF2-40B4-BE49-F238E27FC236}">
                <a16:creationId xmlns:a16="http://schemas.microsoft.com/office/drawing/2014/main" id="{DD66CB93-AE03-4EA2-81E6-EA7AFF85EDD1}"/>
              </a:ext>
            </a:extLst>
          </p:cNvPr>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9BF5FCF3-6010-4CBC-84C1-074B46820990}"/>
              </a:ext>
            </a:extLst>
          </p:cNvPr>
          <p:cNvSpPr>
            <a:spLocks noGrp="1" noChangeArrowheads="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9060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90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90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90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6F5361B-8CE0-4BA8-9D98-94C18A2DED93}" type="slidenum">
              <a:rPr lang="en-US" altLang="zh-CN" sz="1300" smtClean="0"/>
              <a:pPr>
                <a:spcBef>
                  <a:spcPct val="0"/>
                </a:spcBef>
              </a:pPr>
              <a:t>70</a:t>
            </a:fld>
            <a:endParaRPr lang="en-US" altLang="zh-CN" sz="1300"/>
          </a:p>
        </p:txBody>
      </p:sp>
      <p:sp>
        <p:nvSpPr>
          <p:cNvPr id="20483" name="Rectangle 2">
            <a:extLst>
              <a:ext uri="{FF2B5EF4-FFF2-40B4-BE49-F238E27FC236}">
                <a16:creationId xmlns:a16="http://schemas.microsoft.com/office/drawing/2014/main" id="{00A2E841-8739-46D7-9041-B146188776BE}"/>
              </a:ext>
            </a:extLst>
          </p:cNvPr>
          <p:cNvSpPr>
            <a:spLocks noGrp="1" noRot="1" noChangeAspect="1" noChangeArrowheads="1" noTextEdit="1"/>
          </p:cNvSpPr>
          <p:nvPr>
            <p:ph type="sldImg"/>
          </p:nvPr>
        </p:nvSpPr>
        <p:spPr>
          <a:xfrm>
            <a:off x="992188" y="768350"/>
            <a:ext cx="5114925" cy="3836988"/>
          </a:xfrm>
          <a:ln/>
        </p:spPr>
      </p:sp>
      <p:sp>
        <p:nvSpPr>
          <p:cNvPr id="20484" name="Rectangle 3">
            <a:extLst>
              <a:ext uri="{FF2B5EF4-FFF2-40B4-BE49-F238E27FC236}">
                <a16:creationId xmlns:a16="http://schemas.microsoft.com/office/drawing/2014/main" id="{02D6B4A5-4FAD-49A4-8CF9-AC6C8ECE5260}"/>
              </a:ext>
            </a:extLst>
          </p:cNvPr>
          <p:cNvSpPr>
            <a:spLocks noGrp="1" noChangeArrowheads="1"/>
          </p:cNvSpPr>
          <p:nvPr>
            <p:ph type="body" idx="1"/>
          </p:nvPr>
        </p:nvSpPr>
        <p:spPr>
          <a:noFill/>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6C5E3DBE-6E95-414D-B736-E0BF09389CBA}"/>
              </a:ext>
            </a:extLst>
          </p:cNvPr>
          <p:cNvSpPr>
            <a:spLocks noGrp="1" noChangeArrowheads="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defTabSz="99060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defTabSz="990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defTabSz="990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defTabSz="990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D60D679-FE62-4638-A531-D965F9C80F7F}" type="slidenum">
              <a:rPr lang="en-US" altLang="zh-CN" sz="1300" smtClean="0"/>
              <a:pPr>
                <a:spcBef>
                  <a:spcPct val="0"/>
                </a:spcBef>
              </a:pPr>
              <a:t>71</a:t>
            </a:fld>
            <a:endParaRPr lang="en-US" altLang="zh-CN" sz="1300"/>
          </a:p>
        </p:txBody>
      </p:sp>
      <p:sp>
        <p:nvSpPr>
          <p:cNvPr id="31747" name="Rectangle 2">
            <a:extLst>
              <a:ext uri="{FF2B5EF4-FFF2-40B4-BE49-F238E27FC236}">
                <a16:creationId xmlns:a16="http://schemas.microsoft.com/office/drawing/2014/main" id="{6C1B2F38-183D-483B-A10C-FFDDC05B83A3}"/>
              </a:ext>
            </a:extLst>
          </p:cNvPr>
          <p:cNvSpPr>
            <a:spLocks noGrp="1" noRot="1" noChangeAspect="1" noChangeArrowheads="1" noTextEdit="1"/>
          </p:cNvSpPr>
          <p:nvPr>
            <p:ph type="sldImg"/>
          </p:nvPr>
        </p:nvSpPr>
        <p:spPr>
          <a:xfrm>
            <a:off x="992188" y="768350"/>
            <a:ext cx="5118100" cy="3838575"/>
          </a:xfrm>
          <a:ln/>
        </p:spPr>
      </p:sp>
      <p:sp>
        <p:nvSpPr>
          <p:cNvPr id="31748" name="Rectangle 3">
            <a:extLst>
              <a:ext uri="{FF2B5EF4-FFF2-40B4-BE49-F238E27FC236}">
                <a16:creationId xmlns:a16="http://schemas.microsoft.com/office/drawing/2014/main" id="{5A13DE64-5449-44BD-A8B0-A18E78297BAA}"/>
              </a:ext>
            </a:extLst>
          </p:cNvPr>
          <p:cNvSpPr>
            <a:spLocks noGrp="1" noChangeArrowheads="1"/>
          </p:cNvSpPr>
          <p:nvPr>
            <p:ph type="body" idx="1"/>
          </p:nvPr>
        </p:nvSpPr>
        <p:spPr>
          <a:noFill/>
        </p:spPr>
        <p:txBody>
          <a:bodyPr/>
          <a:lstStyle/>
          <a:p>
            <a:pPr marL="228600" indent="-228600" eaLnBrk="1" hangingPunct="1"/>
            <a:r>
              <a:rPr lang="en-US" altLang="zh-CN">
                <a:latin typeface="Arial" panose="020B0604020202020204" pitchFamily="34" charset="0"/>
                <a:ea typeface="宋体" panose="02010600030101010101" pitchFamily="2" charset="-122"/>
              </a:rPr>
              <a:t>“</a:t>
            </a:r>
            <a:r>
              <a:rPr lang="zh-CN" altLang="en-US">
                <a:latin typeface="Arial" panose="020B0604020202020204" pitchFamily="34" charset="0"/>
                <a:ea typeface="宋体" panose="02010600030101010101" pitchFamily="2" charset="-122"/>
              </a:rPr>
              <a:t>代码风格”的目标是让代码清晰，增强可读性，使代码更容易被他人维护。在一段时间后，重新看自己的代码时（此时对这些代码的内容已经忘得差不多了），好的代码风格也会让自己获益。</a:t>
            </a:r>
          </a:p>
          <a:p>
            <a:pPr marL="228600" indent="-228600" eaLnBrk="1" hangingPunct="1"/>
            <a:r>
              <a:rPr lang="zh-CN" altLang="en-US">
                <a:latin typeface="Arial" panose="020B0604020202020204" pitchFamily="34" charset="0"/>
                <a:ea typeface="宋体" panose="02010600030101010101" pitchFamily="2" charset="-122"/>
              </a:rPr>
              <a:t>这个程序体现出来的代码风格有：</a:t>
            </a:r>
          </a:p>
          <a:p>
            <a:pPr marL="228600" indent="-228600" eaLnBrk="1" hangingPunct="1">
              <a:buFontTx/>
              <a:buAutoNum type="arabicPeriod"/>
            </a:pPr>
            <a:r>
              <a:rPr lang="zh-CN" altLang="en-US">
                <a:latin typeface="Arial" panose="020B0604020202020204" pitchFamily="34" charset="0"/>
                <a:ea typeface="宋体" panose="02010600030101010101" pitchFamily="2" charset="-122"/>
              </a:rPr>
              <a:t>良好的注释，解释清楚此程序的功能和变量含义</a:t>
            </a:r>
          </a:p>
          <a:p>
            <a:pPr marL="228600" indent="-228600" eaLnBrk="1" hangingPunct="1">
              <a:buFontTx/>
              <a:buAutoNum type="arabicPeriod"/>
            </a:pPr>
            <a:r>
              <a:rPr lang="zh-CN" altLang="en-US">
                <a:latin typeface="Arial" panose="020B0604020202020204" pitchFamily="34" charset="0"/>
                <a:ea typeface="宋体" panose="02010600030101010101" pitchFamily="2" charset="-122"/>
              </a:rPr>
              <a:t>整齐的缩进，让代码的逻辑关系分外明朗</a:t>
            </a:r>
          </a:p>
          <a:p>
            <a:pPr marL="228600" indent="-228600" eaLnBrk="1" hangingPunct="1">
              <a:buFontTx/>
              <a:buAutoNum type="arabicPeriod"/>
            </a:pPr>
            <a:r>
              <a:rPr lang="zh-CN" altLang="en-US">
                <a:latin typeface="Arial" panose="020B0604020202020204" pitchFamily="34" charset="0"/>
                <a:ea typeface="宋体" panose="02010600030101010101" pitchFamily="2" charset="-122"/>
              </a:rPr>
              <a:t>适当的空行，使程序的结构凸现</a:t>
            </a:r>
          </a:p>
          <a:p>
            <a:pPr marL="228600" indent="-228600" eaLnBrk="1" hangingPunct="1">
              <a:buFontTx/>
              <a:buAutoNum type="arabicPeriod"/>
            </a:pPr>
            <a:r>
              <a:rPr lang="zh-CN" altLang="en-US">
                <a:latin typeface="Arial" panose="020B0604020202020204" pitchFamily="34" charset="0"/>
                <a:ea typeface="宋体" panose="02010600030101010101" pitchFamily="2" charset="-122"/>
              </a:rPr>
              <a:t>准确的变量命名，不需要注释，便可明辨</a:t>
            </a:r>
          </a:p>
          <a:p>
            <a:pPr marL="228600" indent="-228600" eaLnBrk="1" hangingPunct="1">
              <a:buFontTx/>
              <a:buAutoNum type="arabicPeriod"/>
            </a:pPr>
            <a:r>
              <a:rPr lang="zh-CN" altLang="en-US">
                <a:latin typeface="Arial" panose="020B0604020202020204" pitchFamily="34" charset="0"/>
                <a:ea typeface="宋体" panose="02010600030101010101" pitchFamily="2" charset="-122"/>
              </a:rPr>
              <a:t>恰当位置的空格，让可读性更上一层楼</a:t>
            </a:r>
          </a:p>
          <a:p>
            <a:pPr marL="228600" indent="-228600" eaLnBrk="1" hangingPunct="1">
              <a:buFontTx/>
              <a:buAutoNum type="arabicPeriod"/>
            </a:pPr>
            <a:r>
              <a:rPr lang="zh-CN" altLang="en-US">
                <a:latin typeface="Arial" panose="020B0604020202020204" pitchFamily="34" charset="0"/>
                <a:ea typeface="宋体" panose="02010600030101010101" pitchFamily="2" charset="-122"/>
              </a:rPr>
              <a:t>每行最多只有一条语句</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en-US" altLang="zh-CN"/>
              <a:t>Click to edit Master title style</a:t>
            </a:r>
            <a:endParaRPr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ltLang="zh-CN"/>
              <a:t>Click to edit Master subtitle style</a:t>
            </a:r>
            <a:endParaRPr lang="en-US"/>
          </a:p>
        </p:txBody>
      </p:sp>
      <p:sp>
        <p:nvSpPr>
          <p:cNvPr id="4" name="Date Placeholder 29"/>
          <p:cNvSpPr>
            <a:spLocks noGrp="1"/>
          </p:cNvSpPr>
          <p:nvPr>
            <p:ph type="dt" sz="half" idx="10"/>
          </p:nvPr>
        </p:nvSpPr>
        <p:spPr/>
        <p:txBody>
          <a:bodyPr/>
          <a:lstStyle>
            <a:lvl1pPr>
              <a:defRPr/>
            </a:lvl1pPr>
          </a:lstStyle>
          <a:p>
            <a:pPr>
              <a:defRPr/>
            </a:pPr>
            <a:endParaRPr lang="en-US" altLang="zh-CN"/>
          </a:p>
        </p:txBody>
      </p:sp>
      <p:sp>
        <p:nvSpPr>
          <p:cNvPr id="5" name="Footer Placeholder 18"/>
          <p:cNvSpPr>
            <a:spLocks noGrp="1"/>
          </p:cNvSpPr>
          <p:nvPr>
            <p:ph type="ftr" sz="quarter" idx="11"/>
          </p:nvPr>
        </p:nvSpPr>
        <p:spPr/>
        <p:txBody>
          <a:bodyPr/>
          <a:lstStyle>
            <a:lvl1pPr>
              <a:defRPr/>
            </a:lvl1pPr>
          </a:lstStyle>
          <a:p>
            <a:pPr>
              <a:defRPr/>
            </a:pPr>
            <a:endParaRPr lang="en-US" altLang="zh-CN"/>
          </a:p>
        </p:txBody>
      </p:sp>
      <p:sp>
        <p:nvSpPr>
          <p:cNvPr id="6" name="Slide Number Placeholder 26"/>
          <p:cNvSpPr>
            <a:spLocks noGrp="1"/>
          </p:cNvSpPr>
          <p:nvPr>
            <p:ph type="sldNum" sz="quarter" idx="12"/>
          </p:nvPr>
        </p:nvSpPr>
        <p:spPr/>
        <p:txBody>
          <a:bodyPr/>
          <a:lstStyle>
            <a:lvl1pPr>
              <a:defRPr/>
            </a:lvl1pPr>
          </a:lstStyle>
          <a:p>
            <a:pPr>
              <a:defRPr/>
            </a:pPr>
            <a:fld id="{2AA43795-6B45-4E6E-B2DE-F308C15FE028}" type="slidenum">
              <a:rPr lang="zh-CN" altLang="en-US"/>
              <a:pPr>
                <a:defRPr/>
              </a:pPr>
              <a:t>‹#›</a:t>
            </a:fld>
            <a:endParaRPr lang="en-US" altLang="zh-CN"/>
          </a:p>
        </p:txBody>
      </p:sp>
    </p:spTree>
  </p:cSld>
  <p:clrMapOvr>
    <a:overrideClrMapping bg1="dk1" tx1="lt1" bg2="dk2" tx2="lt2" accent1="accent1" accent2="accent2" accent3="accent3" accent4="accent4" accent5="accent5" accent6="accent6" hlink="hlink" folHlink="folHlink"/>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Content Placeholder 2"/>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Date Placeholder 9"/>
          <p:cNvSpPr>
            <a:spLocks noGrp="1"/>
          </p:cNvSpPr>
          <p:nvPr>
            <p:ph type="dt" sz="half" idx="10"/>
          </p:nvPr>
        </p:nvSpPr>
        <p:spPr/>
        <p:txBody>
          <a:bodyPr/>
          <a:lstStyle>
            <a:lvl1pPr>
              <a:defRPr/>
            </a:lvl1pPr>
          </a:lstStyle>
          <a:p>
            <a:pPr>
              <a:defRPr/>
            </a:pPr>
            <a:endParaRPr lang="en-US" altLang="zh-CN"/>
          </a:p>
        </p:txBody>
      </p:sp>
      <p:sp>
        <p:nvSpPr>
          <p:cNvPr id="5" name="Footer Placeholder 21"/>
          <p:cNvSpPr>
            <a:spLocks noGrp="1"/>
          </p:cNvSpPr>
          <p:nvPr>
            <p:ph type="ftr" sz="quarter" idx="11"/>
          </p:nvPr>
        </p:nvSpPr>
        <p:spPr/>
        <p:txBody>
          <a:bodyPr/>
          <a:lstStyle>
            <a:lvl1pPr>
              <a:defRPr/>
            </a:lvl1pPr>
          </a:lstStyle>
          <a:p>
            <a:pPr>
              <a:defRPr/>
            </a:pPr>
            <a:endParaRPr lang="en-US" altLang="zh-CN"/>
          </a:p>
        </p:txBody>
      </p:sp>
      <p:sp>
        <p:nvSpPr>
          <p:cNvPr id="6" name="Slide Number Placeholder 17"/>
          <p:cNvSpPr>
            <a:spLocks noGrp="1"/>
          </p:cNvSpPr>
          <p:nvPr>
            <p:ph type="sldNum" sz="quarter" idx="12"/>
          </p:nvPr>
        </p:nvSpPr>
        <p:spPr/>
        <p:txBody>
          <a:bodyPr/>
          <a:lstStyle>
            <a:lvl1pPr>
              <a:defRPr/>
            </a:lvl1pPr>
          </a:lstStyle>
          <a:p>
            <a:pPr>
              <a:defRPr/>
            </a:pPr>
            <a:fld id="{F5B931C6-46ED-4D6F-ADB1-4B91676450DC}" type="slidenum">
              <a:rPr lang="zh-CN" altLang="en-US"/>
              <a:pPr>
                <a:defRPr/>
              </a:pPr>
              <a:t>‹#›</a:t>
            </a:fld>
            <a:endParaRPr lang="en-US" altLang="zh-CN"/>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en-US" altLang="zh-CN"/>
              <a:t>Click to edit Master title style</a:t>
            </a:r>
            <a:endParaRPr lang="en-US"/>
          </a:p>
        </p:txBody>
      </p:sp>
      <p:sp>
        <p:nvSpPr>
          <p:cNvPr id="3" name="Text Placeholder 2"/>
          <p:cNvSpPr>
            <a:spLocks noGrp="1"/>
          </p:cNvSpPr>
          <p:nvPr>
            <p:ph type="body" idx="1"/>
          </p:nvPr>
        </p:nvSpPr>
        <p:spPr>
          <a:xfrm>
            <a:off x="530352" y="2704664"/>
            <a:ext cx="77724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ltLang="zh-CN"/>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ltLang="zh-CN"/>
          </a:p>
        </p:txBody>
      </p:sp>
      <p:sp>
        <p:nvSpPr>
          <p:cNvPr id="5" name="Footer Placeholder 4"/>
          <p:cNvSpPr>
            <a:spLocks noGrp="1"/>
          </p:cNvSpPr>
          <p:nvPr>
            <p:ph type="ftr" sz="quarter" idx="11"/>
          </p:nvPr>
        </p:nvSpPr>
        <p:spPr/>
        <p:txBody>
          <a:bodyPr/>
          <a:lstStyle>
            <a:lvl1pPr>
              <a:defRPr/>
            </a:lvl1pPr>
          </a:lstStyle>
          <a:p>
            <a:pPr>
              <a:defRPr/>
            </a:pPr>
            <a:endParaRPr lang="en-US" altLang="zh-CN"/>
          </a:p>
        </p:txBody>
      </p:sp>
      <p:sp>
        <p:nvSpPr>
          <p:cNvPr id="6" name="Slide Number Placeholder 5"/>
          <p:cNvSpPr>
            <a:spLocks noGrp="1"/>
          </p:cNvSpPr>
          <p:nvPr>
            <p:ph type="sldNum" sz="quarter" idx="12"/>
          </p:nvPr>
        </p:nvSpPr>
        <p:spPr/>
        <p:txBody>
          <a:bodyPr/>
          <a:lstStyle>
            <a:lvl1pPr>
              <a:defRPr/>
            </a:lvl1pPr>
          </a:lstStyle>
          <a:p>
            <a:pPr>
              <a:defRPr/>
            </a:pPr>
            <a:fld id="{94A00B77-AD6E-4E5C-BE6A-BC3D4A405B60}" type="slidenum">
              <a:rPr lang="zh-CN" altLang="en-US"/>
              <a:pPr>
                <a:defRPr/>
              </a:pPr>
              <a:t>‹#›</a:t>
            </a:fld>
            <a:endParaRPr lang="en-US" altLang="zh-CN"/>
          </a:p>
        </p:txBody>
      </p:sp>
    </p:spTree>
  </p:cSld>
  <p:clrMapOvr>
    <a:overrideClrMapping bg1="dk1" tx1="lt1" bg2="dk2" tx2="lt2" accent1="accent1" accent2="accent2" accent3="accent3" accent4="accent4" accent5="accent5" accent6="accent6" hlink="hlink" folHlink="folHlink"/>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lang="en-US" altLang="zh-CN"/>
              <a:t>Click to edit Master title style</a:t>
            </a:r>
            <a:endParaRPr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5" name="Date Placeholder 9"/>
          <p:cNvSpPr>
            <a:spLocks noGrp="1"/>
          </p:cNvSpPr>
          <p:nvPr>
            <p:ph type="dt" sz="half" idx="10"/>
          </p:nvPr>
        </p:nvSpPr>
        <p:spPr/>
        <p:txBody>
          <a:bodyPr/>
          <a:lstStyle>
            <a:lvl1pPr>
              <a:defRPr/>
            </a:lvl1pPr>
          </a:lstStyle>
          <a:p>
            <a:pPr>
              <a:defRPr/>
            </a:pPr>
            <a:endParaRPr lang="en-US" altLang="zh-CN"/>
          </a:p>
        </p:txBody>
      </p:sp>
      <p:sp>
        <p:nvSpPr>
          <p:cNvPr id="6" name="Footer Placeholder 21"/>
          <p:cNvSpPr>
            <a:spLocks noGrp="1"/>
          </p:cNvSpPr>
          <p:nvPr>
            <p:ph type="ftr" sz="quarter" idx="11"/>
          </p:nvPr>
        </p:nvSpPr>
        <p:spPr/>
        <p:txBody>
          <a:bodyPr/>
          <a:lstStyle>
            <a:lvl1pPr>
              <a:defRPr/>
            </a:lvl1pPr>
          </a:lstStyle>
          <a:p>
            <a:pPr>
              <a:defRPr/>
            </a:pPr>
            <a:endParaRPr lang="en-US" altLang="zh-CN"/>
          </a:p>
        </p:txBody>
      </p:sp>
      <p:sp>
        <p:nvSpPr>
          <p:cNvPr id="7" name="Slide Number Placeholder 17"/>
          <p:cNvSpPr>
            <a:spLocks noGrp="1"/>
          </p:cNvSpPr>
          <p:nvPr>
            <p:ph type="sldNum" sz="quarter" idx="12"/>
          </p:nvPr>
        </p:nvSpPr>
        <p:spPr/>
        <p:txBody>
          <a:bodyPr/>
          <a:lstStyle>
            <a:lvl1pPr>
              <a:defRPr/>
            </a:lvl1pPr>
          </a:lstStyle>
          <a:p>
            <a:pPr>
              <a:defRPr/>
            </a:pPr>
            <a:fld id="{C88ABF4C-5ABD-465D-AA6F-0BA9F36B9658}" type="slidenum">
              <a:rPr lang="zh-CN" altLang="en-US"/>
              <a:pPr>
                <a:defRPr/>
              </a:pPr>
              <a:t>‹#›</a:t>
            </a:fld>
            <a:endParaRPr lang="en-US" altLang="zh-CN"/>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lvl1pPr>
              <a:defRPr/>
            </a:lvl1pPr>
          </a:lstStyle>
          <a:p>
            <a:r>
              <a:rPr lang="en-US" altLang="zh-CN"/>
              <a:t>Click to edit Master title style</a:t>
            </a:r>
            <a:endParaRPr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ltLang="zh-CN"/>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ltLang="zh-CN"/>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7" name="Date Placeholder 9"/>
          <p:cNvSpPr>
            <a:spLocks noGrp="1"/>
          </p:cNvSpPr>
          <p:nvPr>
            <p:ph type="dt" sz="half" idx="10"/>
          </p:nvPr>
        </p:nvSpPr>
        <p:spPr/>
        <p:txBody>
          <a:bodyPr/>
          <a:lstStyle>
            <a:lvl1pPr>
              <a:defRPr/>
            </a:lvl1pPr>
          </a:lstStyle>
          <a:p>
            <a:pPr>
              <a:defRPr/>
            </a:pPr>
            <a:endParaRPr lang="en-US" altLang="zh-CN"/>
          </a:p>
        </p:txBody>
      </p:sp>
      <p:sp>
        <p:nvSpPr>
          <p:cNvPr id="8" name="Footer Placeholder 21"/>
          <p:cNvSpPr>
            <a:spLocks noGrp="1"/>
          </p:cNvSpPr>
          <p:nvPr>
            <p:ph type="ftr" sz="quarter" idx="11"/>
          </p:nvPr>
        </p:nvSpPr>
        <p:spPr/>
        <p:txBody>
          <a:bodyPr/>
          <a:lstStyle>
            <a:lvl1pPr>
              <a:defRPr/>
            </a:lvl1pPr>
          </a:lstStyle>
          <a:p>
            <a:pPr>
              <a:defRPr/>
            </a:pPr>
            <a:endParaRPr lang="en-US" altLang="zh-CN"/>
          </a:p>
        </p:txBody>
      </p:sp>
      <p:sp>
        <p:nvSpPr>
          <p:cNvPr id="9" name="Slide Number Placeholder 17"/>
          <p:cNvSpPr>
            <a:spLocks noGrp="1"/>
          </p:cNvSpPr>
          <p:nvPr>
            <p:ph type="sldNum" sz="quarter" idx="12"/>
          </p:nvPr>
        </p:nvSpPr>
        <p:spPr/>
        <p:txBody>
          <a:bodyPr/>
          <a:lstStyle>
            <a:lvl1pPr>
              <a:defRPr/>
            </a:lvl1pPr>
          </a:lstStyle>
          <a:p>
            <a:pPr>
              <a:defRPr/>
            </a:pPr>
            <a:fld id="{2ADDF1C6-90E9-484B-908F-300C219593E5}" type="slidenum">
              <a:rPr lang="zh-CN" altLang="en-US"/>
              <a:pPr>
                <a:defRPr/>
              </a:pPr>
              <a:t>‹#›</a:t>
            </a:fld>
            <a:endParaRPr lang="en-US" altLang="zh-CN"/>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en-US" altLang="zh-CN"/>
              <a:t>Click to edit Master title style</a:t>
            </a:r>
            <a:endParaRPr lang="en-US"/>
          </a:p>
        </p:txBody>
      </p:sp>
      <p:sp>
        <p:nvSpPr>
          <p:cNvPr id="3" name="Date Placeholder 9"/>
          <p:cNvSpPr>
            <a:spLocks noGrp="1"/>
          </p:cNvSpPr>
          <p:nvPr>
            <p:ph type="dt" sz="half" idx="10"/>
          </p:nvPr>
        </p:nvSpPr>
        <p:spPr/>
        <p:txBody>
          <a:bodyPr/>
          <a:lstStyle>
            <a:lvl1pPr>
              <a:defRPr/>
            </a:lvl1pPr>
          </a:lstStyle>
          <a:p>
            <a:pPr>
              <a:defRPr/>
            </a:pPr>
            <a:endParaRPr lang="en-US" altLang="zh-CN"/>
          </a:p>
        </p:txBody>
      </p:sp>
      <p:sp>
        <p:nvSpPr>
          <p:cNvPr id="4" name="Footer Placeholder 21"/>
          <p:cNvSpPr>
            <a:spLocks noGrp="1"/>
          </p:cNvSpPr>
          <p:nvPr>
            <p:ph type="ftr" sz="quarter" idx="11"/>
          </p:nvPr>
        </p:nvSpPr>
        <p:spPr/>
        <p:txBody>
          <a:bodyPr/>
          <a:lstStyle>
            <a:lvl1pPr>
              <a:defRPr/>
            </a:lvl1pPr>
          </a:lstStyle>
          <a:p>
            <a:pPr>
              <a:defRPr/>
            </a:pPr>
            <a:endParaRPr lang="en-US" altLang="zh-CN"/>
          </a:p>
        </p:txBody>
      </p:sp>
      <p:sp>
        <p:nvSpPr>
          <p:cNvPr id="5" name="Slide Number Placeholder 17"/>
          <p:cNvSpPr>
            <a:spLocks noGrp="1"/>
          </p:cNvSpPr>
          <p:nvPr>
            <p:ph type="sldNum" sz="quarter" idx="12"/>
          </p:nvPr>
        </p:nvSpPr>
        <p:spPr/>
        <p:txBody>
          <a:bodyPr/>
          <a:lstStyle>
            <a:lvl1pPr>
              <a:defRPr/>
            </a:lvl1pPr>
          </a:lstStyle>
          <a:p>
            <a:pPr>
              <a:defRPr/>
            </a:pPr>
            <a:fld id="{49718909-9BF4-4491-AC1B-F07842726577}" type="slidenum">
              <a:rPr lang="zh-CN" altLang="en-US"/>
              <a:pPr>
                <a:defRPr/>
              </a:pPr>
              <a:t>‹#›</a:t>
            </a:fld>
            <a:endParaRPr lang="en-US" altLang="zh-CN"/>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endParaRPr lang="en-US" altLang="zh-CN"/>
          </a:p>
        </p:txBody>
      </p:sp>
      <p:sp>
        <p:nvSpPr>
          <p:cNvPr id="3" name="Footer Placeholder 21"/>
          <p:cNvSpPr>
            <a:spLocks noGrp="1"/>
          </p:cNvSpPr>
          <p:nvPr>
            <p:ph type="ftr" sz="quarter" idx="11"/>
          </p:nvPr>
        </p:nvSpPr>
        <p:spPr/>
        <p:txBody>
          <a:bodyPr/>
          <a:lstStyle>
            <a:lvl1pPr>
              <a:defRPr/>
            </a:lvl1pPr>
          </a:lstStyle>
          <a:p>
            <a:pPr>
              <a:defRPr/>
            </a:pPr>
            <a:endParaRPr lang="en-US" altLang="zh-CN"/>
          </a:p>
        </p:txBody>
      </p:sp>
      <p:sp>
        <p:nvSpPr>
          <p:cNvPr id="4" name="Slide Number Placeholder 17"/>
          <p:cNvSpPr>
            <a:spLocks noGrp="1"/>
          </p:cNvSpPr>
          <p:nvPr>
            <p:ph type="sldNum" sz="quarter" idx="12"/>
          </p:nvPr>
        </p:nvSpPr>
        <p:spPr/>
        <p:txBody>
          <a:bodyPr/>
          <a:lstStyle>
            <a:lvl1pPr>
              <a:defRPr/>
            </a:lvl1pPr>
          </a:lstStyle>
          <a:p>
            <a:pPr>
              <a:defRPr/>
            </a:pPr>
            <a:fld id="{A3CB19E2-EEA6-4DE7-A7FB-BCEE68A113B7}" type="slidenum">
              <a:rPr lang="zh-CN" altLang="en-US"/>
              <a:pPr>
                <a:defRPr/>
              </a:pPr>
              <a:t>‹#›</a:t>
            </a:fld>
            <a:endParaRPr lang="en-US" altLang="zh-CN"/>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en-US" altLang="zh-CN"/>
              <a:t>Click to edit Master title style</a:t>
            </a:r>
            <a:endParaRPr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en-US" altLang="zh-CN"/>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5" name="Date Placeholder 9"/>
          <p:cNvSpPr>
            <a:spLocks noGrp="1"/>
          </p:cNvSpPr>
          <p:nvPr>
            <p:ph type="dt" sz="half" idx="10"/>
          </p:nvPr>
        </p:nvSpPr>
        <p:spPr/>
        <p:txBody>
          <a:bodyPr/>
          <a:lstStyle>
            <a:lvl1pPr>
              <a:defRPr/>
            </a:lvl1pPr>
          </a:lstStyle>
          <a:p>
            <a:pPr>
              <a:defRPr/>
            </a:pPr>
            <a:endParaRPr lang="en-US" altLang="zh-CN"/>
          </a:p>
        </p:txBody>
      </p:sp>
      <p:sp>
        <p:nvSpPr>
          <p:cNvPr id="6" name="Footer Placeholder 21"/>
          <p:cNvSpPr>
            <a:spLocks noGrp="1"/>
          </p:cNvSpPr>
          <p:nvPr>
            <p:ph type="ftr" sz="quarter" idx="11"/>
          </p:nvPr>
        </p:nvSpPr>
        <p:spPr/>
        <p:txBody>
          <a:bodyPr/>
          <a:lstStyle>
            <a:lvl1pPr>
              <a:defRPr/>
            </a:lvl1pPr>
          </a:lstStyle>
          <a:p>
            <a:pPr>
              <a:defRPr/>
            </a:pPr>
            <a:endParaRPr lang="en-US" altLang="zh-CN"/>
          </a:p>
        </p:txBody>
      </p:sp>
      <p:sp>
        <p:nvSpPr>
          <p:cNvPr id="7" name="Slide Number Placeholder 17"/>
          <p:cNvSpPr>
            <a:spLocks noGrp="1"/>
          </p:cNvSpPr>
          <p:nvPr>
            <p:ph type="sldNum" sz="quarter" idx="12"/>
          </p:nvPr>
        </p:nvSpPr>
        <p:spPr/>
        <p:txBody>
          <a:bodyPr/>
          <a:lstStyle>
            <a:lvl1pPr>
              <a:defRPr/>
            </a:lvl1pPr>
          </a:lstStyle>
          <a:p>
            <a:pPr>
              <a:defRPr/>
            </a:pPr>
            <a:fld id="{919FE29B-30DB-4250-A6AB-D6A2BF3C0654}" type="slidenum">
              <a:rPr lang="zh-CN" altLang="en-US"/>
              <a:pPr>
                <a:defRPr/>
              </a:pPr>
              <a:t>‹#›</a:t>
            </a:fld>
            <a:endParaRPr lang="en-US" altLang="zh-CN"/>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nip and Round Single Corner Rectangle 4"/>
          <p:cNvSpPr/>
          <p:nvPr/>
        </p:nvSpPr>
        <p:spPr>
          <a:xfrm rot="420000" flipV="1">
            <a:off x="3165475" y="1108075"/>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6" name="Right Triangle 5"/>
          <p:cNvSpPr/>
          <p:nvPr/>
        </p:nvSpPr>
        <p:spPr>
          <a:xfrm rot="420000" flipV="1">
            <a:off x="8004175" y="5359400"/>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7" name="Freeform 6"/>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eaLnBrk="1" hangingPunct="1">
              <a:defRPr/>
            </a:pPr>
            <a:endParaRPr lang="en-US">
              <a:latin typeface="+mn-lt"/>
              <a:ea typeface="+mn-ea"/>
            </a:endParaRPr>
          </a:p>
        </p:txBody>
      </p:sp>
      <p:sp>
        <p:nvSpPr>
          <p:cNvPr id="8" name="Freeform 7"/>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eaLnBrk="1" hangingPunct="1">
              <a:defRPr/>
            </a:pPr>
            <a:endParaRPr lang="en-US">
              <a:latin typeface="+mn-lt"/>
              <a:ea typeface="+mn-ea"/>
            </a:endParaRPr>
          </a:p>
        </p:txBody>
      </p:sp>
      <p:sp>
        <p:nvSpPr>
          <p:cNvPr id="2" name="Title 1"/>
          <p:cNvSpPr>
            <a:spLocks noGrp="1"/>
          </p:cNvSpPr>
          <p:nvPr>
            <p:ph type="title"/>
          </p:nvPr>
        </p:nvSpPr>
        <p:spPr>
          <a:xfrm>
            <a:off x="609600" y="1176996"/>
            <a:ext cx="2212848" cy="1582621"/>
          </a:xfrm>
        </p:spPr>
        <p:txBody>
          <a:bodyPr lIns="45720" rIns="45720" bIns="45720"/>
          <a:lstStyle>
            <a:lvl1pPr algn="l">
              <a:buNone/>
              <a:defRPr sz="2000" b="1">
                <a:solidFill>
                  <a:schemeClr val="tx2"/>
                </a:solidFill>
              </a:defRPr>
            </a:lvl1pPr>
          </a:lstStyle>
          <a:p>
            <a:r>
              <a:rPr lang="en-US" altLang="zh-CN"/>
              <a:t>Click to edit Master title style</a:t>
            </a:r>
            <a:endParaRPr lang="en-US"/>
          </a:p>
        </p:txBody>
      </p:sp>
      <p:sp>
        <p:nvSpPr>
          <p:cNvPr id="4" name="Text Placeholder 3"/>
          <p:cNvSpPr>
            <a:spLocks noGrp="1"/>
          </p:cNvSpPr>
          <p:nvPr>
            <p:ph type="body" sz="half" idx="2"/>
          </p:nvPr>
        </p:nvSpPr>
        <p:spPr>
          <a:xfrm>
            <a:off x="609600" y="2828785"/>
            <a:ext cx="22098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en-US" altLang="zh-CN"/>
              <a:t>Click to edit Master text styles</a:t>
            </a:r>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en-US" altLang="zh-CN" noProof="0"/>
              <a:t>Click icon to add picture</a:t>
            </a:r>
            <a:endParaRPr lang="en-US" noProof="0" dirty="0"/>
          </a:p>
        </p:txBody>
      </p:sp>
      <p:sp>
        <p:nvSpPr>
          <p:cNvPr id="9" name="Date Placeholder 4"/>
          <p:cNvSpPr>
            <a:spLocks noGrp="1"/>
          </p:cNvSpPr>
          <p:nvPr>
            <p:ph type="dt" sz="half" idx="10"/>
          </p:nvPr>
        </p:nvSpPr>
        <p:spPr/>
        <p:txBody>
          <a:bodyPr/>
          <a:lstStyle>
            <a:lvl1pPr>
              <a:defRPr/>
            </a:lvl1pPr>
          </a:lstStyle>
          <a:p>
            <a:pPr>
              <a:defRPr/>
            </a:pPr>
            <a:endParaRPr lang="en-US" altLang="zh-CN"/>
          </a:p>
        </p:txBody>
      </p:sp>
      <p:sp>
        <p:nvSpPr>
          <p:cNvPr id="10" name="Footer Placeholder 5"/>
          <p:cNvSpPr>
            <a:spLocks noGrp="1"/>
          </p:cNvSpPr>
          <p:nvPr>
            <p:ph type="ftr" sz="quarter" idx="11"/>
          </p:nvPr>
        </p:nvSpPr>
        <p:spPr/>
        <p:txBody>
          <a:bodyPr/>
          <a:lstStyle>
            <a:lvl1pPr>
              <a:defRPr/>
            </a:lvl1pPr>
          </a:lstStyle>
          <a:p>
            <a:pPr>
              <a:defRPr/>
            </a:pPr>
            <a:endParaRPr lang="en-US" altLang="zh-CN"/>
          </a:p>
        </p:txBody>
      </p:sp>
      <p:sp>
        <p:nvSpPr>
          <p:cNvPr id="11" name="Slide Number Placeholder 6"/>
          <p:cNvSpPr>
            <a:spLocks noGrp="1"/>
          </p:cNvSpPr>
          <p:nvPr>
            <p:ph type="sldNum" sz="quarter" idx="12"/>
          </p:nvPr>
        </p:nvSpPr>
        <p:spPr>
          <a:xfrm>
            <a:off x="8077200" y="6356350"/>
            <a:ext cx="609600" cy="365125"/>
          </a:xfrm>
        </p:spPr>
        <p:txBody>
          <a:bodyPr/>
          <a:lstStyle>
            <a:lvl1pPr>
              <a:defRPr/>
            </a:lvl1pPr>
          </a:lstStyle>
          <a:p>
            <a:pPr>
              <a:defRPr/>
            </a:pPr>
            <a:fld id="{348E731D-7ED6-4A92-8DA8-D8903DEB8D6D}" type="slidenum">
              <a:rPr lang="zh-CN" altLang="en-US"/>
              <a:pPr>
                <a:defRPr/>
              </a:pPr>
              <a:t>‹#›</a:t>
            </a:fld>
            <a:endParaRPr lang="en-US" altLang="zh-CN"/>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Date Placeholder 9"/>
          <p:cNvSpPr>
            <a:spLocks noGrp="1"/>
          </p:cNvSpPr>
          <p:nvPr>
            <p:ph type="dt" sz="half" idx="10"/>
          </p:nvPr>
        </p:nvSpPr>
        <p:spPr/>
        <p:txBody>
          <a:bodyPr/>
          <a:lstStyle>
            <a:lvl1pPr>
              <a:defRPr/>
            </a:lvl1pPr>
          </a:lstStyle>
          <a:p>
            <a:pPr>
              <a:defRPr/>
            </a:pPr>
            <a:endParaRPr lang="en-US" altLang="zh-CN"/>
          </a:p>
        </p:txBody>
      </p:sp>
      <p:sp>
        <p:nvSpPr>
          <p:cNvPr id="5" name="Footer Placeholder 21"/>
          <p:cNvSpPr>
            <a:spLocks noGrp="1"/>
          </p:cNvSpPr>
          <p:nvPr>
            <p:ph type="ftr" sz="quarter" idx="11"/>
          </p:nvPr>
        </p:nvSpPr>
        <p:spPr/>
        <p:txBody>
          <a:bodyPr/>
          <a:lstStyle>
            <a:lvl1pPr>
              <a:defRPr/>
            </a:lvl1pPr>
          </a:lstStyle>
          <a:p>
            <a:pPr>
              <a:defRPr/>
            </a:pPr>
            <a:endParaRPr lang="en-US" altLang="zh-CN"/>
          </a:p>
        </p:txBody>
      </p:sp>
      <p:sp>
        <p:nvSpPr>
          <p:cNvPr id="6" name="Slide Number Placeholder 17"/>
          <p:cNvSpPr>
            <a:spLocks noGrp="1"/>
          </p:cNvSpPr>
          <p:nvPr>
            <p:ph type="sldNum" sz="quarter" idx="12"/>
          </p:nvPr>
        </p:nvSpPr>
        <p:spPr/>
        <p:txBody>
          <a:bodyPr/>
          <a:lstStyle>
            <a:lvl1pPr>
              <a:defRPr/>
            </a:lvl1pPr>
          </a:lstStyle>
          <a:p>
            <a:pPr>
              <a:defRPr/>
            </a:pPr>
            <a:fld id="{36B1776F-3031-47D2-8887-44819319B003}" type="slidenum">
              <a:rPr lang="zh-CN" altLang="en-US"/>
              <a:pPr>
                <a:defRPr/>
              </a:pPr>
              <a:t>‹#›</a:t>
            </a:fld>
            <a:endParaRPr lang="en-US" altLang="zh-CN"/>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lang="en-US" altLang="zh-CN"/>
              <a:t>Click to edit Master title style</a:t>
            </a:r>
            <a:endParaRPr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Date Placeholder 9"/>
          <p:cNvSpPr>
            <a:spLocks noGrp="1"/>
          </p:cNvSpPr>
          <p:nvPr>
            <p:ph type="dt" sz="half" idx="10"/>
          </p:nvPr>
        </p:nvSpPr>
        <p:spPr/>
        <p:txBody>
          <a:bodyPr/>
          <a:lstStyle>
            <a:lvl1pPr>
              <a:defRPr/>
            </a:lvl1pPr>
          </a:lstStyle>
          <a:p>
            <a:pPr>
              <a:defRPr/>
            </a:pPr>
            <a:endParaRPr lang="en-US" altLang="zh-CN"/>
          </a:p>
        </p:txBody>
      </p:sp>
      <p:sp>
        <p:nvSpPr>
          <p:cNvPr id="5" name="Footer Placeholder 21"/>
          <p:cNvSpPr>
            <a:spLocks noGrp="1"/>
          </p:cNvSpPr>
          <p:nvPr>
            <p:ph type="ftr" sz="quarter" idx="11"/>
          </p:nvPr>
        </p:nvSpPr>
        <p:spPr/>
        <p:txBody>
          <a:bodyPr/>
          <a:lstStyle>
            <a:lvl1pPr>
              <a:defRPr/>
            </a:lvl1pPr>
          </a:lstStyle>
          <a:p>
            <a:pPr>
              <a:defRPr/>
            </a:pPr>
            <a:endParaRPr lang="en-US" altLang="zh-CN"/>
          </a:p>
        </p:txBody>
      </p:sp>
      <p:sp>
        <p:nvSpPr>
          <p:cNvPr id="6" name="Slide Number Placeholder 17"/>
          <p:cNvSpPr>
            <a:spLocks noGrp="1"/>
          </p:cNvSpPr>
          <p:nvPr>
            <p:ph type="sldNum" sz="quarter" idx="12"/>
          </p:nvPr>
        </p:nvSpPr>
        <p:spPr/>
        <p:txBody>
          <a:bodyPr/>
          <a:lstStyle>
            <a:lvl1pPr>
              <a:defRPr/>
            </a:lvl1pPr>
          </a:lstStyle>
          <a:p>
            <a:pPr>
              <a:defRPr/>
            </a:pPr>
            <a:fld id="{F671C77D-3836-4145-BD3B-093F6BFEB3D7}" type="slidenum">
              <a:rPr lang="zh-CN" altLang="en-US"/>
              <a:pPr>
                <a:defRPr/>
              </a:pPr>
              <a:t>‹#›</a:t>
            </a:fld>
            <a:endParaRPr lang="en-US" altLang="zh-CN"/>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87450" y="692150"/>
            <a:ext cx="7727950" cy="1008063"/>
          </a:xfrm>
        </p:spPr>
        <p:txBody>
          <a:bodyPr/>
          <a:lstStyle/>
          <a:p>
            <a:r>
              <a:rPr lang="zh-CN" altLang="en-US"/>
              <a:t>单击此处编辑母版标题样式</a:t>
            </a:r>
          </a:p>
        </p:txBody>
      </p:sp>
      <p:sp>
        <p:nvSpPr>
          <p:cNvPr id="3" name="文本占位符 2"/>
          <p:cNvSpPr>
            <a:spLocks noGrp="1"/>
          </p:cNvSpPr>
          <p:nvPr>
            <p:ph type="body" sz="half" idx="1"/>
          </p:nvPr>
        </p:nvSpPr>
        <p:spPr>
          <a:xfrm>
            <a:off x="2819400" y="1981200"/>
            <a:ext cx="29718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943600" y="1981200"/>
            <a:ext cx="29718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dt" sz="half" idx="10"/>
          </p:nvPr>
        </p:nvSpPr>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DC6CEEE1-9C7A-48AC-8E53-952ADFF47822}" type="slidenum">
              <a:rPr lang="zh-CN" altLang="en-US"/>
              <a:pPr>
                <a:defRPr/>
              </a:pPr>
              <a:t>‹#›</a:t>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1187450" y="692150"/>
            <a:ext cx="7727950" cy="54038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5"/>
          <p:cNvSpPr>
            <a:spLocks noGrp="1" noChangeArrowheads="1"/>
          </p:cNvSpPr>
          <p:nvPr>
            <p:ph type="dt" sz="half" idx="10"/>
          </p:nvPr>
        </p:nvSpPr>
        <p:spPr/>
        <p:txBody>
          <a:bodyPr/>
          <a:lstStyle>
            <a:lvl1pPr>
              <a:defRPr/>
            </a:lvl1pPr>
          </a:lstStyle>
          <a:p>
            <a:pPr>
              <a:defRPr/>
            </a:pPr>
            <a:endParaRPr lang="en-US" altLang="zh-CN"/>
          </a:p>
        </p:txBody>
      </p:sp>
      <p:sp>
        <p:nvSpPr>
          <p:cNvPr id="4" name="Rectangle 6"/>
          <p:cNvSpPr>
            <a:spLocks noGrp="1" noChangeArrowheads="1"/>
          </p:cNvSpPr>
          <p:nvPr>
            <p:ph type="ftr" sz="quarter" idx="11"/>
          </p:nvPr>
        </p:nvSpPr>
        <p:spPr/>
        <p:txBody>
          <a:bodyPr/>
          <a:lstStyle>
            <a:lvl1pPr>
              <a:defRPr/>
            </a:lvl1pPr>
          </a:lstStyle>
          <a:p>
            <a:pPr>
              <a:defRPr/>
            </a:pPr>
            <a:endParaRPr lang="en-US" altLang="zh-CN"/>
          </a:p>
        </p:txBody>
      </p:sp>
      <p:sp>
        <p:nvSpPr>
          <p:cNvPr id="5" name="Rectangle 7"/>
          <p:cNvSpPr>
            <a:spLocks noGrp="1" noChangeArrowheads="1"/>
          </p:cNvSpPr>
          <p:nvPr>
            <p:ph type="sldNum" sz="quarter" idx="12"/>
          </p:nvPr>
        </p:nvSpPr>
        <p:spPr/>
        <p:txBody>
          <a:bodyPr/>
          <a:lstStyle>
            <a:lvl1pPr>
              <a:defRPr/>
            </a:lvl1pPr>
          </a:lstStyle>
          <a:p>
            <a:pPr>
              <a:defRPr/>
            </a:pPr>
            <a:fld id="{A451B2CC-D984-40B1-AE3F-F824478A226C}" type="slidenum">
              <a:rPr lang="zh-CN" altLang="en-US"/>
              <a:pPr>
                <a:defRPr/>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938"/>
            <a:ext cx="916305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eaLnBrk="1" hangingPunct="1">
              <a:defRPr/>
            </a:pPr>
            <a:endParaRPr lang="en-US">
              <a:latin typeface="+mn-lt"/>
              <a:ea typeface="+mn-ea"/>
            </a:endParaRPr>
          </a:p>
        </p:txBody>
      </p:sp>
      <p:sp>
        <p:nvSpPr>
          <p:cNvPr id="8" name="Freeform 7"/>
          <p:cNvSpPr>
            <a:spLocks/>
          </p:cNvSpPr>
          <p:nvPr/>
        </p:nvSpPr>
        <p:spPr bwMode="auto">
          <a:xfrm>
            <a:off x="4381500" y="-7938"/>
            <a:ext cx="47625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eaLnBrk="1" hangingPunct="1">
              <a:defRPr/>
            </a:pPr>
            <a:endParaRPr lang="en-US">
              <a:latin typeface="+mn-lt"/>
              <a:ea typeface="+mn-ea"/>
            </a:endParaRPr>
          </a:p>
        </p:txBody>
      </p:sp>
      <p:sp>
        <p:nvSpPr>
          <p:cNvPr id="2052" name="Title Placeholder 8"/>
          <p:cNvSpPr>
            <a:spLocks noGrp="1"/>
          </p:cNvSpPr>
          <p:nvPr>
            <p:ph type="title"/>
          </p:nvPr>
        </p:nvSpPr>
        <p:spPr bwMode="auto">
          <a:xfrm>
            <a:off x="457200" y="704850"/>
            <a:ext cx="8229600" cy="1143000"/>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lvl="0"/>
            <a:r>
              <a:rPr lang="en-US" altLang="zh-CN"/>
              <a:t>Click to edit Master title style</a:t>
            </a:r>
          </a:p>
        </p:txBody>
      </p:sp>
      <p:sp>
        <p:nvSpPr>
          <p:cNvPr id="2053" name="Text Placeholder 29"/>
          <p:cNvSpPr>
            <a:spLocks noGrp="1"/>
          </p:cNvSpPr>
          <p:nvPr>
            <p:ph type="body" idx="1"/>
          </p:nvPr>
        </p:nvSpPr>
        <p:spPr bwMode="auto">
          <a:xfrm>
            <a:off x="457200" y="1935163"/>
            <a:ext cx="8229600" cy="43894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defRPr/>
            </a:pPr>
            <a:endParaRPr lang="en-US" altLang="zh-CN"/>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defRPr/>
            </a:pPr>
            <a:endParaRPr lang="en-US" altLang="zh-CN"/>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smtClean="0">
                <a:solidFill>
                  <a:schemeClr val="tx2">
                    <a:shade val="90000"/>
                  </a:schemeClr>
                </a:solidFill>
              </a:defRPr>
            </a:lvl1pPr>
          </a:lstStyle>
          <a:p>
            <a:pPr>
              <a:defRPr/>
            </a:pPr>
            <a:fld id="{6ED09946-BC78-4E2A-932E-1FB7B7AB144C}" type="slidenum">
              <a:rPr lang="zh-CN" altLang="en-US"/>
              <a:pPr>
                <a:defRPr/>
              </a:pPr>
              <a:t>‹#›</a:t>
            </a:fld>
            <a:endParaRPr lang="en-US" altLang="zh-CN"/>
          </a:p>
        </p:txBody>
      </p:sp>
      <p:grpSp>
        <p:nvGrpSpPr>
          <p:cNvPr id="2057" name="Group 1"/>
          <p:cNvGrpSpPr>
            <a:grpSpLocks/>
          </p:cNvGrpSpPr>
          <p:nvPr/>
        </p:nvGrpSpPr>
        <p:grpSpPr bwMode="auto">
          <a:xfrm>
            <a:off x="-19050" y="203200"/>
            <a:ext cx="9180513" cy="647700"/>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a:defRPr/>
              </a:pPr>
              <a:endParaRPr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a:defRPr/>
              </a:pPr>
              <a:endParaRPr lang="en-US"/>
            </a:p>
          </p:txBody>
        </p:sp>
      </p:grpSp>
    </p:spTree>
  </p:cSld>
  <p:clrMap bg1="lt1" tx1="dk1" bg2="lt2" tx2="dk2" accent1="accent1" accent2="accent2" accent3="accent3" accent4="accent4" accent5="accent5" accent6="accent6" hlink="hlink" folHlink="folHlink"/>
  <p:sldLayoutIdLst>
    <p:sldLayoutId id="2147483844" r:id="rId1"/>
    <p:sldLayoutId id="2147483836" r:id="rId2"/>
    <p:sldLayoutId id="2147483845" r:id="rId3"/>
    <p:sldLayoutId id="2147483837" r:id="rId4"/>
    <p:sldLayoutId id="2147483838" r:id="rId5"/>
    <p:sldLayoutId id="2147483839" r:id="rId6"/>
    <p:sldLayoutId id="2147483840" r:id="rId7"/>
    <p:sldLayoutId id="2147483841" r:id="rId8"/>
    <p:sldLayoutId id="2147483846" r:id="rId9"/>
    <p:sldLayoutId id="2147483842" r:id="rId10"/>
    <p:sldLayoutId id="2147483843" r:id="rId11"/>
    <p:sldLayoutId id="2147483847" r:id="rId12"/>
    <p:sldLayoutId id="2147483848" r:id="rId13"/>
  </p:sldLayoutIdLst>
  <p:hf hdr="0" ftr="0" dt="0"/>
  <p:txStyles>
    <p:titleStyle>
      <a:lvl1pPr algn="l" rtl="0" fontAlgn="base">
        <a:spcBef>
          <a:spcPct val="0"/>
        </a:spcBef>
        <a:spcAft>
          <a:spcPct val="0"/>
        </a:spcAft>
        <a:defRPr sz="5000" kern="1200">
          <a:solidFill>
            <a:schemeClr val="tx2"/>
          </a:solidFill>
          <a:latin typeface="+mj-lt"/>
          <a:ea typeface="+mj-ea"/>
          <a:cs typeface="+mj-cs"/>
        </a:defRPr>
      </a:lvl1pPr>
      <a:lvl2pPr algn="l" rtl="0" fontAlgn="base">
        <a:spcBef>
          <a:spcPct val="0"/>
        </a:spcBef>
        <a:spcAft>
          <a:spcPct val="0"/>
        </a:spcAft>
        <a:defRPr sz="5000">
          <a:solidFill>
            <a:schemeClr val="tx2"/>
          </a:solidFill>
          <a:latin typeface="Calibri" pitchFamily="34" charset="0"/>
        </a:defRPr>
      </a:lvl2pPr>
      <a:lvl3pPr algn="l" rtl="0" fontAlgn="base">
        <a:spcBef>
          <a:spcPct val="0"/>
        </a:spcBef>
        <a:spcAft>
          <a:spcPct val="0"/>
        </a:spcAft>
        <a:defRPr sz="5000">
          <a:solidFill>
            <a:schemeClr val="tx2"/>
          </a:solidFill>
          <a:latin typeface="Calibri" pitchFamily="34" charset="0"/>
        </a:defRPr>
      </a:lvl3pPr>
      <a:lvl4pPr algn="l" rtl="0" fontAlgn="base">
        <a:spcBef>
          <a:spcPct val="0"/>
        </a:spcBef>
        <a:spcAft>
          <a:spcPct val="0"/>
        </a:spcAft>
        <a:defRPr sz="5000">
          <a:solidFill>
            <a:schemeClr val="tx2"/>
          </a:solidFill>
          <a:latin typeface="Calibri" pitchFamily="34" charset="0"/>
        </a:defRPr>
      </a:lvl4pPr>
      <a:lvl5pPr algn="l" rtl="0" fontAlgn="base">
        <a:spcBef>
          <a:spcPct val="0"/>
        </a:spcBef>
        <a:spcAft>
          <a:spcPct val="0"/>
        </a:spcAft>
        <a:defRPr sz="5000">
          <a:solidFill>
            <a:schemeClr val="tx2"/>
          </a:solidFill>
          <a:latin typeface="Calibri" pitchFamily="34" charset="0"/>
        </a:defRPr>
      </a:lvl5pPr>
      <a:lvl6pPr marL="457200" algn="l" rtl="0" fontAlgn="base">
        <a:spcBef>
          <a:spcPct val="0"/>
        </a:spcBef>
        <a:spcAft>
          <a:spcPct val="0"/>
        </a:spcAft>
        <a:defRPr sz="5000">
          <a:solidFill>
            <a:schemeClr val="tx2"/>
          </a:solidFill>
          <a:latin typeface="Calibri" pitchFamily="34" charset="0"/>
        </a:defRPr>
      </a:lvl6pPr>
      <a:lvl7pPr marL="914400" algn="l" rtl="0" fontAlgn="base">
        <a:spcBef>
          <a:spcPct val="0"/>
        </a:spcBef>
        <a:spcAft>
          <a:spcPct val="0"/>
        </a:spcAft>
        <a:defRPr sz="5000">
          <a:solidFill>
            <a:schemeClr val="tx2"/>
          </a:solidFill>
          <a:latin typeface="Calibri" pitchFamily="34" charset="0"/>
        </a:defRPr>
      </a:lvl7pPr>
      <a:lvl8pPr marL="1371600" algn="l" rtl="0" fontAlgn="base">
        <a:spcBef>
          <a:spcPct val="0"/>
        </a:spcBef>
        <a:spcAft>
          <a:spcPct val="0"/>
        </a:spcAft>
        <a:defRPr sz="5000">
          <a:solidFill>
            <a:schemeClr val="tx2"/>
          </a:solidFill>
          <a:latin typeface="Calibri" pitchFamily="34" charset="0"/>
        </a:defRPr>
      </a:lvl8pPr>
      <a:lvl9pPr marL="1828800" algn="l" rtl="0" fontAlgn="base">
        <a:spcBef>
          <a:spcPct val="0"/>
        </a:spcBef>
        <a:spcAft>
          <a:spcPct val="0"/>
        </a:spcAft>
        <a:defRPr sz="5000">
          <a:solidFill>
            <a:schemeClr val="tx2"/>
          </a:solidFill>
          <a:latin typeface="Calibri" pitchFamily="34" charset="0"/>
        </a:defRPr>
      </a:lvl9pPr>
    </p:titleStyle>
    <p:bodyStyle>
      <a:lvl1pPr marL="273050" indent="-273050" algn="l" rtl="0" fontAlgn="base">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39763" indent="-246063" algn="l" rtl="0" fontAlgn="base">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063" algn="l" rtl="0" fontAlgn="base">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fontAlgn="base">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088" indent="-209550" algn="l" rtl="0" fontAlgn="base">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hyperlink" Target="http://en.wikipedia.org/wiki/Computer_program"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audio" Target="../media/audio2.wav"/><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audio" Target="../media/audio2.wav"/><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audio" Target="../media/audio3.wav"/><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4.wav"/><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audio" Target="../media/audio3.wav"/><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audio" Target="../media/audio2.wav"/><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audio" Target="../media/audio3.wav"/><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audio" Target="../media/audio3.wav"/><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2.xml"/><Relationship Id="rId1" Type="http://schemas.openxmlformats.org/officeDocument/2006/relationships/vmlDrawing" Target="../drawings/vmlDrawing1.vml"/><Relationship Id="rId4" Type="http://schemas.openxmlformats.org/officeDocument/2006/relationships/image" Target="../media/image15.emf"/></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611188" y="476250"/>
            <a:ext cx="7993062" cy="1008063"/>
          </a:xfrm>
        </p:spPr>
        <p:txBody>
          <a:bodyPr/>
          <a:lstStyle/>
          <a:p>
            <a:pPr algn="ctr"/>
            <a:r>
              <a:rPr lang="zh-CN" altLang="en-US" sz="4900" b="1" dirty="0">
                <a:solidFill>
                  <a:srgbClr val="C00000"/>
                </a:solidFill>
                <a:effectLst>
                  <a:outerShdw blurRad="38100" dist="38100" dir="2700000" algn="tl">
                    <a:srgbClr val="000000">
                      <a:alpha val="43137"/>
                    </a:srgbClr>
                  </a:outerShdw>
                </a:effectLst>
                <a:latin typeface="黑体" pitchFamily="2" charset="-122"/>
                <a:ea typeface="黑体" pitchFamily="2" charset="-122"/>
              </a:rPr>
              <a:t>第1章 程序设计基础</a:t>
            </a:r>
            <a:endParaRPr lang="zh-CN" altLang="en-US" b="1" dirty="0">
              <a:solidFill>
                <a:srgbClr val="C00000"/>
              </a:solidFill>
              <a:effectLst>
                <a:outerShdw blurRad="38100" dist="38100" dir="2700000" algn="tl">
                  <a:srgbClr val="000000">
                    <a:alpha val="43137"/>
                  </a:srgbClr>
                </a:outerShdw>
              </a:effectLst>
              <a:latin typeface="黑体" pitchFamily="2" charset="-122"/>
              <a:ea typeface="黑体" pitchFamily="2" charset="-122"/>
            </a:endParaRPr>
          </a:p>
        </p:txBody>
      </p:sp>
      <p:sp>
        <p:nvSpPr>
          <p:cNvPr id="291843" name="Rectangle 3"/>
          <p:cNvSpPr>
            <a:spLocks noGrp="1" noChangeArrowheads="1"/>
          </p:cNvSpPr>
          <p:nvPr>
            <p:ph idx="1"/>
          </p:nvPr>
        </p:nvSpPr>
        <p:spPr>
          <a:xfrm>
            <a:off x="323850" y="1700213"/>
            <a:ext cx="8569325" cy="4200525"/>
          </a:xfrm>
        </p:spPr>
        <p:txBody>
          <a:bodyPr>
            <a:normAutofit/>
          </a:bodyPr>
          <a:lstStyle/>
          <a:p>
            <a:pPr marL="0" indent="0" fontAlgn="auto">
              <a:spcAft>
                <a:spcPts val="0"/>
              </a:spcAft>
              <a:buClr>
                <a:schemeClr val="accent3"/>
              </a:buClr>
              <a:buFont typeface="Monotype Sorts" pitchFamily="2" charset="2"/>
              <a:buNone/>
              <a:defRPr/>
            </a:pPr>
            <a:r>
              <a:rPr lang="zh-CN" altLang="en-US" sz="3100" b="1" dirty="0">
                <a:effectLst>
                  <a:outerShdw blurRad="38100" dist="38100" dir="2700000" algn="tl">
                    <a:srgbClr val="000000"/>
                  </a:outerShdw>
                </a:effectLst>
              </a:rPr>
              <a:t>本章学习的目标：</a:t>
            </a:r>
          </a:p>
          <a:p>
            <a:pPr marL="0" indent="0" fontAlgn="auto">
              <a:spcAft>
                <a:spcPts val="0"/>
              </a:spcAft>
              <a:buClr>
                <a:schemeClr val="accent3"/>
              </a:buClr>
              <a:buFont typeface="Monotype Sorts" pitchFamily="2" charset="2"/>
              <a:buNone/>
              <a:defRPr/>
            </a:pPr>
            <a:r>
              <a:rPr lang="en-US" altLang="zh-CN" sz="3100" b="1" dirty="0">
                <a:effectLst>
                  <a:outerShdw blurRad="38100" dist="38100" dir="2700000" algn="tl">
                    <a:srgbClr val="000000"/>
                  </a:outerShdw>
                </a:effectLst>
              </a:rPr>
              <a:t>1</a:t>
            </a:r>
            <a:r>
              <a:rPr lang="zh-CN" altLang="en-US" sz="3100" b="1" dirty="0">
                <a:effectLst>
                  <a:outerShdw blurRad="38100" dist="38100" dir="2700000" algn="tl">
                    <a:srgbClr val="000000"/>
                  </a:outerShdw>
                </a:effectLst>
              </a:rPr>
              <a:t>、了解计算机的组成和工作原理。</a:t>
            </a:r>
          </a:p>
          <a:p>
            <a:pPr marL="0" indent="0" fontAlgn="auto">
              <a:spcAft>
                <a:spcPts val="0"/>
              </a:spcAft>
              <a:buClr>
                <a:schemeClr val="accent3"/>
              </a:buClr>
              <a:buFont typeface="Monotype Sorts" pitchFamily="2" charset="2"/>
              <a:buNone/>
              <a:defRPr/>
            </a:pPr>
            <a:r>
              <a:rPr lang="en-US" altLang="zh-CN" sz="3100" b="1" dirty="0">
                <a:effectLst>
                  <a:outerShdw blurRad="38100" dist="38100" dir="2700000" algn="tl">
                    <a:srgbClr val="000000"/>
                  </a:outerShdw>
                </a:effectLst>
              </a:rPr>
              <a:t>2</a:t>
            </a:r>
            <a:r>
              <a:rPr lang="zh-CN" altLang="en-US" sz="3100" b="1" dirty="0">
                <a:effectLst>
                  <a:outerShdw blurRad="38100" dist="38100" dir="2700000" algn="tl">
                    <a:srgbClr val="000000"/>
                  </a:outerShdw>
                </a:effectLst>
              </a:rPr>
              <a:t>、了解程序、程序设计、程序设计语言。</a:t>
            </a:r>
          </a:p>
          <a:p>
            <a:pPr marL="0" indent="0" fontAlgn="auto">
              <a:spcAft>
                <a:spcPts val="0"/>
              </a:spcAft>
              <a:buClr>
                <a:schemeClr val="accent3"/>
              </a:buClr>
              <a:buFont typeface="Monotype Sorts" pitchFamily="2" charset="2"/>
              <a:buNone/>
              <a:defRPr/>
            </a:pPr>
            <a:r>
              <a:rPr lang="en-US" altLang="zh-CN" sz="3100" b="1" dirty="0">
                <a:effectLst>
                  <a:outerShdw blurRad="38100" dist="38100" dir="2700000" algn="tl">
                    <a:srgbClr val="000000"/>
                  </a:outerShdw>
                </a:effectLst>
              </a:rPr>
              <a:t>3</a:t>
            </a:r>
            <a:r>
              <a:rPr lang="zh-CN" altLang="en-US" sz="3100" b="1" dirty="0">
                <a:effectLst>
                  <a:outerShdw blurRad="38100" dist="38100" dir="2700000" algn="tl">
                    <a:srgbClr val="000000"/>
                  </a:outerShdw>
                </a:effectLst>
              </a:rPr>
              <a:t>、了解算法、数据结构。</a:t>
            </a:r>
          </a:p>
          <a:p>
            <a:pPr marL="0" indent="0" fontAlgn="auto">
              <a:spcAft>
                <a:spcPts val="0"/>
              </a:spcAft>
              <a:buClr>
                <a:schemeClr val="accent3"/>
              </a:buClr>
              <a:buFont typeface="Monotype Sorts" pitchFamily="2" charset="2"/>
              <a:buNone/>
              <a:defRPr/>
            </a:pPr>
            <a:r>
              <a:rPr lang="en-US" altLang="zh-CN" sz="3100" b="1" dirty="0">
                <a:effectLst>
                  <a:outerShdw blurRad="38100" dist="38100" dir="2700000" algn="tl">
                    <a:srgbClr val="000000"/>
                  </a:outerShdw>
                </a:effectLst>
              </a:rPr>
              <a:t>4</a:t>
            </a:r>
            <a:r>
              <a:rPr lang="zh-CN" altLang="en-US" sz="3100" b="1" dirty="0">
                <a:effectLst>
                  <a:outerShdw blurRad="38100" dist="38100" dir="2700000" algn="tl">
                    <a:srgbClr val="000000"/>
                  </a:outerShdw>
                </a:effectLst>
              </a:rPr>
              <a:t>、了解结构化程序设计、结构化控制结构。</a:t>
            </a:r>
          </a:p>
          <a:p>
            <a:pPr marL="0" indent="0" fontAlgn="auto">
              <a:spcAft>
                <a:spcPts val="0"/>
              </a:spcAft>
              <a:buClr>
                <a:schemeClr val="accent3"/>
              </a:buClr>
              <a:buFont typeface="Monotype Sorts" pitchFamily="2" charset="2"/>
              <a:buNone/>
              <a:defRPr/>
            </a:pPr>
            <a:r>
              <a:rPr lang="en-US" altLang="zh-CN" sz="3100" b="1" dirty="0">
                <a:effectLst>
                  <a:outerShdw blurRad="38100" dist="38100" dir="2700000" algn="tl">
                    <a:srgbClr val="000000"/>
                  </a:outerShdw>
                </a:effectLst>
              </a:rPr>
              <a:t>5</a:t>
            </a:r>
            <a:r>
              <a:rPr lang="zh-CN" altLang="en-US" sz="3100" b="1" dirty="0">
                <a:effectLst>
                  <a:outerShdw blurRad="38100" dist="38100" dir="2700000" algn="tl">
                    <a:srgbClr val="000000"/>
                  </a:outerShdw>
                </a:effectLst>
              </a:rPr>
              <a:t>、了解</a:t>
            </a:r>
            <a:r>
              <a:rPr lang="en-US" altLang="zh-CN" sz="3100" b="1" dirty="0">
                <a:effectLst>
                  <a:outerShdw blurRad="38100" dist="38100" dir="2700000" algn="tl">
                    <a:srgbClr val="000000"/>
                  </a:outerShdw>
                </a:effectLst>
              </a:rPr>
              <a:t>C</a:t>
            </a:r>
            <a:r>
              <a:rPr lang="zh-CN" altLang="en-US" sz="3100" b="1" dirty="0">
                <a:effectLst>
                  <a:outerShdw blurRad="38100" dist="38100" dir="2700000" algn="tl">
                    <a:srgbClr val="000000"/>
                  </a:outerShdw>
                </a:effectLst>
              </a:rPr>
              <a:t>程序设计语言的特点，初步认识</a:t>
            </a:r>
            <a:r>
              <a:rPr lang="en-US" altLang="zh-CN" sz="3100" b="1" dirty="0">
                <a:effectLst>
                  <a:outerShdw blurRad="38100" dist="38100" dir="2700000" algn="tl">
                    <a:srgbClr val="000000"/>
                  </a:outerShdw>
                </a:effectLst>
              </a:rPr>
              <a:t>C</a:t>
            </a:r>
            <a:r>
              <a:rPr lang="zh-CN" altLang="en-US" sz="3100" b="1" dirty="0">
                <a:effectLst>
                  <a:outerShdw blurRad="38100" dist="38100" dir="2700000" algn="tl">
                    <a:srgbClr val="000000"/>
                  </a:outerShdw>
                </a:effectLst>
              </a:rPr>
              <a:t>程序设计语言，</a:t>
            </a:r>
            <a:r>
              <a:rPr lang="en-US" altLang="zh-CN" sz="3100" b="1" dirty="0">
                <a:effectLst>
                  <a:outerShdw blurRad="38100" dist="38100" dir="2700000" algn="tl">
                    <a:srgbClr val="000000"/>
                  </a:outerShdw>
                </a:effectLst>
              </a:rPr>
              <a:t>C</a:t>
            </a:r>
            <a:r>
              <a:rPr lang="zh-CN" altLang="en-US" sz="3100" b="1" dirty="0">
                <a:effectLst>
                  <a:outerShdw blurRad="38100" dist="38100" dir="2700000" algn="tl">
                    <a:srgbClr val="000000"/>
                  </a:outerShdw>
                </a:effectLst>
              </a:rPr>
              <a:t>程序的上机过程。</a:t>
            </a:r>
            <a:r>
              <a:rPr lang="zh-CN" altLang="en-US" sz="3100" dirty="0"/>
              <a:t> </a:t>
            </a:r>
          </a:p>
        </p:txBody>
      </p:sp>
      <p:sp>
        <p:nvSpPr>
          <p:cNvPr id="6" name="灯片编号占位符 5"/>
          <p:cNvSpPr>
            <a:spLocks noGrp="1"/>
          </p:cNvSpPr>
          <p:nvPr>
            <p:ph type="sldNum" sz="quarter" idx="12"/>
          </p:nvPr>
        </p:nvSpPr>
        <p:spPr/>
        <p:txBody>
          <a:bodyPr/>
          <a:lstStyle/>
          <a:p>
            <a:pPr defTabSz="1128713">
              <a:defRPr/>
            </a:pPr>
            <a:fld id="{E8207337-10E4-4621-BAF9-E2A38F59D2CB}" type="slidenum">
              <a:rPr lang="zh-CN" altLang="en-US">
                <a:latin typeface="+mn-lt"/>
              </a:rPr>
              <a:pPr defTabSz="1128713">
                <a:defRPr/>
              </a:pPr>
              <a:t>1</a:t>
            </a:fld>
            <a:endParaRPr lang="en-US" altLang="zh-CN" dirty="0">
              <a:latin typeface="+mn-lt"/>
            </a:endParaRPr>
          </a:p>
        </p:txBody>
      </p:sp>
    </p:spTree>
  </p:cSld>
  <p:clrMapOvr>
    <a:masterClrMapping/>
  </p:clrMapOvr>
  <p:transition>
    <p:random/>
  </p:transition>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3"/>
          <p:cNvSpPr>
            <a:spLocks noGrp="1" noChangeArrowheads="1"/>
          </p:cNvSpPr>
          <p:nvPr>
            <p:ph idx="1"/>
          </p:nvPr>
        </p:nvSpPr>
        <p:spPr>
          <a:xfrm>
            <a:off x="468313" y="476250"/>
            <a:ext cx="8382000" cy="6121400"/>
          </a:xfrm>
        </p:spPr>
        <p:txBody>
          <a:bodyPr/>
          <a:lstStyle/>
          <a:p>
            <a:pPr marL="0" indent="0">
              <a:buFont typeface="Monotype Sorts" charset="2"/>
              <a:buNone/>
            </a:pPr>
            <a:r>
              <a:rPr lang="zh-CN" altLang="en-US" sz="3600" b="1" dirty="0">
                <a:solidFill>
                  <a:srgbClr val="C00000"/>
                </a:solidFill>
                <a:latin typeface="黑体" pitchFamily="2" charset="-122"/>
                <a:ea typeface="黑体" pitchFamily="2" charset="-122"/>
              </a:rPr>
              <a:t>电子计算机</a:t>
            </a:r>
          </a:p>
          <a:p>
            <a:pPr marL="0" indent="0">
              <a:buFont typeface="Monotype Sorts" charset="2"/>
              <a:buNone/>
            </a:pPr>
            <a:r>
              <a:rPr lang="zh-CN" altLang="en-US" sz="3200" b="1" dirty="0">
                <a:solidFill>
                  <a:srgbClr val="000066"/>
                </a:solidFill>
                <a:latin typeface="楷体_GB2312" pitchFamily="49" charset="-122"/>
                <a:ea typeface="楷体_GB2312" pitchFamily="49" charset="-122"/>
              </a:rPr>
              <a:t>由电子器件和其他有关器件设备组成的自动计算装置或自动解题装置。</a:t>
            </a:r>
            <a:r>
              <a:rPr lang="en-US" altLang="zh-CN" sz="3200" b="1" dirty="0">
                <a:solidFill>
                  <a:srgbClr val="000066"/>
                </a:solidFill>
                <a:latin typeface="楷体_GB2312" pitchFamily="49" charset="-122"/>
                <a:ea typeface="楷体_GB2312" pitchFamily="49" charset="-122"/>
              </a:rPr>
              <a:t>   </a:t>
            </a:r>
            <a:r>
              <a:rPr lang="en-US" altLang="zh-CN" sz="1800" b="1" dirty="0">
                <a:solidFill>
                  <a:srgbClr val="000066"/>
                </a:solidFill>
                <a:latin typeface="楷体_GB2312" pitchFamily="49" charset="-122"/>
                <a:ea typeface="楷体_GB2312" pitchFamily="49" charset="-122"/>
              </a:rPr>
              <a:t>—</a:t>
            </a:r>
            <a:r>
              <a:rPr lang="zh-CN" altLang="en-US" sz="1800" b="1" dirty="0">
                <a:solidFill>
                  <a:srgbClr val="000066"/>
                </a:solidFill>
                <a:latin typeface="楷体_GB2312" pitchFamily="49" charset="-122"/>
                <a:ea typeface="楷体_GB2312" pitchFamily="49" charset="-122"/>
              </a:rPr>
              <a:t>计算机科学技术百科全书</a:t>
            </a:r>
            <a:endParaRPr lang="en-US" altLang="zh-CN" sz="1800" b="1" dirty="0">
              <a:solidFill>
                <a:srgbClr val="000066"/>
              </a:solidFill>
              <a:latin typeface="楷体_GB2312" pitchFamily="49" charset="-122"/>
              <a:ea typeface="楷体_GB2312" pitchFamily="49" charset="-122"/>
            </a:endParaRPr>
          </a:p>
          <a:p>
            <a:pPr marL="0" indent="0">
              <a:buFont typeface="Monotype Sorts" charset="2"/>
              <a:buNone/>
            </a:pPr>
            <a:endParaRPr lang="zh-CN" altLang="en-US" sz="3200" b="1" dirty="0">
              <a:solidFill>
                <a:srgbClr val="000066"/>
              </a:solidFill>
              <a:latin typeface="楷体_GB2312" pitchFamily="49" charset="-122"/>
              <a:ea typeface="楷体_GB2312" pitchFamily="49" charset="-122"/>
            </a:endParaRPr>
          </a:p>
        </p:txBody>
      </p:sp>
      <p:sp>
        <p:nvSpPr>
          <p:cNvPr id="17" name="灯片编号占位符 5"/>
          <p:cNvSpPr>
            <a:spLocks noGrp="1"/>
          </p:cNvSpPr>
          <p:nvPr>
            <p:ph type="sldNum" sz="quarter" idx="12"/>
          </p:nvPr>
        </p:nvSpPr>
        <p:spPr/>
        <p:txBody>
          <a:bodyPr/>
          <a:lstStyle/>
          <a:p>
            <a:pPr defTabSz="1128713">
              <a:defRPr/>
            </a:pPr>
            <a:fld id="{C12F9A14-4A1D-4AD6-BD1C-A613D76BA3AE}" type="slidenum">
              <a:rPr lang="zh-CN" altLang="en-US">
                <a:latin typeface="+mn-lt"/>
              </a:rPr>
              <a:pPr defTabSz="1128713">
                <a:defRPr/>
              </a:pPr>
              <a:t>2</a:t>
            </a:fld>
            <a:endParaRPr lang="en-US" altLang="zh-CN" dirty="0">
              <a:latin typeface="+mn-lt"/>
            </a:endParaRPr>
          </a:p>
        </p:txBody>
      </p:sp>
      <p:sp>
        <p:nvSpPr>
          <p:cNvPr id="11269" name="TextBox 17"/>
          <p:cNvSpPr txBox="1">
            <a:spLocks noChangeArrowheads="1"/>
          </p:cNvSpPr>
          <p:nvPr/>
        </p:nvSpPr>
        <p:spPr bwMode="auto">
          <a:xfrm>
            <a:off x="4716016" y="3936479"/>
            <a:ext cx="4213672" cy="2654300"/>
          </a:xfrm>
          <a:prstGeom prst="rect">
            <a:avLst/>
          </a:prstGeom>
          <a:noFill/>
          <a:ln w="9525">
            <a:noFill/>
            <a:miter lim="800000"/>
            <a:headEnd/>
            <a:tailEnd/>
          </a:ln>
        </p:spPr>
        <p:txBody>
          <a:bodyPr wrap="square">
            <a:spAutoFit/>
          </a:bodyPr>
          <a:lstStyle/>
          <a:p>
            <a:pPr eaLnBrk="1" hangingPunct="1">
              <a:buFont typeface="Monotype Sorts" charset="2"/>
              <a:buNone/>
            </a:pPr>
            <a:r>
              <a:rPr lang="zh-CN" altLang="en-US" sz="2800" b="1" dirty="0">
                <a:latin typeface="楷体_GB2312" pitchFamily="49" charset="-122"/>
                <a:ea typeface="楷体_GB2312" pitchFamily="49" charset="-122"/>
              </a:rPr>
              <a:t>计算机主要由中央处理器</a:t>
            </a:r>
            <a:r>
              <a:rPr lang="en-US" altLang="zh-CN" sz="2800" b="1" dirty="0">
                <a:latin typeface="楷体_GB2312" pitchFamily="49" charset="-122"/>
                <a:ea typeface="楷体_GB2312" pitchFamily="49" charset="-122"/>
              </a:rPr>
              <a:t>(CPU)</a:t>
            </a:r>
            <a:r>
              <a:rPr lang="zh-CN" altLang="en-US" sz="2800" b="1" dirty="0">
                <a:latin typeface="楷体_GB2312" pitchFamily="49" charset="-122"/>
                <a:ea typeface="楷体_GB2312" pitchFamily="49" charset="-122"/>
              </a:rPr>
              <a:t>、主存储器</a:t>
            </a:r>
            <a:r>
              <a:rPr lang="en-US" altLang="zh-CN" sz="2800" b="1" dirty="0">
                <a:latin typeface="楷体_GB2312" pitchFamily="49" charset="-122"/>
                <a:ea typeface="楷体_GB2312" pitchFamily="49" charset="-122"/>
              </a:rPr>
              <a:t>(MM)</a:t>
            </a:r>
            <a:r>
              <a:rPr lang="zh-CN" altLang="en-US" sz="2800" b="1" dirty="0">
                <a:latin typeface="楷体_GB2312" pitchFamily="49" charset="-122"/>
                <a:ea typeface="楷体_GB2312" pitchFamily="49" charset="-122"/>
              </a:rPr>
              <a:t>、输入输出设备</a:t>
            </a:r>
            <a:r>
              <a:rPr lang="en-US" altLang="zh-CN" sz="2800" b="1" dirty="0">
                <a:latin typeface="楷体_GB2312" pitchFamily="49" charset="-122"/>
                <a:ea typeface="楷体_GB2312" pitchFamily="49" charset="-122"/>
              </a:rPr>
              <a:t>(I/O)</a:t>
            </a:r>
            <a:r>
              <a:rPr lang="zh-CN" altLang="en-US" sz="2800" b="1" dirty="0">
                <a:latin typeface="楷体_GB2312" pitchFamily="49" charset="-122"/>
                <a:ea typeface="楷体_GB2312" pitchFamily="49" charset="-122"/>
              </a:rPr>
              <a:t>三大部分组成。</a:t>
            </a:r>
          </a:p>
          <a:p>
            <a:pPr eaLnBrk="1" hangingPunct="1">
              <a:buFont typeface="Monotype Sorts" charset="2"/>
              <a:buNone/>
            </a:pPr>
            <a:endParaRPr lang="zh-CN" altLang="en-US" sz="2800" b="1" dirty="0">
              <a:solidFill>
                <a:srgbClr val="0000FF"/>
              </a:solidFill>
              <a:latin typeface="楷体_GB2312" pitchFamily="49" charset="-122"/>
              <a:ea typeface="楷体_GB2312" pitchFamily="49" charset="-122"/>
            </a:endParaRPr>
          </a:p>
          <a:p>
            <a:endParaRPr lang="zh-CN" altLang="en-US" sz="2800" dirty="0"/>
          </a:p>
        </p:txBody>
      </p:sp>
      <p:sp>
        <p:nvSpPr>
          <p:cNvPr id="31" name="Rectangle 30"/>
          <p:cNvSpPr/>
          <p:nvPr/>
        </p:nvSpPr>
        <p:spPr>
          <a:xfrm>
            <a:off x="179512" y="4941168"/>
            <a:ext cx="720080" cy="7200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t>CPU</a:t>
            </a:r>
            <a:endParaRPr lang="zh-CN" altLang="en-US" sz="2000" dirty="0"/>
          </a:p>
        </p:txBody>
      </p:sp>
      <p:sp>
        <p:nvSpPr>
          <p:cNvPr id="32" name="Rectangle 31"/>
          <p:cNvSpPr/>
          <p:nvPr/>
        </p:nvSpPr>
        <p:spPr>
          <a:xfrm>
            <a:off x="1259632" y="3429000"/>
            <a:ext cx="1130424" cy="7920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t>主存</a:t>
            </a:r>
          </a:p>
        </p:txBody>
      </p:sp>
      <p:sp>
        <p:nvSpPr>
          <p:cNvPr id="34" name="Rectangle 33"/>
          <p:cNvSpPr/>
          <p:nvPr/>
        </p:nvSpPr>
        <p:spPr>
          <a:xfrm>
            <a:off x="2771800" y="4509120"/>
            <a:ext cx="1224136"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t>辅助存储器</a:t>
            </a:r>
          </a:p>
        </p:txBody>
      </p:sp>
      <p:sp>
        <p:nvSpPr>
          <p:cNvPr id="35" name="Right Arrow 34"/>
          <p:cNvSpPr/>
          <p:nvPr/>
        </p:nvSpPr>
        <p:spPr>
          <a:xfrm>
            <a:off x="1979712" y="4725144"/>
            <a:ext cx="792088" cy="43204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t>接口</a:t>
            </a:r>
          </a:p>
        </p:txBody>
      </p:sp>
      <p:sp>
        <p:nvSpPr>
          <p:cNvPr id="36" name="Up-Down Arrow 35"/>
          <p:cNvSpPr/>
          <p:nvPr/>
        </p:nvSpPr>
        <p:spPr>
          <a:xfrm>
            <a:off x="1475656" y="4221088"/>
            <a:ext cx="648072" cy="2520280"/>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系统总线</a:t>
            </a:r>
          </a:p>
        </p:txBody>
      </p:sp>
      <p:sp>
        <p:nvSpPr>
          <p:cNvPr id="37" name="Right Arrow 36"/>
          <p:cNvSpPr/>
          <p:nvPr/>
        </p:nvSpPr>
        <p:spPr>
          <a:xfrm>
            <a:off x="1979712" y="5589240"/>
            <a:ext cx="792088" cy="50405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600" dirty="0">
                <a:solidFill>
                  <a:prstClr val="white"/>
                </a:solidFill>
              </a:rPr>
              <a:t>接口</a:t>
            </a:r>
          </a:p>
        </p:txBody>
      </p:sp>
      <p:sp>
        <p:nvSpPr>
          <p:cNvPr id="38" name="Rectangle 37"/>
          <p:cNvSpPr/>
          <p:nvPr/>
        </p:nvSpPr>
        <p:spPr>
          <a:xfrm>
            <a:off x="2771800" y="5517232"/>
            <a:ext cx="1224136"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I/O</a:t>
            </a:r>
            <a:endParaRPr lang="zh-CN" altLang="en-US" sz="1400" dirty="0"/>
          </a:p>
        </p:txBody>
      </p:sp>
      <p:sp>
        <p:nvSpPr>
          <p:cNvPr id="39" name="Right Arrow 38"/>
          <p:cNvSpPr/>
          <p:nvPr/>
        </p:nvSpPr>
        <p:spPr>
          <a:xfrm>
            <a:off x="899592" y="4941168"/>
            <a:ext cx="792088" cy="648072"/>
          </a:xfrm>
          <a:prstGeom prst="rightArrow">
            <a:avLst>
              <a:gd name="adj1" fmla="val 50000"/>
              <a:gd name="adj2" fmla="val 5224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t>总线控制</a:t>
            </a:r>
          </a:p>
        </p:txBody>
      </p:sp>
      <p:sp>
        <p:nvSpPr>
          <p:cNvPr id="13" name="矩形 12"/>
          <p:cNvSpPr/>
          <p:nvPr/>
        </p:nvSpPr>
        <p:spPr>
          <a:xfrm>
            <a:off x="539552" y="260648"/>
            <a:ext cx="8136904" cy="3046988"/>
          </a:xfrm>
          <a:prstGeom prst="rect">
            <a:avLst/>
          </a:prstGeom>
          <a:solidFill>
            <a:schemeClr val="accent1"/>
          </a:solidFill>
        </p:spPr>
        <p:txBody>
          <a:bodyPr wrap="square">
            <a:spAutoFit/>
          </a:bodyPr>
          <a:lstStyle/>
          <a:p>
            <a:r>
              <a:rPr lang="en-US" altLang="zh-CN" dirty="0"/>
              <a:t>A </a:t>
            </a:r>
            <a:r>
              <a:rPr lang="en-US" altLang="zh-CN" b="1" dirty="0"/>
              <a:t>computer</a:t>
            </a:r>
            <a:r>
              <a:rPr lang="en-US" altLang="zh-CN" dirty="0"/>
              <a:t> is a general purpose device which can be </a:t>
            </a:r>
            <a:r>
              <a:rPr lang="en-US" altLang="zh-CN" dirty="0">
                <a:hlinkClick r:id="rId2" tooltip="Computer program"/>
              </a:rPr>
              <a:t>programmed</a:t>
            </a:r>
            <a:r>
              <a:rPr lang="en-US" altLang="zh-CN" dirty="0"/>
              <a:t> to carry out a finite set of arithmetic or logical operations. Since a sequence of operations can be readily changed, the computer can solve more than one kind of problem. </a:t>
            </a:r>
            <a:endParaRPr lang="zh-CN" altLang="en-US"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xit" presetSubtype="16" fill="hold" grpId="1" nodeType="clickEffect">
                                  <p:stCondLst>
                                    <p:cond delay="0"/>
                                  </p:stCondLst>
                                  <p:childTnLst>
                                    <p:animEffect transition="out" filter="box(in)">
                                      <p:cBhvr>
                                        <p:cTn id="12" dur="500"/>
                                        <p:tgtEl>
                                          <p:spTgt spid="13"/>
                                        </p:tgtEl>
                                      </p:cBhvr>
                                    </p:animEffect>
                                    <p:set>
                                      <p:cBhvr>
                                        <p:cTn id="13" dur="1" fill="hold">
                                          <p:stCondLst>
                                            <p:cond delay="49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3" grpId="1" animBg="1"/>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Rectangle 2"/>
          <p:cNvSpPr>
            <a:spLocks noGrp="1" noChangeArrowheads="1"/>
          </p:cNvSpPr>
          <p:nvPr>
            <p:ph idx="1"/>
          </p:nvPr>
        </p:nvSpPr>
        <p:spPr>
          <a:xfrm>
            <a:off x="468313" y="476250"/>
            <a:ext cx="8382000" cy="6121400"/>
          </a:xfrm>
        </p:spPr>
        <p:txBody>
          <a:bodyPr/>
          <a:lstStyle/>
          <a:p>
            <a:pPr marL="0" indent="0">
              <a:buFont typeface="Monotype Sorts" charset="2"/>
              <a:buNone/>
            </a:pPr>
            <a:r>
              <a:rPr lang="zh-CN" altLang="en-US" dirty="0"/>
              <a:t> </a:t>
            </a:r>
          </a:p>
        </p:txBody>
      </p:sp>
      <p:sp>
        <p:nvSpPr>
          <p:cNvPr id="51" name="灯片编号占位符 5"/>
          <p:cNvSpPr>
            <a:spLocks noGrp="1"/>
          </p:cNvSpPr>
          <p:nvPr>
            <p:ph type="sldNum" sz="quarter" idx="12"/>
          </p:nvPr>
        </p:nvSpPr>
        <p:spPr/>
        <p:txBody>
          <a:bodyPr/>
          <a:lstStyle/>
          <a:p>
            <a:pPr defTabSz="1128713">
              <a:defRPr/>
            </a:pPr>
            <a:fld id="{19683A2A-B1A3-4C26-86E5-7C450A8F35B2}" type="slidenum">
              <a:rPr lang="zh-CN" altLang="en-US">
                <a:latin typeface="+mn-lt"/>
              </a:rPr>
              <a:pPr defTabSz="1128713">
                <a:defRPr/>
              </a:pPr>
              <a:t>3</a:t>
            </a:fld>
            <a:endParaRPr lang="en-US" altLang="zh-CN" dirty="0">
              <a:latin typeface="+mn-lt"/>
            </a:endParaRPr>
          </a:p>
        </p:txBody>
      </p:sp>
      <p:sp>
        <p:nvSpPr>
          <p:cNvPr id="12292" name="TextBox 49"/>
          <p:cNvSpPr txBox="1">
            <a:spLocks noChangeArrowheads="1"/>
          </p:cNvSpPr>
          <p:nvPr/>
        </p:nvSpPr>
        <p:spPr bwMode="auto">
          <a:xfrm>
            <a:off x="2483768" y="5229200"/>
            <a:ext cx="4493538" cy="584775"/>
          </a:xfrm>
          <a:prstGeom prst="rect">
            <a:avLst/>
          </a:prstGeom>
          <a:noFill/>
          <a:ln w="9525">
            <a:noFill/>
            <a:miter lim="800000"/>
            <a:headEnd/>
            <a:tailEnd/>
          </a:ln>
        </p:spPr>
        <p:txBody>
          <a:bodyPr wrap="none">
            <a:spAutoFit/>
          </a:bodyPr>
          <a:lstStyle/>
          <a:p>
            <a:r>
              <a:rPr lang="zh-CN" altLang="en-US" sz="2400" dirty="0"/>
              <a:t>以</a:t>
            </a:r>
            <a:r>
              <a:rPr lang="zh-CN" altLang="en-US" dirty="0">
                <a:solidFill>
                  <a:srgbClr val="FF0000"/>
                </a:solidFill>
              </a:rPr>
              <a:t>存储器</a:t>
            </a:r>
            <a:r>
              <a:rPr lang="zh-CN" altLang="en-US" sz="2400" dirty="0"/>
              <a:t>为中心的计算机结构</a:t>
            </a:r>
          </a:p>
        </p:txBody>
      </p:sp>
      <p:pic>
        <p:nvPicPr>
          <p:cNvPr id="12293" name="Picture 50" descr="t1"/>
          <p:cNvPicPr>
            <a:picLocks noChangeAspect="1" noChangeArrowheads="1"/>
          </p:cNvPicPr>
          <p:nvPr/>
        </p:nvPicPr>
        <p:blipFill>
          <a:blip r:embed="rId2" cstate="print"/>
          <a:srcRect l="7243"/>
          <a:stretch>
            <a:fillRect/>
          </a:stretch>
        </p:blipFill>
        <p:spPr bwMode="auto">
          <a:xfrm>
            <a:off x="1691680" y="1557338"/>
            <a:ext cx="6456958" cy="3597275"/>
          </a:xfrm>
          <a:prstGeom prst="rect">
            <a:avLst/>
          </a:prstGeom>
          <a:noFill/>
          <a:ln w="9525">
            <a:noFill/>
            <a:miter lim="800000"/>
            <a:headEnd/>
            <a:tailEnd/>
          </a:ln>
        </p:spPr>
      </p:pic>
      <p:sp>
        <p:nvSpPr>
          <p:cNvPr id="6" name="TextBox 49"/>
          <p:cNvSpPr txBox="1">
            <a:spLocks noChangeArrowheads="1"/>
          </p:cNvSpPr>
          <p:nvPr/>
        </p:nvSpPr>
        <p:spPr bwMode="auto">
          <a:xfrm>
            <a:off x="2483768" y="6093296"/>
            <a:ext cx="4493538" cy="461665"/>
          </a:xfrm>
          <a:prstGeom prst="rect">
            <a:avLst/>
          </a:prstGeom>
          <a:noFill/>
          <a:ln w="9525">
            <a:noFill/>
            <a:miter lim="800000"/>
            <a:headEnd/>
            <a:tailEnd/>
          </a:ln>
        </p:spPr>
        <p:txBody>
          <a:bodyPr wrap="none">
            <a:spAutoFit/>
          </a:bodyPr>
          <a:lstStyle/>
          <a:p>
            <a:r>
              <a:rPr lang="zh-CN" altLang="en-US" sz="2400" dirty="0"/>
              <a:t>这个架构和人的工作架构很类似</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Content Placeholder 5" descr="intel-xeon-cpu-04351.jpg"/>
          <p:cNvPicPr>
            <a:picLocks noGrp="1" noChangeAspect="1"/>
          </p:cNvPicPr>
          <p:nvPr>
            <p:ph idx="1"/>
          </p:nvPr>
        </p:nvPicPr>
        <p:blipFill>
          <a:blip r:embed="rId2" cstate="print"/>
          <a:srcRect/>
          <a:stretch>
            <a:fillRect/>
          </a:stretch>
        </p:blipFill>
        <p:spPr>
          <a:xfrm>
            <a:off x="285750" y="214313"/>
            <a:ext cx="3810000" cy="3000375"/>
          </a:xfrm>
        </p:spPr>
      </p:pic>
      <p:sp>
        <p:nvSpPr>
          <p:cNvPr id="4" name="Slide Number Placeholder 3"/>
          <p:cNvSpPr>
            <a:spLocks noGrp="1"/>
          </p:cNvSpPr>
          <p:nvPr>
            <p:ph type="sldNum" sz="quarter" idx="12"/>
          </p:nvPr>
        </p:nvSpPr>
        <p:spPr/>
        <p:txBody>
          <a:bodyPr/>
          <a:lstStyle/>
          <a:p>
            <a:pPr>
              <a:defRPr/>
            </a:pPr>
            <a:fld id="{53281937-0069-4AD4-B988-AB5FD4E47A4F}" type="slidenum">
              <a:rPr lang="zh-CN" altLang="en-US"/>
              <a:pPr>
                <a:defRPr/>
              </a:pPr>
              <a:t>4</a:t>
            </a:fld>
            <a:endParaRPr lang="en-US" altLang="zh-CN" dirty="0"/>
          </a:p>
        </p:txBody>
      </p:sp>
      <p:sp>
        <p:nvSpPr>
          <p:cNvPr id="13316" name="Rectangle 6"/>
          <p:cNvSpPr>
            <a:spLocks noChangeArrowheads="1"/>
          </p:cNvSpPr>
          <p:nvPr/>
        </p:nvSpPr>
        <p:spPr bwMode="auto">
          <a:xfrm>
            <a:off x="4572000" y="1000125"/>
            <a:ext cx="3714750" cy="1077913"/>
          </a:xfrm>
          <a:prstGeom prst="rect">
            <a:avLst/>
          </a:prstGeom>
          <a:noFill/>
          <a:ln w="9525">
            <a:noFill/>
            <a:miter lim="800000"/>
            <a:headEnd/>
            <a:tailEnd/>
          </a:ln>
        </p:spPr>
        <p:txBody>
          <a:bodyPr>
            <a:spAutoFit/>
          </a:bodyPr>
          <a:lstStyle/>
          <a:p>
            <a:pPr eaLnBrk="1" hangingPunct="1">
              <a:buFont typeface="Monotype Sorts" charset="2"/>
              <a:buNone/>
            </a:pPr>
            <a:r>
              <a:rPr lang="en-US" altLang="zh-CN" b="1" dirty="0">
                <a:solidFill>
                  <a:srgbClr val="000066"/>
                </a:solidFill>
                <a:latin typeface="楷体_GB2312" pitchFamily="49" charset="-122"/>
                <a:ea typeface="楷体_GB2312" pitchFamily="49" charset="-122"/>
              </a:rPr>
              <a:t>CPU</a:t>
            </a:r>
            <a:r>
              <a:rPr lang="zh-CN" altLang="en-US" b="1">
                <a:solidFill>
                  <a:srgbClr val="000066"/>
                </a:solidFill>
                <a:latin typeface="楷体_GB2312" pitchFamily="49" charset="-122"/>
                <a:ea typeface="楷体_GB2312" pitchFamily="49" charset="-122"/>
              </a:rPr>
              <a:t>主要由控制器和运算器两部分组成</a:t>
            </a:r>
          </a:p>
        </p:txBody>
      </p:sp>
      <p:sp>
        <p:nvSpPr>
          <p:cNvPr id="8" name="Rectangle 7"/>
          <p:cNvSpPr/>
          <p:nvPr/>
        </p:nvSpPr>
        <p:spPr>
          <a:xfrm>
            <a:off x="500063" y="3071813"/>
            <a:ext cx="8143875" cy="3540125"/>
          </a:xfrm>
          <a:prstGeom prst="rect">
            <a:avLst/>
          </a:prstGeom>
        </p:spPr>
        <p:txBody>
          <a:bodyPr>
            <a:normAutofit/>
          </a:bodyPr>
          <a:lstStyle/>
          <a:p>
            <a:pPr eaLnBrk="1" hangingPunct="1">
              <a:buFont typeface="Monotype Sorts" pitchFamily="2" charset="2"/>
              <a:buNone/>
              <a:defRPr/>
            </a:pPr>
            <a:r>
              <a:rPr lang="zh-CN" altLang="en-US" b="1" dirty="0">
                <a:effectLst>
                  <a:outerShdw blurRad="38100" dist="38100" dir="2700000" algn="tl">
                    <a:schemeClr val="accent6">
                      <a:lumMod val="75000"/>
                      <a:alpha val="62000"/>
                    </a:schemeClr>
                  </a:outerShdw>
                </a:effectLst>
                <a:latin typeface="楷体_GB2312" pitchFamily="49" charset="-122"/>
                <a:ea typeface="楷体_GB2312" pitchFamily="49" charset="-122"/>
              </a:rPr>
              <a:t>控制器的功能</a:t>
            </a:r>
            <a:r>
              <a:rPr lang="en-US" altLang="zh-CN" b="1" dirty="0">
                <a:effectLst>
                  <a:outerShdw blurRad="38100" dist="38100" dir="2700000" algn="tl">
                    <a:schemeClr val="accent6">
                      <a:lumMod val="75000"/>
                      <a:alpha val="62000"/>
                    </a:schemeClr>
                  </a:outerShdw>
                </a:effectLst>
                <a:latin typeface="楷体_GB2312" pitchFamily="49" charset="-122"/>
                <a:ea typeface="楷体_GB2312" pitchFamily="49" charset="-122"/>
              </a:rPr>
              <a:t>:</a:t>
            </a:r>
            <a:r>
              <a:rPr lang="zh-CN" altLang="en-US" b="1" dirty="0">
                <a:effectLst>
                  <a:outerShdw blurRad="38100" dist="38100" dir="2700000" algn="tl">
                    <a:schemeClr val="accent6">
                      <a:lumMod val="75000"/>
                      <a:alpha val="62000"/>
                    </a:schemeClr>
                  </a:outerShdw>
                </a:effectLst>
                <a:latin typeface="楷体_GB2312" pitchFamily="49" charset="-122"/>
                <a:ea typeface="楷体_GB2312" pitchFamily="49" charset="-122"/>
              </a:rPr>
              <a:t>自动从主存储器读取指令，予以解释、执行、并控制与输入输出设备联系等。</a:t>
            </a:r>
          </a:p>
          <a:p>
            <a:pPr eaLnBrk="1" hangingPunct="1">
              <a:buFont typeface="Monotype Sorts" pitchFamily="2" charset="2"/>
              <a:buNone/>
              <a:defRPr/>
            </a:pPr>
            <a:endParaRPr lang="zh-CN" altLang="en-US" b="1" dirty="0">
              <a:solidFill>
                <a:srgbClr val="0000FF"/>
              </a:solidFill>
              <a:effectLst>
                <a:outerShdw blurRad="38100" dist="38100" dir="2700000" algn="tl">
                  <a:schemeClr val="accent6">
                    <a:lumMod val="75000"/>
                    <a:alpha val="62000"/>
                  </a:schemeClr>
                </a:outerShdw>
              </a:effectLst>
              <a:latin typeface="楷体_GB2312" pitchFamily="49" charset="-122"/>
              <a:ea typeface="楷体_GB2312" pitchFamily="49" charset="-122"/>
            </a:endParaRPr>
          </a:p>
          <a:p>
            <a:pPr eaLnBrk="1" hangingPunct="1">
              <a:buFont typeface="Monotype Sorts" pitchFamily="2" charset="2"/>
              <a:buNone/>
              <a:defRPr/>
            </a:pPr>
            <a:r>
              <a:rPr lang="zh-CN" altLang="en-US" b="1" dirty="0">
                <a:effectLst>
                  <a:outerShdw blurRad="38100" dist="38100" dir="2700000" algn="tl">
                    <a:schemeClr val="accent6">
                      <a:lumMod val="75000"/>
                      <a:alpha val="62000"/>
                    </a:schemeClr>
                  </a:outerShdw>
                </a:effectLst>
                <a:latin typeface="楷体_GB2312" pitchFamily="49" charset="-122"/>
                <a:ea typeface="楷体_GB2312" pitchFamily="49" charset="-122"/>
              </a:rPr>
              <a:t>运算器的功能</a:t>
            </a:r>
            <a:r>
              <a:rPr lang="en-US" altLang="zh-CN" b="1" dirty="0">
                <a:effectLst>
                  <a:outerShdw blurRad="38100" dist="38100" dir="2700000" algn="tl">
                    <a:schemeClr val="accent6">
                      <a:lumMod val="75000"/>
                      <a:alpha val="62000"/>
                    </a:schemeClr>
                  </a:outerShdw>
                </a:effectLst>
                <a:latin typeface="楷体_GB2312" pitchFamily="49" charset="-122"/>
                <a:ea typeface="楷体_GB2312" pitchFamily="49" charset="-122"/>
              </a:rPr>
              <a:t>:</a:t>
            </a:r>
            <a:r>
              <a:rPr lang="zh-CN" altLang="en-US" b="1" dirty="0">
                <a:effectLst>
                  <a:outerShdw blurRad="38100" dist="38100" dir="2700000" algn="tl">
                    <a:schemeClr val="accent6">
                      <a:lumMod val="75000"/>
                      <a:alpha val="62000"/>
                    </a:schemeClr>
                  </a:outerShdw>
                </a:effectLst>
                <a:latin typeface="楷体_GB2312" pitchFamily="49" charset="-122"/>
                <a:ea typeface="楷体_GB2312" pitchFamily="49" charset="-122"/>
              </a:rPr>
              <a:t>按照指令的指示完成相应的算术运算或逻辑运算，并与存储器或</a:t>
            </a:r>
            <a:r>
              <a:rPr lang="en-US" altLang="zh-CN" b="1" dirty="0">
                <a:effectLst>
                  <a:outerShdw blurRad="38100" dist="38100" dir="2700000" algn="tl">
                    <a:schemeClr val="accent6">
                      <a:lumMod val="75000"/>
                      <a:alpha val="62000"/>
                    </a:schemeClr>
                  </a:outerShdw>
                </a:effectLst>
                <a:latin typeface="楷体_GB2312" pitchFamily="49" charset="-122"/>
                <a:ea typeface="楷体_GB2312" pitchFamily="49" charset="-122"/>
              </a:rPr>
              <a:t>I/O</a:t>
            </a:r>
            <a:r>
              <a:rPr lang="zh-CN" altLang="en-US" b="1" dirty="0">
                <a:effectLst>
                  <a:outerShdw blurRad="38100" dist="38100" dir="2700000" algn="tl">
                    <a:schemeClr val="accent6">
                      <a:lumMod val="75000"/>
                      <a:alpha val="62000"/>
                    </a:schemeClr>
                  </a:outerShdw>
                </a:effectLst>
                <a:latin typeface="楷体_GB2312" pitchFamily="49" charset="-122"/>
                <a:ea typeface="楷体_GB2312" pitchFamily="49" charset="-122"/>
              </a:rPr>
              <a:t>设备交换数据。</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8050" name="Rectangle 2"/>
          <p:cNvSpPr>
            <a:spLocks noGrp="1" noChangeArrowheads="1"/>
          </p:cNvSpPr>
          <p:nvPr>
            <p:ph idx="1"/>
          </p:nvPr>
        </p:nvSpPr>
        <p:spPr>
          <a:xfrm>
            <a:off x="468313" y="476250"/>
            <a:ext cx="8382000" cy="6121400"/>
          </a:xfrm>
        </p:spPr>
        <p:txBody>
          <a:bodyPr>
            <a:normAutofit/>
          </a:bodyPr>
          <a:lstStyle/>
          <a:p>
            <a:pPr marL="0" indent="0" fontAlgn="auto">
              <a:spcAft>
                <a:spcPts val="0"/>
              </a:spcAft>
              <a:buClr>
                <a:schemeClr val="accent3"/>
              </a:buClr>
              <a:buFont typeface="Monotype Sorts" pitchFamily="2" charset="2"/>
              <a:buNone/>
              <a:defRPr/>
            </a:pPr>
            <a:endParaRPr lang="zh-CN" altLang="en-US" sz="3100" b="1" dirty="0">
              <a:solidFill>
                <a:srgbClr val="006600"/>
              </a:solidFill>
              <a:effectLst>
                <a:outerShdw blurRad="38100" dist="38100" dir="2700000" algn="tl">
                  <a:srgbClr val="000000"/>
                </a:outerShdw>
              </a:effectLst>
              <a:latin typeface="楷体_GB2312" pitchFamily="49" charset="-122"/>
              <a:ea typeface="楷体_GB2312" pitchFamily="49" charset="-122"/>
            </a:endParaRPr>
          </a:p>
          <a:p>
            <a:pPr marL="0" indent="0" fontAlgn="auto">
              <a:spcAft>
                <a:spcPts val="0"/>
              </a:spcAft>
              <a:buClr>
                <a:schemeClr val="accent3"/>
              </a:buClr>
              <a:buFont typeface="Monotype Sorts" pitchFamily="2" charset="2"/>
              <a:buNone/>
              <a:defRPr/>
            </a:pPr>
            <a:endParaRPr lang="en-US" altLang="zh-CN" sz="3100" b="1" dirty="0">
              <a:solidFill>
                <a:srgbClr val="0000FF"/>
              </a:solidFill>
              <a:effectLst>
                <a:outerShdw blurRad="38100" dist="38100" dir="2700000" algn="tl">
                  <a:srgbClr val="000000"/>
                </a:outerShdw>
              </a:effectLst>
              <a:latin typeface="楷体_GB2312" pitchFamily="49" charset="-122"/>
              <a:ea typeface="楷体_GB2312" pitchFamily="49" charset="-122"/>
            </a:endParaRPr>
          </a:p>
          <a:p>
            <a:pPr marL="0" indent="0" fontAlgn="auto">
              <a:spcAft>
                <a:spcPts val="0"/>
              </a:spcAft>
              <a:buClr>
                <a:schemeClr val="accent3"/>
              </a:buClr>
              <a:buFont typeface="Monotype Sorts" pitchFamily="2" charset="2"/>
              <a:buNone/>
              <a:defRPr/>
            </a:pPr>
            <a:endParaRPr lang="en-US" altLang="zh-CN" sz="3100" b="1" dirty="0">
              <a:solidFill>
                <a:srgbClr val="0000FF"/>
              </a:solidFill>
              <a:effectLst>
                <a:outerShdw blurRad="38100" dist="38100" dir="2700000" algn="tl">
                  <a:srgbClr val="000000"/>
                </a:outerShdw>
              </a:effectLst>
              <a:latin typeface="楷体_GB2312" pitchFamily="49" charset="-122"/>
              <a:ea typeface="楷体_GB2312" pitchFamily="49" charset="-122"/>
            </a:endParaRPr>
          </a:p>
          <a:p>
            <a:pPr marL="0" indent="0" fontAlgn="auto">
              <a:spcAft>
                <a:spcPts val="0"/>
              </a:spcAft>
              <a:buClr>
                <a:schemeClr val="accent3"/>
              </a:buClr>
              <a:buFont typeface="Monotype Sorts" pitchFamily="2" charset="2"/>
              <a:buNone/>
              <a:defRPr/>
            </a:pPr>
            <a:endParaRPr lang="en-US" altLang="zh-CN" sz="3100" b="1" dirty="0">
              <a:solidFill>
                <a:srgbClr val="0000FF"/>
              </a:solidFill>
              <a:effectLst>
                <a:outerShdw blurRad="38100" dist="38100" dir="2700000" algn="tl">
                  <a:srgbClr val="000000"/>
                </a:outerShdw>
              </a:effectLst>
              <a:latin typeface="楷体_GB2312" pitchFamily="49" charset="-122"/>
              <a:ea typeface="楷体_GB2312" pitchFamily="49" charset="-122"/>
            </a:endParaRPr>
          </a:p>
          <a:p>
            <a:pPr marL="0" indent="0" fontAlgn="auto">
              <a:spcAft>
                <a:spcPts val="0"/>
              </a:spcAft>
              <a:buClr>
                <a:schemeClr val="accent3"/>
              </a:buClr>
              <a:buFont typeface="Monotype Sorts" pitchFamily="2" charset="2"/>
              <a:buNone/>
              <a:defRPr/>
            </a:pPr>
            <a:endParaRPr lang="en-US" altLang="zh-CN" sz="3100" b="1" dirty="0">
              <a:solidFill>
                <a:srgbClr val="0000FF"/>
              </a:solidFill>
              <a:effectLst>
                <a:outerShdw blurRad="38100" dist="38100" dir="2700000" algn="tl">
                  <a:srgbClr val="000000"/>
                </a:outerShdw>
              </a:effectLst>
              <a:latin typeface="楷体_GB2312" pitchFamily="49" charset="-122"/>
              <a:ea typeface="楷体_GB2312" pitchFamily="49" charset="-122"/>
            </a:endParaRPr>
          </a:p>
          <a:p>
            <a:pPr marL="0" indent="0" fontAlgn="auto">
              <a:spcAft>
                <a:spcPts val="0"/>
              </a:spcAft>
              <a:buClr>
                <a:schemeClr val="accent3"/>
              </a:buClr>
              <a:buFont typeface="Monotype Sorts" pitchFamily="2" charset="2"/>
              <a:buNone/>
              <a:defRPr/>
            </a:pPr>
            <a:endParaRPr lang="en-US" altLang="zh-CN" sz="3100" b="1" dirty="0">
              <a:solidFill>
                <a:srgbClr val="0000FF"/>
              </a:solidFill>
              <a:effectLst>
                <a:outerShdw blurRad="38100" dist="38100" dir="2700000" algn="tl">
                  <a:srgbClr val="000000"/>
                </a:outerShdw>
              </a:effectLst>
              <a:latin typeface="楷体_GB2312" pitchFamily="49" charset="-122"/>
              <a:ea typeface="楷体_GB2312" pitchFamily="49" charset="-122"/>
            </a:endParaRPr>
          </a:p>
          <a:p>
            <a:pPr marL="0" indent="0" fontAlgn="auto">
              <a:spcAft>
                <a:spcPts val="0"/>
              </a:spcAft>
              <a:buClr>
                <a:schemeClr val="accent3"/>
              </a:buClr>
              <a:buFont typeface="Monotype Sorts" pitchFamily="2" charset="2"/>
              <a:buNone/>
              <a:defRPr/>
            </a:pPr>
            <a:endParaRPr lang="en-US" altLang="zh-CN" sz="3100" b="1" dirty="0">
              <a:effectLst>
                <a:outerShdw blurRad="38100" dist="38100" dir="2700000" algn="tl">
                  <a:srgbClr val="000000"/>
                </a:outerShdw>
              </a:effectLst>
              <a:latin typeface="楷体_GB2312" pitchFamily="49" charset="-122"/>
              <a:ea typeface="楷体_GB2312" pitchFamily="49" charset="-122"/>
            </a:endParaRPr>
          </a:p>
          <a:p>
            <a:pPr marL="0" indent="0" fontAlgn="auto">
              <a:spcAft>
                <a:spcPts val="0"/>
              </a:spcAft>
              <a:buClr>
                <a:schemeClr val="accent3"/>
              </a:buClr>
              <a:buFont typeface="Monotype Sorts" pitchFamily="2" charset="2"/>
              <a:buNone/>
              <a:defRPr/>
            </a:pPr>
            <a:r>
              <a:rPr lang="zh-CN" altLang="en-US" sz="3100" b="1" dirty="0">
                <a:latin typeface="楷体_GB2312" pitchFamily="49" charset="-122"/>
                <a:ea typeface="楷体_GB2312" pitchFamily="49" charset="-122"/>
              </a:rPr>
              <a:t>主存储器简称主存或内存。它是可随机存取的存储器，也称随机存储器</a:t>
            </a:r>
            <a:r>
              <a:rPr lang="en-US" altLang="zh-CN" sz="3100" b="1" dirty="0">
                <a:latin typeface="楷体_GB2312" pitchFamily="49" charset="-122"/>
                <a:ea typeface="楷体_GB2312" pitchFamily="49" charset="-122"/>
              </a:rPr>
              <a:t>RAM</a:t>
            </a:r>
            <a:r>
              <a:rPr lang="zh-CN" altLang="en-US" sz="3100" b="1" dirty="0">
                <a:latin typeface="楷体_GB2312" pitchFamily="49" charset="-122"/>
                <a:ea typeface="楷体_GB2312" pitchFamily="49" charset="-122"/>
              </a:rPr>
              <a:t>，用来存储计算机运行时随时需要的程序和数据。</a:t>
            </a:r>
          </a:p>
        </p:txBody>
      </p:sp>
      <p:sp>
        <p:nvSpPr>
          <p:cNvPr id="5" name="灯片编号占位符 5"/>
          <p:cNvSpPr>
            <a:spLocks noGrp="1"/>
          </p:cNvSpPr>
          <p:nvPr>
            <p:ph type="sldNum" sz="quarter" idx="12"/>
          </p:nvPr>
        </p:nvSpPr>
        <p:spPr/>
        <p:txBody>
          <a:bodyPr/>
          <a:lstStyle/>
          <a:p>
            <a:pPr defTabSz="1128713">
              <a:defRPr/>
            </a:pPr>
            <a:fld id="{938FEBEB-A67C-40D9-8063-ACC65E243F63}" type="slidenum">
              <a:rPr lang="zh-CN" altLang="en-US">
                <a:latin typeface="+mn-lt"/>
              </a:rPr>
              <a:pPr defTabSz="1128713">
                <a:defRPr/>
              </a:pPr>
              <a:t>5</a:t>
            </a:fld>
            <a:endParaRPr lang="en-US" altLang="zh-CN" dirty="0">
              <a:latin typeface="+mn-lt"/>
            </a:endParaRPr>
          </a:p>
        </p:txBody>
      </p:sp>
      <p:pic>
        <p:nvPicPr>
          <p:cNvPr id="14340" name="Picture 3" descr="to_ddr333memory_350.gif"/>
          <p:cNvPicPr>
            <a:picLocks noChangeAspect="1"/>
          </p:cNvPicPr>
          <p:nvPr/>
        </p:nvPicPr>
        <p:blipFill>
          <a:blip r:embed="rId2" cstate="print"/>
          <a:srcRect/>
          <a:stretch>
            <a:fillRect/>
          </a:stretch>
        </p:blipFill>
        <p:spPr bwMode="auto">
          <a:xfrm>
            <a:off x="328198" y="476672"/>
            <a:ext cx="3333750" cy="3333750"/>
          </a:xfrm>
          <a:prstGeom prst="rect">
            <a:avLst/>
          </a:prstGeom>
          <a:noFill/>
          <a:ln w="9525">
            <a:noFill/>
            <a:miter lim="800000"/>
            <a:headEnd/>
            <a:tailEnd/>
          </a:ln>
        </p:spPr>
      </p:pic>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32040" y="447622"/>
            <a:ext cx="3528580" cy="2650356"/>
          </a:xfrm>
          <a:prstGeom prst="rect">
            <a:avLst/>
          </a:prstGeom>
        </p:spPr>
      </p:pic>
      <p:pic>
        <p:nvPicPr>
          <p:cNvPr id="3" name="图片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28198" y="375463"/>
            <a:ext cx="3333750" cy="3454657"/>
          </a:xfrm>
          <a:prstGeom prst="rect">
            <a:avLst/>
          </a:prstGeom>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Text Box 2">
            <a:extLst>
              <a:ext uri="{FF2B5EF4-FFF2-40B4-BE49-F238E27FC236}">
                <a16:creationId xmlns:a16="http://schemas.microsoft.com/office/drawing/2014/main" id="{35ED648D-F149-4B22-BCC6-A3E3FAA1C65B}"/>
              </a:ext>
            </a:extLst>
          </p:cNvPr>
          <p:cNvSpPr txBox="1">
            <a:spLocks noChangeArrowheads="1"/>
          </p:cNvSpPr>
          <p:nvPr/>
        </p:nvSpPr>
        <p:spPr bwMode="auto">
          <a:xfrm>
            <a:off x="107504" y="1016967"/>
            <a:ext cx="8839200" cy="5940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b="1" dirty="0">
                <a:solidFill>
                  <a:srgbClr val="CC0000"/>
                </a:solidFill>
                <a:effectLst>
                  <a:outerShdw blurRad="38100" dist="38100" dir="2700000" algn="tl">
                    <a:srgbClr val="000000"/>
                  </a:outerShdw>
                </a:effectLst>
                <a:latin typeface="宋体" panose="02010600030101010101" pitchFamily="2" charset="-122"/>
                <a:ea typeface="宋体" panose="02010600030101010101" pitchFamily="2" charset="-122"/>
              </a:rPr>
              <a:t>计算机的中央处理单元又包含有几个关键部件：</a:t>
            </a:r>
            <a:r>
              <a:rPr lang="zh-CN" altLang="en-US" b="1" dirty="0">
                <a:effectLst>
                  <a:outerShdw blurRad="38100" dist="38100" dir="2700000" algn="tl">
                    <a:srgbClr val="000000"/>
                  </a:outerShdw>
                </a:effectLst>
                <a:latin typeface="宋体" panose="02010600030101010101" pitchFamily="2" charset="-122"/>
                <a:ea typeface="宋体" panose="02010600030101010101" pitchFamily="2" charset="-122"/>
              </a:rPr>
              <a:t>指令译码单元、</a:t>
            </a:r>
          </a:p>
          <a:p>
            <a:r>
              <a:rPr lang="zh-CN" altLang="en-US" b="1" dirty="0">
                <a:effectLst>
                  <a:outerShdw blurRad="38100" dist="38100" dir="2700000" algn="tl">
                    <a:srgbClr val="000000"/>
                  </a:outerShdw>
                </a:effectLst>
                <a:latin typeface="宋体" panose="02010600030101010101" pitchFamily="2" charset="-122"/>
                <a:ea typeface="宋体" panose="02010600030101010101" pitchFamily="2" charset="-122"/>
              </a:rPr>
              <a:t>算术逻辑运算单元、</a:t>
            </a:r>
          </a:p>
          <a:p>
            <a:r>
              <a:rPr lang="zh-CN" altLang="en-US" b="1" dirty="0">
                <a:effectLst>
                  <a:outerShdw blurRad="38100" dist="38100" dir="2700000" algn="tl">
                    <a:srgbClr val="000000"/>
                  </a:outerShdw>
                </a:effectLst>
                <a:latin typeface="宋体" panose="02010600030101010101" pitchFamily="2" charset="-122"/>
                <a:ea typeface="宋体" panose="02010600030101010101" pitchFamily="2" charset="-122"/>
              </a:rPr>
              <a:t>若干寄存器。</a:t>
            </a:r>
          </a:p>
          <a:p>
            <a:endParaRPr lang="zh-CN" altLang="en-US" b="1" dirty="0">
              <a:effectLst>
                <a:outerShdw blurRad="38100" dist="38100" dir="2700000" algn="tl">
                  <a:srgbClr val="000000"/>
                </a:outerShdw>
              </a:effectLst>
              <a:latin typeface="宋体" panose="02010600030101010101" pitchFamily="2" charset="-122"/>
              <a:ea typeface="宋体" panose="02010600030101010101" pitchFamily="2" charset="-122"/>
            </a:endParaRPr>
          </a:p>
          <a:p>
            <a:r>
              <a:rPr lang="zh-CN" altLang="en-US" b="1" dirty="0">
                <a:effectLst>
                  <a:outerShdw blurRad="38100" dist="38100" dir="2700000" algn="tl">
                    <a:srgbClr val="000000"/>
                  </a:outerShdw>
                </a:effectLst>
                <a:latin typeface="宋体" panose="02010600030101010101" pitchFamily="2" charset="-122"/>
                <a:ea typeface="宋体" panose="02010600030101010101" pitchFamily="2" charset="-122"/>
              </a:rPr>
              <a:t>其中指令译码单元分析当前要执行的指令，并将它转换成能让算术逻辑单元理解的电子信号；</a:t>
            </a:r>
          </a:p>
          <a:p>
            <a:r>
              <a:rPr lang="zh-CN" altLang="en-US" b="1" dirty="0">
                <a:solidFill>
                  <a:srgbClr val="0000FF"/>
                </a:solidFill>
                <a:effectLst>
                  <a:outerShdw blurRad="38100" dist="38100" dir="2700000" algn="tl">
                    <a:srgbClr val="000000"/>
                  </a:outerShdw>
                </a:effectLst>
                <a:latin typeface="宋体" panose="02010600030101010101" pitchFamily="2" charset="-122"/>
                <a:ea typeface="宋体" panose="02010600030101010101" pitchFamily="2" charset="-122"/>
              </a:rPr>
              <a:t>算术逻辑单元完成算术或逻辑运算；</a:t>
            </a:r>
            <a:endParaRPr lang="zh-CN" altLang="en-US" b="1" dirty="0">
              <a:effectLst>
                <a:outerShdw blurRad="38100" dist="38100" dir="2700000" algn="tl">
                  <a:srgbClr val="000000"/>
                </a:outerShdw>
              </a:effectLst>
              <a:latin typeface="宋体" panose="02010600030101010101" pitchFamily="2" charset="-122"/>
              <a:ea typeface="宋体" panose="02010600030101010101" pitchFamily="2" charset="-122"/>
            </a:endParaRPr>
          </a:p>
          <a:p>
            <a:r>
              <a:rPr lang="zh-CN" altLang="en-US" b="1" dirty="0">
                <a:effectLst>
                  <a:outerShdw blurRad="38100" dist="38100" dir="2700000" algn="tl">
                    <a:srgbClr val="000000"/>
                  </a:outerShdw>
                </a:effectLst>
                <a:latin typeface="宋体" panose="02010600030101010101" pitchFamily="2" charset="-122"/>
                <a:ea typeface="宋体" panose="02010600030101010101" pitchFamily="2" charset="-122"/>
              </a:rPr>
              <a:t>寄存器如同手工计算时所用的便笺，用来暂存计算时所需要的操作数和计算过程中所产生的临时结果。</a:t>
            </a:r>
          </a:p>
          <a:p>
            <a:r>
              <a:rPr lang="zh-CN" altLang="en-US" b="1" dirty="0">
                <a:effectLst>
                  <a:outerShdw blurRad="38100" dist="38100" dir="2700000" algn="tl">
                    <a:srgbClr val="000000"/>
                  </a:outerShdw>
                </a:effectLst>
                <a:latin typeface="宋体" panose="02010600030101010101" pitchFamily="2" charset="-122"/>
                <a:ea typeface="宋体" panose="02010600030101010101" pitchFamily="2" charset="-122"/>
              </a:rPr>
              <a:t>    </a:t>
            </a:r>
            <a:endParaRPr lang="zh-CN" altLang="en-US" sz="2400" dirty="0">
              <a:latin typeface="宋体" panose="02010600030101010101" pitchFamily="2" charset="-122"/>
              <a:ea typeface="宋体" panose="0201060003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C8D53AB5-BEB5-459C-9A80-ECDF64B793F6}"/>
              </a:ext>
            </a:extLst>
          </p:cNvPr>
          <p:cNvSpPr>
            <a:spLocks noGrp="1"/>
          </p:cNvSpPr>
          <p:nvPr>
            <p:ph type="sldNum" sz="quarter" idx="12"/>
          </p:nvPr>
        </p:nvSpPr>
        <p:spPr/>
        <p:txBody>
          <a:bodyPr/>
          <a:lstStyle/>
          <a:p>
            <a:pPr>
              <a:defRPr/>
            </a:pPr>
            <a:fld id="{A3CB19E2-EEA6-4DE7-A7FB-BCEE68A113B7}" type="slidenum">
              <a:rPr lang="zh-CN" altLang="en-US" smtClean="0"/>
              <a:pPr>
                <a:defRPr/>
              </a:pPr>
              <a:t>7</a:t>
            </a:fld>
            <a:endParaRPr lang="en-US" altLang="zh-CN"/>
          </a:p>
        </p:txBody>
      </p:sp>
      <p:pic>
        <p:nvPicPr>
          <p:cNvPr id="3" name="图片 2">
            <a:extLst>
              <a:ext uri="{FF2B5EF4-FFF2-40B4-BE49-F238E27FC236}">
                <a16:creationId xmlns:a16="http://schemas.microsoft.com/office/drawing/2014/main" id="{700D656B-3C16-4A5A-A396-BE6919B21FAE}"/>
              </a:ext>
            </a:extLst>
          </p:cNvPr>
          <p:cNvPicPr>
            <a:picLocks noChangeAspect="1"/>
          </p:cNvPicPr>
          <p:nvPr/>
        </p:nvPicPr>
        <p:blipFill>
          <a:blip r:embed="rId2"/>
          <a:stretch>
            <a:fillRect/>
          </a:stretch>
        </p:blipFill>
        <p:spPr>
          <a:xfrm>
            <a:off x="4427984" y="221453"/>
            <a:ext cx="4640892" cy="6415094"/>
          </a:xfrm>
          <a:prstGeom prst="rect">
            <a:avLst/>
          </a:prstGeom>
        </p:spPr>
      </p:pic>
      <p:sp>
        <p:nvSpPr>
          <p:cNvPr id="4" name="文本框 3">
            <a:extLst>
              <a:ext uri="{FF2B5EF4-FFF2-40B4-BE49-F238E27FC236}">
                <a16:creationId xmlns:a16="http://schemas.microsoft.com/office/drawing/2014/main" id="{67982876-B823-48B0-B787-226827EAD88A}"/>
              </a:ext>
            </a:extLst>
          </p:cNvPr>
          <p:cNvSpPr txBox="1"/>
          <p:nvPr/>
        </p:nvSpPr>
        <p:spPr>
          <a:xfrm>
            <a:off x="251520" y="1628800"/>
            <a:ext cx="3888432" cy="4031873"/>
          </a:xfrm>
          <a:prstGeom prst="rect">
            <a:avLst/>
          </a:prstGeom>
          <a:noFill/>
        </p:spPr>
        <p:txBody>
          <a:bodyPr wrap="square" rtlCol="0">
            <a:spAutoFit/>
          </a:bodyPr>
          <a:lstStyle/>
          <a:p>
            <a:r>
              <a:rPr lang="zh-CN" altLang="en-US" dirty="0"/>
              <a:t>复旦大学计算机学科创建于中国计算机事业的起步期，始于 </a:t>
            </a:r>
            <a:r>
              <a:rPr lang="en-US" altLang="zh-CN" dirty="0"/>
              <a:t>1956 </a:t>
            </a:r>
            <a:r>
              <a:rPr lang="zh-CN" altLang="en-US" dirty="0"/>
              <a:t>年自主建造的</a:t>
            </a:r>
            <a:r>
              <a:rPr lang="zh-CN" altLang="en-US" dirty="0">
                <a:highlight>
                  <a:srgbClr val="FFFF00"/>
                </a:highlight>
              </a:rPr>
              <a:t>国内第一台电子模拟计算机。</a:t>
            </a:r>
            <a:r>
              <a:rPr lang="en-US" altLang="zh-CN" dirty="0"/>
              <a:t>1975 </a:t>
            </a:r>
            <a:r>
              <a:rPr lang="zh-CN" altLang="en-US" dirty="0"/>
              <a:t>年，复旦大学成立计算机科学系。</a:t>
            </a:r>
          </a:p>
        </p:txBody>
      </p:sp>
    </p:spTree>
    <p:extLst>
      <p:ext uri="{BB962C8B-B14F-4D97-AF65-F5344CB8AC3E}">
        <p14:creationId xmlns:p14="http://schemas.microsoft.com/office/powerpoint/2010/main" val="20025518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itchFamily="49" charset="-122"/>
                <a:ea typeface="黑体" pitchFamily="49" charset="-122"/>
              </a:rPr>
              <a:t>存储 </a:t>
            </a:r>
            <a:r>
              <a:rPr lang="en-US" altLang="zh-CN" dirty="0">
                <a:latin typeface="黑体" pitchFamily="49" charset="-122"/>
                <a:ea typeface="黑体" pitchFamily="49" charset="-122"/>
              </a:rPr>
              <a:t>&amp; </a:t>
            </a:r>
            <a:r>
              <a:rPr lang="zh-CN" altLang="en-US" dirty="0">
                <a:latin typeface="黑体" pitchFamily="49" charset="-122"/>
                <a:ea typeface="黑体" pitchFamily="49" charset="-122"/>
              </a:rPr>
              <a:t>二进制</a:t>
            </a:r>
            <a:r>
              <a:rPr lang="en-US" altLang="zh-CN" dirty="0">
                <a:latin typeface="黑体" pitchFamily="49" charset="-122"/>
                <a:ea typeface="黑体" pitchFamily="49" charset="-122"/>
              </a:rPr>
              <a:t>…</a:t>
            </a:r>
            <a:endParaRPr lang="zh-CN" altLang="en-US" sz="2800" dirty="0">
              <a:latin typeface="黑体" pitchFamily="49" charset="-122"/>
              <a:ea typeface="黑体" pitchFamily="49" charset="-122"/>
            </a:endParaRPr>
          </a:p>
        </p:txBody>
      </p:sp>
      <p:sp>
        <p:nvSpPr>
          <p:cNvPr id="3" name="内容占位符 2"/>
          <p:cNvSpPr>
            <a:spLocks noGrp="1"/>
          </p:cNvSpPr>
          <p:nvPr>
            <p:ph idx="1"/>
          </p:nvPr>
        </p:nvSpPr>
        <p:spPr/>
        <p:txBody>
          <a:bodyPr/>
          <a:lstStyle/>
          <a:p>
            <a:r>
              <a:rPr lang="zh-CN" altLang="en-US" b="1" dirty="0"/>
              <a:t>上古结绳而治         </a:t>
            </a:r>
            <a:r>
              <a:rPr lang="en-US" altLang="zh-CN" sz="1200" b="1" dirty="0"/>
              <a:t>--《</a:t>
            </a:r>
            <a:r>
              <a:rPr lang="zh-CN" altLang="en-US" sz="1200" b="1" dirty="0"/>
              <a:t>易</a:t>
            </a:r>
            <a:r>
              <a:rPr lang="en-US" altLang="zh-CN" sz="1200" b="1" dirty="0"/>
              <a:t>·</a:t>
            </a:r>
            <a:r>
              <a:rPr lang="zh-CN" altLang="en-US" sz="1200" b="1" dirty="0"/>
              <a:t>系辞</a:t>
            </a:r>
            <a:r>
              <a:rPr lang="en-US" altLang="zh-CN" sz="1200" b="1" dirty="0"/>
              <a:t>》</a:t>
            </a:r>
            <a:endParaRPr lang="en-US" altLang="zh-CN" b="1" dirty="0"/>
          </a:p>
          <a:p>
            <a:r>
              <a:rPr lang="zh-CN" altLang="en-US" b="1" dirty="0"/>
              <a:t>文字与书写</a:t>
            </a:r>
            <a:endParaRPr lang="en-US" altLang="zh-CN" b="1" dirty="0"/>
          </a:p>
          <a:p>
            <a:endParaRPr lang="en-US" altLang="zh-CN" b="1" dirty="0"/>
          </a:p>
          <a:p>
            <a:r>
              <a:rPr lang="zh-CN" altLang="en-US" b="1" dirty="0"/>
              <a:t>最简单的计数机制：二进制</a:t>
            </a:r>
            <a:endParaRPr lang="en-US" altLang="zh-CN" b="1" dirty="0"/>
          </a:p>
          <a:p>
            <a:pPr lvl="1"/>
            <a:r>
              <a:rPr lang="zh-CN" altLang="en-US" b="1" dirty="0"/>
              <a:t>古人：</a:t>
            </a:r>
            <a:endParaRPr lang="en-US" altLang="zh-CN" b="1" dirty="0"/>
          </a:p>
          <a:p>
            <a:pPr lvl="2"/>
            <a:r>
              <a:rPr lang="zh-CN" altLang="en-US" b="1" dirty="0"/>
              <a:t>（太极 阴、阳）</a:t>
            </a:r>
            <a:endParaRPr lang="en-US" altLang="zh-CN" b="1" dirty="0"/>
          </a:p>
          <a:p>
            <a:pPr lvl="1"/>
            <a:r>
              <a:rPr lang="zh-CN" altLang="en-US" b="1" dirty="0"/>
              <a:t>现代科技：</a:t>
            </a:r>
            <a:endParaRPr lang="en-US" altLang="zh-CN" b="1" dirty="0"/>
          </a:p>
          <a:p>
            <a:pPr lvl="2"/>
            <a:r>
              <a:rPr lang="zh-CN" altLang="en-US" b="1" dirty="0"/>
              <a:t>状态门电路</a:t>
            </a:r>
            <a:r>
              <a:rPr lang="en-US" altLang="zh-CN" b="1" dirty="0"/>
              <a:t>--  </a:t>
            </a:r>
            <a:r>
              <a:rPr lang="zh-CN" altLang="en-US" b="1" dirty="0"/>
              <a:t>电平（高低），磁体极性等等</a:t>
            </a:r>
            <a:endParaRPr lang="en-US" altLang="zh-CN" b="1" dirty="0"/>
          </a:p>
        </p:txBody>
      </p:sp>
      <p:sp>
        <p:nvSpPr>
          <p:cNvPr id="4" name="灯片编号占位符 3"/>
          <p:cNvSpPr>
            <a:spLocks noGrp="1"/>
          </p:cNvSpPr>
          <p:nvPr>
            <p:ph type="sldNum" sz="quarter" idx="12"/>
          </p:nvPr>
        </p:nvSpPr>
        <p:spPr/>
        <p:txBody>
          <a:bodyPr/>
          <a:lstStyle/>
          <a:p>
            <a:pPr>
              <a:defRPr/>
            </a:pPr>
            <a:fld id="{F5B931C6-46ED-4D6F-ADB1-4B91676450DC}" type="slidenum">
              <a:rPr lang="zh-CN" altLang="en-US" smtClean="0"/>
              <a:pPr>
                <a:defRPr/>
              </a:pPr>
              <a:t>8</a:t>
            </a:fld>
            <a:endParaRPr lang="en-US" altLang="zh-CN" dirty="0"/>
          </a:p>
        </p:txBody>
      </p:sp>
    </p:spTree>
    <p:extLst>
      <p:ext uri="{BB962C8B-B14F-4D97-AF65-F5344CB8AC3E}">
        <p14:creationId xmlns:p14="http://schemas.microsoft.com/office/powerpoint/2010/main" val="10916156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itchFamily="49" charset="-122"/>
                <a:ea typeface="黑体" pitchFamily="49" charset="-122"/>
              </a:rPr>
              <a:t>二进制数</a:t>
            </a:r>
          </a:p>
        </p:txBody>
      </p:sp>
      <p:sp>
        <p:nvSpPr>
          <p:cNvPr id="3" name="内容占位符 2"/>
          <p:cNvSpPr>
            <a:spLocks noGrp="1"/>
          </p:cNvSpPr>
          <p:nvPr>
            <p:ph idx="1"/>
          </p:nvPr>
        </p:nvSpPr>
        <p:spPr/>
        <p:txBody>
          <a:bodyPr/>
          <a:lstStyle/>
          <a:p>
            <a:r>
              <a:rPr lang="en-US" altLang="zh-CN" dirty="0"/>
              <a:t>0</a:t>
            </a:r>
            <a:r>
              <a:rPr lang="zh-CN" altLang="en-US" dirty="0"/>
              <a:t>，</a:t>
            </a:r>
            <a:r>
              <a:rPr lang="en-US" altLang="zh-CN" dirty="0"/>
              <a:t>1</a:t>
            </a:r>
            <a:r>
              <a:rPr lang="zh-CN" altLang="en-US" dirty="0"/>
              <a:t>为基本符号的所有数字串。     如：</a:t>
            </a:r>
            <a:r>
              <a:rPr lang="en-US" altLang="zh-CN" dirty="0"/>
              <a:t>1 1 1 1 1 1</a:t>
            </a:r>
          </a:p>
          <a:p>
            <a:r>
              <a:rPr lang="en-US" altLang="zh-CN" dirty="0"/>
              <a:t> </a:t>
            </a:r>
            <a:r>
              <a:rPr lang="zh-CN" altLang="en-US" dirty="0"/>
              <a:t>电子计算机是一种二进制为基础的计算装置，其内部存储的数据、计算指令都是以二进制数字形式存放与处理。</a:t>
            </a:r>
            <a:endParaRPr lang="en-US" altLang="zh-CN" dirty="0"/>
          </a:p>
          <a:p>
            <a:r>
              <a:rPr lang="zh-CN" altLang="en-US" dirty="0"/>
              <a:t>从</a:t>
            </a:r>
            <a:r>
              <a:rPr lang="en-US" altLang="zh-CN" dirty="0"/>
              <a:t>10</a:t>
            </a:r>
            <a:r>
              <a:rPr lang="zh-CN" altLang="en-US" dirty="0"/>
              <a:t>进制到</a:t>
            </a:r>
            <a:r>
              <a:rPr lang="en-US" altLang="zh-CN" dirty="0"/>
              <a:t>2</a:t>
            </a:r>
            <a:r>
              <a:rPr lang="zh-CN" altLang="en-US" dirty="0"/>
              <a:t>进制</a:t>
            </a:r>
            <a:endParaRPr lang="en-US" altLang="zh-CN" dirty="0"/>
          </a:p>
          <a:p>
            <a:endParaRPr lang="en-US" altLang="zh-CN" dirty="0"/>
          </a:p>
          <a:p>
            <a:r>
              <a:rPr lang="zh-CN" altLang="en-US" dirty="0"/>
              <a:t>例如，</a:t>
            </a:r>
            <a:r>
              <a:rPr lang="en-US" altLang="zh-CN" dirty="0"/>
              <a:t>6  </a:t>
            </a:r>
            <a:r>
              <a:rPr lang="zh-CN" altLang="en-US" dirty="0"/>
              <a:t>的二进制数表示为：</a:t>
            </a:r>
            <a:endParaRPr lang="en-US" altLang="zh-CN" dirty="0"/>
          </a:p>
          <a:p>
            <a:r>
              <a:rPr lang="en-US" altLang="zh-CN" dirty="0"/>
              <a:t>                                                      1   1   0</a:t>
            </a:r>
          </a:p>
        </p:txBody>
      </p:sp>
      <p:sp>
        <p:nvSpPr>
          <p:cNvPr id="4" name="灯片编号占位符 3"/>
          <p:cNvSpPr>
            <a:spLocks noGrp="1"/>
          </p:cNvSpPr>
          <p:nvPr>
            <p:ph type="sldNum" sz="quarter" idx="12"/>
          </p:nvPr>
        </p:nvSpPr>
        <p:spPr/>
        <p:txBody>
          <a:bodyPr/>
          <a:lstStyle/>
          <a:p>
            <a:pPr>
              <a:defRPr/>
            </a:pPr>
            <a:fld id="{F5B931C6-46ED-4D6F-ADB1-4B91676450DC}" type="slidenum">
              <a:rPr lang="zh-CN" altLang="en-US" smtClean="0"/>
              <a:pPr>
                <a:defRPr/>
              </a:pPr>
              <a:t>9</a:t>
            </a:fld>
            <a:endParaRPr lang="en-US" altLang="zh-CN" dirty="0"/>
          </a:p>
        </p:txBody>
      </p:sp>
    </p:spTree>
    <p:extLst>
      <p:ext uri="{BB962C8B-B14F-4D97-AF65-F5344CB8AC3E}">
        <p14:creationId xmlns:p14="http://schemas.microsoft.com/office/powerpoint/2010/main" val="2236700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黑体" pitchFamily="49" charset="-122"/>
                <a:ea typeface="黑体" pitchFamily="49" charset="-122"/>
              </a:rPr>
              <a:t>8</a:t>
            </a:r>
            <a:r>
              <a:rPr lang="zh-CN" altLang="en-US" dirty="0">
                <a:latin typeface="黑体" pitchFamily="49" charset="-122"/>
                <a:ea typeface="黑体" pitchFamily="49" charset="-122"/>
              </a:rPr>
              <a:t>进制与</a:t>
            </a:r>
            <a:r>
              <a:rPr lang="en-US" altLang="zh-CN" dirty="0">
                <a:latin typeface="黑体" pitchFamily="49" charset="-122"/>
                <a:ea typeface="黑体" pitchFamily="49" charset="-122"/>
              </a:rPr>
              <a:t>16</a:t>
            </a:r>
            <a:r>
              <a:rPr lang="zh-CN" altLang="en-US" dirty="0">
                <a:latin typeface="黑体" pitchFamily="49" charset="-122"/>
                <a:ea typeface="黑体" pitchFamily="49" charset="-122"/>
              </a:rPr>
              <a:t>进制数</a:t>
            </a:r>
          </a:p>
        </p:txBody>
      </p:sp>
      <p:sp>
        <p:nvSpPr>
          <p:cNvPr id="3" name="内容占位符 2"/>
          <p:cNvSpPr>
            <a:spLocks noGrp="1"/>
          </p:cNvSpPr>
          <p:nvPr>
            <p:ph idx="1"/>
          </p:nvPr>
        </p:nvSpPr>
        <p:spPr/>
        <p:txBody>
          <a:bodyPr/>
          <a:lstStyle/>
          <a:p>
            <a:r>
              <a:rPr lang="en-US" altLang="zh-CN" dirty="0"/>
              <a:t>8</a:t>
            </a:r>
            <a:r>
              <a:rPr lang="zh-CN" altLang="en-US" dirty="0"/>
              <a:t>进制：</a:t>
            </a:r>
            <a:endParaRPr lang="en-US" altLang="zh-CN" dirty="0"/>
          </a:p>
          <a:p>
            <a:pPr lvl="1"/>
            <a:r>
              <a:rPr lang="zh-CN" altLang="en-US" dirty="0"/>
              <a:t>基本符号 </a:t>
            </a:r>
            <a:r>
              <a:rPr lang="en-US" altLang="zh-CN" dirty="0"/>
              <a:t>0-7</a:t>
            </a:r>
            <a:r>
              <a:rPr lang="zh-CN" altLang="en-US" dirty="0"/>
              <a:t>， 在文字表达时规定以</a:t>
            </a:r>
            <a:r>
              <a:rPr lang="en-US" altLang="zh-CN" dirty="0">
                <a:highlight>
                  <a:srgbClr val="FFFF00"/>
                </a:highlight>
              </a:rPr>
              <a:t>0</a:t>
            </a:r>
            <a:r>
              <a:rPr lang="zh-CN" altLang="en-US" dirty="0">
                <a:highlight>
                  <a:srgbClr val="FFFF00"/>
                </a:highlight>
              </a:rPr>
              <a:t>开头</a:t>
            </a:r>
            <a:r>
              <a:rPr lang="zh-CN" altLang="en-US" dirty="0"/>
              <a:t>，如</a:t>
            </a:r>
            <a:r>
              <a:rPr lang="en-US" altLang="zh-CN" dirty="0"/>
              <a:t>077</a:t>
            </a:r>
          </a:p>
          <a:p>
            <a:r>
              <a:rPr lang="en-US" altLang="zh-CN" dirty="0"/>
              <a:t>16</a:t>
            </a:r>
            <a:r>
              <a:rPr lang="zh-CN" altLang="en-US" dirty="0"/>
              <a:t>进制：</a:t>
            </a:r>
            <a:endParaRPr lang="en-US" altLang="zh-CN" dirty="0"/>
          </a:p>
          <a:p>
            <a:pPr lvl="1"/>
            <a:r>
              <a:rPr lang="zh-CN" altLang="en-US" dirty="0"/>
              <a:t>基本符号 </a:t>
            </a:r>
            <a:r>
              <a:rPr lang="en-US" altLang="zh-CN" dirty="0"/>
              <a:t>0-9, </a:t>
            </a:r>
            <a:r>
              <a:rPr lang="en-US" altLang="zh-CN" dirty="0" err="1"/>
              <a:t>a,b,c,d,e,f</a:t>
            </a:r>
            <a:r>
              <a:rPr lang="en-US" altLang="zh-CN" dirty="0"/>
              <a:t>   </a:t>
            </a:r>
            <a:r>
              <a:rPr lang="zh-CN" altLang="en-US" dirty="0"/>
              <a:t>在文字表达时规定以</a:t>
            </a:r>
            <a:r>
              <a:rPr lang="en-US" altLang="zh-CN" dirty="0">
                <a:highlight>
                  <a:srgbClr val="FFFF00"/>
                </a:highlight>
              </a:rPr>
              <a:t>0x</a:t>
            </a:r>
            <a:r>
              <a:rPr lang="zh-CN" altLang="en-US" dirty="0">
                <a:highlight>
                  <a:srgbClr val="FFFF00"/>
                </a:highlight>
              </a:rPr>
              <a:t>开头</a:t>
            </a:r>
            <a:r>
              <a:rPr lang="zh-CN" altLang="en-US" dirty="0"/>
              <a:t>，如</a:t>
            </a:r>
            <a:r>
              <a:rPr lang="en-US" altLang="zh-CN" dirty="0"/>
              <a:t>0x3f</a:t>
            </a:r>
          </a:p>
          <a:p>
            <a:r>
              <a:rPr lang="en-US" altLang="zh-CN" dirty="0"/>
              <a:t>1 1 1 1 1 1 </a:t>
            </a:r>
            <a:r>
              <a:rPr lang="zh-CN" altLang="en-US" dirty="0"/>
              <a:t>到</a:t>
            </a:r>
            <a:r>
              <a:rPr lang="en-US" altLang="zh-CN" dirty="0"/>
              <a:t>8</a:t>
            </a:r>
            <a:r>
              <a:rPr lang="zh-CN" altLang="en-US" dirty="0"/>
              <a:t>进制、</a:t>
            </a:r>
            <a:r>
              <a:rPr lang="en-US" altLang="zh-CN" dirty="0"/>
              <a:t>16</a:t>
            </a:r>
            <a:r>
              <a:rPr lang="zh-CN" altLang="en-US" dirty="0"/>
              <a:t>进制数的转换：</a:t>
            </a:r>
            <a:endParaRPr lang="en-US" altLang="zh-CN" dirty="0"/>
          </a:p>
          <a:p>
            <a:pPr lvl="1"/>
            <a:r>
              <a:rPr lang="en-US" altLang="zh-CN" u="sng" dirty="0"/>
              <a:t>1  1  1 </a:t>
            </a:r>
            <a:r>
              <a:rPr lang="en-US" altLang="zh-CN" dirty="0"/>
              <a:t>  </a:t>
            </a:r>
            <a:r>
              <a:rPr lang="en-US" altLang="zh-CN" u="sng" dirty="0"/>
              <a:t>1  1  1  </a:t>
            </a:r>
            <a:r>
              <a:rPr lang="en-US" altLang="zh-CN" dirty="0"/>
              <a:t>                           </a:t>
            </a:r>
            <a:r>
              <a:rPr lang="en-US" altLang="zh-CN" u="sng" dirty="0"/>
              <a:t> 0 0 1  1 </a:t>
            </a:r>
            <a:r>
              <a:rPr lang="en-US" altLang="zh-CN" dirty="0"/>
              <a:t>   </a:t>
            </a:r>
            <a:r>
              <a:rPr lang="en-US" altLang="zh-CN" u="sng" dirty="0"/>
              <a:t>1  1  1  1</a:t>
            </a:r>
          </a:p>
          <a:p>
            <a:pPr lvl="1"/>
            <a:r>
              <a:rPr lang="en-US" altLang="zh-CN" dirty="0"/>
              <a:t>   7         7                                   3           f</a:t>
            </a:r>
          </a:p>
          <a:p>
            <a:pPr lvl="1"/>
            <a:r>
              <a:rPr lang="en-US" altLang="zh-CN" dirty="0"/>
              <a:t>       077                                          0x3f</a:t>
            </a:r>
          </a:p>
        </p:txBody>
      </p:sp>
      <p:sp>
        <p:nvSpPr>
          <p:cNvPr id="4" name="灯片编号占位符 3"/>
          <p:cNvSpPr>
            <a:spLocks noGrp="1"/>
          </p:cNvSpPr>
          <p:nvPr>
            <p:ph type="sldNum" sz="quarter" idx="12"/>
          </p:nvPr>
        </p:nvSpPr>
        <p:spPr/>
        <p:txBody>
          <a:bodyPr/>
          <a:lstStyle/>
          <a:p>
            <a:pPr>
              <a:defRPr/>
            </a:pPr>
            <a:fld id="{F5B931C6-46ED-4D6F-ADB1-4B91676450DC}" type="slidenum">
              <a:rPr lang="zh-CN" altLang="en-US" smtClean="0"/>
              <a:pPr>
                <a:defRPr/>
              </a:pPr>
              <a:t>10</a:t>
            </a:fld>
            <a:endParaRPr lang="en-US" altLang="zh-CN"/>
          </a:p>
        </p:txBody>
      </p:sp>
    </p:spTree>
    <p:extLst>
      <p:ext uri="{BB962C8B-B14F-4D97-AF65-F5344CB8AC3E}">
        <p14:creationId xmlns:p14="http://schemas.microsoft.com/office/powerpoint/2010/main" val="1471130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fade">
                                      <p:cBhvr>
                                        <p:cTn id="7" dur="500"/>
                                        <p:tgtEl>
                                          <p:spTgt spid="3">
                                            <p:txEl>
                                              <p:pRg st="5" end="5"/>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6" end="6"/>
                                            </p:txEl>
                                          </p:spTgt>
                                        </p:tgtEl>
                                        <p:attrNameLst>
                                          <p:attrName>style.visibility</p:attrName>
                                        </p:attrNameLst>
                                      </p:cBhvr>
                                      <p:to>
                                        <p:strVal val="visible"/>
                                      </p:to>
                                    </p:set>
                                    <p:animEffect transition="in" filter="fade">
                                      <p:cBhvr>
                                        <p:cTn id="10" dur="500"/>
                                        <p:tgtEl>
                                          <p:spTgt spid="3">
                                            <p:txEl>
                                              <p:pRg st="6" end="6"/>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animEffect transition="in" filter="fade">
                                      <p:cBhvr>
                                        <p:cTn id="13"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7026" name="Rectangle 2"/>
          <p:cNvSpPr>
            <a:spLocks noGrp="1" noChangeArrowheads="1"/>
          </p:cNvSpPr>
          <p:nvPr>
            <p:ph idx="1"/>
          </p:nvPr>
        </p:nvSpPr>
        <p:spPr>
          <a:xfrm>
            <a:off x="468313" y="476250"/>
            <a:ext cx="8382000" cy="6121400"/>
          </a:xfrm>
        </p:spPr>
        <p:txBody>
          <a:bodyPr>
            <a:normAutofit/>
          </a:bodyPr>
          <a:lstStyle/>
          <a:p>
            <a:pPr marL="0" indent="0" fontAlgn="auto">
              <a:spcAft>
                <a:spcPts val="0"/>
              </a:spcAft>
              <a:buClr>
                <a:schemeClr val="accent3"/>
              </a:buClr>
              <a:buFont typeface="Monotype Sorts" pitchFamily="2" charset="2"/>
              <a:buNone/>
              <a:defRPr/>
            </a:pPr>
            <a:endParaRPr lang="en-US" altLang="zh-CN" b="1" dirty="0">
              <a:effectLst>
                <a:outerShdw blurRad="38100" dist="38100" dir="2700000" algn="tl">
                  <a:srgbClr val="000000"/>
                </a:outerShdw>
              </a:effectLst>
              <a:ea typeface="楷体_GB2312" pitchFamily="49" charset="-122"/>
            </a:endParaRPr>
          </a:p>
          <a:p>
            <a:pPr marL="0" indent="0" fontAlgn="auto">
              <a:spcAft>
                <a:spcPts val="0"/>
              </a:spcAft>
              <a:buClr>
                <a:schemeClr val="accent3"/>
              </a:buClr>
              <a:buFont typeface="Monotype Sorts" pitchFamily="2" charset="2"/>
              <a:buNone/>
              <a:defRPr/>
            </a:pPr>
            <a:endParaRPr lang="en-US" altLang="zh-CN" b="1" dirty="0">
              <a:effectLst>
                <a:outerShdw blurRad="38100" dist="38100" dir="2700000" algn="tl">
                  <a:srgbClr val="000000"/>
                </a:outerShdw>
              </a:effectLst>
              <a:ea typeface="楷体_GB2312" pitchFamily="49" charset="-122"/>
            </a:endParaRPr>
          </a:p>
          <a:p>
            <a:pPr marL="0" indent="0" fontAlgn="auto">
              <a:spcAft>
                <a:spcPts val="0"/>
              </a:spcAft>
              <a:buClr>
                <a:schemeClr val="accent3"/>
              </a:buClr>
              <a:buFont typeface="Monotype Sorts" pitchFamily="2" charset="2"/>
              <a:buNone/>
              <a:defRPr/>
            </a:pPr>
            <a:endParaRPr lang="en-US" altLang="zh-CN" b="1" dirty="0">
              <a:effectLst>
                <a:outerShdw blurRad="38100" dist="38100" dir="2700000" algn="tl">
                  <a:srgbClr val="000000"/>
                </a:outerShdw>
              </a:effectLst>
              <a:ea typeface="楷体_GB2312" pitchFamily="49" charset="-122"/>
            </a:endParaRPr>
          </a:p>
          <a:p>
            <a:pPr marL="0" indent="0" fontAlgn="auto">
              <a:spcAft>
                <a:spcPts val="0"/>
              </a:spcAft>
              <a:buClr>
                <a:schemeClr val="accent3"/>
              </a:buClr>
              <a:buFont typeface="Monotype Sorts" pitchFamily="2" charset="2"/>
              <a:buNone/>
              <a:defRPr/>
            </a:pPr>
            <a:endParaRPr lang="en-US" altLang="zh-CN" b="1" dirty="0">
              <a:effectLst>
                <a:outerShdw blurRad="38100" dist="38100" dir="2700000" algn="tl">
                  <a:srgbClr val="000000"/>
                </a:outerShdw>
              </a:effectLst>
              <a:ea typeface="楷体_GB2312" pitchFamily="49" charset="-122"/>
            </a:endParaRPr>
          </a:p>
          <a:p>
            <a:pPr marL="0" indent="0" fontAlgn="auto">
              <a:spcAft>
                <a:spcPts val="0"/>
              </a:spcAft>
              <a:buClr>
                <a:schemeClr val="accent3"/>
              </a:buClr>
              <a:buFont typeface="Monotype Sorts" pitchFamily="2" charset="2"/>
              <a:buNone/>
              <a:defRPr/>
            </a:pPr>
            <a:endParaRPr lang="en-US" altLang="zh-CN" b="1" dirty="0">
              <a:effectLst>
                <a:outerShdw blurRad="38100" dist="38100" dir="2700000" algn="tl">
                  <a:srgbClr val="000000"/>
                </a:outerShdw>
              </a:effectLst>
              <a:ea typeface="楷体_GB2312" pitchFamily="49" charset="-122"/>
            </a:endParaRPr>
          </a:p>
          <a:p>
            <a:pPr marL="0" indent="0" fontAlgn="auto">
              <a:spcAft>
                <a:spcPts val="0"/>
              </a:spcAft>
              <a:buClr>
                <a:schemeClr val="accent3"/>
              </a:buClr>
              <a:buFont typeface="Monotype Sorts" pitchFamily="2" charset="2"/>
              <a:buNone/>
              <a:defRPr/>
            </a:pPr>
            <a:r>
              <a:rPr lang="zh-CN" altLang="en-US" b="1" dirty="0">
                <a:ea typeface="楷体_GB2312" pitchFamily="49" charset="-122"/>
              </a:rPr>
              <a:t>计算机的输入设备能将待输入的各种形式的信息转换成适宜于计算机处理的信息，并送入计算机。例如，磁盘机、键盘、鼠标器等。</a:t>
            </a:r>
          </a:p>
          <a:p>
            <a:pPr marL="0" indent="0" fontAlgn="auto">
              <a:spcAft>
                <a:spcPts val="0"/>
              </a:spcAft>
              <a:buClr>
                <a:schemeClr val="accent3"/>
              </a:buClr>
              <a:buFont typeface="Monotype Sorts" pitchFamily="2" charset="2"/>
              <a:buNone/>
              <a:defRPr/>
            </a:pPr>
            <a:endParaRPr lang="zh-CN" altLang="en-US" b="1" dirty="0">
              <a:ea typeface="楷体_GB2312" pitchFamily="49" charset="-122"/>
            </a:endParaRPr>
          </a:p>
          <a:p>
            <a:pPr marL="0" indent="0" fontAlgn="auto">
              <a:spcAft>
                <a:spcPts val="0"/>
              </a:spcAft>
              <a:buClr>
                <a:schemeClr val="accent3"/>
              </a:buClr>
              <a:buFont typeface="Monotype Sorts" pitchFamily="2" charset="2"/>
              <a:buNone/>
              <a:defRPr/>
            </a:pPr>
            <a:r>
              <a:rPr lang="zh-CN" altLang="en-US" b="1" dirty="0">
                <a:ea typeface="楷体_GB2312" pitchFamily="49" charset="-122"/>
              </a:rPr>
              <a:t>输出设备接受计算机处理过的信息，并能将信息转变成其它机器能识别的形式或人能理解的形式存储、打印或显示。例如，磁盘机、显示屏幕、打印机等。</a:t>
            </a:r>
          </a:p>
        </p:txBody>
      </p:sp>
      <p:sp>
        <p:nvSpPr>
          <p:cNvPr id="5" name="灯片编号占位符 5"/>
          <p:cNvSpPr>
            <a:spLocks noGrp="1"/>
          </p:cNvSpPr>
          <p:nvPr>
            <p:ph type="sldNum" sz="quarter" idx="12"/>
          </p:nvPr>
        </p:nvSpPr>
        <p:spPr/>
        <p:txBody>
          <a:bodyPr/>
          <a:lstStyle/>
          <a:p>
            <a:pPr defTabSz="1128713">
              <a:defRPr/>
            </a:pPr>
            <a:fld id="{9E5ADCA9-AD57-4298-BDDF-8901CA4708EC}" type="slidenum">
              <a:rPr lang="zh-CN" altLang="en-US">
                <a:latin typeface="+mn-lt"/>
              </a:rPr>
              <a:pPr defTabSz="1128713">
                <a:defRPr/>
              </a:pPr>
              <a:t>11</a:t>
            </a:fld>
            <a:endParaRPr lang="en-US" altLang="zh-CN">
              <a:latin typeface="+mn-lt"/>
            </a:endParaRPr>
          </a:p>
        </p:txBody>
      </p:sp>
      <p:pic>
        <p:nvPicPr>
          <p:cNvPr id="15364" name="Picture 3" descr="keyboardMouse.jpg"/>
          <p:cNvPicPr>
            <a:picLocks noChangeAspect="1"/>
          </p:cNvPicPr>
          <p:nvPr/>
        </p:nvPicPr>
        <p:blipFill>
          <a:blip r:embed="rId2" cstate="print"/>
          <a:srcRect/>
          <a:stretch>
            <a:fillRect/>
          </a:stretch>
        </p:blipFill>
        <p:spPr bwMode="auto">
          <a:xfrm>
            <a:off x="857250" y="1143000"/>
            <a:ext cx="2714625" cy="1579563"/>
          </a:xfrm>
          <a:prstGeom prst="rect">
            <a:avLst/>
          </a:prstGeom>
          <a:noFill/>
          <a:ln w="9525">
            <a:noFill/>
            <a:miter lim="800000"/>
            <a:headEnd/>
            <a:tailEnd/>
          </a:ln>
        </p:spPr>
      </p:pic>
      <p:pic>
        <p:nvPicPr>
          <p:cNvPr id="15365" name="Picture 5" descr="92da11e771f35e766573bc2068622ac5.jpg"/>
          <p:cNvPicPr>
            <a:picLocks noChangeAspect="1"/>
          </p:cNvPicPr>
          <p:nvPr/>
        </p:nvPicPr>
        <p:blipFill>
          <a:blip r:embed="rId3" cstate="print"/>
          <a:srcRect/>
          <a:stretch>
            <a:fillRect/>
          </a:stretch>
        </p:blipFill>
        <p:spPr bwMode="auto">
          <a:xfrm>
            <a:off x="6286500" y="785813"/>
            <a:ext cx="1976438" cy="2132012"/>
          </a:xfrm>
          <a:prstGeom prst="rect">
            <a:avLst/>
          </a:prstGeom>
          <a:noFill/>
          <a:ln w="9525">
            <a:noFill/>
            <a:miter lim="800000"/>
            <a:headEnd/>
            <a:tailEnd/>
          </a:ln>
        </p:spPr>
      </p:pic>
      <p:pic>
        <p:nvPicPr>
          <p:cNvPr id="15366" name="Picture 6" descr="hp-laserjet-2300-laser-printer-review.jpg"/>
          <p:cNvPicPr>
            <a:picLocks noChangeAspect="1"/>
          </p:cNvPicPr>
          <p:nvPr/>
        </p:nvPicPr>
        <p:blipFill>
          <a:blip r:embed="rId4" cstate="print"/>
          <a:srcRect/>
          <a:stretch>
            <a:fillRect/>
          </a:stretch>
        </p:blipFill>
        <p:spPr bwMode="auto">
          <a:xfrm>
            <a:off x="4000500" y="1143000"/>
            <a:ext cx="1857375" cy="1663700"/>
          </a:xfrm>
          <a:prstGeom prst="rect">
            <a:avLst/>
          </a:prstGeom>
          <a:noFill/>
          <a:ln w="9525">
            <a:noFill/>
            <a:miter lim="800000"/>
            <a:headEnd/>
            <a:tailEnd/>
          </a:ln>
        </p:spPr>
      </p:pic>
    </p:spTree>
  </p:cSld>
  <p:clrMapOvr>
    <a:masterClrMapping/>
  </p:clrMapOvr>
  <p:transition>
    <p:random/>
  </p:transition>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1554" name="Rectangle 2"/>
          <p:cNvSpPr>
            <a:spLocks noGrp="1" noChangeArrowheads="1"/>
          </p:cNvSpPr>
          <p:nvPr>
            <p:ph idx="1"/>
          </p:nvPr>
        </p:nvSpPr>
        <p:spPr>
          <a:xfrm>
            <a:off x="323850" y="404813"/>
            <a:ext cx="8424863" cy="6119812"/>
          </a:xfrm>
        </p:spPr>
        <p:txBody>
          <a:bodyPr>
            <a:normAutofit/>
          </a:bodyPr>
          <a:lstStyle/>
          <a:p>
            <a:pPr marL="0" indent="0" fontAlgn="auto">
              <a:spcAft>
                <a:spcPts val="0"/>
              </a:spcAft>
              <a:buClr>
                <a:schemeClr val="accent3"/>
              </a:buClr>
              <a:buFont typeface="Monotype Sorts" charset="2"/>
              <a:buNone/>
              <a:defRPr/>
            </a:pPr>
            <a:r>
              <a:rPr lang="zh-CN" altLang="en-US" sz="3600" b="1" dirty="0">
                <a:solidFill>
                  <a:srgbClr val="C00000"/>
                </a:solidFill>
                <a:effectLst>
                  <a:outerShdw blurRad="38100" dist="38100" dir="2700000" algn="tl">
                    <a:srgbClr val="000000"/>
                  </a:outerShdw>
                </a:effectLst>
                <a:latin typeface="黑体" pitchFamily="2" charset="-122"/>
                <a:ea typeface="黑体" pitchFamily="2" charset="-122"/>
              </a:rPr>
              <a:t>计算机的基本工作过程</a:t>
            </a:r>
          </a:p>
          <a:p>
            <a:pPr marL="0" indent="0" fontAlgn="auto">
              <a:spcAft>
                <a:spcPts val="0"/>
              </a:spcAft>
              <a:buClr>
                <a:schemeClr val="accent3"/>
              </a:buClr>
              <a:buFont typeface="Monotype Sorts" charset="2"/>
              <a:buNone/>
              <a:defRPr/>
            </a:pPr>
            <a:endParaRPr lang="zh-CN" altLang="en-US" b="1" dirty="0">
              <a:solidFill>
                <a:srgbClr val="0000FF"/>
              </a:solidFill>
              <a:effectLst>
                <a:outerShdw blurRad="38100" dist="38100" dir="2700000" algn="tl">
                  <a:srgbClr val="000000"/>
                </a:outerShdw>
              </a:effectLst>
              <a:latin typeface="楷体_GB2312" pitchFamily="49" charset="-122"/>
              <a:ea typeface="楷体_GB2312" pitchFamily="49" charset="-122"/>
            </a:endParaRPr>
          </a:p>
          <a:p>
            <a:pPr marL="0" indent="0" fontAlgn="auto">
              <a:spcAft>
                <a:spcPts val="0"/>
              </a:spcAft>
              <a:buClr>
                <a:schemeClr val="accent3"/>
              </a:buClr>
              <a:defRPr/>
            </a:pPr>
            <a:r>
              <a:rPr lang="zh-CN" altLang="en-US" sz="3200" b="1" dirty="0">
                <a:latin typeface="楷体_GB2312" pitchFamily="49" charset="-122"/>
                <a:ea typeface="楷体_GB2312" pitchFamily="49" charset="-122"/>
              </a:rPr>
              <a:t>计算机的</a:t>
            </a:r>
            <a:r>
              <a:rPr lang="en-US" altLang="zh-CN" sz="3200" b="1" dirty="0">
                <a:latin typeface="楷体_GB2312" pitchFamily="49" charset="-122"/>
                <a:ea typeface="楷体_GB2312" pitchFamily="49" charset="-122"/>
              </a:rPr>
              <a:t>CPU</a:t>
            </a:r>
            <a:r>
              <a:rPr lang="zh-CN" altLang="en-US" sz="3200" b="1" dirty="0">
                <a:latin typeface="楷体_GB2312" pitchFamily="49" charset="-122"/>
                <a:ea typeface="楷体_GB2312" pitchFamily="49" charset="-122"/>
              </a:rPr>
              <a:t>是计算机的控制中心和计算机执行程序时的工作平台。</a:t>
            </a:r>
            <a:endParaRPr lang="en-US" altLang="zh-CN" sz="3200" b="1" dirty="0">
              <a:latin typeface="楷体_GB2312" pitchFamily="49" charset="-122"/>
              <a:ea typeface="楷体_GB2312" pitchFamily="49" charset="-122"/>
            </a:endParaRPr>
          </a:p>
          <a:p>
            <a:pPr marL="0" indent="0" fontAlgn="auto">
              <a:spcAft>
                <a:spcPts val="0"/>
              </a:spcAft>
              <a:buClr>
                <a:schemeClr val="accent3"/>
              </a:buClr>
              <a:defRPr/>
            </a:pPr>
            <a:endParaRPr lang="zh-CN" altLang="en-US" sz="3200" b="1" dirty="0">
              <a:latin typeface="楷体_GB2312" pitchFamily="49" charset="-122"/>
              <a:ea typeface="楷体_GB2312" pitchFamily="49" charset="-122"/>
            </a:endParaRPr>
          </a:p>
          <a:p>
            <a:pPr marL="0" indent="0" fontAlgn="auto">
              <a:spcAft>
                <a:spcPts val="0"/>
              </a:spcAft>
              <a:buClr>
                <a:schemeClr val="accent3"/>
              </a:buClr>
              <a:defRPr/>
            </a:pPr>
            <a:r>
              <a:rPr lang="zh-CN" altLang="en-US" sz="3200" b="1" dirty="0">
                <a:latin typeface="楷体_GB2312" pitchFamily="49" charset="-122"/>
                <a:ea typeface="楷体_GB2312" pitchFamily="49" charset="-122"/>
              </a:rPr>
              <a:t>内存是计算机存储程序和数据的存储场所，内存被分割成许许多多单元。</a:t>
            </a:r>
            <a:endParaRPr lang="en-US" altLang="zh-CN" sz="3200" b="1" dirty="0">
              <a:latin typeface="楷体_GB2312" pitchFamily="49" charset="-122"/>
              <a:ea typeface="楷体_GB2312" pitchFamily="49" charset="-122"/>
            </a:endParaRPr>
          </a:p>
          <a:p>
            <a:pPr marL="0" indent="0" fontAlgn="auto">
              <a:spcAft>
                <a:spcPts val="0"/>
              </a:spcAft>
              <a:buClr>
                <a:schemeClr val="accent3"/>
              </a:buClr>
              <a:defRPr/>
            </a:pPr>
            <a:endParaRPr lang="zh-CN" altLang="en-US" sz="3200" b="1" dirty="0">
              <a:latin typeface="楷体_GB2312" pitchFamily="49" charset="-122"/>
              <a:ea typeface="楷体_GB2312" pitchFamily="49" charset="-122"/>
            </a:endParaRPr>
          </a:p>
          <a:p>
            <a:pPr marL="0" indent="0" fontAlgn="auto">
              <a:spcAft>
                <a:spcPts val="0"/>
              </a:spcAft>
              <a:buClr>
                <a:schemeClr val="accent3"/>
              </a:buClr>
              <a:defRPr/>
            </a:pPr>
            <a:r>
              <a:rPr lang="zh-CN" altLang="en-US" sz="3200" b="1" dirty="0">
                <a:latin typeface="楷体_GB2312" pitchFamily="49" charset="-122"/>
                <a:ea typeface="楷体_GB2312" pitchFamily="49" charset="-122"/>
              </a:rPr>
              <a:t>为区别内存不同单元的存储位置，各内存单元按顺序对应一个数字（二进制数）编号，内存单元的编号称为内存单元的地址</a:t>
            </a:r>
            <a:r>
              <a:rPr lang="en-US" altLang="zh-CN" sz="3200" b="1" dirty="0">
                <a:latin typeface="楷体_GB2312" pitchFamily="49" charset="-122"/>
                <a:ea typeface="楷体_GB2312" pitchFamily="49" charset="-122"/>
              </a:rPr>
              <a:t>(address)</a:t>
            </a:r>
            <a:r>
              <a:rPr lang="zh-CN" altLang="en-US" sz="3200" b="1" dirty="0">
                <a:latin typeface="楷体_GB2312" pitchFamily="49" charset="-122"/>
                <a:ea typeface="楷体_GB2312" pitchFamily="49" charset="-122"/>
              </a:rPr>
              <a:t>。</a:t>
            </a:r>
          </a:p>
        </p:txBody>
      </p:sp>
      <p:sp>
        <p:nvSpPr>
          <p:cNvPr id="5" name="灯片编号占位符 5"/>
          <p:cNvSpPr>
            <a:spLocks noGrp="1"/>
          </p:cNvSpPr>
          <p:nvPr>
            <p:ph type="sldNum" sz="quarter" idx="12"/>
          </p:nvPr>
        </p:nvSpPr>
        <p:spPr/>
        <p:txBody>
          <a:bodyPr/>
          <a:lstStyle/>
          <a:p>
            <a:pPr defTabSz="1128713">
              <a:defRPr/>
            </a:pPr>
            <a:fld id="{DDF85C71-02D7-47D5-A436-F314C46E557E}" type="slidenum">
              <a:rPr lang="zh-CN" altLang="en-US">
                <a:latin typeface="+mn-lt"/>
              </a:rPr>
              <a:pPr defTabSz="1128713">
                <a:defRPr/>
              </a:pPr>
              <a:t>12</a:t>
            </a:fld>
            <a:endParaRPr lang="en-US" altLang="zh-CN">
              <a:latin typeface="+mn-lt"/>
            </a:endParaRPr>
          </a:p>
        </p:txBody>
      </p:sp>
    </p:spTree>
  </p:cSld>
  <p:clrMapOvr>
    <a:masterClrMapping/>
  </p:clrMapOvr>
  <p:transition>
    <p:rand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2" name="Picture 5" descr="memory01"/>
          <p:cNvPicPr>
            <a:picLocks noChangeAspect="1" noChangeArrowheads="1"/>
          </p:cNvPicPr>
          <p:nvPr/>
        </p:nvPicPr>
        <p:blipFill>
          <a:blip r:embed="rId2" cstate="print"/>
          <a:srcRect/>
          <a:stretch>
            <a:fillRect/>
          </a:stretch>
        </p:blipFill>
        <p:spPr bwMode="auto">
          <a:xfrm>
            <a:off x="857224" y="857232"/>
            <a:ext cx="3405187" cy="5353050"/>
          </a:xfrm>
          <a:prstGeom prst="rect">
            <a:avLst/>
          </a:prstGeom>
          <a:noFill/>
          <a:ln w="9525">
            <a:noFill/>
            <a:miter lim="800000"/>
            <a:headEnd/>
            <a:tailEnd/>
          </a:ln>
        </p:spPr>
      </p:pic>
      <p:sp>
        <p:nvSpPr>
          <p:cNvPr id="10" name="Rectangular Callout 9"/>
          <p:cNvSpPr/>
          <p:nvPr/>
        </p:nvSpPr>
        <p:spPr>
          <a:xfrm>
            <a:off x="3995936" y="188640"/>
            <a:ext cx="1728192" cy="648072"/>
          </a:xfrm>
          <a:prstGeom prst="wedgeRectCallout">
            <a:avLst>
              <a:gd name="adj1" fmla="val -89701"/>
              <a:gd name="adj2" fmla="val 75938"/>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11" name="Rectangle 10"/>
          <p:cNvSpPr/>
          <p:nvPr/>
        </p:nvSpPr>
        <p:spPr>
          <a:xfrm>
            <a:off x="3995936" y="188640"/>
            <a:ext cx="216024" cy="64807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t>1</a:t>
            </a:r>
            <a:endParaRPr lang="zh-CN" altLang="en-US" dirty="0"/>
          </a:p>
        </p:txBody>
      </p:sp>
      <p:sp>
        <p:nvSpPr>
          <p:cNvPr id="12" name="Rectangle 11"/>
          <p:cNvSpPr/>
          <p:nvPr/>
        </p:nvSpPr>
        <p:spPr>
          <a:xfrm>
            <a:off x="4211960" y="188640"/>
            <a:ext cx="216024" cy="64807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t>0</a:t>
            </a:r>
            <a:endParaRPr lang="zh-CN" altLang="en-US" dirty="0"/>
          </a:p>
        </p:txBody>
      </p:sp>
      <p:sp>
        <p:nvSpPr>
          <p:cNvPr id="13" name="Rectangle 12"/>
          <p:cNvSpPr/>
          <p:nvPr/>
        </p:nvSpPr>
        <p:spPr>
          <a:xfrm>
            <a:off x="4427984" y="188640"/>
            <a:ext cx="216024" cy="64807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t>0</a:t>
            </a:r>
            <a:endParaRPr lang="zh-CN" altLang="en-US" dirty="0"/>
          </a:p>
        </p:txBody>
      </p:sp>
      <p:sp>
        <p:nvSpPr>
          <p:cNvPr id="14" name="Rectangle 13"/>
          <p:cNvSpPr/>
          <p:nvPr/>
        </p:nvSpPr>
        <p:spPr>
          <a:xfrm>
            <a:off x="4644008" y="188640"/>
            <a:ext cx="216024" cy="64807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t>0</a:t>
            </a:r>
            <a:endParaRPr lang="zh-CN" altLang="en-US" dirty="0"/>
          </a:p>
        </p:txBody>
      </p:sp>
      <p:sp>
        <p:nvSpPr>
          <p:cNvPr id="15" name="Rectangle 14"/>
          <p:cNvSpPr/>
          <p:nvPr/>
        </p:nvSpPr>
        <p:spPr>
          <a:xfrm>
            <a:off x="4860032" y="188640"/>
            <a:ext cx="216024" cy="64807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t>0</a:t>
            </a:r>
            <a:endParaRPr lang="zh-CN" altLang="en-US" dirty="0"/>
          </a:p>
        </p:txBody>
      </p:sp>
      <p:sp>
        <p:nvSpPr>
          <p:cNvPr id="16" name="Rectangle 15"/>
          <p:cNvSpPr/>
          <p:nvPr/>
        </p:nvSpPr>
        <p:spPr>
          <a:xfrm>
            <a:off x="5076056" y="188640"/>
            <a:ext cx="216024" cy="64807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t>0</a:t>
            </a:r>
            <a:endParaRPr lang="zh-CN" altLang="en-US" dirty="0"/>
          </a:p>
        </p:txBody>
      </p:sp>
      <p:sp>
        <p:nvSpPr>
          <p:cNvPr id="17" name="Rectangle 16"/>
          <p:cNvSpPr/>
          <p:nvPr/>
        </p:nvSpPr>
        <p:spPr>
          <a:xfrm>
            <a:off x="5292080" y="188640"/>
            <a:ext cx="216024" cy="64807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t>0</a:t>
            </a:r>
            <a:endParaRPr lang="zh-CN" altLang="en-US" dirty="0"/>
          </a:p>
        </p:txBody>
      </p:sp>
      <p:sp>
        <p:nvSpPr>
          <p:cNvPr id="18" name="Rectangle 17"/>
          <p:cNvSpPr/>
          <p:nvPr/>
        </p:nvSpPr>
        <p:spPr>
          <a:xfrm>
            <a:off x="5508104" y="188640"/>
            <a:ext cx="216024" cy="64807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t>0</a:t>
            </a:r>
            <a:endParaRPr lang="zh-CN" altLang="en-US" dirty="0"/>
          </a:p>
        </p:txBody>
      </p:sp>
      <p:sp>
        <p:nvSpPr>
          <p:cNvPr id="19" name="Rounded Rectangular Callout 18"/>
          <p:cNvSpPr/>
          <p:nvPr/>
        </p:nvSpPr>
        <p:spPr>
          <a:xfrm>
            <a:off x="2411760" y="0"/>
            <a:ext cx="1440160" cy="332656"/>
          </a:xfrm>
          <a:prstGeom prst="wedgeRoundRectCallout">
            <a:avLst>
              <a:gd name="adj1" fmla="val 65551"/>
              <a:gd name="adj2" fmla="val 53774"/>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sz="2400" dirty="0"/>
              <a:t>位，</a:t>
            </a:r>
            <a:r>
              <a:rPr lang="en-US" altLang="zh-CN" sz="2400" dirty="0"/>
              <a:t>bit</a:t>
            </a:r>
            <a:endParaRPr lang="zh-CN" altLang="en-US" sz="2400" dirty="0"/>
          </a:p>
        </p:txBody>
      </p:sp>
      <p:sp>
        <p:nvSpPr>
          <p:cNvPr id="20" name="Rounded Rectangular Callout 19"/>
          <p:cNvSpPr/>
          <p:nvPr/>
        </p:nvSpPr>
        <p:spPr>
          <a:xfrm>
            <a:off x="323528" y="692696"/>
            <a:ext cx="2160240" cy="432048"/>
          </a:xfrm>
          <a:prstGeom prst="wedgeRoundRectCallout">
            <a:avLst>
              <a:gd name="adj1" fmla="val 65551"/>
              <a:gd name="adj2" fmla="val 53774"/>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sz="2400" dirty="0"/>
              <a:t>字节，</a:t>
            </a:r>
            <a:r>
              <a:rPr lang="en-US" altLang="zh-CN" sz="2400" dirty="0"/>
              <a:t>byte</a:t>
            </a:r>
            <a:endParaRPr lang="zh-CN" alt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5675E718-F88F-4C59-9D68-599AE76A2433}"/>
              </a:ext>
            </a:extLst>
          </p:cNvPr>
          <p:cNvSpPr>
            <a:spLocks noGrp="1" noChangeArrowheads="1"/>
          </p:cNvSpPr>
          <p:nvPr>
            <p:ph type="title"/>
          </p:nvPr>
        </p:nvSpPr>
        <p:spPr>
          <a:xfrm>
            <a:off x="1150938" y="617538"/>
            <a:ext cx="7793037" cy="655637"/>
          </a:xfrm>
        </p:spPr>
        <p:txBody>
          <a:bodyPr/>
          <a:lstStyle/>
          <a:p>
            <a:pPr eaLnBrk="1" hangingPunct="1"/>
            <a:r>
              <a:rPr lang="zh-CN" altLang="en-US" sz="3600"/>
              <a:t>计算机数据存储的格式</a:t>
            </a:r>
            <a:r>
              <a:rPr lang="en-US" altLang="zh-CN" sz="3600"/>
              <a:t>——</a:t>
            </a:r>
            <a:r>
              <a:rPr lang="zh-CN" altLang="en-US" sz="3600"/>
              <a:t>二进制</a:t>
            </a:r>
            <a:r>
              <a:rPr lang="en-US" altLang="zh-CN" sz="3600"/>
              <a:t>(</a:t>
            </a:r>
            <a:r>
              <a:rPr lang="zh-CN" altLang="en-US" sz="3600"/>
              <a:t>续</a:t>
            </a:r>
            <a:r>
              <a:rPr lang="en-US" altLang="zh-CN" sz="3600"/>
              <a:t>)</a:t>
            </a:r>
          </a:p>
        </p:txBody>
      </p:sp>
      <p:sp>
        <p:nvSpPr>
          <p:cNvPr id="99331" name="Rectangle 3">
            <a:extLst>
              <a:ext uri="{FF2B5EF4-FFF2-40B4-BE49-F238E27FC236}">
                <a16:creationId xmlns:a16="http://schemas.microsoft.com/office/drawing/2014/main" id="{F682F6EE-6DC6-4466-AE1F-58FB428DD5CE}"/>
              </a:ext>
            </a:extLst>
          </p:cNvPr>
          <p:cNvSpPr>
            <a:spLocks noGrp="1" noChangeArrowheads="1"/>
          </p:cNvSpPr>
          <p:nvPr>
            <p:ph type="body" idx="1"/>
          </p:nvPr>
        </p:nvSpPr>
        <p:spPr/>
        <p:txBody>
          <a:bodyPr/>
          <a:lstStyle/>
          <a:p>
            <a:pPr eaLnBrk="1" hangingPunct="1">
              <a:lnSpc>
                <a:spcPct val="90000"/>
              </a:lnSpc>
            </a:pPr>
            <a:r>
              <a:rPr lang="zh-CN" altLang="en-US" sz="2800" dirty="0"/>
              <a:t>位</a:t>
            </a:r>
            <a:r>
              <a:rPr lang="en-US" altLang="zh-CN" sz="2800" dirty="0"/>
              <a:t>(bit)</a:t>
            </a:r>
            <a:r>
              <a:rPr lang="zh-CN" altLang="en-US" sz="2800" dirty="0"/>
              <a:t>、字节</a:t>
            </a:r>
            <a:r>
              <a:rPr lang="en-US" altLang="zh-CN" sz="2800" dirty="0"/>
              <a:t>(byte)</a:t>
            </a:r>
          </a:p>
          <a:p>
            <a:pPr lvl="1" eaLnBrk="1" hangingPunct="1">
              <a:lnSpc>
                <a:spcPct val="90000"/>
              </a:lnSpc>
            </a:pPr>
            <a:r>
              <a:rPr lang="zh-CN" altLang="en-US" sz="2800" dirty="0"/>
              <a:t>位</a:t>
            </a:r>
            <a:r>
              <a:rPr lang="en-US" altLang="zh-CN" sz="2800" dirty="0"/>
              <a:t>(b)</a:t>
            </a:r>
            <a:r>
              <a:rPr lang="zh-CN" altLang="en-US" sz="2800" dirty="0"/>
              <a:t>：一个二进制位</a:t>
            </a:r>
          </a:p>
          <a:p>
            <a:pPr lvl="1" eaLnBrk="1" hangingPunct="1">
              <a:lnSpc>
                <a:spcPct val="90000"/>
              </a:lnSpc>
            </a:pPr>
            <a:r>
              <a:rPr lang="zh-CN" altLang="en-US" sz="2800" dirty="0"/>
              <a:t>字节</a:t>
            </a:r>
            <a:r>
              <a:rPr lang="en-US" altLang="zh-CN" sz="2800" dirty="0"/>
              <a:t>(B)</a:t>
            </a:r>
            <a:r>
              <a:rPr lang="zh-CN" altLang="en-US" sz="2800" dirty="0"/>
              <a:t>：八个二进制位</a:t>
            </a:r>
          </a:p>
          <a:p>
            <a:pPr lvl="1" eaLnBrk="1" hangingPunct="1">
              <a:lnSpc>
                <a:spcPct val="90000"/>
              </a:lnSpc>
            </a:pPr>
            <a:r>
              <a:rPr lang="zh-CN" altLang="en-US" sz="2800" b="1" dirty="0"/>
              <a:t>字节是基本的存储单位</a:t>
            </a:r>
          </a:p>
          <a:p>
            <a:pPr eaLnBrk="1" hangingPunct="1">
              <a:lnSpc>
                <a:spcPct val="90000"/>
              </a:lnSpc>
            </a:pPr>
            <a:r>
              <a:rPr lang="en-US" altLang="zh-CN" sz="2800" dirty="0"/>
              <a:t>K</a:t>
            </a:r>
            <a:r>
              <a:rPr lang="zh-CN" altLang="en-US" sz="2800" dirty="0"/>
              <a:t>、</a:t>
            </a:r>
            <a:r>
              <a:rPr lang="en-US" altLang="zh-CN" sz="2800" dirty="0"/>
              <a:t>M</a:t>
            </a:r>
            <a:r>
              <a:rPr lang="zh-CN" altLang="en-US" sz="2800" dirty="0"/>
              <a:t>、</a:t>
            </a:r>
            <a:r>
              <a:rPr lang="en-US" altLang="zh-CN" sz="2800" dirty="0"/>
              <a:t>G</a:t>
            </a:r>
            <a:r>
              <a:rPr lang="zh-CN" altLang="en-US" sz="2800" dirty="0"/>
              <a:t>、</a:t>
            </a:r>
            <a:r>
              <a:rPr lang="en-US" altLang="zh-CN" sz="2800" dirty="0"/>
              <a:t>T</a:t>
            </a:r>
          </a:p>
          <a:p>
            <a:pPr lvl="1" eaLnBrk="1" hangingPunct="1">
              <a:lnSpc>
                <a:spcPct val="90000"/>
              </a:lnSpc>
            </a:pPr>
            <a:r>
              <a:rPr lang="en-US" altLang="zh-CN" sz="2800" dirty="0"/>
              <a:t>1K=2</a:t>
            </a:r>
            <a:r>
              <a:rPr lang="en-US" altLang="zh-CN" sz="2800" baseline="30000" dirty="0"/>
              <a:t>10</a:t>
            </a:r>
            <a:r>
              <a:rPr lang="en-US" altLang="zh-CN" sz="2800" dirty="0"/>
              <a:t>=1024</a:t>
            </a:r>
          </a:p>
          <a:p>
            <a:pPr lvl="1" eaLnBrk="1" hangingPunct="1">
              <a:lnSpc>
                <a:spcPct val="90000"/>
              </a:lnSpc>
            </a:pPr>
            <a:r>
              <a:rPr lang="en-US" altLang="zh-CN" sz="2800" dirty="0"/>
              <a:t>1M=2</a:t>
            </a:r>
            <a:r>
              <a:rPr lang="en-US" altLang="zh-CN" sz="2800" baseline="30000" dirty="0"/>
              <a:t>20</a:t>
            </a:r>
            <a:r>
              <a:rPr lang="en-US" altLang="zh-CN" sz="2800" dirty="0"/>
              <a:t> =1K*K</a:t>
            </a:r>
          </a:p>
          <a:p>
            <a:pPr lvl="1" eaLnBrk="1" hangingPunct="1">
              <a:lnSpc>
                <a:spcPct val="90000"/>
              </a:lnSpc>
            </a:pPr>
            <a:r>
              <a:rPr lang="en-US" altLang="zh-CN" sz="2800" dirty="0"/>
              <a:t>1G=2</a:t>
            </a:r>
            <a:r>
              <a:rPr lang="en-US" altLang="zh-CN" sz="2800" baseline="30000" dirty="0"/>
              <a:t>30</a:t>
            </a:r>
            <a:r>
              <a:rPr lang="en-US" altLang="zh-CN" sz="2800" dirty="0"/>
              <a:t> =1K*K*K</a:t>
            </a:r>
          </a:p>
          <a:p>
            <a:pPr lvl="1" eaLnBrk="1" hangingPunct="1">
              <a:lnSpc>
                <a:spcPct val="90000"/>
              </a:lnSpc>
            </a:pPr>
            <a:r>
              <a:rPr lang="en-US" altLang="zh-CN" sz="2800" dirty="0"/>
              <a:t>1T=2</a:t>
            </a:r>
            <a:r>
              <a:rPr lang="en-US" altLang="zh-CN" sz="2800" baseline="30000" dirty="0"/>
              <a:t>40</a:t>
            </a:r>
            <a:r>
              <a:rPr lang="en-US" altLang="zh-CN" sz="2800" dirty="0"/>
              <a:t> = 1K*K*K*K</a:t>
            </a:r>
            <a:endParaRPr lang="en-US" altLang="zh-CN" sz="2800" baseline="-25000" dirty="0"/>
          </a:p>
          <a:p>
            <a:pPr eaLnBrk="1" hangingPunct="1">
              <a:lnSpc>
                <a:spcPct val="90000"/>
              </a:lnSpc>
            </a:pPr>
            <a:endParaRPr lang="en-US" altLang="zh-CN" baseline="-25000" dirty="0"/>
          </a:p>
        </p:txBody>
      </p:sp>
    </p:spTree>
  </p:cSld>
  <p:clrMapOvr>
    <a:masterClrMapping/>
  </p:clrMapOvr>
  <p:transition spd="med">
    <p:wipe dir="r"/>
    <p:sndAc>
      <p:end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9331">
                                            <p:txEl>
                                              <p:pRg st="0" end="0"/>
                                            </p:txEl>
                                          </p:spTgt>
                                        </p:tgtEl>
                                        <p:attrNameLst>
                                          <p:attrName>style.visibility</p:attrName>
                                        </p:attrNameLst>
                                      </p:cBhvr>
                                      <p:to>
                                        <p:strVal val="visible"/>
                                      </p:to>
                                    </p:set>
                                    <p:anim calcmode="lin" valueType="num">
                                      <p:cBhvr additive="base">
                                        <p:cTn id="7" dur="500" fill="hold"/>
                                        <p:tgtEl>
                                          <p:spTgt spid="9933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99331">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par>
                                <p:cTn id="9" presetID="2" presetClass="entr" presetSubtype="8" fill="hold" grpId="0" nodeType="withEffect">
                                  <p:stCondLst>
                                    <p:cond delay="0"/>
                                  </p:stCondLst>
                                  <p:childTnLst>
                                    <p:set>
                                      <p:cBhvr>
                                        <p:cTn id="10" dur="1" fill="hold">
                                          <p:stCondLst>
                                            <p:cond delay="0"/>
                                          </p:stCondLst>
                                        </p:cTn>
                                        <p:tgtEl>
                                          <p:spTgt spid="99331">
                                            <p:txEl>
                                              <p:pRg st="1" end="1"/>
                                            </p:txEl>
                                          </p:spTgt>
                                        </p:tgtEl>
                                        <p:attrNameLst>
                                          <p:attrName>style.visibility</p:attrName>
                                        </p:attrNameLst>
                                      </p:cBhvr>
                                      <p:to>
                                        <p:strVal val="visible"/>
                                      </p:to>
                                    </p:set>
                                    <p:anim calcmode="lin" valueType="num">
                                      <p:cBhvr additive="base">
                                        <p:cTn id="11" dur="500" fill="hold"/>
                                        <p:tgtEl>
                                          <p:spTgt spid="99331">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99331">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2" name="whoosh.wav"/>
                                        </p:tgtEl>
                                      </p:cMediaNode>
                                    </p:audio>
                                  </p:subTnLst>
                                </p:cTn>
                              </p:par>
                              <p:par>
                                <p:cTn id="13" presetID="2" presetClass="entr" presetSubtype="8" fill="hold" grpId="0" nodeType="withEffect">
                                  <p:stCondLst>
                                    <p:cond delay="0"/>
                                  </p:stCondLst>
                                  <p:childTnLst>
                                    <p:set>
                                      <p:cBhvr>
                                        <p:cTn id="14" dur="1" fill="hold">
                                          <p:stCondLst>
                                            <p:cond delay="0"/>
                                          </p:stCondLst>
                                        </p:cTn>
                                        <p:tgtEl>
                                          <p:spTgt spid="99331">
                                            <p:txEl>
                                              <p:pRg st="2" end="2"/>
                                            </p:txEl>
                                          </p:spTgt>
                                        </p:tgtEl>
                                        <p:attrNameLst>
                                          <p:attrName>style.visibility</p:attrName>
                                        </p:attrNameLst>
                                      </p:cBhvr>
                                      <p:to>
                                        <p:strVal val="visible"/>
                                      </p:to>
                                    </p:set>
                                    <p:anim calcmode="lin" valueType="num">
                                      <p:cBhvr additive="base">
                                        <p:cTn id="15" dur="500" fill="hold"/>
                                        <p:tgtEl>
                                          <p:spTgt spid="99331">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99331">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2" name="whoosh.wav"/>
                                        </p:tgtEl>
                                      </p:cMediaNode>
                                    </p:audio>
                                  </p:subTnLst>
                                </p:cTn>
                              </p:par>
                              <p:par>
                                <p:cTn id="17" presetID="2" presetClass="entr" presetSubtype="8" fill="hold" grpId="0" nodeType="withEffect">
                                  <p:stCondLst>
                                    <p:cond delay="0"/>
                                  </p:stCondLst>
                                  <p:childTnLst>
                                    <p:set>
                                      <p:cBhvr>
                                        <p:cTn id="18" dur="1" fill="hold">
                                          <p:stCondLst>
                                            <p:cond delay="0"/>
                                          </p:stCondLst>
                                        </p:cTn>
                                        <p:tgtEl>
                                          <p:spTgt spid="99331">
                                            <p:txEl>
                                              <p:pRg st="3" end="3"/>
                                            </p:txEl>
                                          </p:spTgt>
                                        </p:tgtEl>
                                        <p:attrNameLst>
                                          <p:attrName>style.visibility</p:attrName>
                                        </p:attrNameLst>
                                      </p:cBhvr>
                                      <p:to>
                                        <p:strVal val="visible"/>
                                      </p:to>
                                    </p:set>
                                    <p:anim calcmode="lin" valueType="num">
                                      <p:cBhvr additive="base">
                                        <p:cTn id="19" dur="500" fill="hold"/>
                                        <p:tgtEl>
                                          <p:spTgt spid="99331">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99331">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whoosh.wav"/>
                                        </p:tgtEl>
                                      </p:cMediaNode>
                                    </p:audio>
                                  </p:sub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99331">
                                            <p:txEl>
                                              <p:pRg st="4" end="4"/>
                                            </p:txEl>
                                          </p:spTgt>
                                        </p:tgtEl>
                                        <p:attrNameLst>
                                          <p:attrName>style.visibility</p:attrName>
                                        </p:attrNameLst>
                                      </p:cBhvr>
                                      <p:to>
                                        <p:strVal val="visible"/>
                                      </p:to>
                                    </p:set>
                                    <p:anim calcmode="lin" valueType="num">
                                      <p:cBhvr additive="base">
                                        <p:cTn id="25" dur="500" fill="hold"/>
                                        <p:tgtEl>
                                          <p:spTgt spid="99331">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99331">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whoosh.wav"/>
                                        </p:tgtEl>
                                      </p:cMediaNode>
                                    </p:audio>
                                  </p:subTnLst>
                                </p:cTn>
                              </p:par>
                              <p:par>
                                <p:cTn id="27" presetID="2" presetClass="entr" presetSubtype="8" fill="hold" grpId="0" nodeType="withEffect">
                                  <p:stCondLst>
                                    <p:cond delay="0"/>
                                  </p:stCondLst>
                                  <p:childTnLst>
                                    <p:set>
                                      <p:cBhvr>
                                        <p:cTn id="28" dur="1" fill="hold">
                                          <p:stCondLst>
                                            <p:cond delay="0"/>
                                          </p:stCondLst>
                                        </p:cTn>
                                        <p:tgtEl>
                                          <p:spTgt spid="99331">
                                            <p:txEl>
                                              <p:pRg st="5" end="5"/>
                                            </p:txEl>
                                          </p:spTgt>
                                        </p:tgtEl>
                                        <p:attrNameLst>
                                          <p:attrName>style.visibility</p:attrName>
                                        </p:attrNameLst>
                                      </p:cBhvr>
                                      <p:to>
                                        <p:strVal val="visible"/>
                                      </p:to>
                                    </p:set>
                                    <p:anim calcmode="lin" valueType="num">
                                      <p:cBhvr additive="base">
                                        <p:cTn id="29" dur="500" fill="hold"/>
                                        <p:tgtEl>
                                          <p:spTgt spid="99331">
                                            <p:txEl>
                                              <p:pRg st="5" end="5"/>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99331">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7"/>
                                            </p:cond>
                                          </p:stCondLst>
                                          <p:endCondLst>
                                            <p:cond evt="onStopAudio" delay="0">
                                              <p:tgtEl>
                                                <p:sldTgt/>
                                              </p:tgtEl>
                                            </p:cond>
                                          </p:endCondLst>
                                        </p:cTn>
                                        <p:tgtEl>
                                          <p:sndTgt r:embed="rId2" name="whoosh.wav"/>
                                        </p:tgtEl>
                                      </p:cMediaNode>
                                    </p:audio>
                                  </p:subTnLst>
                                </p:cTn>
                              </p:par>
                              <p:par>
                                <p:cTn id="31" presetID="2" presetClass="entr" presetSubtype="8" fill="hold" grpId="0" nodeType="withEffect">
                                  <p:stCondLst>
                                    <p:cond delay="0"/>
                                  </p:stCondLst>
                                  <p:childTnLst>
                                    <p:set>
                                      <p:cBhvr>
                                        <p:cTn id="32" dur="1" fill="hold">
                                          <p:stCondLst>
                                            <p:cond delay="0"/>
                                          </p:stCondLst>
                                        </p:cTn>
                                        <p:tgtEl>
                                          <p:spTgt spid="99331">
                                            <p:txEl>
                                              <p:pRg st="6" end="6"/>
                                            </p:txEl>
                                          </p:spTgt>
                                        </p:tgtEl>
                                        <p:attrNameLst>
                                          <p:attrName>style.visibility</p:attrName>
                                        </p:attrNameLst>
                                      </p:cBhvr>
                                      <p:to>
                                        <p:strVal val="visible"/>
                                      </p:to>
                                    </p:set>
                                    <p:anim calcmode="lin" valueType="num">
                                      <p:cBhvr additive="base">
                                        <p:cTn id="33" dur="500" fill="hold"/>
                                        <p:tgtEl>
                                          <p:spTgt spid="99331">
                                            <p:txEl>
                                              <p:pRg st="6" end="6"/>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99331">
                                            <p:txEl>
                                              <p:pRg st="6" end="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1"/>
                                            </p:cond>
                                          </p:stCondLst>
                                          <p:endCondLst>
                                            <p:cond evt="onStopAudio" delay="0">
                                              <p:tgtEl>
                                                <p:sldTgt/>
                                              </p:tgtEl>
                                            </p:cond>
                                          </p:endCondLst>
                                        </p:cTn>
                                        <p:tgtEl>
                                          <p:sndTgt r:embed="rId2" name="whoosh.wav"/>
                                        </p:tgtEl>
                                      </p:cMediaNode>
                                    </p:audio>
                                  </p:subTnLst>
                                </p:cTn>
                              </p:par>
                              <p:par>
                                <p:cTn id="35" presetID="2" presetClass="entr" presetSubtype="8" fill="hold" grpId="0" nodeType="withEffect">
                                  <p:stCondLst>
                                    <p:cond delay="0"/>
                                  </p:stCondLst>
                                  <p:childTnLst>
                                    <p:set>
                                      <p:cBhvr>
                                        <p:cTn id="36" dur="1" fill="hold">
                                          <p:stCondLst>
                                            <p:cond delay="0"/>
                                          </p:stCondLst>
                                        </p:cTn>
                                        <p:tgtEl>
                                          <p:spTgt spid="99331">
                                            <p:txEl>
                                              <p:pRg st="7" end="7"/>
                                            </p:txEl>
                                          </p:spTgt>
                                        </p:tgtEl>
                                        <p:attrNameLst>
                                          <p:attrName>style.visibility</p:attrName>
                                        </p:attrNameLst>
                                      </p:cBhvr>
                                      <p:to>
                                        <p:strVal val="visible"/>
                                      </p:to>
                                    </p:set>
                                    <p:anim calcmode="lin" valueType="num">
                                      <p:cBhvr additive="base">
                                        <p:cTn id="37" dur="500" fill="hold"/>
                                        <p:tgtEl>
                                          <p:spTgt spid="99331">
                                            <p:txEl>
                                              <p:pRg st="7" end="7"/>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99331">
                                            <p:txEl>
                                              <p:pRg st="7" end="7"/>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2" name="whoosh.wav"/>
                                        </p:tgtEl>
                                      </p:cMediaNode>
                                    </p:audio>
                                  </p:subTnLst>
                                </p:cTn>
                              </p:par>
                              <p:par>
                                <p:cTn id="39" presetID="2" presetClass="entr" presetSubtype="8" fill="hold" grpId="0" nodeType="withEffect">
                                  <p:stCondLst>
                                    <p:cond delay="0"/>
                                  </p:stCondLst>
                                  <p:childTnLst>
                                    <p:set>
                                      <p:cBhvr>
                                        <p:cTn id="40" dur="1" fill="hold">
                                          <p:stCondLst>
                                            <p:cond delay="0"/>
                                          </p:stCondLst>
                                        </p:cTn>
                                        <p:tgtEl>
                                          <p:spTgt spid="99331">
                                            <p:txEl>
                                              <p:pRg st="8" end="8"/>
                                            </p:txEl>
                                          </p:spTgt>
                                        </p:tgtEl>
                                        <p:attrNameLst>
                                          <p:attrName>style.visibility</p:attrName>
                                        </p:attrNameLst>
                                      </p:cBhvr>
                                      <p:to>
                                        <p:strVal val="visible"/>
                                      </p:to>
                                    </p:set>
                                    <p:anim calcmode="lin" valueType="num">
                                      <p:cBhvr additive="base">
                                        <p:cTn id="41" dur="500" fill="hold"/>
                                        <p:tgtEl>
                                          <p:spTgt spid="99331">
                                            <p:txEl>
                                              <p:pRg st="8" end="8"/>
                                            </p:txEl>
                                          </p:spTgt>
                                        </p:tgtEl>
                                        <p:attrNameLst>
                                          <p:attrName>ppt_x</p:attrName>
                                        </p:attrNameLst>
                                      </p:cBhvr>
                                      <p:tavLst>
                                        <p:tav tm="0">
                                          <p:val>
                                            <p:strVal val="0-#ppt_w/2"/>
                                          </p:val>
                                        </p:tav>
                                        <p:tav tm="100000">
                                          <p:val>
                                            <p:strVal val="#ppt_x"/>
                                          </p:val>
                                        </p:tav>
                                      </p:tavLst>
                                    </p:anim>
                                    <p:anim calcmode="lin" valueType="num">
                                      <p:cBhvr additive="base">
                                        <p:cTn id="42" dur="500" fill="hold"/>
                                        <p:tgtEl>
                                          <p:spTgt spid="99331">
                                            <p:txEl>
                                              <p:pRg st="8" end="8"/>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9"/>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1" grpId="0" build="p"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9074" name="Rectangle 2"/>
          <p:cNvSpPr>
            <a:spLocks noGrp="1" noChangeArrowheads="1"/>
          </p:cNvSpPr>
          <p:nvPr>
            <p:ph idx="1"/>
          </p:nvPr>
        </p:nvSpPr>
        <p:spPr>
          <a:xfrm>
            <a:off x="323850" y="1340768"/>
            <a:ext cx="8424863" cy="5975350"/>
          </a:xfrm>
        </p:spPr>
        <p:txBody>
          <a:bodyPr>
            <a:normAutofit/>
          </a:bodyPr>
          <a:lstStyle/>
          <a:p>
            <a:pPr marL="0" indent="0" fontAlgn="auto">
              <a:spcAft>
                <a:spcPts val="0"/>
              </a:spcAft>
              <a:buClr>
                <a:schemeClr val="accent3"/>
              </a:buClr>
              <a:buFont typeface="Wingdings 2"/>
              <a:buChar char=""/>
              <a:defRPr/>
            </a:pPr>
            <a:r>
              <a:rPr lang="en-US" altLang="zh-CN" sz="3200" b="1" dirty="0">
                <a:effectLst>
                  <a:outerShdw blurRad="38100" dist="38100" dir="2700000" algn="tl">
                    <a:srgbClr val="000000"/>
                  </a:outerShdw>
                </a:effectLst>
                <a:latin typeface="楷体_GB2312" pitchFamily="49" charset="-122"/>
                <a:ea typeface="楷体_GB2312" pitchFamily="49" charset="-122"/>
              </a:rPr>
              <a:t> </a:t>
            </a:r>
            <a:r>
              <a:rPr lang="en-US" altLang="zh-CN" sz="3200" b="1" dirty="0">
                <a:latin typeface="楷体_GB2312" pitchFamily="49" charset="-122"/>
                <a:ea typeface="楷体_GB2312" pitchFamily="49" charset="-122"/>
              </a:rPr>
              <a:t>CPU</a:t>
            </a:r>
            <a:r>
              <a:rPr lang="zh-CN" altLang="en-US" sz="3200" b="1" dirty="0">
                <a:latin typeface="楷体_GB2312" pitchFamily="49" charset="-122"/>
                <a:ea typeface="楷体_GB2312" pitchFamily="49" charset="-122"/>
              </a:rPr>
              <a:t>的几个关键部件：指令译码部件、算术逻辑运算部件和若干寄存器</a:t>
            </a:r>
            <a:endParaRPr lang="en-US" altLang="zh-CN" sz="3200" b="1" dirty="0">
              <a:latin typeface="楷体_GB2312" pitchFamily="49" charset="-122"/>
              <a:ea typeface="楷体_GB2312" pitchFamily="49" charset="-122"/>
            </a:endParaRPr>
          </a:p>
          <a:p>
            <a:pPr marL="365760" lvl="1" indent="0" fontAlgn="auto">
              <a:spcAft>
                <a:spcPts val="0"/>
              </a:spcAft>
              <a:buFont typeface="Wingdings 2"/>
              <a:buChar char=""/>
              <a:defRPr/>
            </a:pPr>
            <a:r>
              <a:rPr lang="zh-CN" altLang="en-US" sz="3200" b="1" dirty="0">
                <a:latin typeface="楷体_GB2312" pitchFamily="49" charset="-122"/>
                <a:ea typeface="楷体_GB2312" pitchFamily="49" charset="-122"/>
              </a:rPr>
              <a:t>指令译码部件分析当前要执行的指令，并将它转换成能让算术逻辑部件理解的电子信号</a:t>
            </a:r>
            <a:endParaRPr lang="en-US" altLang="zh-CN" sz="3200" b="1" dirty="0">
              <a:latin typeface="楷体_GB2312" pitchFamily="49" charset="-122"/>
              <a:ea typeface="楷体_GB2312" pitchFamily="49" charset="-122"/>
            </a:endParaRPr>
          </a:p>
          <a:p>
            <a:pPr marL="365760" lvl="1" indent="0" fontAlgn="auto">
              <a:spcAft>
                <a:spcPts val="0"/>
              </a:spcAft>
              <a:buFont typeface="Wingdings 2"/>
              <a:buChar char=""/>
              <a:defRPr/>
            </a:pPr>
            <a:r>
              <a:rPr lang="zh-CN" altLang="en-US" sz="3200" b="1" dirty="0">
                <a:latin typeface="楷体_GB2312" pitchFamily="49" charset="-122"/>
                <a:ea typeface="楷体_GB2312" pitchFamily="49" charset="-122"/>
              </a:rPr>
              <a:t>算术逻辑部件完成算术或逻辑运算</a:t>
            </a:r>
            <a:endParaRPr lang="en-US" altLang="zh-CN" sz="3200" b="1" dirty="0">
              <a:latin typeface="楷体_GB2312" pitchFamily="49" charset="-122"/>
              <a:ea typeface="楷体_GB2312" pitchFamily="49" charset="-122"/>
            </a:endParaRPr>
          </a:p>
          <a:p>
            <a:pPr marL="365760" lvl="1" indent="0" fontAlgn="auto">
              <a:spcAft>
                <a:spcPts val="0"/>
              </a:spcAft>
              <a:buFont typeface="Wingdings 2"/>
              <a:buChar char=""/>
              <a:defRPr/>
            </a:pPr>
            <a:r>
              <a:rPr lang="zh-CN" altLang="en-US" sz="3200" b="1" dirty="0">
                <a:latin typeface="楷体_GB2312" pitchFamily="49" charset="-122"/>
                <a:ea typeface="楷体_GB2312" pitchFamily="49" charset="-122"/>
              </a:rPr>
              <a:t>寄存器如同手工计算时所用的便签，用来暂存计算时所需要的操作数和计算过程中所产生的临时结果。</a:t>
            </a:r>
          </a:p>
        </p:txBody>
      </p:sp>
      <p:sp>
        <p:nvSpPr>
          <p:cNvPr id="5" name="灯片编号占位符 5"/>
          <p:cNvSpPr>
            <a:spLocks noGrp="1"/>
          </p:cNvSpPr>
          <p:nvPr>
            <p:ph type="sldNum" sz="quarter" idx="12"/>
          </p:nvPr>
        </p:nvSpPr>
        <p:spPr/>
        <p:txBody>
          <a:bodyPr/>
          <a:lstStyle/>
          <a:p>
            <a:pPr defTabSz="1128713">
              <a:defRPr/>
            </a:pPr>
            <a:fld id="{F29B4057-F1BF-484B-92D1-EB4CE885CA91}" type="slidenum">
              <a:rPr lang="zh-CN" altLang="en-US">
                <a:latin typeface="+mn-lt"/>
              </a:rPr>
              <a:pPr defTabSz="1128713">
                <a:defRPr/>
              </a:pPr>
              <a:t>15</a:t>
            </a:fld>
            <a:endParaRPr lang="en-US" altLang="zh-CN">
              <a:latin typeface="+mn-lt"/>
            </a:endParaRPr>
          </a:p>
        </p:txBody>
      </p:sp>
    </p:spTree>
  </p:cSld>
  <p:clrMapOvr>
    <a:masterClrMapping/>
  </p:clrMapOvr>
  <p:transition>
    <p:random/>
  </p:transition>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Rectangle 2"/>
          <p:cNvSpPr>
            <a:spLocks noGrp="1" noChangeArrowheads="1"/>
          </p:cNvSpPr>
          <p:nvPr>
            <p:ph idx="1"/>
          </p:nvPr>
        </p:nvSpPr>
        <p:spPr>
          <a:xfrm>
            <a:off x="214282" y="1214422"/>
            <a:ext cx="8424863" cy="5000660"/>
          </a:xfrm>
        </p:spPr>
        <p:txBody>
          <a:bodyPr/>
          <a:lstStyle/>
          <a:p>
            <a:pPr marL="0" indent="0">
              <a:lnSpc>
                <a:spcPct val="90000"/>
              </a:lnSpc>
              <a:spcAft>
                <a:spcPts val="1200"/>
              </a:spcAft>
            </a:pPr>
            <a:r>
              <a:rPr lang="zh-CN" altLang="en-US" sz="3200" b="1" dirty="0">
                <a:latin typeface="楷体_GB2312" pitchFamily="49" charset="-122"/>
                <a:ea typeface="楷体_GB2312" pitchFamily="49" charset="-122"/>
              </a:rPr>
              <a:t> 计算机可以直接执行的指令称为</a:t>
            </a:r>
            <a:r>
              <a:rPr lang="zh-CN" altLang="en-US" sz="3200" b="1" dirty="0">
                <a:highlight>
                  <a:srgbClr val="FFFF00"/>
                </a:highlight>
                <a:latin typeface="楷体_GB2312" pitchFamily="49" charset="-122"/>
                <a:ea typeface="楷体_GB2312" pitchFamily="49" charset="-122"/>
              </a:rPr>
              <a:t>机器指令</a:t>
            </a:r>
            <a:r>
              <a:rPr lang="zh-CN" altLang="en-US" sz="3200" b="1" dirty="0">
                <a:latin typeface="楷体_GB2312" pitchFamily="49" charset="-122"/>
                <a:ea typeface="楷体_GB2312" pitchFamily="49" charset="-122"/>
              </a:rPr>
              <a:t>，一台计算机的全部机器指令构成了该计算机的</a:t>
            </a:r>
            <a:r>
              <a:rPr lang="zh-CN" altLang="en-US" sz="3200" b="1" dirty="0">
                <a:highlight>
                  <a:srgbClr val="FFFF00"/>
                </a:highlight>
                <a:latin typeface="楷体_GB2312" pitchFamily="49" charset="-122"/>
                <a:ea typeface="楷体_GB2312" pitchFamily="49" charset="-122"/>
              </a:rPr>
              <a:t>机器语言</a:t>
            </a:r>
            <a:r>
              <a:rPr lang="zh-CN" altLang="en-US" sz="3200" b="1" dirty="0">
                <a:latin typeface="楷体_GB2312" pitchFamily="49" charset="-122"/>
                <a:ea typeface="楷体_GB2312" pitchFamily="49" charset="-122"/>
              </a:rPr>
              <a:t>。</a:t>
            </a:r>
            <a:endParaRPr lang="en-US" altLang="zh-CN" sz="3200" b="1" dirty="0">
              <a:latin typeface="楷体_GB2312" pitchFamily="49" charset="-122"/>
              <a:ea typeface="楷体_GB2312" pitchFamily="49" charset="-122"/>
            </a:endParaRPr>
          </a:p>
          <a:p>
            <a:pPr marL="0" indent="0">
              <a:lnSpc>
                <a:spcPct val="90000"/>
              </a:lnSpc>
              <a:spcAft>
                <a:spcPts val="1200"/>
              </a:spcAft>
            </a:pPr>
            <a:r>
              <a:rPr lang="en-US" altLang="zh-CN" sz="3200" b="1" dirty="0">
                <a:latin typeface="楷体_GB2312" pitchFamily="49" charset="-122"/>
                <a:ea typeface="楷体_GB2312" pitchFamily="49" charset="-122"/>
              </a:rPr>
              <a:t> </a:t>
            </a:r>
            <a:r>
              <a:rPr lang="zh-CN" altLang="en-US" sz="3200" b="1" dirty="0">
                <a:latin typeface="楷体_GB2312" pitchFamily="49" charset="-122"/>
                <a:ea typeface="楷体_GB2312" pitchFamily="49" charset="-122"/>
              </a:rPr>
              <a:t>机器指令是一种</a:t>
            </a:r>
            <a:r>
              <a:rPr lang="zh-CN" altLang="en-US" sz="3200" b="1" dirty="0">
                <a:highlight>
                  <a:srgbClr val="FFFF00"/>
                </a:highlight>
                <a:latin typeface="楷体_GB2312" pitchFamily="49" charset="-122"/>
                <a:ea typeface="楷体_GB2312" pitchFamily="49" charset="-122"/>
              </a:rPr>
              <a:t>二进制代码</a:t>
            </a:r>
            <a:r>
              <a:rPr lang="zh-CN" altLang="en-US" sz="3200" b="1" dirty="0">
                <a:latin typeface="楷体_GB2312" pitchFamily="49" charset="-122"/>
                <a:ea typeface="楷体_GB2312" pitchFamily="49" charset="-122"/>
              </a:rPr>
              <a:t>。一部分代码指定指令的操作功能；一部分代码指出指令的操作对象和其它特征信息。</a:t>
            </a:r>
          </a:p>
          <a:p>
            <a:pPr marL="0" indent="0">
              <a:lnSpc>
                <a:spcPct val="90000"/>
              </a:lnSpc>
              <a:spcAft>
                <a:spcPts val="1200"/>
              </a:spcAft>
            </a:pPr>
            <a:r>
              <a:rPr lang="en-US" altLang="zh-CN" sz="3200" b="1" dirty="0">
                <a:latin typeface="楷体_GB2312" pitchFamily="49" charset="-122"/>
                <a:ea typeface="楷体_GB2312" pitchFamily="49" charset="-122"/>
              </a:rPr>
              <a:t> CPU</a:t>
            </a:r>
            <a:r>
              <a:rPr lang="zh-CN" altLang="en-US" sz="3200" b="1" dirty="0">
                <a:latin typeface="楷体_GB2312" pitchFamily="49" charset="-122"/>
                <a:ea typeface="楷体_GB2312" pitchFamily="49" charset="-122"/>
              </a:rPr>
              <a:t>中有一个称为</a:t>
            </a:r>
            <a:r>
              <a:rPr lang="zh-CN" altLang="en-US" sz="3200" b="1" dirty="0">
                <a:highlight>
                  <a:srgbClr val="FFFF00"/>
                </a:highlight>
                <a:latin typeface="楷体_GB2312" pitchFamily="49" charset="-122"/>
                <a:ea typeface="楷体_GB2312" pitchFamily="49" charset="-122"/>
              </a:rPr>
              <a:t>指令计数器</a:t>
            </a:r>
            <a:r>
              <a:rPr lang="zh-CN" altLang="en-US" sz="3200" b="1" dirty="0">
                <a:latin typeface="楷体_GB2312" pitchFamily="49" charset="-122"/>
                <a:ea typeface="楷体_GB2312" pitchFamily="49" charset="-122"/>
              </a:rPr>
              <a:t>的寄存器，由它指出程序中下一条将要执行的指令在内存中的地址。</a:t>
            </a:r>
          </a:p>
        </p:txBody>
      </p:sp>
      <p:sp>
        <p:nvSpPr>
          <p:cNvPr id="5" name="灯片编号占位符 5"/>
          <p:cNvSpPr>
            <a:spLocks noGrp="1"/>
          </p:cNvSpPr>
          <p:nvPr>
            <p:ph type="sldNum" sz="quarter" idx="12"/>
          </p:nvPr>
        </p:nvSpPr>
        <p:spPr/>
        <p:txBody>
          <a:bodyPr/>
          <a:lstStyle/>
          <a:p>
            <a:pPr defTabSz="1128713">
              <a:defRPr/>
            </a:pPr>
            <a:fld id="{AAC991F9-F36D-4D90-ADEB-298C13F39892}" type="slidenum">
              <a:rPr lang="zh-CN" altLang="en-US">
                <a:latin typeface="+mn-lt"/>
              </a:rPr>
              <a:pPr defTabSz="1128713">
                <a:defRPr/>
              </a:pPr>
              <a:t>16</a:t>
            </a:fld>
            <a:endParaRPr lang="en-US" altLang="zh-CN">
              <a:latin typeface="+mn-lt"/>
            </a:endParaRPr>
          </a:p>
        </p:txBody>
      </p:sp>
    </p:spTree>
  </p:cSld>
  <p:clrMapOvr>
    <a:masterClrMapping/>
  </p:clrMapOvr>
  <p:transition>
    <p:rand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Text Box 2">
            <a:extLst>
              <a:ext uri="{FF2B5EF4-FFF2-40B4-BE49-F238E27FC236}">
                <a16:creationId xmlns:a16="http://schemas.microsoft.com/office/drawing/2014/main" id="{DB84C38E-EFDD-49A3-A646-BB4397B3E108}"/>
              </a:ext>
            </a:extLst>
          </p:cNvPr>
          <p:cNvSpPr txBox="1">
            <a:spLocks noChangeArrowheads="1"/>
          </p:cNvSpPr>
          <p:nvPr/>
        </p:nvSpPr>
        <p:spPr bwMode="auto">
          <a:xfrm>
            <a:off x="304800" y="304800"/>
            <a:ext cx="8610600" cy="4416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sz="1400" b="1" i="1">
              <a:solidFill>
                <a:srgbClr val="0000FF"/>
              </a:solidFill>
              <a:effectLst>
                <a:outerShdw blurRad="38100" dist="38100" dir="2700000" algn="tl">
                  <a:srgbClr val="000000"/>
                </a:outerShdw>
              </a:effectLst>
              <a:latin typeface="宋体" panose="02010600030101010101" pitchFamily="2" charset="-122"/>
              <a:ea typeface="宋体" panose="02010600030101010101" pitchFamily="2" charset="-122"/>
            </a:endParaRPr>
          </a:p>
          <a:p>
            <a:endParaRPr lang="zh-CN" altLang="en-US" b="1">
              <a:effectLst>
                <a:outerShdw blurRad="38100" dist="38100" dir="2700000" algn="tl">
                  <a:srgbClr val="000000"/>
                </a:outerShdw>
              </a:effectLst>
              <a:latin typeface="宋体" panose="02010600030101010101" pitchFamily="2" charset="-122"/>
              <a:ea typeface="宋体" panose="02010600030101010101" pitchFamily="2" charset="-122"/>
            </a:endParaRPr>
          </a:p>
          <a:p>
            <a:endParaRPr lang="zh-CN" altLang="en-US" b="1">
              <a:effectLst>
                <a:outerShdw blurRad="38100" dist="38100" dir="2700000" algn="tl">
                  <a:srgbClr val="000000"/>
                </a:outerShdw>
              </a:effectLst>
              <a:latin typeface="宋体" panose="02010600030101010101" pitchFamily="2" charset="-122"/>
              <a:ea typeface="宋体" panose="02010600030101010101" pitchFamily="2" charset="-122"/>
            </a:endParaRPr>
          </a:p>
          <a:p>
            <a:r>
              <a:rPr lang="zh-CN" altLang="en-US" b="1">
                <a:effectLst>
                  <a:outerShdw blurRad="38100" dist="38100" dir="2700000" algn="tl">
                    <a:srgbClr val="000000"/>
                  </a:outerShdw>
                </a:effectLst>
                <a:latin typeface="宋体" panose="02010600030101010101" pitchFamily="2" charset="-122"/>
                <a:ea typeface="宋体" panose="02010600030101010101" pitchFamily="2" charset="-122"/>
              </a:rPr>
              <a:t>机器指令是由二进制信息位组成的代码，其中一部分代码指定指令的</a:t>
            </a:r>
            <a:r>
              <a:rPr lang="zh-CN" altLang="en-US" b="1">
                <a:solidFill>
                  <a:srgbClr val="0000FF"/>
                </a:solidFill>
                <a:effectLst>
                  <a:outerShdw blurRad="38100" dist="38100" dir="2700000" algn="tl">
                    <a:srgbClr val="000000"/>
                  </a:outerShdw>
                </a:effectLst>
                <a:latin typeface="宋体" panose="02010600030101010101" pitchFamily="2" charset="-122"/>
                <a:ea typeface="宋体" panose="02010600030101010101" pitchFamily="2" charset="-122"/>
              </a:rPr>
              <a:t>操作功能</a:t>
            </a:r>
            <a:r>
              <a:rPr lang="zh-CN" altLang="en-US" b="1">
                <a:effectLst>
                  <a:outerShdw blurRad="38100" dist="38100" dir="2700000" algn="tl">
                    <a:srgbClr val="000000"/>
                  </a:outerShdw>
                </a:effectLst>
                <a:latin typeface="宋体" panose="02010600030101010101" pitchFamily="2" charset="-122"/>
                <a:ea typeface="宋体" panose="02010600030101010101" pitchFamily="2" charset="-122"/>
              </a:rPr>
              <a:t>，另一部分代码指出指令的</a:t>
            </a:r>
            <a:r>
              <a:rPr lang="zh-CN" altLang="en-US" b="1">
                <a:solidFill>
                  <a:srgbClr val="0000FF"/>
                </a:solidFill>
                <a:effectLst>
                  <a:outerShdw blurRad="38100" dist="38100" dir="2700000" algn="tl">
                    <a:srgbClr val="000000"/>
                  </a:outerShdw>
                </a:effectLst>
                <a:latin typeface="宋体" panose="02010600030101010101" pitchFamily="2" charset="-122"/>
                <a:ea typeface="宋体" panose="02010600030101010101" pitchFamily="2" charset="-122"/>
              </a:rPr>
              <a:t>操作对象</a:t>
            </a:r>
            <a:r>
              <a:rPr lang="zh-CN" altLang="en-US" b="1">
                <a:effectLst>
                  <a:outerShdw blurRad="38100" dist="38100" dir="2700000" algn="tl">
                    <a:srgbClr val="000000"/>
                  </a:outerShdw>
                </a:effectLst>
                <a:latin typeface="宋体" panose="02010600030101010101" pitchFamily="2" charset="-122"/>
                <a:ea typeface="宋体" panose="02010600030101010101" pitchFamily="2" charset="-122"/>
              </a:rPr>
              <a:t>和</a:t>
            </a:r>
            <a:r>
              <a:rPr lang="zh-CN" altLang="en-US" b="1">
                <a:solidFill>
                  <a:srgbClr val="0000FF"/>
                </a:solidFill>
                <a:effectLst>
                  <a:outerShdw blurRad="38100" dist="38100" dir="2700000" algn="tl">
                    <a:srgbClr val="000000"/>
                  </a:outerShdw>
                </a:effectLst>
                <a:latin typeface="宋体" panose="02010600030101010101" pitchFamily="2" charset="-122"/>
                <a:ea typeface="宋体" panose="02010600030101010101" pitchFamily="2" charset="-122"/>
              </a:rPr>
              <a:t>其他特征信息</a:t>
            </a:r>
            <a:r>
              <a:rPr lang="zh-CN" altLang="en-US" b="1">
                <a:effectLst>
                  <a:outerShdw blurRad="38100" dist="38100" dir="2700000" algn="tl">
                    <a:srgbClr val="000000"/>
                  </a:outerShdw>
                </a:effectLst>
                <a:latin typeface="宋体" panose="02010600030101010101" pitchFamily="2" charset="-122"/>
                <a:ea typeface="宋体" panose="02010600030101010101" pitchFamily="2" charset="-122"/>
              </a:rPr>
              <a:t>。</a:t>
            </a:r>
          </a:p>
          <a:p>
            <a:endParaRPr lang="zh-CN" altLang="en-US" sz="1400" b="1">
              <a:effectLst>
                <a:outerShdw blurRad="38100" dist="38100" dir="2700000" algn="tl">
                  <a:srgbClr val="000000"/>
                </a:outerShdw>
              </a:effectLst>
              <a:latin typeface="宋体" panose="02010600030101010101" pitchFamily="2" charset="-122"/>
              <a:ea typeface="宋体" panose="02010600030101010101" pitchFamily="2" charset="-122"/>
            </a:endParaRPr>
          </a:p>
          <a:p>
            <a:r>
              <a:rPr lang="zh-CN" altLang="en-US" b="1">
                <a:effectLst>
                  <a:outerShdw blurRad="38100" dist="38100" dir="2700000" algn="tl">
                    <a:srgbClr val="000000"/>
                  </a:outerShdw>
                </a:effectLst>
                <a:latin typeface="宋体" panose="02010600030101010101" pitchFamily="2" charset="-122"/>
                <a:ea typeface="宋体" panose="02010600030101010101" pitchFamily="2" charset="-122"/>
              </a:rPr>
              <a:t>在计算机的中央处理单元中还有一个称为</a:t>
            </a:r>
            <a:r>
              <a:rPr lang="zh-CN" altLang="en-US" b="1">
                <a:solidFill>
                  <a:srgbClr val="0000FF"/>
                </a:solidFill>
                <a:effectLst>
                  <a:outerShdw blurRad="38100" dist="38100" dir="2700000" algn="tl">
                    <a:srgbClr val="000000"/>
                  </a:outerShdw>
                </a:effectLst>
                <a:latin typeface="宋体" panose="02010600030101010101" pitchFamily="2" charset="-122"/>
                <a:ea typeface="宋体" panose="02010600030101010101" pitchFamily="2" charset="-122"/>
              </a:rPr>
              <a:t>指令计数器的寄存器</a:t>
            </a:r>
            <a:r>
              <a:rPr lang="zh-CN" altLang="en-US" b="1">
                <a:effectLst>
                  <a:outerShdw blurRad="38100" dist="38100" dir="2700000" algn="tl">
                    <a:srgbClr val="000000"/>
                  </a:outerShdw>
                </a:effectLst>
                <a:latin typeface="宋体" panose="02010600030101010101" pitchFamily="2" charset="-122"/>
                <a:ea typeface="宋体" panose="02010600030101010101" pitchFamily="2" charset="-122"/>
              </a:rPr>
              <a:t>，由它</a:t>
            </a:r>
            <a:r>
              <a:rPr lang="zh-CN" altLang="en-US" b="1">
                <a:solidFill>
                  <a:srgbClr val="0000FF"/>
                </a:solidFill>
                <a:effectLst>
                  <a:outerShdw blurRad="38100" dist="38100" dir="2700000" algn="tl">
                    <a:srgbClr val="000000"/>
                  </a:outerShdw>
                </a:effectLst>
                <a:latin typeface="宋体" panose="02010600030101010101" pitchFamily="2" charset="-122"/>
                <a:ea typeface="宋体" panose="02010600030101010101" pitchFamily="2" charset="-122"/>
              </a:rPr>
              <a:t>指出程序中下一条将要执行的指令在内存中的地址。</a:t>
            </a:r>
            <a:endParaRPr lang="zh-CN" altLang="en-US" b="1">
              <a:effectLst>
                <a:outerShdw blurRad="38100" dist="38100" dir="2700000" algn="tl">
                  <a:srgbClr val="000000"/>
                </a:outerShdw>
              </a:effectLst>
              <a:latin typeface="宋体" panose="02010600030101010101" pitchFamily="2" charset="-122"/>
              <a:ea typeface="宋体" panose="02010600030101010101" pitchFamily="2"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Text Box 1026">
            <a:extLst>
              <a:ext uri="{FF2B5EF4-FFF2-40B4-BE49-F238E27FC236}">
                <a16:creationId xmlns:a16="http://schemas.microsoft.com/office/drawing/2014/main" id="{B3AF65D5-74D9-4753-B7D7-E9618469097D}"/>
              </a:ext>
            </a:extLst>
          </p:cNvPr>
          <p:cNvSpPr txBox="1">
            <a:spLocks noChangeArrowheads="1"/>
          </p:cNvSpPr>
          <p:nvPr/>
        </p:nvSpPr>
        <p:spPr bwMode="auto">
          <a:xfrm>
            <a:off x="228600" y="304800"/>
            <a:ext cx="8382000" cy="6427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b="1">
                <a:solidFill>
                  <a:srgbClr val="CC0000"/>
                </a:solidFill>
                <a:effectLst>
                  <a:outerShdw blurRad="38100" dist="38100" dir="2700000" algn="tl">
                    <a:srgbClr val="000000"/>
                  </a:outerShdw>
                </a:effectLst>
                <a:latin typeface="宋体" panose="02010600030101010101" pitchFamily="2" charset="-122"/>
                <a:ea typeface="宋体" panose="02010600030101010101" pitchFamily="2" charset="-122"/>
              </a:rPr>
              <a:t>计算机执行一条指令大致包括五个阶段：</a:t>
            </a:r>
            <a:endParaRPr lang="zh-CN" altLang="en-US" b="1">
              <a:effectLst>
                <a:outerShdw blurRad="38100" dist="38100" dir="2700000" algn="tl">
                  <a:srgbClr val="000000"/>
                </a:outerShdw>
              </a:effectLst>
              <a:latin typeface="宋体" panose="02010600030101010101" pitchFamily="2" charset="-122"/>
              <a:ea typeface="宋体" panose="02010600030101010101" pitchFamily="2" charset="-122"/>
            </a:endParaRPr>
          </a:p>
          <a:p>
            <a:r>
              <a:rPr lang="zh-CN" altLang="en-US" b="1">
                <a:effectLst>
                  <a:outerShdw blurRad="38100" dist="38100" dir="2700000" algn="tl">
                    <a:srgbClr val="000000"/>
                  </a:outerShdw>
                </a:effectLst>
                <a:latin typeface="宋体" panose="02010600030101010101" pitchFamily="2" charset="-122"/>
                <a:ea typeface="宋体" panose="02010600030101010101" pitchFamily="2" charset="-122"/>
              </a:rPr>
              <a:t>(1)</a:t>
            </a:r>
            <a:r>
              <a:rPr lang="zh-CN" altLang="en-US" b="1">
                <a:solidFill>
                  <a:srgbClr val="0000FF"/>
                </a:solidFill>
                <a:effectLst>
                  <a:outerShdw blurRad="38100" dist="38100" dir="2700000" algn="tl">
                    <a:srgbClr val="000000"/>
                  </a:outerShdw>
                </a:effectLst>
                <a:latin typeface="宋体" panose="02010600030101010101" pitchFamily="2" charset="-122"/>
                <a:ea typeface="宋体" panose="02010600030101010101" pitchFamily="2" charset="-122"/>
              </a:rPr>
              <a:t>取指令阶段</a:t>
            </a:r>
            <a:r>
              <a:rPr lang="zh-CN" altLang="en-US" b="1">
                <a:effectLst>
                  <a:outerShdw blurRad="38100" dist="38100" dir="2700000" algn="tl">
                    <a:srgbClr val="000000"/>
                  </a:outerShdw>
                </a:effectLst>
                <a:latin typeface="宋体" panose="02010600030101010101" pitchFamily="2" charset="-122"/>
                <a:ea typeface="宋体" panose="02010600030101010101" pitchFamily="2" charset="-122"/>
              </a:rPr>
              <a:t>  根据指令计数器取出要执行的指令，并使指令计数器改为下一条指令的地址。译码单元将取得的指令中的操作码转换成各指令执行单元能理解的电子信号。</a:t>
            </a:r>
          </a:p>
          <a:p>
            <a:r>
              <a:rPr lang="zh-CN" altLang="en-US" b="1">
                <a:effectLst>
                  <a:outerShdw blurRad="38100" dist="38100" dir="2700000" algn="tl">
                    <a:srgbClr val="000000"/>
                  </a:outerShdw>
                </a:effectLst>
                <a:latin typeface="宋体" panose="02010600030101010101" pitchFamily="2" charset="-122"/>
                <a:ea typeface="宋体" panose="02010600030101010101" pitchFamily="2" charset="-122"/>
              </a:rPr>
              <a:t>(2)</a:t>
            </a:r>
            <a:r>
              <a:rPr lang="zh-CN" altLang="en-US" b="1">
                <a:solidFill>
                  <a:srgbClr val="0000FF"/>
                </a:solidFill>
                <a:effectLst>
                  <a:outerShdw blurRad="38100" dist="38100" dir="2700000" algn="tl">
                    <a:srgbClr val="000000"/>
                  </a:outerShdw>
                </a:effectLst>
                <a:latin typeface="宋体" panose="02010600030101010101" pitchFamily="2" charset="-122"/>
                <a:ea typeface="宋体" panose="02010600030101010101" pitchFamily="2" charset="-122"/>
              </a:rPr>
              <a:t>取操作数阶段</a:t>
            </a:r>
            <a:r>
              <a:rPr lang="zh-CN" altLang="en-US" b="1">
                <a:effectLst>
                  <a:outerShdw blurRad="38100" dist="38100" dir="2700000" algn="tl">
                    <a:srgbClr val="000000"/>
                  </a:outerShdw>
                </a:effectLst>
                <a:latin typeface="宋体" panose="02010600030101010101" pitchFamily="2" charset="-122"/>
                <a:ea typeface="宋体" panose="02010600030101010101" pitchFamily="2" charset="-122"/>
              </a:rPr>
              <a:t>  根据指令给定的操作数地址取出操作数。</a:t>
            </a:r>
          </a:p>
          <a:p>
            <a:r>
              <a:rPr lang="zh-CN" altLang="en-US" b="1">
                <a:effectLst>
                  <a:outerShdw blurRad="38100" dist="38100" dir="2700000" algn="tl">
                    <a:srgbClr val="000000"/>
                  </a:outerShdw>
                </a:effectLst>
                <a:latin typeface="宋体" panose="02010600030101010101" pitchFamily="2" charset="-122"/>
                <a:ea typeface="宋体" panose="02010600030101010101" pitchFamily="2" charset="-122"/>
              </a:rPr>
              <a:t>(3)</a:t>
            </a:r>
            <a:r>
              <a:rPr lang="zh-CN" altLang="en-US" b="1">
                <a:solidFill>
                  <a:srgbClr val="0000FF"/>
                </a:solidFill>
                <a:effectLst>
                  <a:outerShdw blurRad="38100" dist="38100" dir="2700000" algn="tl">
                    <a:srgbClr val="000000"/>
                  </a:outerShdw>
                </a:effectLst>
                <a:latin typeface="宋体" panose="02010600030101010101" pitchFamily="2" charset="-122"/>
                <a:ea typeface="宋体" panose="02010600030101010101" pitchFamily="2" charset="-122"/>
              </a:rPr>
              <a:t>执行阶段</a:t>
            </a:r>
            <a:r>
              <a:rPr lang="zh-CN" altLang="en-US" b="1">
                <a:effectLst>
                  <a:outerShdw blurRad="38100" dist="38100" dir="2700000" algn="tl">
                    <a:srgbClr val="000000"/>
                  </a:outerShdw>
                </a:effectLst>
                <a:latin typeface="宋体" panose="02010600030101010101" pitchFamily="2" charset="-122"/>
                <a:ea typeface="宋体" panose="02010600030101010101" pitchFamily="2" charset="-122"/>
              </a:rPr>
              <a:t>  执行单元完成译码单元传送来的命令，完成指令所规定的计算功能。</a:t>
            </a:r>
          </a:p>
          <a:p>
            <a:r>
              <a:rPr lang="zh-CN" altLang="en-US" b="1">
                <a:effectLst>
                  <a:outerShdw blurRad="38100" dist="38100" dir="2700000" algn="tl">
                    <a:srgbClr val="000000"/>
                  </a:outerShdw>
                </a:effectLst>
                <a:latin typeface="宋体" panose="02010600030101010101" pitchFamily="2" charset="-122"/>
                <a:ea typeface="宋体" panose="02010600030101010101" pitchFamily="2" charset="-122"/>
              </a:rPr>
              <a:t>(4)</a:t>
            </a:r>
            <a:r>
              <a:rPr lang="zh-CN" altLang="en-US" b="1">
                <a:solidFill>
                  <a:srgbClr val="0000FF"/>
                </a:solidFill>
                <a:effectLst>
                  <a:outerShdw blurRad="38100" dist="38100" dir="2700000" algn="tl">
                    <a:srgbClr val="000000"/>
                  </a:outerShdw>
                </a:effectLst>
                <a:latin typeface="宋体" panose="02010600030101010101" pitchFamily="2" charset="-122"/>
                <a:ea typeface="宋体" panose="02010600030101010101" pitchFamily="2" charset="-122"/>
              </a:rPr>
              <a:t>结果处理阶段</a:t>
            </a:r>
            <a:r>
              <a:rPr lang="zh-CN" altLang="en-US" b="1">
                <a:effectLst>
                  <a:outerShdw blurRad="38100" dist="38100" dir="2700000" algn="tl">
                    <a:srgbClr val="000000"/>
                  </a:outerShdw>
                </a:effectLst>
                <a:latin typeface="宋体" panose="02010600030101010101" pitchFamily="2" charset="-122"/>
                <a:ea typeface="宋体" panose="02010600030101010101" pitchFamily="2" charset="-122"/>
              </a:rPr>
              <a:t>  存储计算结果，并建立结果特征信息。</a:t>
            </a:r>
          </a:p>
          <a:p>
            <a:r>
              <a:rPr lang="zh-CN" altLang="en-US" b="1">
                <a:effectLst>
                  <a:outerShdw blurRad="38100" dist="38100" dir="2700000" algn="tl">
                    <a:srgbClr val="000000"/>
                  </a:outerShdw>
                </a:effectLst>
                <a:latin typeface="宋体" panose="02010600030101010101" pitchFamily="2" charset="-122"/>
                <a:ea typeface="宋体" panose="02010600030101010101" pitchFamily="2" charset="-122"/>
              </a:rPr>
              <a:t>(5)</a:t>
            </a:r>
            <a:r>
              <a:rPr lang="zh-CN" altLang="en-US" b="1">
                <a:solidFill>
                  <a:srgbClr val="0000FF"/>
                </a:solidFill>
                <a:effectLst>
                  <a:outerShdw blurRad="38100" dist="38100" dir="2700000" algn="tl">
                    <a:srgbClr val="000000"/>
                  </a:outerShdw>
                </a:effectLst>
                <a:latin typeface="宋体" panose="02010600030101010101" pitchFamily="2" charset="-122"/>
                <a:ea typeface="宋体" panose="02010600030101010101" pitchFamily="2" charset="-122"/>
              </a:rPr>
              <a:t>推进阶段</a:t>
            </a:r>
            <a:r>
              <a:rPr lang="zh-CN" altLang="en-US" b="1">
                <a:effectLst>
                  <a:outerShdw blurRad="38100" dist="38100" dir="2700000" algn="tl">
                    <a:srgbClr val="000000"/>
                  </a:outerShdw>
                </a:effectLst>
                <a:latin typeface="宋体" panose="02010600030101010101" pitchFamily="2" charset="-122"/>
                <a:ea typeface="宋体" panose="02010600030101010101" pitchFamily="2" charset="-122"/>
              </a:rPr>
              <a:t>  回到第一阶段继续工作。</a:t>
            </a:r>
          </a:p>
          <a:p>
            <a:r>
              <a:rPr lang="zh-CN" altLang="en-US" b="1">
                <a:effectLst>
                  <a:outerShdw blurRad="38100" dist="38100" dir="2700000" algn="tl">
                    <a:srgbClr val="000000"/>
                  </a:outerShdw>
                </a:effectLst>
                <a:latin typeface="宋体" panose="02010600030101010101" pitchFamily="2" charset="-122"/>
                <a:ea typeface="宋体" panose="02010600030101010101" pitchFamily="2" charset="-122"/>
              </a:rPr>
              <a:t>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Text Box 2">
            <a:extLst>
              <a:ext uri="{FF2B5EF4-FFF2-40B4-BE49-F238E27FC236}">
                <a16:creationId xmlns:a16="http://schemas.microsoft.com/office/drawing/2014/main" id="{26017361-ACFF-468D-835D-EAC99052A1CE}"/>
              </a:ext>
            </a:extLst>
          </p:cNvPr>
          <p:cNvSpPr txBox="1">
            <a:spLocks noChangeArrowheads="1"/>
          </p:cNvSpPr>
          <p:nvPr/>
        </p:nvSpPr>
        <p:spPr bwMode="auto">
          <a:xfrm>
            <a:off x="179512" y="1429221"/>
            <a:ext cx="8839200" cy="466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b="1" dirty="0">
              <a:effectLst>
                <a:outerShdw blurRad="38100" dist="38100" dir="2700000" algn="tl">
                  <a:srgbClr val="000000"/>
                </a:outerShdw>
              </a:effectLst>
              <a:latin typeface="宋体" panose="02010600030101010101" pitchFamily="2" charset="-122"/>
              <a:ea typeface="宋体" panose="02010600030101010101" pitchFamily="2" charset="-122"/>
            </a:endParaRPr>
          </a:p>
          <a:p>
            <a:r>
              <a:rPr lang="zh-CN" altLang="en-US" b="1" dirty="0">
                <a:effectLst>
                  <a:outerShdw blurRad="38100" dist="38100" dir="2700000" algn="tl">
                    <a:srgbClr val="000000"/>
                  </a:outerShdw>
                </a:effectLst>
                <a:latin typeface="宋体" panose="02010600030101010101" pitchFamily="2" charset="-122"/>
                <a:ea typeface="宋体" panose="02010600030101010101" pitchFamily="2" charset="-122"/>
              </a:rPr>
              <a:t>程序开始执行时，先要将程序从外存储器调入内存，程序开始执行的第一条指令的地址放入指令计数器。</a:t>
            </a:r>
          </a:p>
          <a:p>
            <a:endParaRPr lang="zh-CN" altLang="en-US" sz="2800" b="1" dirty="0">
              <a:solidFill>
                <a:srgbClr val="0000FF"/>
              </a:solidFill>
              <a:effectLst>
                <a:outerShdw blurRad="38100" dist="38100" dir="2700000" algn="tl">
                  <a:srgbClr val="000000"/>
                </a:outerShdw>
              </a:effectLst>
              <a:latin typeface="宋体" panose="02010600030101010101" pitchFamily="2" charset="-122"/>
              <a:ea typeface="宋体" panose="02010600030101010101" pitchFamily="2" charset="-122"/>
            </a:endParaRPr>
          </a:p>
          <a:p>
            <a:endParaRPr lang="zh-CN" altLang="en-US" sz="2800" b="1" dirty="0">
              <a:solidFill>
                <a:srgbClr val="0000FF"/>
              </a:solidFill>
              <a:effectLst>
                <a:outerShdw blurRad="38100" dist="38100" dir="2700000" algn="tl">
                  <a:srgbClr val="000000"/>
                </a:outerShdw>
              </a:effectLst>
              <a:latin typeface="宋体" panose="02010600030101010101" pitchFamily="2" charset="-122"/>
              <a:ea typeface="宋体" panose="02010600030101010101" pitchFamily="2" charset="-122"/>
            </a:endParaRPr>
          </a:p>
          <a:p>
            <a:r>
              <a:rPr lang="zh-CN" altLang="en-US" sz="2800" b="1" dirty="0">
                <a:solidFill>
                  <a:srgbClr val="0000FF"/>
                </a:solidFill>
                <a:effectLst>
                  <a:outerShdw blurRad="38100" dist="38100" dir="2700000" algn="tl">
                    <a:srgbClr val="000000"/>
                  </a:outerShdw>
                </a:effectLst>
                <a:latin typeface="宋体" panose="02010600030101010101" pitchFamily="2" charset="-122"/>
                <a:ea typeface="宋体" panose="02010600030101010101" pitchFamily="2" charset="-122"/>
              </a:rPr>
              <a:t>取指令阶段 中央处理机根据指令计数器中的地址，从该内存储器的地址中取出正要执行的指令，指令取出后指令计数器的内容立即被修改为下一条指令的地址。</a:t>
            </a:r>
          </a:p>
          <a:p>
            <a:endParaRPr lang="zh-CN" altLang="en-US" b="1" dirty="0">
              <a:effectLst>
                <a:outerShdw blurRad="38100" dist="38100" dir="2700000" algn="tl">
                  <a:srgbClr val="000000"/>
                </a:outerShdw>
              </a:effectLst>
              <a:latin typeface="宋体" panose="02010600030101010101" pitchFamily="2" charset="-122"/>
              <a:ea typeface="宋体" panose="02010600030101010101" pitchFamily="2"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Text Box 2">
            <a:extLst>
              <a:ext uri="{FF2B5EF4-FFF2-40B4-BE49-F238E27FC236}">
                <a16:creationId xmlns:a16="http://schemas.microsoft.com/office/drawing/2014/main" id="{E260FAC3-41F4-46E2-9AA5-05D2C67E4EEA}"/>
              </a:ext>
            </a:extLst>
          </p:cNvPr>
          <p:cNvSpPr txBox="1">
            <a:spLocks noChangeArrowheads="1"/>
          </p:cNvSpPr>
          <p:nvPr/>
        </p:nvSpPr>
        <p:spPr bwMode="auto">
          <a:xfrm>
            <a:off x="179512" y="948779"/>
            <a:ext cx="8839200" cy="521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sz="2800" b="1" dirty="0">
              <a:solidFill>
                <a:srgbClr val="0000FF"/>
              </a:solidFill>
              <a:effectLst>
                <a:outerShdw blurRad="38100" dist="38100" dir="2700000" algn="tl">
                  <a:srgbClr val="000000"/>
                </a:outerShdw>
              </a:effectLst>
              <a:latin typeface="宋体" panose="02010600030101010101" pitchFamily="2" charset="-122"/>
              <a:ea typeface="宋体" panose="02010600030101010101" pitchFamily="2" charset="-122"/>
            </a:endParaRPr>
          </a:p>
          <a:p>
            <a:r>
              <a:rPr lang="zh-CN" altLang="en-US" sz="2800" b="1" dirty="0">
                <a:solidFill>
                  <a:srgbClr val="CC0000"/>
                </a:solidFill>
                <a:effectLst>
                  <a:outerShdw blurRad="38100" dist="38100" dir="2700000" algn="tl">
                    <a:srgbClr val="000000"/>
                  </a:outerShdw>
                </a:effectLst>
                <a:latin typeface="宋体" panose="02010600030101010101" pitchFamily="2" charset="-122"/>
                <a:ea typeface="宋体" panose="02010600030101010101" pitchFamily="2" charset="-122"/>
              </a:rPr>
              <a:t>在取数阶段，计算机根据指令给定的寻址方式和地址寄存器的内容等有关计算操作数地址的信息，计算出操作数地址，并从该内存地址中取出操作数。</a:t>
            </a:r>
          </a:p>
          <a:p>
            <a:endParaRPr lang="zh-CN" altLang="en-US" sz="2800" b="1" dirty="0">
              <a:solidFill>
                <a:srgbClr val="0000FF"/>
              </a:solidFill>
              <a:effectLst>
                <a:outerShdw blurRad="38100" dist="38100" dir="2700000" algn="tl">
                  <a:srgbClr val="000000"/>
                </a:outerShdw>
              </a:effectLst>
              <a:latin typeface="宋体" panose="02010600030101010101" pitchFamily="2" charset="-122"/>
              <a:ea typeface="宋体" panose="02010600030101010101" pitchFamily="2" charset="-122"/>
            </a:endParaRPr>
          </a:p>
          <a:p>
            <a:r>
              <a:rPr lang="zh-CN" altLang="en-US" sz="2800" b="1" dirty="0">
                <a:solidFill>
                  <a:srgbClr val="0000FF"/>
                </a:solidFill>
                <a:effectLst>
                  <a:outerShdw blurRad="38100" dist="38100" dir="2700000" algn="tl">
                    <a:srgbClr val="000000"/>
                  </a:outerShdw>
                </a:effectLst>
                <a:latin typeface="宋体" panose="02010600030101010101" pitchFamily="2" charset="-122"/>
                <a:ea typeface="宋体" panose="02010600030101010101" pitchFamily="2" charset="-122"/>
              </a:rPr>
              <a:t>执行阶段 中央处理机按指令规定的操作功能对操作数进行加工。</a:t>
            </a:r>
            <a:endParaRPr lang="zh-CN" altLang="en-US" sz="2800" b="1" dirty="0">
              <a:solidFill>
                <a:srgbClr val="CC0000"/>
              </a:solidFill>
              <a:effectLst>
                <a:outerShdw blurRad="38100" dist="38100" dir="2700000" algn="tl">
                  <a:srgbClr val="000000"/>
                </a:outerShdw>
              </a:effectLst>
              <a:latin typeface="宋体" panose="02010600030101010101" pitchFamily="2" charset="-122"/>
              <a:ea typeface="宋体" panose="02010600030101010101" pitchFamily="2" charset="-122"/>
            </a:endParaRPr>
          </a:p>
          <a:p>
            <a:endParaRPr lang="zh-CN" altLang="en-US" sz="2800" b="1" dirty="0">
              <a:solidFill>
                <a:srgbClr val="CC0000"/>
              </a:solidFill>
              <a:effectLst>
                <a:outerShdw blurRad="38100" dist="38100" dir="2700000" algn="tl">
                  <a:srgbClr val="000000"/>
                </a:outerShdw>
              </a:effectLst>
              <a:latin typeface="宋体" panose="02010600030101010101" pitchFamily="2" charset="-122"/>
              <a:ea typeface="宋体" panose="02010600030101010101" pitchFamily="2" charset="-122"/>
            </a:endParaRPr>
          </a:p>
          <a:p>
            <a:r>
              <a:rPr lang="zh-CN" altLang="en-US" sz="2800" b="1" dirty="0">
                <a:solidFill>
                  <a:srgbClr val="CC0000"/>
                </a:solidFill>
                <a:effectLst>
                  <a:outerShdw blurRad="38100" dist="38100" dir="2700000" algn="tl">
                    <a:srgbClr val="000000"/>
                  </a:outerShdw>
                </a:effectLst>
                <a:latin typeface="宋体" panose="02010600030101010101" pitchFamily="2" charset="-122"/>
                <a:ea typeface="宋体" panose="02010600030101010101" pitchFamily="2" charset="-122"/>
              </a:rPr>
              <a:t>结果处理阶段 根据目的操作数地址保存计算结果，并设置结果状态。</a:t>
            </a:r>
          </a:p>
          <a:p>
            <a:endParaRPr lang="zh-CN" altLang="en-US" sz="2800" b="1" dirty="0">
              <a:solidFill>
                <a:srgbClr val="0000FF"/>
              </a:solidFill>
              <a:effectLst>
                <a:outerShdw blurRad="38100" dist="38100" dir="2700000" algn="tl">
                  <a:srgbClr val="000000"/>
                </a:outerShdw>
              </a:effectLst>
              <a:latin typeface="宋体" panose="02010600030101010101" pitchFamily="2" charset="-122"/>
              <a:ea typeface="宋体" panose="02010600030101010101" pitchFamily="2" charset="-122"/>
            </a:endParaRPr>
          </a:p>
          <a:p>
            <a:r>
              <a:rPr lang="zh-CN" altLang="en-US" sz="2800" b="1" dirty="0">
                <a:solidFill>
                  <a:srgbClr val="0000FF"/>
                </a:solidFill>
                <a:effectLst>
                  <a:outerShdw blurRad="38100" dist="38100" dir="2700000" algn="tl">
                    <a:srgbClr val="000000"/>
                  </a:outerShdw>
                </a:effectLst>
                <a:latin typeface="宋体" panose="02010600030101010101" pitchFamily="2" charset="-122"/>
                <a:ea typeface="宋体" panose="02010600030101010101" pitchFamily="2" charset="-122"/>
              </a:rPr>
              <a:t>推进阶段 实现连续执行程序中的指令。</a:t>
            </a:r>
            <a:endParaRPr lang="zh-CN" altLang="en-US" b="1" dirty="0">
              <a:effectLst>
                <a:outerShdw blurRad="38100" dist="38100" dir="2700000" algn="tl">
                  <a:srgbClr val="000000"/>
                </a:outerShdw>
              </a:effectLst>
              <a:latin typeface="宋体" panose="02010600030101010101" pitchFamily="2" charset="-122"/>
              <a:ea typeface="宋体" panose="02010600030101010101" pitchFamily="2"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Text Box 2">
            <a:extLst>
              <a:ext uri="{FF2B5EF4-FFF2-40B4-BE49-F238E27FC236}">
                <a16:creationId xmlns:a16="http://schemas.microsoft.com/office/drawing/2014/main" id="{D7CDF45B-EB93-4797-919A-41F3047A08EB}"/>
              </a:ext>
            </a:extLst>
          </p:cNvPr>
          <p:cNvSpPr txBox="1">
            <a:spLocks noChangeArrowheads="1"/>
          </p:cNvSpPr>
          <p:nvPr/>
        </p:nvSpPr>
        <p:spPr bwMode="auto">
          <a:xfrm>
            <a:off x="304800" y="856257"/>
            <a:ext cx="8458200" cy="545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b="1" dirty="0">
                <a:effectLst>
                  <a:outerShdw blurRad="38100" dist="38100" dir="2700000" algn="tl">
                    <a:srgbClr val="000000"/>
                  </a:outerShdw>
                </a:effectLst>
                <a:latin typeface="宋体" panose="02010600030101010101" pitchFamily="2" charset="-122"/>
                <a:ea typeface="宋体" panose="02010600030101010101" pitchFamily="2" charset="-122"/>
              </a:rPr>
              <a:t>上述是指令的大致执行过程，有些指令的执行过程</a:t>
            </a:r>
            <a:r>
              <a:rPr lang="zh-CN" altLang="en-US" b="1" dirty="0">
                <a:solidFill>
                  <a:srgbClr val="0000FF"/>
                </a:solidFill>
                <a:effectLst>
                  <a:outerShdw blurRad="38100" dist="38100" dir="2700000" algn="tl">
                    <a:srgbClr val="000000"/>
                  </a:outerShdw>
                </a:effectLst>
                <a:latin typeface="宋体" panose="02010600030101010101" pitchFamily="2" charset="-122"/>
                <a:ea typeface="宋体" panose="02010600030101010101" pitchFamily="2" charset="-122"/>
              </a:rPr>
              <a:t>不一定</a:t>
            </a:r>
            <a:r>
              <a:rPr lang="zh-CN" altLang="en-US" b="1" dirty="0">
                <a:effectLst>
                  <a:outerShdw blurRad="38100" dist="38100" dir="2700000" algn="tl">
                    <a:srgbClr val="000000"/>
                  </a:outerShdw>
                </a:effectLst>
                <a:latin typeface="宋体" panose="02010600030101010101" pitchFamily="2" charset="-122"/>
                <a:ea typeface="宋体" panose="02010600030101010101" pitchFamily="2" charset="-122"/>
              </a:rPr>
              <a:t>要经历全部5个阶段，每个阶段要完成的工作，</a:t>
            </a:r>
            <a:r>
              <a:rPr lang="zh-CN" altLang="en-US" b="1" dirty="0">
                <a:solidFill>
                  <a:srgbClr val="0000FF"/>
                </a:solidFill>
                <a:effectLst>
                  <a:outerShdw blurRad="38100" dist="38100" dir="2700000" algn="tl">
                    <a:srgbClr val="000000"/>
                  </a:outerShdw>
                </a:effectLst>
                <a:latin typeface="宋体" panose="02010600030101010101" pitchFamily="2" charset="-122"/>
                <a:ea typeface="宋体" panose="02010600030101010101" pitchFamily="2" charset="-122"/>
              </a:rPr>
              <a:t>不同指令也不全相同</a:t>
            </a:r>
            <a:r>
              <a:rPr lang="zh-CN" altLang="en-US" b="1" dirty="0">
                <a:effectLst>
                  <a:outerShdw blurRad="38100" dist="38100" dir="2700000" algn="tl">
                    <a:srgbClr val="000000"/>
                  </a:outerShdw>
                </a:effectLst>
                <a:latin typeface="宋体" panose="02010600030101010101" pitchFamily="2" charset="-122"/>
                <a:ea typeface="宋体" panose="02010600030101010101" pitchFamily="2" charset="-122"/>
              </a:rPr>
              <a:t>。如控制转移指令，该指令将转移地址存入指令计数器，使计算机从新的程序段开始取指令。</a:t>
            </a:r>
          </a:p>
          <a:p>
            <a:endParaRPr lang="zh-CN" altLang="en-US" b="1" dirty="0">
              <a:effectLst>
                <a:outerShdw blurRad="38100" dist="38100" dir="2700000" algn="tl">
                  <a:srgbClr val="000000"/>
                </a:outerShdw>
              </a:effectLst>
              <a:latin typeface="宋体" panose="02010600030101010101" pitchFamily="2" charset="-122"/>
              <a:ea typeface="宋体" panose="02010600030101010101" pitchFamily="2" charset="-122"/>
            </a:endParaRPr>
          </a:p>
          <a:p>
            <a:r>
              <a:rPr lang="zh-CN" altLang="en-US" b="1" dirty="0">
                <a:effectLst>
                  <a:outerShdw blurRad="38100" dist="38100" dir="2700000" algn="tl">
                    <a:srgbClr val="000000"/>
                  </a:outerShdw>
                </a:effectLst>
                <a:latin typeface="宋体" panose="02010600030101010101" pitchFamily="2" charset="-122"/>
                <a:ea typeface="宋体" panose="02010600030101010101" pitchFamily="2" charset="-122"/>
              </a:rPr>
              <a:t>对于大型程序或处理大量数据的程序来说，程序或数据可以分段调入内存，即把正要执行的那部分程序和数据先调入内存，而把暂不执行的那部分程序或暂不使用的数据暂时保留在外存，当需要它们时，再把它们调入内存。</a:t>
            </a:r>
            <a:endParaRPr lang="zh-CN" altLang="en-US" sz="2400" dirty="0">
              <a:latin typeface="宋体" panose="02010600030101010101" pitchFamily="2" charset="-122"/>
              <a:ea typeface="宋体" panose="02010600030101010101"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Text Box 2">
            <a:extLst>
              <a:ext uri="{FF2B5EF4-FFF2-40B4-BE49-F238E27FC236}">
                <a16:creationId xmlns:a16="http://schemas.microsoft.com/office/drawing/2014/main" id="{ADDFB12E-5214-4E9E-9B65-B98A191B373D}"/>
              </a:ext>
            </a:extLst>
          </p:cNvPr>
          <p:cNvSpPr txBox="1">
            <a:spLocks noChangeArrowheads="1"/>
          </p:cNvSpPr>
          <p:nvPr/>
        </p:nvSpPr>
        <p:spPr bwMode="auto">
          <a:xfrm>
            <a:off x="228600" y="228600"/>
            <a:ext cx="8610600" cy="5940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b="1">
                <a:effectLst>
                  <a:outerShdw blurRad="38100" dist="38100" dir="2700000" algn="tl">
                    <a:srgbClr val="000000"/>
                  </a:outerShdw>
                </a:effectLst>
                <a:latin typeface="宋体" panose="02010600030101010101" pitchFamily="2" charset="-122"/>
                <a:ea typeface="宋体" panose="02010600030101010101" pitchFamily="2" charset="-122"/>
              </a:rPr>
              <a:t>设某台计算机有 4 个寄存器：记为</a:t>
            </a:r>
            <a:r>
              <a:rPr lang="en-US" altLang="zh-CN" b="1">
                <a:effectLst>
                  <a:outerShdw blurRad="38100" dist="38100" dir="2700000" algn="tl">
                    <a:srgbClr val="000000"/>
                  </a:outerShdw>
                </a:effectLst>
                <a:latin typeface="宋体" panose="02010600030101010101" pitchFamily="2" charset="-122"/>
                <a:ea typeface="宋体" panose="02010600030101010101" pitchFamily="2" charset="-122"/>
              </a:rPr>
              <a:t>GR0、GR1、GR2</a:t>
            </a:r>
            <a:r>
              <a:rPr lang="zh-CN" altLang="en-US" b="1">
                <a:effectLst>
                  <a:outerShdw blurRad="38100" dist="38100" dir="2700000" algn="tl">
                    <a:srgbClr val="000000"/>
                  </a:outerShdw>
                </a:effectLst>
                <a:latin typeface="宋体" panose="02010600030101010101" pitchFamily="2" charset="-122"/>
                <a:ea typeface="宋体" panose="02010600030101010101" pitchFamily="2" charset="-122"/>
              </a:rPr>
              <a:t>和</a:t>
            </a:r>
            <a:r>
              <a:rPr lang="en-US" altLang="zh-CN" b="1">
                <a:effectLst>
                  <a:outerShdw blurRad="38100" dist="38100" dir="2700000" algn="tl">
                    <a:srgbClr val="000000"/>
                  </a:outerShdw>
                </a:effectLst>
                <a:latin typeface="宋体" panose="02010600030101010101" pitchFamily="2" charset="-122"/>
                <a:ea typeface="宋体" panose="02010600030101010101" pitchFamily="2" charset="-122"/>
              </a:rPr>
              <a:t>GR3</a:t>
            </a:r>
            <a:r>
              <a:rPr lang="zh-CN" altLang="en-US" b="1">
                <a:effectLst>
                  <a:outerShdw blurRad="38100" dist="38100" dir="2700000" algn="tl">
                    <a:srgbClr val="000000"/>
                  </a:outerShdw>
                </a:effectLst>
                <a:latin typeface="宋体" panose="02010600030101010101" pitchFamily="2" charset="-122"/>
                <a:ea typeface="宋体" panose="02010600030101010101" pitchFamily="2" charset="-122"/>
              </a:rPr>
              <a:t>。</a:t>
            </a:r>
          </a:p>
          <a:p>
            <a:r>
              <a:rPr lang="zh-CN" altLang="en-US" b="1">
                <a:effectLst>
                  <a:outerShdw blurRad="38100" dist="38100" dir="2700000" algn="tl">
                    <a:srgbClr val="000000"/>
                  </a:outerShdw>
                </a:effectLst>
                <a:latin typeface="宋体" panose="02010600030101010101" pitchFamily="2" charset="-122"/>
                <a:ea typeface="宋体" panose="02010600030101010101" pitchFamily="2" charset="-122"/>
              </a:rPr>
              <a:t>另有指令：</a:t>
            </a:r>
          </a:p>
          <a:p>
            <a:r>
              <a:rPr lang="zh-CN" altLang="en-US" b="1">
                <a:solidFill>
                  <a:srgbClr val="0000FF"/>
                </a:solidFill>
                <a:effectLst>
                  <a:outerShdw blurRad="38100" dist="38100" dir="2700000" algn="tl">
                    <a:srgbClr val="000000"/>
                  </a:outerShdw>
                </a:effectLst>
                <a:latin typeface="宋体" panose="02010600030101010101" pitchFamily="2" charset="-122"/>
                <a:ea typeface="宋体" panose="02010600030101010101" pitchFamily="2" charset="-122"/>
              </a:rPr>
              <a:t>取数指令（</a:t>
            </a:r>
            <a:r>
              <a:rPr lang="en-US" altLang="zh-CN" b="1">
                <a:solidFill>
                  <a:srgbClr val="0000FF"/>
                </a:solidFill>
                <a:effectLst>
                  <a:outerShdw blurRad="38100" dist="38100" dir="2700000" algn="tl">
                    <a:srgbClr val="000000"/>
                  </a:outerShdw>
                </a:effectLst>
                <a:latin typeface="宋体" panose="02010600030101010101" pitchFamily="2" charset="-122"/>
                <a:ea typeface="宋体" panose="02010600030101010101" pitchFamily="2" charset="-122"/>
              </a:rPr>
              <a:t>LD GR0, X  </a:t>
            </a:r>
            <a:r>
              <a:rPr lang="zh-CN" altLang="en-US" b="1">
                <a:solidFill>
                  <a:srgbClr val="0000FF"/>
                </a:solidFill>
                <a:effectLst>
                  <a:outerShdw blurRad="38100" dist="38100" dir="2700000" algn="tl">
                    <a:srgbClr val="000000"/>
                  </a:outerShdw>
                </a:effectLst>
                <a:latin typeface="宋体" panose="02010600030101010101" pitchFamily="2" charset="-122"/>
                <a:ea typeface="宋体" panose="02010600030101010101" pitchFamily="2" charset="-122"/>
              </a:rPr>
              <a:t>从内存</a:t>
            </a:r>
            <a:r>
              <a:rPr lang="en-US" altLang="zh-CN" b="1">
                <a:solidFill>
                  <a:srgbClr val="0000FF"/>
                </a:solidFill>
                <a:effectLst>
                  <a:outerShdw blurRad="38100" dist="38100" dir="2700000" algn="tl">
                    <a:srgbClr val="000000"/>
                  </a:outerShdw>
                </a:effectLst>
                <a:latin typeface="宋体" panose="02010600030101010101" pitchFamily="2" charset="-122"/>
                <a:ea typeface="宋体" panose="02010600030101010101" pitchFamily="2" charset="-122"/>
              </a:rPr>
              <a:t>X</a:t>
            </a:r>
            <a:r>
              <a:rPr lang="zh-CN" altLang="en-US" b="1">
                <a:solidFill>
                  <a:srgbClr val="0000FF"/>
                </a:solidFill>
                <a:effectLst>
                  <a:outerShdw blurRad="38100" dist="38100" dir="2700000" algn="tl">
                    <a:srgbClr val="000000"/>
                  </a:outerShdw>
                </a:effectLst>
                <a:latin typeface="宋体" panose="02010600030101010101" pitchFamily="2" charset="-122"/>
                <a:ea typeface="宋体" panose="02010600030101010101" pitchFamily="2" charset="-122"/>
              </a:rPr>
              <a:t>取数到寄存器</a:t>
            </a:r>
            <a:r>
              <a:rPr lang="en-US" altLang="zh-CN" b="1">
                <a:solidFill>
                  <a:srgbClr val="0000FF"/>
                </a:solidFill>
                <a:effectLst>
                  <a:outerShdw blurRad="38100" dist="38100" dir="2700000" algn="tl">
                    <a:srgbClr val="000000"/>
                  </a:outerShdw>
                </a:effectLst>
                <a:latin typeface="宋体" panose="02010600030101010101" pitchFamily="2" charset="-122"/>
                <a:ea typeface="宋体" panose="02010600030101010101" pitchFamily="2" charset="-122"/>
              </a:rPr>
              <a:t>GR0）、</a:t>
            </a:r>
          </a:p>
          <a:p>
            <a:endParaRPr lang="zh-CN" altLang="en-US" b="1">
              <a:solidFill>
                <a:srgbClr val="0000FF"/>
              </a:solidFill>
              <a:effectLst>
                <a:outerShdw blurRad="38100" dist="38100" dir="2700000" algn="tl">
                  <a:srgbClr val="000000"/>
                </a:outerShdw>
              </a:effectLst>
              <a:latin typeface="宋体" panose="02010600030101010101" pitchFamily="2" charset="-122"/>
              <a:ea typeface="宋体" panose="02010600030101010101" pitchFamily="2" charset="-122"/>
            </a:endParaRPr>
          </a:p>
          <a:p>
            <a:r>
              <a:rPr lang="zh-CN" altLang="en-US" b="1">
                <a:solidFill>
                  <a:srgbClr val="0000FF"/>
                </a:solidFill>
                <a:effectLst>
                  <a:outerShdw blurRad="38100" dist="38100" dir="2700000" algn="tl">
                    <a:srgbClr val="000000"/>
                  </a:outerShdw>
                </a:effectLst>
                <a:latin typeface="宋体" panose="02010600030101010101" pitchFamily="2" charset="-122"/>
                <a:ea typeface="宋体" panose="02010600030101010101" pitchFamily="2" charset="-122"/>
              </a:rPr>
              <a:t>存数指令（</a:t>
            </a:r>
            <a:r>
              <a:rPr lang="en-US" altLang="zh-CN" b="1">
                <a:solidFill>
                  <a:srgbClr val="0000FF"/>
                </a:solidFill>
                <a:effectLst>
                  <a:outerShdw blurRad="38100" dist="38100" dir="2700000" algn="tl">
                    <a:srgbClr val="000000"/>
                  </a:outerShdw>
                </a:effectLst>
                <a:latin typeface="宋体" panose="02010600030101010101" pitchFamily="2" charset="-122"/>
                <a:ea typeface="宋体" panose="02010600030101010101" pitchFamily="2" charset="-122"/>
              </a:rPr>
              <a:t>ST GR0, X  </a:t>
            </a:r>
            <a:r>
              <a:rPr lang="zh-CN" altLang="en-US" b="1">
                <a:solidFill>
                  <a:srgbClr val="0000FF"/>
                </a:solidFill>
                <a:effectLst>
                  <a:outerShdw blurRad="38100" dist="38100" dir="2700000" algn="tl">
                    <a:srgbClr val="000000"/>
                  </a:outerShdw>
                </a:effectLst>
                <a:latin typeface="宋体" panose="02010600030101010101" pitchFamily="2" charset="-122"/>
                <a:ea typeface="宋体" panose="02010600030101010101" pitchFamily="2" charset="-122"/>
              </a:rPr>
              <a:t>将寄存器</a:t>
            </a:r>
            <a:r>
              <a:rPr lang="en-US" altLang="zh-CN" b="1">
                <a:solidFill>
                  <a:srgbClr val="0000FF"/>
                </a:solidFill>
                <a:effectLst>
                  <a:outerShdw blurRad="38100" dist="38100" dir="2700000" algn="tl">
                    <a:srgbClr val="000000"/>
                  </a:outerShdw>
                </a:effectLst>
                <a:latin typeface="宋体" panose="02010600030101010101" pitchFamily="2" charset="-122"/>
                <a:ea typeface="宋体" panose="02010600030101010101" pitchFamily="2" charset="-122"/>
              </a:rPr>
              <a:t>GR0</a:t>
            </a:r>
            <a:r>
              <a:rPr lang="zh-CN" altLang="en-US" b="1">
                <a:solidFill>
                  <a:srgbClr val="0000FF"/>
                </a:solidFill>
                <a:effectLst>
                  <a:outerShdw blurRad="38100" dist="38100" dir="2700000" algn="tl">
                    <a:srgbClr val="000000"/>
                  </a:outerShdw>
                </a:effectLst>
                <a:latin typeface="宋体" panose="02010600030101010101" pitchFamily="2" charset="-122"/>
                <a:ea typeface="宋体" panose="02010600030101010101" pitchFamily="2" charset="-122"/>
              </a:rPr>
              <a:t>中的内容存入</a:t>
            </a:r>
            <a:r>
              <a:rPr lang="en-US" altLang="zh-CN" b="1">
                <a:solidFill>
                  <a:srgbClr val="0000FF"/>
                </a:solidFill>
                <a:effectLst>
                  <a:outerShdw blurRad="38100" dist="38100" dir="2700000" algn="tl">
                    <a:srgbClr val="000000"/>
                  </a:outerShdw>
                </a:effectLst>
                <a:latin typeface="宋体" panose="02010600030101010101" pitchFamily="2" charset="-122"/>
                <a:ea typeface="宋体" panose="02010600030101010101" pitchFamily="2" charset="-122"/>
              </a:rPr>
              <a:t>X</a:t>
            </a:r>
            <a:r>
              <a:rPr lang="zh-CN" altLang="en-US" b="1">
                <a:solidFill>
                  <a:srgbClr val="0000FF"/>
                </a:solidFill>
                <a:effectLst>
                  <a:outerShdw blurRad="38100" dist="38100" dir="2700000" algn="tl">
                    <a:srgbClr val="000000"/>
                  </a:outerShdw>
                </a:effectLst>
                <a:latin typeface="宋体" panose="02010600030101010101" pitchFamily="2" charset="-122"/>
                <a:ea typeface="宋体" panose="02010600030101010101" pitchFamily="2" charset="-122"/>
              </a:rPr>
              <a:t>内存）、</a:t>
            </a:r>
          </a:p>
          <a:p>
            <a:endParaRPr lang="zh-CN" altLang="en-US" b="1">
              <a:solidFill>
                <a:srgbClr val="0000FF"/>
              </a:solidFill>
              <a:effectLst>
                <a:outerShdw blurRad="38100" dist="38100" dir="2700000" algn="tl">
                  <a:srgbClr val="000000"/>
                </a:outerShdw>
              </a:effectLst>
              <a:latin typeface="宋体" panose="02010600030101010101" pitchFamily="2" charset="-122"/>
              <a:ea typeface="宋体" panose="02010600030101010101" pitchFamily="2" charset="-122"/>
            </a:endParaRPr>
          </a:p>
          <a:p>
            <a:r>
              <a:rPr lang="zh-CN" altLang="en-US" b="1">
                <a:solidFill>
                  <a:srgbClr val="0000FF"/>
                </a:solidFill>
                <a:effectLst>
                  <a:outerShdw blurRad="38100" dist="38100" dir="2700000" algn="tl">
                    <a:srgbClr val="000000"/>
                  </a:outerShdw>
                </a:effectLst>
                <a:latin typeface="宋体" panose="02010600030101010101" pitchFamily="2" charset="-122"/>
                <a:ea typeface="宋体" panose="02010600030101010101" pitchFamily="2" charset="-122"/>
              </a:rPr>
              <a:t>加指令（</a:t>
            </a:r>
            <a:r>
              <a:rPr lang="en-US" altLang="zh-CN" b="1">
                <a:solidFill>
                  <a:srgbClr val="0000FF"/>
                </a:solidFill>
                <a:effectLst>
                  <a:outerShdw blurRad="38100" dist="38100" dir="2700000" algn="tl">
                    <a:srgbClr val="000000"/>
                  </a:outerShdw>
                </a:effectLst>
                <a:latin typeface="宋体" panose="02010600030101010101" pitchFamily="2" charset="-122"/>
                <a:ea typeface="宋体" panose="02010600030101010101" pitchFamily="2" charset="-122"/>
              </a:rPr>
              <a:t>ADD GR0, GR1 </a:t>
            </a:r>
            <a:r>
              <a:rPr lang="zh-CN" altLang="en-US" b="1">
                <a:solidFill>
                  <a:srgbClr val="0000FF"/>
                </a:solidFill>
                <a:effectLst>
                  <a:outerShdw blurRad="38100" dist="38100" dir="2700000" algn="tl">
                    <a:srgbClr val="000000"/>
                  </a:outerShdw>
                </a:effectLst>
                <a:latin typeface="宋体" panose="02010600030101010101" pitchFamily="2" charset="-122"/>
                <a:ea typeface="宋体" panose="02010600030101010101" pitchFamily="2" charset="-122"/>
              </a:rPr>
              <a:t>将寄存器</a:t>
            </a:r>
            <a:r>
              <a:rPr lang="en-US" altLang="zh-CN" b="1">
                <a:solidFill>
                  <a:srgbClr val="0000FF"/>
                </a:solidFill>
                <a:effectLst>
                  <a:outerShdw blurRad="38100" dist="38100" dir="2700000" algn="tl">
                    <a:srgbClr val="000000"/>
                  </a:outerShdw>
                </a:effectLst>
                <a:latin typeface="宋体" panose="02010600030101010101" pitchFamily="2" charset="-122"/>
                <a:ea typeface="宋体" panose="02010600030101010101" pitchFamily="2" charset="-122"/>
              </a:rPr>
              <a:t>GR0</a:t>
            </a:r>
            <a:r>
              <a:rPr lang="zh-CN" altLang="en-US" b="1">
                <a:solidFill>
                  <a:srgbClr val="0000FF"/>
                </a:solidFill>
                <a:effectLst>
                  <a:outerShdw blurRad="38100" dist="38100" dir="2700000" algn="tl">
                    <a:srgbClr val="000000"/>
                  </a:outerShdw>
                </a:effectLst>
                <a:latin typeface="宋体" panose="02010600030101010101" pitchFamily="2" charset="-122"/>
                <a:ea typeface="宋体" panose="02010600030101010101" pitchFamily="2" charset="-122"/>
              </a:rPr>
              <a:t>中的内容与寄存器</a:t>
            </a:r>
            <a:r>
              <a:rPr lang="en-US" altLang="zh-CN" b="1">
                <a:solidFill>
                  <a:srgbClr val="0000FF"/>
                </a:solidFill>
                <a:effectLst>
                  <a:outerShdw blurRad="38100" dist="38100" dir="2700000" algn="tl">
                    <a:srgbClr val="000000"/>
                  </a:outerShdw>
                </a:effectLst>
                <a:latin typeface="宋体" panose="02010600030101010101" pitchFamily="2" charset="-122"/>
                <a:ea typeface="宋体" panose="02010600030101010101" pitchFamily="2" charset="-122"/>
              </a:rPr>
              <a:t>GR1</a:t>
            </a:r>
            <a:r>
              <a:rPr lang="zh-CN" altLang="en-US" b="1">
                <a:solidFill>
                  <a:srgbClr val="0000FF"/>
                </a:solidFill>
                <a:effectLst>
                  <a:outerShdw blurRad="38100" dist="38100" dir="2700000" algn="tl">
                    <a:srgbClr val="000000"/>
                  </a:outerShdw>
                </a:effectLst>
                <a:latin typeface="宋体" panose="02010600030101010101" pitchFamily="2" charset="-122"/>
                <a:ea typeface="宋体" panose="02010600030101010101" pitchFamily="2" charset="-122"/>
              </a:rPr>
              <a:t>中的内容相加，并把结果存于寄存器</a:t>
            </a:r>
            <a:r>
              <a:rPr lang="en-US" altLang="zh-CN" b="1">
                <a:solidFill>
                  <a:srgbClr val="0000FF"/>
                </a:solidFill>
                <a:effectLst>
                  <a:outerShdw blurRad="38100" dist="38100" dir="2700000" algn="tl">
                    <a:srgbClr val="000000"/>
                  </a:outerShdw>
                </a:effectLst>
                <a:latin typeface="宋体" panose="02010600030101010101" pitchFamily="2" charset="-122"/>
                <a:ea typeface="宋体" panose="02010600030101010101" pitchFamily="2" charset="-122"/>
              </a:rPr>
              <a:t>GR0</a:t>
            </a:r>
            <a:r>
              <a:rPr lang="zh-CN" altLang="en-US" b="1">
                <a:solidFill>
                  <a:srgbClr val="0000FF"/>
                </a:solidFill>
                <a:effectLst>
                  <a:outerShdw blurRad="38100" dist="38100" dir="2700000" algn="tl">
                    <a:srgbClr val="000000"/>
                  </a:outerShdw>
                </a:effectLst>
                <a:latin typeface="宋体" panose="02010600030101010101" pitchFamily="2" charset="-122"/>
                <a:ea typeface="宋体" panose="02010600030101010101" pitchFamily="2" charset="-122"/>
              </a:rPr>
              <a:t>中）、</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Text Box 2">
            <a:extLst>
              <a:ext uri="{FF2B5EF4-FFF2-40B4-BE49-F238E27FC236}">
                <a16:creationId xmlns:a16="http://schemas.microsoft.com/office/drawing/2014/main" id="{F8E768B0-4684-4E87-B5C9-56D7DF0DCDDA}"/>
              </a:ext>
            </a:extLst>
          </p:cNvPr>
          <p:cNvSpPr txBox="1">
            <a:spLocks noChangeArrowheads="1"/>
          </p:cNvSpPr>
          <p:nvPr/>
        </p:nvSpPr>
        <p:spPr bwMode="auto">
          <a:xfrm>
            <a:off x="228600" y="1016144"/>
            <a:ext cx="8610600"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b="1" dirty="0">
                <a:effectLst>
                  <a:outerShdw blurRad="38100" dist="38100" dir="2700000" algn="tl">
                    <a:srgbClr val="000000"/>
                  </a:outerShdw>
                </a:effectLst>
                <a:latin typeface="宋体" panose="02010600030101010101" pitchFamily="2" charset="-122"/>
                <a:ea typeface="宋体" panose="02010600030101010101" pitchFamily="2" charset="-122"/>
              </a:rPr>
              <a:t>减指令（</a:t>
            </a:r>
            <a:r>
              <a:rPr lang="en-US" altLang="zh-CN" b="1" dirty="0">
                <a:solidFill>
                  <a:srgbClr val="0000FF"/>
                </a:solidFill>
                <a:effectLst>
                  <a:outerShdw blurRad="38100" dist="38100" dir="2700000" algn="tl">
                    <a:srgbClr val="000000"/>
                  </a:outerShdw>
                </a:effectLst>
                <a:latin typeface="宋体" panose="02010600030101010101" pitchFamily="2" charset="-122"/>
                <a:ea typeface="宋体" panose="02010600030101010101" pitchFamily="2" charset="-122"/>
              </a:rPr>
              <a:t>SUB GR0, GR1</a:t>
            </a:r>
            <a:r>
              <a:rPr lang="en-US" altLang="zh-CN" b="1" dirty="0">
                <a:effectLst>
                  <a:outerShdw blurRad="38100" dist="38100" dir="2700000" algn="tl">
                    <a:srgbClr val="000000"/>
                  </a:outerShdw>
                </a:effectLst>
                <a:latin typeface="宋体" panose="02010600030101010101" pitchFamily="2" charset="-122"/>
                <a:ea typeface="宋体" panose="02010600030101010101" pitchFamily="2" charset="-122"/>
              </a:rPr>
              <a:t> </a:t>
            </a:r>
            <a:r>
              <a:rPr lang="zh-CN" altLang="en-US" b="1" dirty="0">
                <a:effectLst>
                  <a:outerShdw blurRad="38100" dist="38100" dir="2700000" algn="tl">
                    <a:srgbClr val="000000"/>
                  </a:outerShdw>
                </a:effectLst>
                <a:latin typeface="宋体" panose="02010600030101010101" pitchFamily="2" charset="-122"/>
                <a:ea typeface="宋体" panose="02010600030101010101" pitchFamily="2" charset="-122"/>
              </a:rPr>
              <a:t>将寄存器</a:t>
            </a:r>
            <a:r>
              <a:rPr lang="en-US" altLang="zh-CN" b="1" dirty="0">
                <a:effectLst>
                  <a:outerShdw blurRad="38100" dist="38100" dir="2700000" algn="tl">
                    <a:srgbClr val="000000"/>
                  </a:outerShdw>
                </a:effectLst>
                <a:latin typeface="宋体" panose="02010600030101010101" pitchFamily="2" charset="-122"/>
                <a:ea typeface="宋体" panose="02010600030101010101" pitchFamily="2" charset="-122"/>
              </a:rPr>
              <a:t>GR0</a:t>
            </a:r>
            <a:r>
              <a:rPr lang="zh-CN" altLang="en-US" b="1" dirty="0">
                <a:effectLst>
                  <a:outerShdw blurRad="38100" dist="38100" dir="2700000" algn="tl">
                    <a:srgbClr val="000000"/>
                  </a:outerShdw>
                </a:effectLst>
                <a:latin typeface="宋体" panose="02010600030101010101" pitchFamily="2" charset="-122"/>
                <a:ea typeface="宋体" panose="02010600030101010101" pitchFamily="2" charset="-122"/>
              </a:rPr>
              <a:t>中的内容减去寄存器</a:t>
            </a:r>
            <a:r>
              <a:rPr lang="en-US" altLang="zh-CN" b="1" dirty="0">
                <a:effectLst>
                  <a:outerShdw blurRad="38100" dist="38100" dir="2700000" algn="tl">
                    <a:srgbClr val="000000"/>
                  </a:outerShdw>
                </a:effectLst>
                <a:latin typeface="宋体" panose="02010600030101010101" pitchFamily="2" charset="-122"/>
                <a:ea typeface="宋体" panose="02010600030101010101" pitchFamily="2" charset="-122"/>
              </a:rPr>
              <a:t>GR1</a:t>
            </a:r>
            <a:r>
              <a:rPr lang="zh-CN" altLang="en-US" b="1" dirty="0">
                <a:effectLst>
                  <a:outerShdw blurRad="38100" dist="38100" dir="2700000" algn="tl">
                    <a:srgbClr val="000000"/>
                  </a:outerShdw>
                </a:effectLst>
                <a:latin typeface="宋体" panose="02010600030101010101" pitchFamily="2" charset="-122"/>
                <a:ea typeface="宋体" panose="02010600030101010101" pitchFamily="2" charset="-122"/>
              </a:rPr>
              <a:t>中的内容，并把结果存于寄存器</a:t>
            </a:r>
            <a:r>
              <a:rPr lang="en-US" altLang="zh-CN" b="1" dirty="0">
                <a:effectLst>
                  <a:outerShdw blurRad="38100" dist="38100" dir="2700000" algn="tl">
                    <a:srgbClr val="000000"/>
                  </a:outerShdw>
                </a:effectLst>
                <a:latin typeface="宋体" panose="02010600030101010101" pitchFamily="2" charset="-122"/>
                <a:ea typeface="宋体" panose="02010600030101010101" pitchFamily="2" charset="-122"/>
              </a:rPr>
              <a:t>GR0</a:t>
            </a:r>
            <a:r>
              <a:rPr lang="zh-CN" altLang="en-US" b="1" dirty="0">
                <a:effectLst>
                  <a:outerShdw blurRad="38100" dist="38100" dir="2700000" algn="tl">
                    <a:srgbClr val="000000"/>
                  </a:outerShdw>
                </a:effectLst>
                <a:latin typeface="宋体" panose="02010600030101010101" pitchFamily="2" charset="-122"/>
                <a:ea typeface="宋体" panose="02010600030101010101" pitchFamily="2" charset="-122"/>
              </a:rPr>
              <a:t>中）、</a:t>
            </a:r>
          </a:p>
          <a:p>
            <a:endParaRPr lang="zh-CN" altLang="en-US" b="1" dirty="0">
              <a:effectLst>
                <a:outerShdw blurRad="38100" dist="38100" dir="2700000" algn="tl">
                  <a:srgbClr val="000000"/>
                </a:outerShdw>
              </a:effectLst>
              <a:latin typeface="宋体" panose="02010600030101010101" pitchFamily="2" charset="-122"/>
              <a:ea typeface="宋体" panose="02010600030101010101" pitchFamily="2" charset="-122"/>
            </a:endParaRPr>
          </a:p>
          <a:p>
            <a:r>
              <a:rPr lang="zh-CN" altLang="en-US" b="1" dirty="0">
                <a:effectLst>
                  <a:outerShdw blurRad="38100" dist="38100" dir="2700000" algn="tl">
                    <a:srgbClr val="000000"/>
                  </a:outerShdw>
                </a:effectLst>
                <a:latin typeface="宋体" panose="02010600030101010101" pitchFamily="2" charset="-122"/>
                <a:ea typeface="宋体" panose="02010600030101010101" pitchFamily="2" charset="-122"/>
              </a:rPr>
              <a:t>乘指令（</a:t>
            </a:r>
            <a:r>
              <a:rPr lang="en-US" altLang="zh-CN" b="1" dirty="0">
                <a:solidFill>
                  <a:srgbClr val="0000FF"/>
                </a:solidFill>
                <a:effectLst>
                  <a:outerShdw blurRad="38100" dist="38100" dir="2700000" algn="tl">
                    <a:srgbClr val="000000"/>
                  </a:outerShdw>
                </a:effectLst>
                <a:latin typeface="宋体" panose="02010600030101010101" pitchFamily="2" charset="-122"/>
                <a:ea typeface="宋体" panose="02010600030101010101" pitchFamily="2" charset="-122"/>
              </a:rPr>
              <a:t>MUL GR0, GR1</a:t>
            </a:r>
            <a:r>
              <a:rPr lang="en-US" altLang="zh-CN" b="1" dirty="0">
                <a:effectLst>
                  <a:outerShdw blurRad="38100" dist="38100" dir="2700000" algn="tl">
                    <a:srgbClr val="000000"/>
                  </a:outerShdw>
                </a:effectLst>
                <a:latin typeface="宋体" panose="02010600030101010101" pitchFamily="2" charset="-122"/>
                <a:ea typeface="宋体" panose="02010600030101010101" pitchFamily="2" charset="-122"/>
              </a:rPr>
              <a:t> </a:t>
            </a:r>
            <a:r>
              <a:rPr lang="zh-CN" altLang="en-US" b="1" dirty="0">
                <a:effectLst>
                  <a:outerShdw blurRad="38100" dist="38100" dir="2700000" algn="tl">
                    <a:srgbClr val="000000"/>
                  </a:outerShdw>
                </a:effectLst>
                <a:latin typeface="宋体" panose="02010600030101010101" pitchFamily="2" charset="-122"/>
                <a:ea typeface="宋体" panose="02010600030101010101" pitchFamily="2" charset="-122"/>
              </a:rPr>
              <a:t>将寄存器</a:t>
            </a:r>
            <a:r>
              <a:rPr lang="en-US" altLang="zh-CN" b="1" dirty="0">
                <a:effectLst>
                  <a:outerShdw blurRad="38100" dist="38100" dir="2700000" algn="tl">
                    <a:srgbClr val="000000"/>
                  </a:outerShdw>
                </a:effectLst>
                <a:latin typeface="宋体" panose="02010600030101010101" pitchFamily="2" charset="-122"/>
                <a:ea typeface="宋体" panose="02010600030101010101" pitchFamily="2" charset="-122"/>
              </a:rPr>
              <a:t>GR0</a:t>
            </a:r>
            <a:r>
              <a:rPr lang="zh-CN" altLang="en-US" b="1" dirty="0">
                <a:effectLst>
                  <a:outerShdw blurRad="38100" dist="38100" dir="2700000" algn="tl">
                    <a:srgbClr val="000000"/>
                  </a:outerShdw>
                </a:effectLst>
                <a:latin typeface="宋体" panose="02010600030101010101" pitchFamily="2" charset="-122"/>
                <a:ea typeface="宋体" panose="02010600030101010101" pitchFamily="2" charset="-122"/>
              </a:rPr>
              <a:t>中的内容与寄存器</a:t>
            </a:r>
            <a:r>
              <a:rPr lang="en-US" altLang="zh-CN" b="1" dirty="0">
                <a:effectLst>
                  <a:outerShdw blurRad="38100" dist="38100" dir="2700000" algn="tl">
                    <a:srgbClr val="000000"/>
                  </a:outerShdw>
                </a:effectLst>
                <a:latin typeface="宋体" panose="02010600030101010101" pitchFamily="2" charset="-122"/>
                <a:ea typeface="宋体" panose="02010600030101010101" pitchFamily="2" charset="-122"/>
              </a:rPr>
              <a:t>GR1</a:t>
            </a:r>
            <a:r>
              <a:rPr lang="zh-CN" altLang="en-US" b="1" dirty="0">
                <a:effectLst>
                  <a:outerShdw blurRad="38100" dist="38100" dir="2700000" algn="tl">
                    <a:srgbClr val="000000"/>
                  </a:outerShdw>
                </a:effectLst>
                <a:latin typeface="宋体" panose="02010600030101010101" pitchFamily="2" charset="-122"/>
                <a:ea typeface="宋体" panose="02010600030101010101" pitchFamily="2" charset="-122"/>
              </a:rPr>
              <a:t>中的内容相乘，并把结果存于寄存器</a:t>
            </a:r>
            <a:r>
              <a:rPr lang="en-US" altLang="zh-CN" b="1" dirty="0">
                <a:effectLst>
                  <a:outerShdw blurRad="38100" dist="38100" dir="2700000" algn="tl">
                    <a:srgbClr val="000000"/>
                  </a:outerShdw>
                </a:effectLst>
                <a:latin typeface="宋体" panose="02010600030101010101" pitchFamily="2" charset="-122"/>
                <a:ea typeface="宋体" panose="02010600030101010101" pitchFamily="2" charset="-122"/>
              </a:rPr>
              <a:t>GR0</a:t>
            </a:r>
            <a:r>
              <a:rPr lang="zh-CN" altLang="en-US" b="1" dirty="0">
                <a:effectLst>
                  <a:outerShdw blurRad="38100" dist="38100" dir="2700000" algn="tl">
                    <a:srgbClr val="000000"/>
                  </a:outerShdw>
                </a:effectLst>
                <a:latin typeface="宋体" panose="02010600030101010101" pitchFamily="2" charset="-122"/>
                <a:ea typeface="宋体" panose="02010600030101010101" pitchFamily="2" charset="-122"/>
              </a:rPr>
              <a:t>中）、</a:t>
            </a:r>
          </a:p>
          <a:p>
            <a:endParaRPr lang="zh-CN" altLang="en-US" b="1" dirty="0">
              <a:effectLst>
                <a:outerShdw blurRad="38100" dist="38100" dir="2700000" algn="tl">
                  <a:srgbClr val="000000"/>
                </a:outerShdw>
              </a:effectLst>
              <a:latin typeface="宋体" panose="02010600030101010101" pitchFamily="2" charset="-122"/>
              <a:ea typeface="宋体" panose="02010600030101010101" pitchFamily="2" charset="-122"/>
            </a:endParaRPr>
          </a:p>
          <a:p>
            <a:r>
              <a:rPr lang="zh-CN" altLang="en-US" b="1" dirty="0">
                <a:effectLst>
                  <a:outerShdw blurRad="38100" dist="38100" dir="2700000" algn="tl">
                    <a:srgbClr val="000000"/>
                  </a:outerShdw>
                </a:effectLst>
                <a:latin typeface="宋体" panose="02010600030101010101" pitchFamily="2" charset="-122"/>
                <a:ea typeface="宋体" panose="02010600030101010101" pitchFamily="2" charset="-122"/>
              </a:rPr>
              <a:t>除指令（</a:t>
            </a:r>
            <a:r>
              <a:rPr lang="en-US" altLang="zh-CN" b="1" dirty="0">
                <a:solidFill>
                  <a:srgbClr val="0000FF"/>
                </a:solidFill>
                <a:effectLst>
                  <a:outerShdw blurRad="38100" dist="38100" dir="2700000" algn="tl">
                    <a:srgbClr val="000000"/>
                  </a:outerShdw>
                </a:effectLst>
                <a:latin typeface="宋体" panose="02010600030101010101" pitchFamily="2" charset="-122"/>
                <a:ea typeface="宋体" panose="02010600030101010101" pitchFamily="2" charset="-122"/>
              </a:rPr>
              <a:t>DIV GR0, GR1</a:t>
            </a:r>
            <a:r>
              <a:rPr lang="en-US" altLang="zh-CN" b="1" dirty="0">
                <a:effectLst>
                  <a:outerShdw blurRad="38100" dist="38100" dir="2700000" algn="tl">
                    <a:srgbClr val="000000"/>
                  </a:outerShdw>
                </a:effectLst>
                <a:latin typeface="宋体" panose="02010600030101010101" pitchFamily="2" charset="-122"/>
                <a:ea typeface="宋体" panose="02010600030101010101" pitchFamily="2" charset="-122"/>
              </a:rPr>
              <a:t> </a:t>
            </a:r>
            <a:r>
              <a:rPr lang="zh-CN" altLang="en-US" b="1" dirty="0">
                <a:effectLst>
                  <a:outerShdw blurRad="38100" dist="38100" dir="2700000" algn="tl">
                    <a:srgbClr val="000000"/>
                  </a:outerShdw>
                </a:effectLst>
                <a:latin typeface="宋体" panose="02010600030101010101" pitchFamily="2" charset="-122"/>
                <a:ea typeface="宋体" panose="02010600030101010101" pitchFamily="2" charset="-122"/>
              </a:rPr>
              <a:t>将寄存器</a:t>
            </a:r>
            <a:r>
              <a:rPr lang="en-US" altLang="zh-CN" b="1" dirty="0">
                <a:effectLst>
                  <a:outerShdw blurRad="38100" dist="38100" dir="2700000" algn="tl">
                    <a:srgbClr val="000000"/>
                  </a:outerShdw>
                </a:effectLst>
                <a:latin typeface="宋体" panose="02010600030101010101" pitchFamily="2" charset="-122"/>
                <a:ea typeface="宋体" panose="02010600030101010101" pitchFamily="2" charset="-122"/>
              </a:rPr>
              <a:t>GR0</a:t>
            </a:r>
            <a:r>
              <a:rPr lang="zh-CN" altLang="en-US" b="1" dirty="0">
                <a:effectLst>
                  <a:outerShdw blurRad="38100" dist="38100" dir="2700000" algn="tl">
                    <a:srgbClr val="000000"/>
                  </a:outerShdw>
                </a:effectLst>
                <a:latin typeface="宋体" panose="02010600030101010101" pitchFamily="2" charset="-122"/>
                <a:ea typeface="宋体" panose="02010600030101010101" pitchFamily="2" charset="-122"/>
              </a:rPr>
              <a:t>中的内容除以寄存器</a:t>
            </a:r>
            <a:r>
              <a:rPr lang="en-US" altLang="zh-CN" b="1" dirty="0">
                <a:effectLst>
                  <a:outerShdw blurRad="38100" dist="38100" dir="2700000" algn="tl">
                    <a:srgbClr val="000000"/>
                  </a:outerShdw>
                </a:effectLst>
                <a:latin typeface="宋体" panose="02010600030101010101" pitchFamily="2" charset="-122"/>
                <a:ea typeface="宋体" panose="02010600030101010101" pitchFamily="2" charset="-122"/>
              </a:rPr>
              <a:t>GR1</a:t>
            </a:r>
            <a:r>
              <a:rPr lang="zh-CN" altLang="en-US" b="1" dirty="0">
                <a:effectLst>
                  <a:outerShdw blurRad="38100" dist="38100" dir="2700000" algn="tl">
                    <a:srgbClr val="000000"/>
                  </a:outerShdw>
                </a:effectLst>
                <a:latin typeface="宋体" panose="02010600030101010101" pitchFamily="2" charset="-122"/>
                <a:ea typeface="宋体" panose="02010600030101010101" pitchFamily="2" charset="-122"/>
              </a:rPr>
              <a:t>中的内容，并把结果存于寄存器</a:t>
            </a:r>
            <a:r>
              <a:rPr lang="en-US" altLang="zh-CN" b="1" dirty="0">
                <a:effectLst>
                  <a:outerShdw blurRad="38100" dist="38100" dir="2700000" algn="tl">
                    <a:srgbClr val="000000"/>
                  </a:outerShdw>
                </a:effectLst>
                <a:latin typeface="宋体" panose="02010600030101010101" pitchFamily="2" charset="-122"/>
                <a:ea typeface="宋体" panose="02010600030101010101" pitchFamily="2" charset="-122"/>
              </a:rPr>
              <a:t>GR0</a:t>
            </a:r>
            <a:r>
              <a:rPr lang="zh-CN" altLang="en-US" b="1" dirty="0">
                <a:effectLst>
                  <a:outerShdw blurRad="38100" dist="38100" dir="2700000" algn="tl">
                    <a:srgbClr val="000000"/>
                  </a:outerShdw>
                </a:effectLst>
                <a:latin typeface="宋体" panose="02010600030101010101" pitchFamily="2" charset="-122"/>
                <a:ea typeface="宋体" panose="02010600030101010101" pitchFamily="2" charset="-122"/>
              </a:rPr>
              <a:t>中）。      </a:t>
            </a:r>
            <a:endParaRPr lang="zh-CN" altLang="en-US" b="1" dirty="0">
              <a:effectLst>
                <a:outerShdw blurRad="38100" dist="38100" dir="2700000" algn="tl">
                  <a:srgbClr val="000000"/>
                </a:outerShdw>
              </a:effectLs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Text Box 2">
            <a:extLst>
              <a:ext uri="{FF2B5EF4-FFF2-40B4-BE49-F238E27FC236}">
                <a16:creationId xmlns:a16="http://schemas.microsoft.com/office/drawing/2014/main" id="{FF68D707-F63A-4D34-ABF0-8DF551F2568A}"/>
              </a:ext>
            </a:extLst>
          </p:cNvPr>
          <p:cNvSpPr txBox="1">
            <a:spLocks noChangeArrowheads="1"/>
          </p:cNvSpPr>
          <p:nvPr/>
        </p:nvSpPr>
        <p:spPr bwMode="auto">
          <a:xfrm>
            <a:off x="304800" y="228600"/>
            <a:ext cx="8839200" cy="5940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b="1">
                <a:effectLst>
                  <a:outerShdw blurRad="38100" dist="38100" dir="2700000" algn="tl">
                    <a:srgbClr val="000000"/>
                  </a:outerShdw>
                </a:effectLst>
                <a:latin typeface="宋体" panose="02010600030101010101" pitchFamily="2" charset="-122"/>
                <a:ea typeface="宋体" panose="02010600030101010101" pitchFamily="2" charset="-122"/>
              </a:rPr>
              <a:t>为计算</a:t>
            </a:r>
            <a:r>
              <a:rPr lang="zh-CN" altLang="zh-CN" b="1">
                <a:effectLst>
                  <a:outerShdw blurRad="38100" dist="38100" dir="2700000" algn="tl">
                    <a:srgbClr val="000000"/>
                  </a:outerShdw>
                </a:effectLst>
                <a:latin typeface="宋体" panose="02010600030101010101" pitchFamily="2" charset="-122"/>
                <a:ea typeface="宋体" panose="02010600030101010101" pitchFamily="2" charset="-122"/>
              </a:rPr>
              <a:t>表</a:t>
            </a:r>
            <a:r>
              <a:rPr lang="zh-CN" altLang="en-US" b="1">
                <a:effectLst>
                  <a:outerShdw blurRad="38100" dist="38100" dir="2700000" algn="tl">
                    <a:srgbClr val="000000"/>
                  </a:outerShdw>
                </a:effectLst>
                <a:latin typeface="宋体" panose="02010600030101010101" pitchFamily="2" charset="-122"/>
                <a:ea typeface="宋体" panose="02010600030101010101" pitchFamily="2" charset="-122"/>
              </a:rPr>
              <a:t>达式：    </a:t>
            </a:r>
            <a:r>
              <a:rPr lang="en-US" altLang="zh-CN" b="1">
                <a:effectLst>
                  <a:outerShdw blurRad="38100" dist="38100" dir="2700000" algn="tl">
                    <a:srgbClr val="000000"/>
                  </a:outerShdw>
                </a:effectLst>
                <a:latin typeface="宋体" panose="02010600030101010101" pitchFamily="2" charset="-122"/>
                <a:ea typeface="宋体" panose="02010600030101010101" pitchFamily="2" charset="-122"/>
              </a:rPr>
              <a:t>X = (A-B)*(C+D)</a:t>
            </a:r>
          </a:p>
          <a:p>
            <a:r>
              <a:rPr lang="zh-CN" altLang="en-US" b="1">
                <a:effectLst>
                  <a:outerShdw blurRad="38100" dist="38100" dir="2700000" algn="tl">
                    <a:srgbClr val="000000"/>
                  </a:outerShdw>
                </a:effectLst>
                <a:latin typeface="宋体" panose="02010600030101010101" pitchFamily="2" charset="-122"/>
                <a:ea typeface="宋体" panose="02010600030101010101" pitchFamily="2" charset="-122"/>
              </a:rPr>
              <a:t>可用以下程序段来实现：</a:t>
            </a:r>
          </a:p>
          <a:p>
            <a:r>
              <a:rPr lang="zh-CN" altLang="en-US" b="1">
                <a:effectLst>
                  <a:outerShdw blurRad="38100" dist="38100" dir="2700000" algn="tl">
                    <a:srgbClr val="000000"/>
                  </a:outerShdw>
                </a:effectLst>
                <a:latin typeface="宋体" panose="02010600030101010101" pitchFamily="2" charset="-122"/>
                <a:ea typeface="宋体" panose="02010600030101010101" pitchFamily="2" charset="-122"/>
              </a:rPr>
              <a:t>      </a:t>
            </a:r>
            <a:r>
              <a:rPr lang="en-US" altLang="zh-CN" b="1">
                <a:solidFill>
                  <a:srgbClr val="0000FF"/>
                </a:solidFill>
                <a:effectLst>
                  <a:outerShdw blurRad="38100" dist="38100" dir="2700000" algn="tl">
                    <a:srgbClr val="000000"/>
                  </a:outerShdw>
                </a:effectLst>
                <a:latin typeface="宋体" panose="02010600030101010101" pitchFamily="2" charset="-122"/>
                <a:ea typeface="宋体" panose="02010600030101010101" pitchFamily="2" charset="-122"/>
              </a:rPr>
              <a:t>LD GR0, A</a:t>
            </a:r>
          </a:p>
          <a:p>
            <a:r>
              <a:rPr lang="en-US" altLang="zh-CN" b="1">
                <a:solidFill>
                  <a:srgbClr val="0000FF"/>
                </a:solidFill>
                <a:effectLst>
                  <a:outerShdw blurRad="38100" dist="38100" dir="2700000" algn="tl">
                    <a:srgbClr val="000000"/>
                  </a:outerShdw>
                </a:effectLst>
                <a:latin typeface="宋体" panose="02010600030101010101" pitchFamily="2" charset="-122"/>
                <a:ea typeface="宋体" panose="02010600030101010101" pitchFamily="2" charset="-122"/>
              </a:rPr>
              <a:t>      LD GR1, B</a:t>
            </a:r>
          </a:p>
          <a:p>
            <a:r>
              <a:rPr lang="en-US" altLang="zh-CN" b="1">
                <a:solidFill>
                  <a:srgbClr val="0000FF"/>
                </a:solidFill>
                <a:effectLst>
                  <a:outerShdw blurRad="38100" dist="38100" dir="2700000" algn="tl">
                    <a:srgbClr val="000000"/>
                  </a:outerShdw>
                </a:effectLst>
                <a:latin typeface="宋体" panose="02010600030101010101" pitchFamily="2" charset="-122"/>
                <a:ea typeface="宋体" panose="02010600030101010101" pitchFamily="2" charset="-122"/>
              </a:rPr>
              <a:t>      SUB GR0, GR1</a:t>
            </a:r>
          </a:p>
          <a:p>
            <a:r>
              <a:rPr lang="en-US" altLang="zh-CN" b="1">
                <a:solidFill>
                  <a:srgbClr val="0000FF"/>
                </a:solidFill>
                <a:effectLst>
                  <a:outerShdw blurRad="38100" dist="38100" dir="2700000" algn="tl">
                    <a:srgbClr val="000000"/>
                  </a:outerShdw>
                </a:effectLst>
                <a:latin typeface="宋体" panose="02010600030101010101" pitchFamily="2" charset="-122"/>
                <a:ea typeface="宋体" panose="02010600030101010101" pitchFamily="2" charset="-122"/>
              </a:rPr>
              <a:t>      LD  GR1, C</a:t>
            </a:r>
          </a:p>
          <a:p>
            <a:r>
              <a:rPr lang="en-US" altLang="zh-CN" b="1">
                <a:solidFill>
                  <a:srgbClr val="0000FF"/>
                </a:solidFill>
                <a:effectLst>
                  <a:outerShdw blurRad="38100" dist="38100" dir="2700000" algn="tl">
                    <a:srgbClr val="000000"/>
                  </a:outerShdw>
                </a:effectLst>
                <a:latin typeface="宋体" panose="02010600030101010101" pitchFamily="2" charset="-122"/>
                <a:ea typeface="宋体" panose="02010600030101010101" pitchFamily="2" charset="-122"/>
              </a:rPr>
              <a:t>      LD  GR2, D</a:t>
            </a:r>
          </a:p>
          <a:p>
            <a:r>
              <a:rPr lang="en-US" altLang="zh-CN" b="1">
                <a:solidFill>
                  <a:srgbClr val="0000FF"/>
                </a:solidFill>
                <a:effectLst>
                  <a:outerShdw blurRad="38100" dist="38100" dir="2700000" algn="tl">
                    <a:srgbClr val="000000"/>
                  </a:outerShdw>
                </a:effectLst>
                <a:latin typeface="宋体" panose="02010600030101010101" pitchFamily="2" charset="-122"/>
                <a:ea typeface="宋体" panose="02010600030101010101" pitchFamily="2" charset="-122"/>
              </a:rPr>
              <a:t>      ADD GR1, GR2</a:t>
            </a:r>
          </a:p>
          <a:p>
            <a:r>
              <a:rPr lang="en-US" altLang="zh-CN" b="1">
                <a:solidFill>
                  <a:srgbClr val="0000FF"/>
                </a:solidFill>
                <a:effectLst>
                  <a:outerShdw blurRad="38100" dist="38100" dir="2700000" algn="tl">
                    <a:srgbClr val="000000"/>
                  </a:outerShdw>
                </a:effectLst>
                <a:latin typeface="宋体" panose="02010600030101010101" pitchFamily="2" charset="-122"/>
                <a:ea typeface="宋体" panose="02010600030101010101" pitchFamily="2" charset="-122"/>
              </a:rPr>
              <a:t>      MUL GR0, GR1</a:t>
            </a:r>
          </a:p>
          <a:p>
            <a:r>
              <a:rPr lang="en-US" altLang="zh-CN" b="1">
                <a:solidFill>
                  <a:srgbClr val="0000FF"/>
                </a:solidFill>
                <a:effectLst>
                  <a:outerShdw blurRad="38100" dist="38100" dir="2700000" algn="tl">
                    <a:srgbClr val="000000"/>
                  </a:outerShdw>
                </a:effectLst>
                <a:latin typeface="宋体" panose="02010600030101010101" pitchFamily="2" charset="-122"/>
                <a:ea typeface="宋体" panose="02010600030101010101" pitchFamily="2" charset="-122"/>
              </a:rPr>
              <a:t>      ST  GR0, X</a:t>
            </a:r>
          </a:p>
          <a:p>
            <a:r>
              <a:rPr lang="zh-CN" altLang="en-US" b="1" u="sng">
                <a:solidFill>
                  <a:srgbClr val="CC0000"/>
                </a:solidFill>
                <a:effectLst>
                  <a:outerShdw blurRad="38100" dist="38100" dir="2700000" algn="tl">
                    <a:srgbClr val="000000"/>
                  </a:outerShdw>
                </a:effectLst>
                <a:latin typeface="宋体" panose="02010600030101010101" pitchFamily="2" charset="-122"/>
                <a:ea typeface="宋体" panose="02010600030101010101" pitchFamily="2" charset="-122"/>
              </a:rPr>
              <a:t>能让计算机直接执行的程序，必须是由计算机指令构成。</a:t>
            </a:r>
            <a:endParaRPr lang="zh-CN" altLang="zh-CN" b="1" u="sng">
              <a:solidFill>
                <a:srgbClr val="CC0000"/>
              </a:solidFill>
              <a:effectLst>
                <a:outerShdw blurRad="38100" dist="38100" dir="2700000" algn="tl">
                  <a:srgbClr val="000000"/>
                </a:outerShdw>
              </a:effectLst>
              <a:latin typeface="宋体" panose="02010600030101010101" pitchFamily="2" charset="-122"/>
              <a:ea typeface="宋体" panose="02010600030101010101" pitchFamily="2"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p:cNvSpPr>
            <a:spLocks noGrp="1"/>
          </p:cNvSpPr>
          <p:nvPr>
            <p:ph type="title"/>
          </p:nvPr>
        </p:nvSpPr>
        <p:spPr>
          <a:xfrm>
            <a:off x="457200" y="267023"/>
            <a:ext cx="8229600" cy="1143000"/>
          </a:xfrm>
        </p:spPr>
        <p:txBody>
          <a:bodyPr/>
          <a:lstStyle/>
          <a:p>
            <a:r>
              <a:rPr lang="zh-CN" altLang="en-US" dirty="0"/>
              <a:t>计算机系统</a:t>
            </a:r>
          </a:p>
        </p:txBody>
      </p:sp>
      <p:sp>
        <p:nvSpPr>
          <p:cNvPr id="3" name="Content Placeholder 2"/>
          <p:cNvSpPr>
            <a:spLocks noGrp="1"/>
          </p:cNvSpPr>
          <p:nvPr>
            <p:ph sz="quarter" idx="2"/>
          </p:nvPr>
        </p:nvSpPr>
        <p:spPr>
          <a:xfrm>
            <a:off x="154949" y="1916832"/>
            <a:ext cx="4040188" cy="3845720"/>
          </a:xfrm>
        </p:spPr>
        <p:txBody>
          <a:bodyPr/>
          <a:lstStyle/>
          <a:p>
            <a:r>
              <a:rPr lang="zh-CN" altLang="en-US" sz="2800" b="1" dirty="0">
                <a:latin typeface="楷体_GB2312" pitchFamily="49" charset="-122"/>
                <a:ea typeface="楷体_GB2312" pitchFamily="49" charset="-122"/>
              </a:rPr>
              <a:t>一个完整的计算机系统通常由硬件系统与软件系统两部分组成</a:t>
            </a:r>
            <a:endParaRPr lang="en-US" altLang="zh-CN" sz="2800" b="1" dirty="0">
              <a:latin typeface="楷体_GB2312" pitchFamily="49" charset="-122"/>
              <a:ea typeface="楷体_GB2312" pitchFamily="49" charset="-122"/>
            </a:endParaRPr>
          </a:p>
          <a:p>
            <a:r>
              <a:rPr lang="zh-CN" altLang="en-US" sz="2800" b="1" dirty="0">
                <a:latin typeface="楷体_GB2312" pitchFamily="49" charset="-122"/>
                <a:ea typeface="楷体_GB2312" pitchFamily="49" charset="-122"/>
              </a:rPr>
              <a:t>软件一般是指由数据与指令序列组成的集合。</a:t>
            </a:r>
            <a:endParaRPr lang="en-US" altLang="zh-CN" sz="2800" b="1" dirty="0">
              <a:latin typeface="楷体_GB2312" pitchFamily="49" charset="-122"/>
              <a:ea typeface="楷体_GB2312" pitchFamily="49" charset="-122"/>
            </a:endParaRPr>
          </a:p>
          <a:p>
            <a:endParaRPr lang="zh-CN" altLang="en-US" sz="2800" b="1" dirty="0">
              <a:latin typeface="楷体_GB2312" pitchFamily="49" charset="-122"/>
              <a:ea typeface="楷体_GB2312" pitchFamily="49" charset="-122"/>
            </a:endParaRPr>
          </a:p>
        </p:txBody>
      </p:sp>
      <p:sp>
        <p:nvSpPr>
          <p:cNvPr id="6" name="Oval 12"/>
          <p:cNvSpPr>
            <a:spLocks noChangeArrowheads="1"/>
          </p:cNvSpPr>
          <p:nvPr/>
        </p:nvSpPr>
        <p:spPr bwMode="auto">
          <a:xfrm>
            <a:off x="4860032" y="1772816"/>
            <a:ext cx="3867176" cy="3675161"/>
          </a:xfrm>
          <a:prstGeom prst="ellipse">
            <a:avLst/>
          </a:prstGeom>
          <a:solidFill>
            <a:srgbClr val="7030A0"/>
          </a:solidFill>
          <a:ln w="9525">
            <a:solidFill>
              <a:srgbClr val="009999"/>
            </a:solidFill>
            <a:round/>
            <a:headEnd/>
            <a:tailEnd/>
          </a:ln>
        </p:spPr>
        <p:txBody>
          <a:bodyPr wrap="none" anchor="ctr"/>
          <a:lstStyle/>
          <a:p>
            <a:endParaRPr lang="zh-CN" altLang="en-US" sz="6000" dirty="0"/>
          </a:p>
        </p:txBody>
      </p:sp>
      <p:sp>
        <p:nvSpPr>
          <p:cNvPr id="7" name="Oval 12"/>
          <p:cNvSpPr>
            <a:spLocks noChangeArrowheads="1"/>
          </p:cNvSpPr>
          <p:nvPr/>
        </p:nvSpPr>
        <p:spPr bwMode="auto">
          <a:xfrm>
            <a:off x="5523360" y="2348880"/>
            <a:ext cx="2571768" cy="2451191"/>
          </a:xfrm>
          <a:prstGeom prst="ellipse">
            <a:avLst/>
          </a:prstGeom>
          <a:solidFill>
            <a:srgbClr val="C00000"/>
          </a:solidFill>
          <a:ln w="9525">
            <a:solidFill>
              <a:srgbClr val="009999"/>
            </a:solidFill>
            <a:round/>
            <a:headEnd/>
            <a:tailEnd/>
          </a:ln>
        </p:spPr>
        <p:txBody>
          <a:bodyPr wrap="none" anchor="ctr"/>
          <a:lstStyle/>
          <a:p>
            <a:endParaRPr lang="zh-CN" altLang="en-US" sz="6000" dirty="0"/>
          </a:p>
        </p:txBody>
      </p:sp>
      <p:grpSp>
        <p:nvGrpSpPr>
          <p:cNvPr id="2" name="Group 10"/>
          <p:cNvGrpSpPr>
            <a:grpSpLocks noChangeAspect="1"/>
          </p:cNvGrpSpPr>
          <p:nvPr/>
        </p:nvGrpSpPr>
        <p:grpSpPr bwMode="auto">
          <a:xfrm>
            <a:off x="6315448" y="3068960"/>
            <a:ext cx="1133893" cy="1105677"/>
            <a:chOff x="4140" y="7492"/>
            <a:chExt cx="4320" cy="4212"/>
          </a:xfrm>
        </p:grpSpPr>
        <p:sp>
          <p:nvSpPr>
            <p:cNvPr id="9" name="AutoShape 11"/>
            <p:cNvSpPr>
              <a:spLocks noChangeAspect="1" noChangeArrowheads="1"/>
            </p:cNvSpPr>
            <p:nvPr/>
          </p:nvSpPr>
          <p:spPr bwMode="auto">
            <a:xfrm>
              <a:off x="4140" y="7492"/>
              <a:ext cx="4320" cy="4212"/>
            </a:xfrm>
            <a:prstGeom prst="rect">
              <a:avLst/>
            </a:prstGeom>
            <a:noFill/>
            <a:ln w="9525">
              <a:noFill/>
              <a:miter lim="800000"/>
              <a:headEnd/>
              <a:tailEnd/>
            </a:ln>
          </p:spPr>
          <p:txBody>
            <a:bodyPr/>
            <a:lstStyle/>
            <a:p>
              <a:endParaRPr lang="zh-CN" altLang="en-US" sz="6000"/>
            </a:p>
          </p:txBody>
        </p:sp>
        <p:sp>
          <p:nvSpPr>
            <p:cNvPr id="10" name="Oval 12"/>
            <p:cNvSpPr>
              <a:spLocks noChangeArrowheads="1"/>
            </p:cNvSpPr>
            <p:nvPr/>
          </p:nvSpPr>
          <p:spPr bwMode="auto">
            <a:xfrm>
              <a:off x="4140" y="7492"/>
              <a:ext cx="4320" cy="4212"/>
            </a:xfrm>
            <a:prstGeom prst="ellipse">
              <a:avLst/>
            </a:prstGeom>
            <a:solidFill>
              <a:schemeClr val="bg2"/>
            </a:solidFill>
            <a:ln w="9525">
              <a:solidFill>
                <a:srgbClr val="009999"/>
              </a:solidFill>
              <a:round/>
              <a:headEnd/>
              <a:tailEnd/>
            </a:ln>
          </p:spPr>
          <p:txBody>
            <a:bodyPr wrap="none" anchor="ctr"/>
            <a:lstStyle/>
            <a:p>
              <a:endParaRPr lang="zh-CN" altLang="en-US" sz="6000" dirty="0"/>
            </a:p>
          </p:txBody>
        </p:sp>
        <p:sp>
          <p:nvSpPr>
            <p:cNvPr id="15" name="Text Box 17"/>
            <p:cNvSpPr txBox="1">
              <a:spLocks noChangeArrowheads="1"/>
            </p:cNvSpPr>
            <p:nvPr/>
          </p:nvSpPr>
          <p:spPr bwMode="auto">
            <a:xfrm>
              <a:off x="5436" y="7992"/>
              <a:ext cx="1584" cy="3468"/>
            </a:xfrm>
            <a:prstGeom prst="rect">
              <a:avLst/>
            </a:prstGeom>
            <a:noFill/>
            <a:ln w="9525">
              <a:noFill/>
              <a:miter lim="800000"/>
              <a:headEnd/>
              <a:tailEnd/>
            </a:ln>
          </p:spPr>
          <p:txBody>
            <a:bodyPr wrap="square" lIns="78638" tIns="39319" rIns="78638" bIns="39319">
              <a:spAutoFit/>
            </a:bodyPr>
            <a:lstStyle/>
            <a:p>
              <a:pPr algn="just"/>
              <a:r>
                <a:rPr lang="zh-CN" altLang="en-US" sz="1800" dirty="0"/>
                <a:t>计算机</a:t>
              </a:r>
              <a:endParaRPr lang="zh-CN" altLang="en-US" sz="4000" dirty="0"/>
            </a:p>
          </p:txBody>
        </p:sp>
      </p:grpSp>
      <p:sp>
        <p:nvSpPr>
          <p:cNvPr id="16" name="TextBox 15"/>
          <p:cNvSpPr txBox="1"/>
          <p:nvPr/>
        </p:nvSpPr>
        <p:spPr>
          <a:xfrm>
            <a:off x="5811392" y="2492896"/>
            <a:ext cx="1826141" cy="584775"/>
          </a:xfrm>
          <a:prstGeom prst="rect">
            <a:avLst/>
          </a:prstGeom>
          <a:noFill/>
        </p:spPr>
        <p:txBody>
          <a:bodyPr wrap="none" rtlCol="0">
            <a:spAutoFit/>
          </a:bodyPr>
          <a:lstStyle/>
          <a:p>
            <a:r>
              <a:rPr lang="zh-CN" altLang="en-US" dirty="0">
                <a:solidFill>
                  <a:schemeClr val="bg1"/>
                </a:solidFill>
              </a:rPr>
              <a:t>操作系统</a:t>
            </a:r>
          </a:p>
        </p:txBody>
      </p:sp>
      <p:sp>
        <p:nvSpPr>
          <p:cNvPr id="17" name="TextBox 16"/>
          <p:cNvSpPr txBox="1"/>
          <p:nvPr/>
        </p:nvSpPr>
        <p:spPr>
          <a:xfrm>
            <a:off x="5811392" y="1844824"/>
            <a:ext cx="1826141" cy="584775"/>
          </a:xfrm>
          <a:prstGeom prst="rect">
            <a:avLst/>
          </a:prstGeom>
          <a:noFill/>
        </p:spPr>
        <p:txBody>
          <a:bodyPr wrap="none" rtlCol="0">
            <a:spAutoFit/>
          </a:bodyPr>
          <a:lstStyle/>
          <a:p>
            <a:r>
              <a:rPr lang="zh-CN" altLang="en-US" dirty="0">
                <a:solidFill>
                  <a:schemeClr val="bg1"/>
                </a:solidFill>
              </a:rPr>
              <a:t>应用系统</a:t>
            </a:r>
          </a:p>
        </p:txBody>
      </p:sp>
    </p:spTree>
    <p:extLst>
      <p:ext uri="{BB962C8B-B14F-4D97-AF65-F5344CB8AC3E}">
        <p14:creationId xmlns:p14="http://schemas.microsoft.com/office/powerpoint/2010/main" val="5921139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2755" name="Rectangle 3"/>
          <p:cNvSpPr>
            <a:spLocks noGrp="1" noChangeArrowheads="1"/>
          </p:cNvSpPr>
          <p:nvPr>
            <p:ph idx="1"/>
          </p:nvPr>
        </p:nvSpPr>
        <p:spPr>
          <a:xfrm>
            <a:off x="323850" y="1143000"/>
            <a:ext cx="8424863" cy="5410200"/>
          </a:xfrm>
        </p:spPr>
        <p:txBody>
          <a:bodyPr>
            <a:normAutofit/>
          </a:bodyPr>
          <a:lstStyle/>
          <a:p>
            <a:pPr marL="0" indent="0" fontAlgn="auto">
              <a:spcAft>
                <a:spcPts val="0"/>
              </a:spcAft>
              <a:buClr>
                <a:schemeClr val="accent3"/>
              </a:buClr>
              <a:buFont typeface="Monotype Sorts" charset="2"/>
              <a:buNone/>
              <a:defRPr/>
            </a:pPr>
            <a:r>
              <a:rPr lang="zh-CN" altLang="en-US" sz="3200" b="1" dirty="0">
                <a:solidFill>
                  <a:srgbClr val="C00000"/>
                </a:solidFill>
                <a:effectLst>
                  <a:outerShdw blurRad="38100" dist="38100" dir="2700000" algn="tl">
                    <a:srgbClr val="000000"/>
                  </a:outerShdw>
                </a:effectLst>
                <a:latin typeface="黑体" pitchFamily="2" charset="-122"/>
                <a:ea typeface="黑体" pitchFamily="2" charset="-122"/>
              </a:rPr>
              <a:t>什么是程序设计语言？</a:t>
            </a:r>
          </a:p>
          <a:p>
            <a:pPr marL="0" indent="0" fontAlgn="auto">
              <a:spcAft>
                <a:spcPts val="0"/>
              </a:spcAft>
              <a:buClr>
                <a:schemeClr val="accent3"/>
              </a:buClr>
              <a:buFont typeface="Monotype Sorts" charset="2"/>
              <a:buNone/>
              <a:defRPr/>
            </a:pPr>
            <a:endParaRPr lang="zh-CN" altLang="en-US" b="1" dirty="0">
              <a:solidFill>
                <a:srgbClr val="0000FF"/>
              </a:solidFill>
              <a:effectLst>
                <a:outerShdw blurRad="38100" dist="38100" dir="2700000" algn="tl">
                  <a:srgbClr val="000000"/>
                </a:outerShdw>
              </a:effectLst>
              <a:latin typeface="楷体_GB2312" pitchFamily="49" charset="-122"/>
              <a:ea typeface="楷体_GB2312" pitchFamily="49" charset="-122"/>
            </a:endParaRPr>
          </a:p>
          <a:p>
            <a:pPr marL="0" indent="0" fontAlgn="auto">
              <a:spcAft>
                <a:spcPts val="0"/>
              </a:spcAft>
              <a:buClr>
                <a:schemeClr val="accent3"/>
              </a:buClr>
              <a:buFont typeface="Wingdings 2"/>
              <a:buChar char=""/>
              <a:defRPr/>
            </a:pPr>
            <a:r>
              <a:rPr lang="zh-CN" altLang="en-US" sz="3200" b="1" dirty="0">
                <a:latin typeface="楷体_GB2312" pitchFamily="49" charset="-122"/>
                <a:ea typeface="楷体_GB2312" pitchFamily="49" charset="-122"/>
              </a:rPr>
              <a:t> 程序设计语言是人与计算机进行信息交流的工具，是一种用来书写计算机程序的语言。计算机发展到今天，程序设计语言大约有几千种，它们大致可分为如下三类</a:t>
            </a:r>
            <a:r>
              <a:rPr lang="en-US" altLang="zh-CN" sz="3200" b="1" dirty="0">
                <a:latin typeface="楷体_GB2312" pitchFamily="49" charset="-122"/>
                <a:ea typeface="楷体_GB2312" pitchFamily="49" charset="-122"/>
              </a:rPr>
              <a:t>:</a:t>
            </a:r>
          </a:p>
          <a:p>
            <a:pPr marL="365760" lvl="1" indent="0" fontAlgn="auto">
              <a:spcAft>
                <a:spcPts val="0"/>
              </a:spcAft>
              <a:buFont typeface="Wingdings 2"/>
              <a:buChar char=""/>
              <a:defRPr/>
            </a:pPr>
            <a:r>
              <a:rPr lang="zh-CN" altLang="en-US" sz="3000" b="1" dirty="0">
                <a:latin typeface="楷体_GB2312" pitchFamily="49" charset="-122"/>
                <a:ea typeface="楷体_GB2312" pitchFamily="49" charset="-122"/>
              </a:rPr>
              <a:t>机器语言  </a:t>
            </a:r>
            <a:endParaRPr lang="en-US" altLang="zh-CN" sz="3000" b="1" dirty="0">
              <a:latin typeface="楷体_GB2312" pitchFamily="49" charset="-122"/>
              <a:ea typeface="楷体_GB2312" pitchFamily="49" charset="-122"/>
            </a:endParaRPr>
          </a:p>
          <a:p>
            <a:pPr marL="365760" lvl="1" indent="0" fontAlgn="auto">
              <a:spcAft>
                <a:spcPts val="0"/>
              </a:spcAft>
              <a:buFont typeface="Wingdings 2"/>
              <a:buChar char=""/>
              <a:defRPr/>
            </a:pPr>
            <a:r>
              <a:rPr lang="zh-CN" altLang="en-US" sz="3000" b="1" dirty="0">
                <a:latin typeface="楷体_GB2312" pitchFamily="49" charset="-122"/>
                <a:ea typeface="楷体_GB2312" pitchFamily="49" charset="-122"/>
              </a:rPr>
              <a:t>汇编语言  </a:t>
            </a:r>
            <a:endParaRPr lang="en-US" altLang="zh-CN" sz="3000" b="1" dirty="0">
              <a:latin typeface="楷体_GB2312" pitchFamily="49" charset="-122"/>
              <a:ea typeface="楷体_GB2312" pitchFamily="49" charset="-122"/>
            </a:endParaRPr>
          </a:p>
          <a:p>
            <a:pPr marL="365760" lvl="1" indent="0" fontAlgn="auto">
              <a:spcAft>
                <a:spcPts val="0"/>
              </a:spcAft>
              <a:buFont typeface="Wingdings 2"/>
              <a:buChar char=""/>
              <a:defRPr/>
            </a:pPr>
            <a:r>
              <a:rPr lang="zh-CN" altLang="en-US" sz="3000" b="1" dirty="0">
                <a:latin typeface="楷体_GB2312" pitchFamily="49" charset="-122"/>
                <a:ea typeface="楷体_GB2312" pitchFamily="49" charset="-122"/>
              </a:rPr>
              <a:t>高级语言</a:t>
            </a:r>
            <a:endParaRPr lang="zh-CN" altLang="en-US" b="1" dirty="0">
              <a:latin typeface="楷体_GB2312" pitchFamily="49" charset="-122"/>
              <a:ea typeface="楷体_GB2312" pitchFamily="49" charset="-122"/>
            </a:endParaRPr>
          </a:p>
        </p:txBody>
      </p:sp>
      <p:sp>
        <p:nvSpPr>
          <p:cNvPr id="5" name="灯片编号占位符 5"/>
          <p:cNvSpPr>
            <a:spLocks noGrp="1"/>
          </p:cNvSpPr>
          <p:nvPr>
            <p:ph type="sldNum" sz="quarter" idx="12"/>
          </p:nvPr>
        </p:nvSpPr>
        <p:spPr/>
        <p:txBody>
          <a:bodyPr/>
          <a:lstStyle/>
          <a:p>
            <a:pPr defTabSz="1128713">
              <a:defRPr/>
            </a:pPr>
            <a:fld id="{3BBE71EE-9630-44F2-9ABB-8A851CFFE40C}" type="slidenum">
              <a:rPr lang="zh-CN" altLang="en-US">
                <a:latin typeface="+mn-lt"/>
              </a:rPr>
              <a:pPr defTabSz="1128713">
                <a:defRPr/>
              </a:pPr>
              <a:t>26</a:t>
            </a:fld>
            <a:endParaRPr lang="en-US" altLang="zh-CN">
              <a:latin typeface="+mn-lt"/>
            </a:endParaRPr>
          </a:p>
        </p:txBody>
      </p:sp>
    </p:spTree>
  </p:cSld>
  <p:clrMapOvr>
    <a:masterClrMapping/>
  </p:clrMapOvr>
  <p:transition>
    <p:random/>
  </p:transition>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Rectangle 3"/>
          <p:cNvSpPr>
            <a:spLocks noGrp="1" noChangeArrowheads="1"/>
          </p:cNvSpPr>
          <p:nvPr>
            <p:ph idx="1"/>
          </p:nvPr>
        </p:nvSpPr>
        <p:spPr>
          <a:xfrm>
            <a:off x="539750" y="765175"/>
            <a:ext cx="8153400" cy="5543550"/>
          </a:xfrm>
        </p:spPr>
        <p:txBody>
          <a:bodyPr/>
          <a:lstStyle/>
          <a:p>
            <a:pPr marL="0" indent="0">
              <a:buFont typeface="Monotype Sorts" charset="2"/>
              <a:buNone/>
            </a:pPr>
            <a:r>
              <a:rPr lang="en-US" altLang="zh-CN" sz="3100" b="1" dirty="0">
                <a:latin typeface="楷体_GB2312" pitchFamily="49" charset="-122"/>
                <a:ea typeface="楷体_GB2312" pitchFamily="49" charset="-122"/>
              </a:rPr>
              <a:t>(1)</a:t>
            </a:r>
            <a:r>
              <a:rPr lang="zh-CN" altLang="en-US" sz="3100" b="1" dirty="0">
                <a:latin typeface="楷体_GB2312" pitchFamily="49" charset="-122"/>
                <a:ea typeface="楷体_GB2312" pitchFamily="49" charset="-122"/>
              </a:rPr>
              <a:t>机器语言</a:t>
            </a:r>
          </a:p>
          <a:p>
            <a:pPr marL="0" indent="0"/>
            <a:r>
              <a:rPr lang="zh-CN" altLang="en-US" sz="3100" b="1" dirty="0">
                <a:latin typeface="楷体_GB2312" pitchFamily="49" charset="-122"/>
                <a:ea typeface="楷体_GB2312" pitchFamily="49" charset="-122"/>
              </a:rPr>
              <a:t>计算机的指令系统称为机器语言，所有的计算机都只能直接执行由其自身机器语言编写的程序。</a:t>
            </a:r>
            <a:endParaRPr lang="en-US" altLang="zh-CN" sz="3100" b="1" dirty="0">
              <a:latin typeface="楷体_GB2312" pitchFamily="49" charset="-122"/>
              <a:ea typeface="楷体_GB2312" pitchFamily="49" charset="-122"/>
            </a:endParaRPr>
          </a:p>
          <a:p>
            <a:pPr marL="0" indent="0"/>
            <a:r>
              <a:rPr lang="zh-CN" altLang="en-US" sz="3100" b="1" dirty="0">
                <a:latin typeface="楷体_GB2312" pitchFamily="49" charset="-122"/>
                <a:ea typeface="楷体_GB2312" pitchFamily="49" charset="-122"/>
              </a:rPr>
              <a:t>机器语言与计算机的硬件密切相关，机器语言中的计算机指令用二进制形式的代码表示，由若干位</a:t>
            </a:r>
            <a:r>
              <a:rPr lang="en-US" altLang="zh-CN" sz="3100" b="1" dirty="0">
                <a:latin typeface="楷体_GB2312" pitchFamily="49" charset="-122"/>
                <a:ea typeface="楷体_GB2312" pitchFamily="49" charset="-122"/>
              </a:rPr>
              <a:t>1</a:t>
            </a:r>
            <a:r>
              <a:rPr lang="zh-CN" altLang="en-US" sz="3100" b="1" dirty="0">
                <a:latin typeface="楷体_GB2312" pitchFamily="49" charset="-122"/>
                <a:ea typeface="楷体_GB2312" pitchFamily="49" charset="-122"/>
              </a:rPr>
              <a:t>和</a:t>
            </a:r>
            <a:r>
              <a:rPr lang="en-US" altLang="zh-CN" sz="3100" b="1" dirty="0">
                <a:latin typeface="楷体_GB2312" pitchFamily="49" charset="-122"/>
                <a:ea typeface="楷体_GB2312" pitchFamily="49" charset="-122"/>
              </a:rPr>
              <a:t>0</a:t>
            </a:r>
            <a:r>
              <a:rPr lang="zh-CN" altLang="en-US" sz="3100" b="1" dirty="0">
                <a:latin typeface="楷体_GB2312" pitchFamily="49" charset="-122"/>
                <a:ea typeface="楷体_GB2312" pitchFamily="49" charset="-122"/>
              </a:rPr>
              <a:t>组成。通常，一条计算机指令只能指示计算机完成一个最基本的操作。</a:t>
            </a:r>
            <a:endParaRPr lang="en-US" altLang="zh-CN" sz="3100" b="1" dirty="0">
              <a:latin typeface="楷体_GB2312" pitchFamily="49" charset="-122"/>
              <a:ea typeface="楷体_GB2312" pitchFamily="49" charset="-122"/>
            </a:endParaRPr>
          </a:p>
          <a:p>
            <a:pPr marL="366713" lvl="1" indent="0"/>
            <a:r>
              <a:rPr lang="zh-CN" altLang="en-US" sz="2900" b="1" dirty="0">
                <a:latin typeface="楷体_GB2312" pitchFamily="49" charset="-122"/>
                <a:ea typeface="楷体_GB2312" pitchFamily="49" charset="-122"/>
              </a:rPr>
              <a:t>例如，将某个地址中的内容读入某个寄存器、某寄存器的内容加上另一寄存器的内容，将某寄存器的内容存入某地址等。</a:t>
            </a:r>
          </a:p>
        </p:txBody>
      </p:sp>
      <p:sp>
        <p:nvSpPr>
          <p:cNvPr id="5" name="灯片编号占位符 5"/>
          <p:cNvSpPr>
            <a:spLocks noGrp="1"/>
          </p:cNvSpPr>
          <p:nvPr>
            <p:ph type="sldNum" sz="quarter" idx="12"/>
          </p:nvPr>
        </p:nvSpPr>
        <p:spPr/>
        <p:txBody>
          <a:bodyPr/>
          <a:lstStyle/>
          <a:p>
            <a:pPr defTabSz="1128713">
              <a:defRPr/>
            </a:pPr>
            <a:fld id="{3A230956-E623-4234-AEC5-870CE7BC7B38}" type="slidenum">
              <a:rPr lang="zh-CN" altLang="en-US">
                <a:latin typeface="+mn-lt"/>
              </a:rPr>
              <a:pPr defTabSz="1128713">
                <a:defRPr/>
              </a:pPr>
              <a:t>27</a:t>
            </a:fld>
            <a:endParaRPr lang="en-US" altLang="zh-CN">
              <a:latin typeface="+mn-lt"/>
            </a:endParaRPr>
          </a:p>
        </p:txBody>
      </p:sp>
    </p:spTree>
  </p:cSld>
  <p:clrMapOvr>
    <a:masterClrMapping/>
  </p:clrMapOvr>
  <p:transition>
    <p:random/>
  </p:transition>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4627" name="Rectangle 3"/>
          <p:cNvSpPr>
            <a:spLocks noGrp="1" noChangeArrowheads="1"/>
          </p:cNvSpPr>
          <p:nvPr>
            <p:ph idx="1"/>
          </p:nvPr>
        </p:nvSpPr>
        <p:spPr>
          <a:xfrm>
            <a:off x="533400" y="476250"/>
            <a:ext cx="8153400" cy="5467350"/>
          </a:xfrm>
        </p:spPr>
        <p:txBody>
          <a:bodyPr>
            <a:normAutofit/>
          </a:bodyPr>
          <a:lstStyle/>
          <a:p>
            <a:pPr marL="0" indent="0" fontAlgn="auto">
              <a:spcAft>
                <a:spcPts val="0"/>
              </a:spcAft>
              <a:buClr>
                <a:schemeClr val="accent3"/>
              </a:buClr>
              <a:buFont typeface="Monotype Sorts" pitchFamily="2" charset="2"/>
              <a:buNone/>
              <a:defRPr/>
            </a:pPr>
            <a:r>
              <a:rPr lang="en-US" altLang="zh-CN" sz="3600" b="1" dirty="0">
                <a:solidFill>
                  <a:srgbClr val="000066"/>
                </a:solidFill>
                <a:latin typeface="楷体_GB2312" pitchFamily="49" charset="-122"/>
                <a:ea typeface="楷体_GB2312" pitchFamily="49" charset="-122"/>
              </a:rPr>
              <a:t>(</a:t>
            </a:r>
            <a:r>
              <a:rPr lang="en-US" altLang="zh-CN" sz="3600" b="1" dirty="0">
                <a:latin typeface="楷体_GB2312" pitchFamily="49" charset="-122"/>
                <a:ea typeface="楷体_GB2312" pitchFamily="49" charset="-122"/>
              </a:rPr>
              <a:t>2)</a:t>
            </a:r>
            <a:r>
              <a:rPr lang="zh-CN" altLang="en-US" sz="3600" b="1" dirty="0">
                <a:latin typeface="楷体_GB2312" pitchFamily="49" charset="-122"/>
                <a:ea typeface="楷体_GB2312" pitchFamily="49" charset="-122"/>
              </a:rPr>
              <a:t>汇编语言</a:t>
            </a:r>
          </a:p>
          <a:p>
            <a:pPr marL="0" indent="0" fontAlgn="auto">
              <a:spcAft>
                <a:spcPts val="0"/>
              </a:spcAft>
              <a:buClr>
                <a:schemeClr val="accent3"/>
              </a:buClr>
              <a:buFont typeface="Monotype Sorts" pitchFamily="2" charset="2"/>
              <a:buNone/>
              <a:defRPr/>
            </a:pPr>
            <a:endParaRPr lang="zh-CN" altLang="en-US" sz="3600" b="1" dirty="0">
              <a:latin typeface="楷体_GB2312" pitchFamily="49" charset="-122"/>
              <a:ea typeface="楷体_GB2312" pitchFamily="49" charset="-122"/>
            </a:endParaRPr>
          </a:p>
          <a:p>
            <a:pPr marL="0" indent="0" fontAlgn="auto">
              <a:spcAft>
                <a:spcPts val="0"/>
              </a:spcAft>
              <a:buClr>
                <a:schemeClr val="accent3"/>
              </a:buClr>
              <a:defRPr/>
            </a:pPr>
            <a:r>
              <a:rPr lang="zh-CN" altLang="en-US" sz="3600" b="1" dirty="0">
                <a:latin typeface="楷体_GB2312" pitchFamily="49" charset="-122"/>
                <a:ea typeface="楷体_GB2312" pitchFamily="49" charset="-122"/>
              </a:rPr>
              <a:t>由于计算机的机器语言难于被人理解和阅读，人们用类英语单词缩写的符号指令代替机器语言的二进制代码指令，汇编语言就是用有助于记忆的符号表示计算机机器指令的程序设计语言。</a:t>
            </a:r>
          </a:p>
        </p:txBody>
      </p:sp>
      <p:sp>
        <p:nvSpPr>
          <p:cNvPr id="5" name="灯片编号占位符 5"/>
          <p:cNvSpPr>
            <a:spLocks noGrp="1"/>
          </p:cNvSpPr>
          <p:nvPr>
            <p:ph type="sldNum" sz="quarter" idx="12"/>
          </p:nvPr>
        </p:nvSpPr>
        <p:spPr/>
        <p:txBody>
          <a:bodyPr/>
          <a:lstStyle/>
          <a:p>
            <a:pPr defTabSz="1128713">
              <a:defRPr/>
            </a:pPr>
            <a:fld id="{7808CC34-525B-4D64-A5DB-E375B49A6794}" type="slidenum">
              <a:rPr lang="zh-CN" altLang="en-US">
                <a:latin typeface="+mn-lt"/>
              </a:rPr>
              <a:pPr defTabSz="1128713">
                <a:defRPr/>
              </a:pPr>
              <a:t>28</a:t>
            </a:fld>
            <a:endParaRPr lang="en-US" altLang="zh-CN">
              <a:latin typeface="+mn-lt"/>
            </a:endParaRPr>
          </a:p>
        </p:txBody>
      </p:sp>
    </p:spTree>
  </p:cSld>
  <p:clrMapOvr>
    <a:masterClrMapping/>
  </p:clrMapOvr>
  <p:transition>
    <p:random/>
  </p:transition>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0338" name="Rectangle 2"/>
          <p:cNvSpPr>
            <a:spLocks noGrp="1" noChangeArrowheads="1"/>
          </p:cNvSpPr>
          <p:nvPr>
            <p:ph idx="1"/>
          </p:nvPr>
        </p:nvSpPr>
        <p:spPr>
          <a:xfrm>
            <a:off x="500063" y="928688"/>
            <a:ext cx="8153400" cy="5467350"/>
          </a:xfrm>
        </p:spPr>
        <p:txBody>
          <a:bodyPr>
            <a:normAutofit/>
          </a:bodyPr>
          <a:lstStyle/>
          <a:p>
            <a:pPr marL="0" indent="0" fontAlgn="auto">
              <a:lnSpc>
                <a:spcPct val="80000"/>
              </a:lnSpc>
              <a:spcAft>
                <a:spcPts val="0"/>
              </a:spcAft>
              <a:buClr>
                <a:schemeClr val="accent3"/>
              </a:buClr>
              <a:buFont typeface="Monotype Sorts" pitchFamily="2" charset="2"/>
              <a:buNone/>
              <a:defRPr/>
            </a:pPr>
            <a:r>
              <a:rPr lang="zh-CN" altLang="en-US" sz="3200" b="1" dirty="0">
                <a:latin typeface="楷体_GB2312" pitchFamily="49" charset="-122"/>
                <a:ea typeface="楷体_GB2312" pitchFamily="49" charset="-122"/>
              </a:rPr>
              <a:t>如：取数指令</a:t>
            </a:r>
            <a:r>
              <a:rPr lang="zh-CN" altLang="en-US" sz="3200" b="1" dirty="0">
                <a:ea typeface="楷体_GB2312" pitchFamily="49" charset="-122"/>
              </a:rPr>
              <a:t>“</a:t>
            </a:r>
            <a:r>
              <a:rPr lang="en-US" altLang="zh-CN" sz="3200" b="1" dirty="0">
                <a:latin typeface="楷体_GB2312" pitchFamily="49" charset="-122"/>
                <a:ea typeface="楷体_GB2312" pitchFamily="49" charset="-122"/>
              </a:rPr>
              <a:t>LD GR0, X</a:t>
            </a:r>
            <a:r>
              <a:rPr lang="en-US" altLang="zh-CN" sz="3200" b="1" dirty="0">
                <a:ea typeface="楷体_GB2312" pitchFamily="49" charset="-122"/>
              </a:rPr>
              <a:t>”</a:t>
            </a:r>
            <a:r>
              <a:rPr lang="zh-CN" altLang="en-US" sz="3200" b="1" dirty="0">
                <a:latin typeface="楷体_GB2312" pitchFamily="49" charset="-122"/>
                <a:ea typeface="楷体_GB2312" pitchFamily="49" charset="-122"/>
              </a:rPr>
              <a:t>表示从对应变量</a:t>
            </a:r>
            <a:r>
              <a:rPr lang="en-US" altLang="zh-CN" sz="3200" b="1" dirty="0">
                <a:latin typeface="楷体_GB2312" pitchFamily="49" charset="-122"/>
                <a:ea typeface="楷体_GB2312" pitchFamily="49" charset="-122"/>
              </a:rPr>
              <a:t>X</a:t>
            </a:r>
            <a:r>
              <a:rPr lang="zh-CN" altLang="en-US" sz="3200" b="1" dirty="0">
                <a:latin typeface="楷体_GB2312" pitchFamily="49" charset="-122"/>
                <a:ea typeface="楷体_GB2312" pitchFamily="49" charset="-122"/>
              </a:rPr>
              <a:t>的内存中取数到寄存器</a:t>
            </a:r>
            <a:r>
              <a:rPr lang="en-US" altLang="zh-CN" sz="3200" b="1" dirty="0">
                <a:latin typeface="楷体_GB2312" pitchFamily="49" charset="-122"/>
                <a:ea typeface="楷体_GB2312" pitchFamily="49" charset="-122"/>
              </a:rPr>
              <a:t>GR0</a:t>
            </a:r>
            <a:r>
              <a:rPr lang="zh-CN" altLang="en-US" sz="3200" b="1" dirty="0">
                <a:latin typeface="楷体_GB2312" pitchFamily="49" charset="-122"/>
                <a:ea typeface="楷体_GB2312" pitchFamily="49" charset="-122"/>
              </a:rPr>
              <a:t>。</a:t>
            </a:r>
          </a:p>
          <a:p>
            <a:pPr marL="0" indent="0" fontAlgn="auto">
              <a:lnSpc>
                <a:spcPct val="80000"/>
              </a:lnSpc>
              <a:spcAft>
                <a:spcPts val="0"/>
              </a:spcAft>
              <a:buClr>
                <a:schemeClr val="accent3"/>
              </a:buClr>
              <a:buFont typeface="Monotype Sorts" pitchFamily="2" charset="2"/>
              <a:buNone/>
              <a:defRPr/>
            </a:pPr>
            <a:r>
              <a:rPr lang="zh-CN" altLang="en-US" sz="3200" b="1" dirty="0">
                <a:latin typeface="楷体_GB2312" pitchFamily="49" charset="-122"/>
                <a:ea typeface="楷体_GB2312" pitchFamily="49" charset="-122"/>
              </a:rPr>
              <a:t>加指令</a:t>
            </a:r>
            <a:r>
              <a:rPr lang="zh-CN" altLang="en-US" sz="3200" b="1" dirty="0">
                <a:ea typeface="楷体_GB2312" pitchFamily="49" charset="-122"/>
              </a:rPr>
              <a:t>“</a:t>
            </a:r>
            <a:r>
              <a:rPr lang="en-US" altLang="zh-CN" sz="3200" b="1" dirty="0">
                <a:latin typeface="楷体_GB2312" pitchFamily="49" charset="-122"/>
                <a:ea typeface="楷体_GB2312" pitchFamily="49" charset="-122"/>
              </a:rPr>
              <a:t>ADD GR0, GR1</a:t>
            </a:r>
            <a:r>
              <a:rPr lang="en-US" altLang="zh-CN" sz="3200" b="1" dirty="0">
                <a:ea typeface="楷体_GB2312" pitchFamily="49" charset="-122"/>
              </a:rPr>
              <a:t>”</a:t>
            </a:r>
            <a:r>
              <a:rPr lang="zh-CN" altLang="en-US" sz="3200" b="1" dirty="0">
                <a:latin typeface="楷体_GB2312" pitchFamily="49" charset="-122"/>
                <a:ea typeface="楷体_GB2312" pitchFamily="49" charset="-122"/>
              </a:rPr>
              <a:t>将寄存器</a:t>
            </a:r>
            <a:r>
              <a:rPr lang="en-US" altLang="zh-CN" sz="3200" b="1" dirty="0">
                <a:latin typeface="楷体_GB2312" pitchFamily="49" charset="-122"/>
                <a:ea typeface="楷体_GB2312" pitchFamily="49" charset="-122"/>
              </a:rPr>
              <a:t>GR1</a:t>
            </a:r>
            <a:r>
              <a:rPr lang="zh-CN" altLang="en-US" sz="3200" b="1" dirty="0">
                <a:latin typeface="楷体_GB2312" pitchFamily="49" charset="-122"/>
                <a:ea typeface="楷体_GB2312" pitchFamily="49" charset="-122"/>
              </a:rPr>
              <a:t>中的内容与寄存器</a:t>
            </a:r>
            <a:r>
              <a:rPr lang="en-US" altLang="zh-CN" sz="3200" b="1" dirty="0">
                <a:latin typeface="楷体_GB2312" pitchFamily="49" charset="-122"/>
                <a:ea typeface="楷体_GB2312" pitchFamily="49" charset="-122"/>
              </a:rPr>
              <a:t>GR0</a:t>
            </a:r>
            <a:r>
              <a:rPr lang="zh-CN" altLang="en-US" sz="3200" b="1" dirty="0">
                <a:latin typeface="楷体_GB2312" pitchFamily="49" charset="-122"/>
                <a:ea typeface="楷体_GB2312" pitchFamily="49" charset="-122"/>
              </a:rPr>
              <a:t>中的内容相加，并把结果存于寄存器</a:t>
            </a:r>
            <a:r>
              <a:rPr lang="en-US" altLang="zh-CN" sz="3200" b="1" dirty="0">
                <a:latin typeface="楷体_GB2312" pitchFamily="49" charset="-122"/>
                <a:ea typeface="楷体_GB2312" pitchFamily="49" charset="-122"/>
              </a:rPr>
              <a:t>GR0</a:t>
            </a:r>
            <a:r>
              <a:rPr lang="zh-CN" altLang="en-US" sz="3200" b="1" dirty="0">
                <a:latin typeface="楷体_GB2312" pitchFamily="49" charset="-122"/>
                <a:ea typeface="楷体_GB2312" pitchFamily="49" charset="-122"/>
              </a:rPr>
              <a:t>。</a:t>
            </a:r>
          </a:p>
          <a:p>
            <a:pPr marL="0" indent="0" fontAlgn="auto">
              <a:lnSpc>
                <a:spcPct val="80000"/>
              </a:lnSpc>
              <a:spcAft>
                <a:spcPts val="0"/>
              </a:spcAft>
              <a:buClr>
                <a:schemeClr val="accent3"/>
              </a:buClr>
              <a:buFont typeface="Monotype Sorts" pitchFamily="2" charset="2"/>
              <a:buNone/>
              <a:defRPr/>
            </a:pPr>
            <a:r>
              <a:rPr lang="zh-CN" altLang="en-US" sz="3200" b="1" dirty="0">
                <a:latin typeface="楷体_GB2312" pitchFamily="49" charset="-122"/>
                <a:ea typeface="楷体_GB2312" pitchFamily="49" charset="-122"/>
              </a:rPr>
              <a:t>存数指令</a:t>
            </a:r>
            <a:r>
              <a:rPr lang="zh-CN" altLang="en-US" sz="3200" b="1" dirty="0">
                <a:ea typeface="楷体_GB2312" pitchFamily="49" charset="-122"/>
              </a:rPr>
              <a:t>“</a:t>
            </a:r>
            <a:r>
              <a:rPr lang="en-US" altLang="zh-CN" sz="3200" b="1" dirty="0">
                <a:latin typeface="楷体_GB2312" pitchFamily="49" charset="-122"/>
                <a:ea typeface="楷体_GB2312" pitchFamily="49" charset="-122"/>
              </a:rPr>
              <a:t>ST GR0, X</a:t>
            </a:r>
            <a:r>
              <a:rPr lang="en-US" altLang="zh-CN" sz="3200" b="1" dirty="0">
                <a:ea typeface="楷体_GB2312" pitchFamily="49" charset="-122"/>
              </a:rPr>
              <a:t>”</a:t>
            </a:r>
            <a:r>
              <a:rPr lang="zh-CN" altLang="en-US" sz="3200" b="1" dirty="0">
                <a:latin typeface="楷体_GB2312" pitchFamily="49" charset="-122"/>
                <a:ea typeface="楷体_GB2312" pitchFamily="49" charset="-122"/>
              </a:rPr>
              <a:t>将寄存器</a:t>
            </a:r>
            <a:r>
              <a:rPr lang="en-US" altLang="zh-CN" sz="3200" b="1" dirty="0">
                <a:latin typeface="楷体_GB2312" pitchFamily="49" charset="-122"/>
                <a:ea typeface="楷体_GB2312" pitchFamily="49" charset="-122"/>
              </a:rPr>
              <a:t>GR0</a:t>
            </a:r>
            <a:r>
              <a:rPr lang="zh-CN" altLang="en-US" sz="3200" b="1" dirty="0">
                <a:latin typeface="楷体_GB2312" pitchFamily="49" charset="-122"/>
                <a:ea typeface="楷体_GB2312" pitchFamily="49" charset="-122"/>
              </a:rPr>
              <a:t>中的内容存入与变量</a:t>
            </a:r>
            <a:r>
              <a:rPr lang="en-US" altLang="zh-CN" sz="3200" b="1" dirty="0">
                <a:latin typeface="楷体_GB2312" pitchFamily="49" charset="-122"/>
                <a:ea typeface="楷体_GB2312" pitchFamily="49" charset="-122"/>
              </a:rPr>
              <a:t>X</a:t>
            </a:r>
            <a:r>
              <a:rPr lang="zh-CN" altLang="en-US" sz="3200" b="1" dirty="0">
                <a:latin typeface="楷体_GB2312" pitchFamily="49" charset="-122"/>
                <a:ea typeface="楷体_GB2312" pitchFamily="49" charset="-122"/>
              </a:rPr>
              <a:t>对应的内存中。 </a:t>
            </a:r>
          </a:p>
          <a:p>
            <a:pPr marL="0" indent="0" fontAlgn="auto">
              <a:lnSpc>
                <a:spcPct val="80000"/>
              </a:lnSpc>
              <a:spcAft>
                <a:spcPts val="0"/>
              </a:spcAft>
              <a:buClr>
                <a:schemeClr val="accent3"/>
              </a:buClr>
              <a:buFont typeface="Monotype Sorts" pitchFamily="2" charset="2"/>
              <a:buNone/>
              <a:defRPr/>
            </a:pPr>
            <a:endParaRPr lang="zh-CN" altLang="en-US" sz="3200" b="1" dirty="0">
              <a:solidFill>
                <a:srgbClr val="0000FF"/>
              </a:solidFill>
              <a:effectLst>
                <a:outerShdw blurRad="38100" dist="38100" dir="2700000" algn="tl">
                  <a:srgbClr val="000000"/>
                </a:outerShdw>
              </a:effectLst>
              <a:latin typeface="楷体_GB2312" pitchFamily="49" charset="-122"/>
              <a:ea typeface="楷体_GB2312" pitchFamily="49" charset="-122"/>
            </a:endParaRPr>
          </a:p>
          <a:p>
            <a:pPr marL="0" indent="0" fontAlgn="auto">
              <a:lnSpc>
                <a:spcPct val="80000"/>
              </a:lnSpc>
              <a:spcAft>
                <a:spcPts val="0"/>
              </a:spcAft>
              <a:buClr>
                <a:schemeClr val="accent3"/>
              </a:buClr>
              <a:buFont typeface="Monotype Sorts" pitchFamily="2" charset="2"/>
              <a:buNone/>
              <a:defRPr/>
            </a:pPr>
            <a:r>
              <a:rPr lang="zh-CN" altLang="en-US" sz="3200" b="1" dirty="0">
                <a:latin typeface="楷体_GB2312" pitchFamily="49" charset="-122"/>
                <a:ea typeface="楷体_GB2312" pitchFamily="49" charset="-122"/>
              </a:rPr>
              <a:t>用汇编语言编写的程序要在计算机上执行，先要把用汇编语言编写的源程序转换成机器语言程序。完成这个转换功能的程序称为</a:t>
            </a:r>
          </a:p>
          <a:p>
            <a:pPr marL="0" indent="0" fontAlgn="auto">
              <a:lnSpc>
                <a:spcPct val="80000"/>
              </a:lnSpc>
              <a:spcAft>
                <a:spcPts val="0"/>
              </a:spcAft>
              <a:buClr>
                <a:schemeClr val="accent3"/>
              </a:buClr>
              <a:buFont typeface="Monotype Sorts" pitchFamily="2" charset="2"/>
              <a:buNone/>
              <a:defRPr/>
            </a:pPr>
            <a:r>
              <a:rPr lang="zh-CN" altLang="en-US" sz="3200" b="1" dirty="0">
                <a:solidFill>
                  <a:srgbClr val="CC0000"/>
                </a:solidFill>
                <a:latin typeface="楷体_GB2312" pitchFamily="49" charset="-122"/>
                <a:ea typeface="楷体_GB2312" pitchFamily="49" charset="-122"/>
              </a:rPr>
              <a:t>汇编程序</a:t>
            </a:r>
            <a:r>
              <a:rPr lang="zh-CN" altLang="en-US" sz="3200" b="1" dirty="0">
                <a:solidFill>
                  <a:srgbClr val="000066"/>
                </a:solidFill>
                <a:latin typeface="楷体_GB2312" pitchFamily="49" charset="-122"/>
                <a:ea typeface="楷体_GB2312" pitchFamily="49" charset="-122"/>
              </a:rPr>
              <a:t>。</a:t>
            </a:r>
          </a:p>
        </p:txBody>
      </p:sp>
      <p:sp>
        <p:nvSpPr>
          <p:cNvPr id="5" name="灯片编号占位符 5"/>
          <p:cNvSpPr>
            <a:spLocks noGrp="1"/>
          </p:cNvSpPr>
          <p:nvPr>
            <p:ph type="sldNum" sz="quarter" idx="12"/>
          </p:nvPr>
        </p:nvSpPr>
        <p:spPr/>
        <p:txBody>
          <a:bodyPr/>
          <a:lstStyle/>
          <a:p>
            <a:pPr defTabSz="1128713">
              <a:defRPr/>
            </a:pPr>
            <a:fld id="{545F18DC-8136-4264-ADD3-6CE2A333C091}" type="slidenum">
              <a:rPr lang="zh-CN" altLang="en-US">
                <a:latin typeface="+mn-lt"/>
              </a:rPr>
              <a:pPr defTabSz="1128713">
                <a:defRPr/>
              </a:pPr>
              <a:t>29</a:t>
            </a:fld>
            <a:endParaRPr lang="en-US" altLang="zh-CN">
              <a:latin typeface="+mn-lt"/>
            </a:endParaRPr>
          </a:p>
        </p:txBody>
      </p:sp>
    </p:spTree>
  </p:cSld>
  <p:clrMapOvr>
    <a:masterClrMapping/>
  </p:clrMapOvr>
  <p:transition>
    <p:random/>
  </p:transition>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0" name="Rectangle 3"/>
          <p:cNvSpPr>
            <a:spLocks noGrp="1" noChangeArrowheads="1"/>
          </p:cNvSpPr>
          <p:nvPr>
            <p:ph idx="1"/>
          </p:nvPr>
        </p:nvSpPr>
        <p:spPr>
          <a:xfrm>
            <a:off x="304800" y="476250"/>
            <a:ext cx="8382000" cy="5924550"/>
          </a:xfrm>
        </p:spPr>
        <p:txBody>
          <a:bodyPr/>
          <a:lstStyle/>
          <a:p>
            <a:pPr marL="0" indent="0">
              <a:lnSpc>
                <a:spcPct val="90000"/>
              </a:lnSpc>
              <a:buFont typeface="Monotype Sorts" charset="2"/>
              <a:buNone/>
            </a:pPr>
            <a:r>
              <a:rPr lang="en-US" altLang="zh-CN" sz="3600" b="1" dirty="0">
                <a:latin typeface="楷体_GB2312" pitchFamily="49" charset="-122"/>
                <a:ea typeface="楷体_GB2312" pitchFamily="49" charset="-122"/>
              </a:rPr>
              <a:t>(3)</a:t>
            </a:r>
            <a:r>
              <a:rPr lang="zh-CN" altLang="en-US" sz="3600" b="1" dirty="0">
                <a:latin typeface="楷体_GB2312" pitchFamily="49" charset="-122"/>
                <a:ea typeface="楷体_GB2312" pitchFamily="49" charset="-122"/>
              </a:rPr>
              <a:t>高级语言</a:t>
            </a:r>
          </a:p>
          <a:p>
            <a:pPr marL="0" indent="0">
              <a:lnSpc>
                <a:spcPct val="90000"/>
              </a:lnSpc>
              <a:buFont typeface="Monotype Sorts" charset="2"/>
              <a:buNone/>
            </a:pPr>
            <a:r>
              <a:rPr lang="zh-CN" altLang="en-US" sz="3600" b="1" dirty="0">
                <a:latin typeface="楷体_GB2312" pitchFamily="49" charset="-122"/>
                <a:ea typeface="楷体_GB2312" pitchFamily="49" charset="-122"/>
              </a:rPr>
              <a:t>高级语言主要由类似英语的语句构成，有一定书写规则，程序员用语句表达要计算机完成的操作。与汇编语言比较，高级语言有统一的语法，</a:t>
            </a:r>
            <a:r>
              <a:rPr lang="zh-CN" altLang="en-US" sz="3600" b="1" dirty="0">
                <a:highlight>
                  <a:srgbClr val="FFFF00"/>
                </a:highlight>
                <a:latin typeface="楷体_GB2312" pitchFamily="49" charset="-122"/>
                <a:ea typeface="楷体_GB2312" pitchFamily="49" charset="-122"/>
              </a:rPr>
              <a:t>独立于具体机器</a:t>
            </a:r>
            <a:r>
              <a:rPr lang="zh-CN" altLang="en-US" sz="3600" b="1" dirty="0">
                <a:latin typeface="楷体_GB2312" pitchFamily="49" charset="-122"/>
                <a:ea typeface="楷体_GB2312" pitchFamily="49" charset="-122"/>
              </a:rPr>
              <a:t>，便于人们编码，阅读和理解。</a:t>
            </a:r>
          </a:p>
          <a:p>
            <a:pPr marL="0" indent="0">
              <a:lnSpc>
                <a:spcPct val="90000"/>
              </a:lnSpc>
              <a:buFont typeface="Monotype Sorts" charset="2"/>
              <a:buNone/>
            </a:pPr>
            <a:r>
              <a:rPr lang="zh-CN" altLang="en-US" sz="3600" b="1" dirty="0">
                <a:latin typeface="楷体_GB2312" pitchFamily="49" charset="-122"/>
                <a:ea typeface="楷体_GB2312" pitchFamily="49" charset="-122"/>
              </a:rPr>
              <a:t>用高级语言编写的源程序在计算机上执行，先要将源程序转换成机器语言程序。</a:t>
            </a:r>
          </a:p>
          <a:p>
            <a:pPr marL="0" indent="0">
              <a:lnSpc>
                <a:spcPct val="90000"/>
              </a:lnSpc>
              <a:buFont typeface="Monotype Sorts" charset="2"/>
              <a:buNone/>
            </a:pPr>
            <a:r>
              <a:rPr lang="zh-CN" altLang="en-US" sz="3600" b="1" dirty="0">
                <a:latin typeface="楷体_GB2312" pitchFamily="49" charset="-122"/>
                <a:ea typeface="楷体_GB2312" pitchFamily="49" charset="-122"/>
              </a:rPr>
              <a:t>把用高级语言编写的源程序转换成机器语言程序的翻译程序称为</a:t>
            </a:r>
          </a:p>
          <a:p>
            <a:pPr marL="0" indent="0">
              <a:lnSpc>
                <a:spcPct val="90000"/>
              </a:lnSpc>
              <a:buFont typeface="Monotype Sorts" charset="2"/>
              <a:buNone/>
            </a:pPr>
            <a:r>
              <a:rPr lang="zh-CN" altLang="en-US" sz="3600" b="1" dirty="0">
                <a:latin typeface="楷体_GB2312" pitchFamily="49" charset="-122"/>
                <a:ea typeface="楷体_GB2312" pitchFamily="49" charset="-122"/>
              </a:rPr>
              <a:t>       </a:t>
            </a:r>
            <a:r>
              <a:rPr lang="zh-CN" altLang="en-US" sz="3600" b="1" dirty="0">
                <a:solidFill>
                  <a:srgbClr val="FF0000"/>
                </a:solidFill>
                <a:latin typeface="楷体_GB2312" pitchFamily="49" charset="-122"/>
                <a:ea typeface="楷体_GB2312" pitchFamily="49" charset="-122"/>
              </a:rPr>
              <a:t>编译器（</a:t>
            </a:r>
            <a:r>
              <a:rPr lang="en-US" altLang="zh-CN" sz="3600" b="1" dirty="0">
                <a:solidFill>
                  <a:srgbClr val="FF0000"/>
                </a:solidFill>
                <a:latin typeface="楷体_GB2312" pitchFamily="49" charset="-122"/>
                <a:ea typeface="楷体_GB2312" pitchFamily="49" charset="-122"/>
              </a:rPr>
              <a:t>compiler</a:t>
            </a:r>
            <a:r>
              <a:rPr lang="zh-CN" altLang="en-US" sz="3600" b="1" dirty="0">
                <a:solidFill>
                  <a:srgbClr val="FF0000"/>
                </a:solidFill>
                <a:latin typeface="楷体_GB2312" pitchFamily="49" charset="-122"/>
                <a:ea typeface="楷体_GB2312" pitchFamily="49" charset="-122"/>
              </a:rPr>
              <a:t>）</a:t>
            </a:r>
            <a:endParaRPr lang="en-US" altLang="zh-CN" sz="3600" b="1" dirty="0">
              <a:solidFill>
                <a:srgbClr val="FF0000"/>
              </a:solidFill>
              <a:latin typeface="楷体_GB2312" pitchFamily="49" charset="-122"/>
              <a:ea typeface="楷体_GB2312" pitchFamily="49" charset="-122"/>
            </a:endParaRPr>
          </a:p>
          <a:p>
            <a:pPr marL="0" indent="0">
              <a:lnSpc>
                <a:spcPct val="90000"/>
              </a:lnSpc>
              <a:buFont typeface="Monotype Sorts" charset="2"/>
              <a:buNone/>
            </a:pPr>
            <a:endParaRPr lang="zh-CN" altLang="en-US" sz="3600" b="1" dirty="0">
              <a:solidFill>
                <a:srgbClr val="FF0000"/>
              </a:solidFill>
              <a:latin typeface="楷体_GB2312" pitchFamily="49" charset="-122"/>
              <a:ea typeface="楷体_GB2312" pitchFamily="49" charset="-122"/>
            </a:endParaRPr>
          </a:p>
        </p:txBody>
      </p:sp>
      <p:sp>
        <p:nvSpPr>
          <p:cNvPr id="5" name="灯片编号占位符 5"/>
          <p:cNvSpPr>
            <a:spLocks noGrp="1"/>
          </p:cNvSpPr>
          <p:nvPr>
            <p:ph type="sldNum" sz="quarter" idx="12"/>
          </p:nvPr>
        </p:nvSpPr>
        <p:spPr/>
        <p:txBody>
          <a:bodyPr/>
          <a:lstStyle/>
          <a:p>
            <a:pPr defTabSz="1128713">
              <a:defRPr/>
            </a:pPr>
            <a:fld id="{5507631F-2D57-490E-BA13-A9CEA7AA1BE9}" type="slidenum">
              <a:rPr lang="zh-CN" altLang="en-US">
                <a:latin typeface="+mn-lt"/>
              </a:rPr>
              <a:pPr defTabSz="1128713">
                <a:defRPr/>
              </a:pPr>
              <a:t>30</a:t>
            </a:fld>
            <a:endParaRPr lang="en-US" altLang="zh-CN">
              <a:latin typeface="+mn-lt"/>
            </a:endParaRPr>
          </a:p>
        </p:txBody>
      </p:sp>
    </p:spTree>
  </p:cSld>
  <p:clrMapOvr>
    <a:masterClrMapping/>
  </p:clrMapOvr>
  <p:transition>
    <p:random/>
  </p:transition>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794" name="Rectangle 2"/>
          <p:cNvSpPr>
            <a:spLocks noGrp="1" noChangeArrowheads="1"/>
          </p:cNvSpPr>
          <p:nvPr>
            <p:ph idx="1"/>
          </p:nvPr>
        </p:nvSpPr>
        <p:spPr>
          <a:xfrm>
            <a:off x="304800" y="476250"/>
            <a:ext cx="8839200" cy="5924550"/>
          </a:xfrm>
        </p:spPr>
        <p:txBody>
          <a:bodyPr/>
          <a:lstStyle/>
          <a:p>
            <a:pPr marL="0" indent="0">
              <a:buFont typeface="Monotype Sorts" charset="2"/>
              <a:buNone/>
            </a:pPr>
            <a:r>
              <a:rPr lang="zh-CN" altLang="en-US" sz="4000" b="1">
                <a:latin typeface="楷体_GB2312" pitchFamily="49" charset="-122"/>
                <a:ea typeface="楷体_GB2312" pitchFamily="49" charset="-122"/>
              </a:rPr>
              <a:t>高级语言是一种既能方便地描述客观对象，又能借助于编译器为计算机所接受、理解和执行的人工语言。</a:t>
            </a:r>
          </a:p>
          <a:p>
            <a:pPr marL="365125" lvl="1" indent="0"/>
            <a:r>
              <a:rPr lang="zh-CN" altLang="en-US" sz="3800" b="1">
                <a:latin typeface="楷体_GB2312" pitchFamily="49" charset="-122"/>
                <a:ea typeface="楷体_GB2312" pitchFamily="49" charset="-122"/>
              </a:rPr>
              <a:t>用于科学计算的</a:t>
            </a:r>
            <a:r>
              <a:rPr lang="en-US" altLang="zh-CN" sz="3800" b="1">
                <a:latin typeface="楷体_GB2312" pitchFamily="49" charset="-122"/>
                <a:ea typeface="楷体_GB2312" pitchFamily="49" charset="-122"/>
              </a:rPr>
              <a:t>FORTRAN</a:t>
            </a:r>
            <a:r>
              <a:rPr lang="zh-CN" altLang="en-US" sz="3800" b="1">
                <a:latin typeface="楷体_GB2312" pitchFamily="49" charset="-122"/>
                <a:ea typeface="楷体_GB2312" pitchFamily="49" charset="-122"/>
              </a:rPr>
              <a:t>语言，</a:t>
            </a:r>
          </a:p>
          <a:p>
            <a:pPr marL="365125" lvl="1" indent="0"/>
            <a:r>
              <a:rPr lang="zh-CN" altLang="en-US" sz="3800" b="1">
                <a:latin typeface="楷体_GB2312" pitchFamily="49" charset="-122"/>
                <a:ea typeface="楷体_GB2312" pitchFamily="49" charset="-122"/>
              </a:rPr>
              <a:t>早期非常普及的</a:t>
            </a:r>
            <a:r>
              <a:rPr lang="en-US" altLang="zh-CN" sz="3800" b="1">
                <a:latin typeface="楷体_GB2312" pitchFamily="49" charset="-122"/>
                <a:ea typeface="楷体_GB2312" pitchFamily="49" charset="-122"/>
              </a:rPr>
              <a:t>BASIC</a:t>
            </a:r>
            <a:r>
              <a:rPr lang="zh-CN" altLang="en-US" sz="3800" b="1">
                <a:latin typeface="楷体_GB2312" pitchFamily="49" charset="-122"/>
                <a:ea typeface="楷体_GB2312" pitchFamily="49" charset="-122"/>
              </a:rPr>
              <a:t>语言，</a:t>
            </a:r>
          </a:p>
          <a:p>
            <a:pPr marL="365125" lvl="1" indent="0"/>
            <a:r>
              <a:rPr lang="zh-CN" altLang="en-US" sz="3800" b="1">
                <a:latin typeface="楷体_GB2312" pitchFamily="49" charset="-122"/>
                <a:ea typeface="楷体_GB2312" pitchFamily="49" charset="-122"/>
              </a:rPr>
              <a:t>第一个用严格的文法描述的</a:t>
            </a:r>
            <a:r>
              <a:rPr lang="en-US" altLang="zh-CN" sz="3800" b="1">
                <a:latin typeface="楷体_GB2312" pitchFamily="49" charset="-122"/>
                <a:ea typeface="楷体_GB2312" pitchFamily="49" charset="-122"/>
              </a:rPr>
              <a:t>ALGOL60</a:t>
            </a:r>
            <a:r>
              <a:rPr lang="zh-CN" altLang="en-US" sz="3800" b="1">
                <a:latin typeface="楷体_GB2312" pitchFamily="49" charset="-122"/>
                <a:ea typeface="楷体_GB2312" pitchFamily="49" charset="-122"/>
              </a:rPr>
              <a:t>语言</a:t>
            </a:r>
          </a:p>
          <a:p>
            <a:pPr marL="365125" lvl="1" indent="0"/>
            <a:r>
              <a:rPr lang="zh-CN" altLang="en-US" sz="3800" b="1">
                <a:latin typeface="楷体_GB2312" pitchFamily="49" charset="-122"/>
                <a:ea typeface="楷体_GB2312" pitchFamily="49" charset="-122"/>
              </a:rPr>
              <a:t>便于编写结构化程序的</a:t>
            </a:r>
            <a:r>
              <a:rPr lang="en-US" altLang="zh-CN" sz="3800" b="1">
                <a:latin typeface="楷体_GB2312" pitchFamily="49" charset="-122"/>
                <a:ea typeface="楷体_GB2312" pitchFamily="49" charset="-122"/>
              </a:rPr>
              <a:t>PASCAL</a:t>
            </a:r>
            <a:r>
              <a:rPr lang="zh-CN" altLang="en-US" sz="3800" b="1">
                <a:latin typeface="楷体_GB2312" pitchFamily="49" charset="-122"/>
                <a:ea typeface="楷体_GB2312" pitchFamily="49" charset="-122"/>
              </a:rPr>
              <a:t>语言，</a:t>
            </a:r>
          </a:p>
          <a:p>
            <a:pPr marL="365125" lvl="1" indent="0"/>
            <a:r>
              <a:rPr lang="zh-CN" altLang="en-US" sz="3800" b="1">
                <a:latin typeface="楷体_GB2312" pitchFamily="49" charset="-122"/>
                <a:ea typeface="楷体_GB2312" pitchFamily="49" charset="-122"/>
              </a:rPr>
              <a:t>本书讲述的</a:t>
            </a:r>
            <a:r>
              <a:rPr lang="en-US" altLang="zh-CN" sz="3800" b="1">
                <a:latin typeface="楷体_GB2312" pitchFamily="49" charset="-122"/>
                <a:ea typeface="楷体_GB2312" pitchFamily="49" charset="-122"/>
              </a:rPr>
              <a:t>C</a:t>
            </a:r>
            <a:r>
              <a:rPr lang="zh-CN" altLang="en-US" sz="3800" b="1">
                <a:latin typeface="楷体_GB2312" pitchFamily="49" charset="-122"/>
                <a:ea typeface="楷体_GB2312" pitchFamily="49" charset="-122"/>
              </a:rPr>
              <a:t>语言。</a:t>
            </a:r>
          </a:p>
        </p:txBody>
      </p:sp>
      <p:sp>
        <p:nvSpPr>
          <p:cNvPr id="5" name="灯片编号占位符 5"/>
          <p:cNvSpPr>
            <a:spLocks noGrp="1"/>
          </p:cNvSpPr>
          <p:nvPr>
            <p:ph type="sldNum" sz="quarter" idx="12"/>
          </p:nvPr>
        </p:nvSpPr>
        <p:spPr/>
        <p:txBody>
          <a:bodyPr/>
          <a:lstStyle/>
          <a:p>
            <a:pPr defTabSz="1128713">
              <a:defRPr/>
            </a:pPr>
            <a:fld id="{9F9AB4DF-F60D-4357-AB83-F133BEA70101}" type="slidenum">
              <a:rPr lang="zh-CN" altLang="en-US">
                <a:latin typeface="+mn-lt"/>
              </a:rPr>
              <a:pPr defTabSz="1128713">
                <a:defRPr/>
              </a:pPr>
              <a:t>31</a:t>
            </a:fld>
            <a:endParaRPr lang="en-US" altLang="zh-CN">
              <a:latin typeface="+mn-lt"/>
            </a:endParaRPr>
          </a:p>
        </p:txBody>
      </p:sp>
    </p:spTree>
  </p:cSld>
  <p:clrMapOvr>
    <a:masterClrMapping/>
  </p:clrMapOvr>
  <p:transition>
    <p:random/>
  </p:transition>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EDAD2576-D237-4B7F-881F-35E95A116E36}"/>
              </a:ext>
            </a:extLst>
          </p:cNvPr>
          <p:cNvSpPr>
            <a:spLocks noGrp="1" noChangeArrowheads="1"/>
          </p:cNvSpPr>
          <p:nvPr>
            <p:ph type="title"/>
          </p:nvPr>
        </p:nvSpPr>
        <p:spPr>
          <a:xfrm>
            <a:off x="1150938" y="555625"/>
            <a:ext cx="7793037" cy="779463"/>
          </a:xfrm>
        </p:spPr>
        <p:txBody>
          <a:bodyPr/>
          <a:lstStyle/>
          <a:p>
            <a:pPr eaLnBrk="1" hangingPunct="1"/>
            <a:r>
              <a:rPr lang="zh-CN" altLang="en-US"/>
              <a:t>计算机程序的执行过程</a:t>
            </a:r>
          </a:p>
        </p:txBody>
      </p:sp>
      <p:sp>
        <p:nvSpPr>
          <p:cNvPr id="107523" name="Rectangle 3">
            <a:extLst>
              <a:ext uri="{FF2B5EF4-FFF2-40B4-BE49-F238E27FC236}">
                <a16:creationId xmlns:a16="http://schemas.microsoft.com/office/drawing/2014/main" id="{5DFD6D56-0EF4-409A-A2B1-653C266C620B}"/>
              </a:ext>
            </a:extLst>
          </p:cNvPr>
          <p:cNvSpPr>
            <a:spLocks noGrp="1" noChangeArrowheads="1"/>
          </p:cNvSpPr>
          <p:nvPr>
            <p:ph type="body" idx="1"/>
          </p:nvPr>
        </p:nvSpPr>
        <p:spPr/>
        <p:txBody>
          <a:bodyPr/>
          <a:lstStyle/>
          <a:p>
            <a:pPr eaLnBrk="1" hangingPunct="1"/>
            <a:r>
              <a:rPr lang="zh-CN" altLang="en-US" sz="2800"/>
              <a:t>编辑，生成源程序文件</a:t>
            </a:r>
          </a:p>
          <a:p>
            <a:pPr eaLnBrk="1" hangingPunct="1"/>
            <a:r>
              <a:rPr lang="zh-CN" altLang="en-US" sz="2800"/>
              <a:t>编译成机器指令，生成目标文件</a:t>
            </a:r>
          </a:p>
          <a:p>
            <a:pPr eaLnBrk="1" hangingPunct="1"/>
            <a:r>
              <a:rPr lang="zh-CN" altLang="en-US" sz="2800"/>
              <a:t>连接库函数，生成可执行文件</a:t>
            </a:r>
          </a:p>
          <a:p>
            <a:pPr eaLnBrk="1" hangingPunct="1"/>
            <a:r>
              <a:rPr lang="zh-CN" altLang="en-US" sz="2800"/>
              <a:t>程序被读入内存</a:t>
            </a:r>
          </a:p>
          <a:p>
            <a:pPr eaLnBrk="1" hangingPunct="1"/>
            <a:r>
              <a:rPr lang="zh-CN" altLang="en-US" sz="2800"/>
              <a:t>计算机执行程序</a:t>
            </a:r>
          </a:p>
        </p:txBody>
      </p:sp>
      <p:grpSp>
        <p:nvGrpSpPr>
          <p:cNvPr id="107524" name="Group 4">
            <a:extLst>
              <a:ext uri="{FF2B5EF4-FFF2-40B4-BE49-F238E27FC236}">
                <a16:creationId xmlns:a16="http://schemas.microsoft.com/office/drawing/2014/main" id="{3E9B51B8-90AE-40BB-9708-A6075826A093}"/>
              </a:ext>
            </a:extLst>
          </p:cNvPr>
          <p:cNvGrpSpPr>
            <a:grpSpLocks/>
          </p:cNvGrpSpPr>
          <p:nvPr/>
        </p:nvGrpSpPr>
        <p:grpSpPr bwMode="auto">
          <a:xfrm>
            <a:off x="914400" y="4114800"/>
            <a:ext cx="7543800" cy="2281238"/>
            <a:chOff x="288" y="1296"/>
            <a:chExt cx="5376" cy="1896"/>
          </a:xfrm>
        </p:grpSpPr>
        <p:sp>
          <p:nvSpPr>
            <p:cNvPr id="54277" name="AutoShape 5">
              <a:extLst>
                <a:ext uri="{FF2B5EF4-FFF2-40B4-BE49-F238E27FC236}">
                  <a16:creationId xmlns:a16="http://schemas.microsoft.com/office/drawing/2014/main" id="{7956D3D2-4E75-4173-A05F-FE1AA6D5C699}"/>
                </a:ext>
              </a:extLst>
            </p:cNvPr>
            <p:cNvSpPr>
              <a:spLocks noChangeArrowheads="1"/>
            </p:cNvSpPr>
            <p:nvPr/>
          </p:nvSpPr>
          <p:spPr bwMode="auto">
            <a:xfrm>
              <a:off x="2832" y="1968"/>
              <a:ext cx="768" cy="528"/>
            </a:xfrm>
            <a:prstGeom prst="flowChartDocumen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9pPr>
            </a:lstStyle>
            <a:p>
              <a:pPr algn="ctr">
                <a:spcBef>
                  <a:spcPct val="0"/>
                </a:spcBef>
                <a:buClrTx/>
                <a:buSzTx/>
                <a:buFontTx/>
                <a:buNone/>
              </a:pPr>
              <a:r>
                <a:rPr lang="en-US" altLang="zh-CN" sz="1800" i="0">
                  <a:latin typeface="Garamond" panose="02020404030301010803" pitchFamily="18" charset="0"/>
                  <a:ea typeface="宋体" panose="02010600030101010101" pitchFamily="2" charset="-122"/>
                </a:rPr>
                <a:t>hello.obj</a:t>
              </a:r>
            </a:p>
          </p:txBody>
        </p:sp>
        <p:sp>
          <p:nvSpPr>
            <p:cNvPr id="54278" name="AutoShape 6">
              <a:extLst>
                <a:ext uri="{FF2B5EF4-FFF2-40B4-BE49-F238E27FC236}">
                  <a16:creationId xmlns:a16="http://schemas.microsoft.com/office/drawing/2014/main" id="{C26CA102-BBD4-4045-8815-942E5092F24D}"/>
                </a:ext>
              </a:extLst>
            </p:cNvPr>
            <p:cNvSpPr>
              <a:spLocks noChangeArrowheads="1"/>
            </p:cNvSpPr>
            <p:nvPr/>
          </p:nvSpPr>
          <p:spPr bwMode="auto">
            <a:xfrm>
              <a:off x="2016" y="1968"/>
              <a:ext cx="720" cy="468"/>
            </a:xfrm>
            <a:prstGeom prst="rightArrow">
              <a:avLst>
                <a:gd name="adj1" fmla="val 50000"/>
                <a:gd name="adj2" fmla="val 38462"/>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9pPr>
            </a:lstStyle>
            <a:p>
              <a:pPr algn="ctr">
                <a:spcBef>
                  <a:spcPct val="0"/>
                </a:spcBef>
                <a:buClrTx/>
                <a:buSzTx/>
                <a:buFontTx/>
                <a:buNone/>
              </a:pPr>
              <a:r>
                <a:rPr lang="en-US" altLang="zh-CN" sz="1800" i="0">
                  <a:latin typeface="Garamond" panose="02020404030301010803" pitchFamily="18" charset="0"/>
                  <a:ea typeface="宋体" panose="02010600030101010101" pitchFamily="2" charset="-122"/>
                </a:rPr>
                <a:t>Compile</a:t>
              </a:r>
            </a:p>
          </p:txBody>
        </p:sp>
        <p:sp>
          <p:nvSpPr>
            <p:cNvPr id="54279" name="AutoShape 7">
              <a:extLst>
                <a:ext uri="{FF2B5EF4-FFF2-40B4-BE49-F238E27FC236}">
                  <a16:creationId xmlns:a16="http://schemas.microsoft.com/office/drawing/2014/main" id="{F3548625-2124-45E1-8F04-427CB61B998B}"/>
                </a:ext>
              </a:extLst>
            </p:cNvPr>
            <p:cNvSpPr>
              <a:spLocks noChangeArrowheads="1"/>
            </p:cNvSpPr>
            <p:nvPr/>
          </p:nvSpPr>
          <p:spPr bwMode="auto">
            <a:xfrm>
              <a:off x="4560" y="1968"/>
              <a:ext cx="768" cy="528"/>
            </a:xfrm>
            <a:prstGeom prst="flowChartPunchedTap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9pPr>
            </a:lstStyle>
            <a:p>
              <a:pPr algn="ctr">
                <a:spcBef>
                  <a:spcPct val="0"/>
                </a:spcBef>
                <a:buClrTx/>
                <a:buSzTx/>
                <a:buFontTx/>
                <a:buNone/>
              </a:pPr>
              <a:r>
                <a:rPr lang="en-US" altLang="zh-CN" sz="1800" i="0">
                  <a:latin typeface="Garamond" panose="02020404030301010803" pitchFamily="18" charset="0"/>
                  <a:ea typeface="宋体" panose="02010600030101010101" pitchFamily="2" charset="-122"/>
                </a:rPr>
                <a:t>hello.exe</a:t>
              </a:r>
            </a:p>
          </p:txBody>
        </p:sp>
        <p:sp>
          <p:nvSpPr>
            <p:cNvPr id="54280" name="AutoShape 8">
              <a:extLst>
                <a:ext uri="{FF2B5EF4-FFF2-40B4-BE49-F238E27FC236}">
                  <a16:creationId xmlns:a16="http://schemas.microsoft.com/office/drawing/2014/main" id="{05F93592-5B16-45EB-9912-7396F2A42108}"/>
                </a:ext>
              </a:extLst>
            </p:cNvPr>
            <p:cNvSpPr>
              <a:spLocks noChangeArrowheads="1"/>
            </p:cNvSpPr>
            <p:nvPr/>
          </p:nvSpPr>
          <p:spPr bwMode="auto">
            <a:xfrm>
              <a:off x="1104" y="1968"/>
              <a:ext cx="768" cy="528"/>
            </a:xfrm>
            <a:prstGeom prst="foldedCorner">
              <a:avLst>
                <a:gd name="adj" fmla="val 12500"/>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9pPr>
            </a:lstStyle>
            <a:p>
              <a:pPr algn="ctr">
                <a:spcBef>
                  <a:spcPct val="0"/>
                </a:spcBef>
                <a:buClrTx/>
                <a:buSzTx/>
                <a:buFontTx/>
                <a:buNone/>
              </a:pPr>
              <a:r>
                <a:rPr lang="en-US" altLang="zh-CN" sz="1800" i="0">
                  <a:latin typeface="Garamond" panose="02020404030301010803" pitchFamily="18" charset="0"/>
                  <a:ea typeface="宋体" panose="02010600030101010101" pitchFamily="2" charset="-122"/>
                </a:rPr>
                <a:t>hello.c</a:t>
              </a:r>
            </a:p>
          </p:txBody>
        </p:sp>
        <p:sp>
          <p:nvSpPr>
            <p:cNvPr id="54281" name="AutoShape 9">
              <a:extLst>
                <a:ext uri="{FF2B5EF4-FFF2-40B4-BE49-F238E27FC236}">
                  <a16:creationId xmlns:a16="http://schemas.microsoft.com/office/drawing/2014/main" id="{5140CEF8-3F04-4BC8-8671-64994FEF90DD}"/>
                </a:ext>
              </a:extLst>
            </p:cNvPr>
            <p:cNvSpPr>
              <a:spLocks noChangeArrowheads="1"/>
            </p:cNvSpPr>
            <p:nvPr/>
          </p:nvSpPr>
          <p:spPr bwMode="auto">
            <a:xfrm>
              <a:off x="3696" y="1296"/>
              <a:ext cx="672" cy="432"/>
            </a:xfrm>
            <a:prstGeom prst="flowChartMagneticDisk">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9pPr>
            </a:lstStyle>
            <a:p>
              <a:pPr algn="ctr">
                <a:spcBef>
                  <a:spcPct val="0"/>
                </a:spcBef>
                <a:buClrTx/>
                <a:buSzTx/>
                <a:buFontTx/>
                <a:buNone/>
              </a:pPr>
              <a:r>
                <a:rPr lang="en-US" altLang="zh-CN" sz="1800" i="0">
                  <a:latin typeface="Garamond" panose="02020404030301010803" pitchFamily="18" charset="0"/>
                  <a:ea typeface="宋体" panose="02010600030101010101" pitchFamily="2" charset="-122"/>
                </a:rPr>
                <a:t>C libaray</a:t>
              </a:r>
            </a:p>
          </p:txBody>
        </p:sp>
        <p:sp>
          <p:nvSpPr>
            <p:cNvPr id="54282" name="AutoShape 10">
              <a:extLst>
                <a:ext uri="{FF2B5EF4-FFF2-40B4-BE49-F238E27FC236}">
                  <a16:creationId xmlns:a16="http://schemas.microsoft.com/office/drawing/2014/main" id="{D067E730-2CA2-4EEB-9DDE-768774DB7809}"/>
                </a:ext>
              </a:extLst>
            </p:cNvPr>
            <p:cNvSpPr>
              <a:spLocks noChangeArrowheads="1"/>
            </p:cNvSpPr>
            <p:nvPr/>
          </p:nvSpPr>
          <p:spPr bwMode="auto">
            <a:xfrm>
              <a:off x="3744" y="1968"/>
              <a:ext cx="720" cy="468"/>
            </a:xfrm>
            <a:prstGeom prst="rightArrow">
              <a:avLst>
                <a:gd name="adj1" fmla="val 50000"/>
                <a:gd name="adj2" fmla="val 38462"/>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9pPr>
            </a:lstStyle>
            <a:p>
              <a:pPr algn="ctr">
                <a:spcBef>
                  <a:spcPct val="0"/>
                </a:spcBef>
                <a:buClrTx/>
                <a:buSzTx/>
                <a:buFontTx/>
                <a:buNone/>
              </a:pPr>
              <a:r>
                <a:rPr lang="en-US" altLang="zh-CN" sz="1800" i="0">
                  <a:latin typeface="Garamond" panose="02020404030301010803" pitchFamily="18" charset="0"/>
                  <a:ea typeface="宋体" panose="02010600030101010101" pitchFamily="2" charset="-122"/>
                </a:rPr>
                <a:t>Link</a:t>
              </a:r>
            </a:p>
          </p:txBody>
        </p:sp>
        <p:sp>
          <p:nvSpPr>
            <p:cNvPr id="54283" name="AutoShape 11">
              <a:extLst>
                <a:ext uri="{FF2B5EF4-FFF2-40B4-BE49-F238E27FC236}">
                  <a16:creationId xmlns:a16="http://schemas.microsoft.com/office/drawing/2014/main" id="{D95740D2-6BE2-4BC6-BD04-01F238BFD403}"/>
                </a:ext>
              </a:extLst>
            </p:cNvPr>
            <p:cNvSpPr>
              <a:spLocks noChangeArrowheads="1"/>
            </p:cNvSpPr>
            <p:nvPr/>
          </p:nvSpPr>
          <p:spPr bwMode="auto">
            <a:xfrm>
              <a:off x="3984" y="1824"/>
              <a:ext cx="144" cy="192"/>
            </a:xfrm>
            <a:prstGeom prst="downArrow">
              <a:avLst>
                <a:gd name="adj1" fmla="val 50000"/>
                <a:gd name="adj2" fmla="val 3333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9pPr>
            </a:lstStyle>
            <a:p>
              <a:pPr eaLnBrk="1" hangingPunct="1">
                <a:buFont typeface="Wingdings" panose="05000000000000000000" pitchFamily="2" charset="2"/>
                <a:buChar char="u"/>
              </a:pPr>
              <a:endParaRPr lang="zh-CN" altLang="en-US">
                <a:latin typeface="Arial Unicode MS" pitchFamily="34" charset="-122"/>
              </a:endParaRPr>
            </a:p>
          </p:txBody>
        </p:sp>
        <p:sp>
          <p:nvSpPr>
            <p:cNvPr id="54284" name="Text Box 12">
              <a:extLst>
                <a:ext uri="{FF2B5EF4-FFF2-40B4-BE49-F238E27FC236}">
                  <a16:creationId xmlns:a16="http://schemas.microsoft.com/office/drawing/2014/main" id="{286EA5EC-13A2-446C-89DC-DE06622AC05B}"/>
                </a:ext>
              </a:extLst>
            </p:cNvPr>
            <p:cNvSpPr txBox="1">
              <a:spLocks noChangeArrowheads="1"/>
            </p:cNvSpPr>
            <p:nvPr/>
          </p:nvSpPr>
          <p:spPr bwMode="auto">
            <a:xfrm>
              <a:off x="720" y="2543"/>
              <a:ext cx="1536" cy="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9pPr>
            </a:lstStyle>
            <a:p>
              <a:pPr algn="ctr">
                <a:spcBef>
                  <a:spcPct val="50000"/>
                </a:spcBef>
                <a:buClrTx/>
                <a:buSzTx/>
                <a:buFontTx/>
                <a:buNone/>
              </a:pPr>
              <a:r>
                <a:rPr lang="en-US" altLang="zh-CN" sz="1800" i="0">
                  <a:latin typeface="Garamond" panose="02020404030301010803" pitchFamily="18" charset="0"/>
                  <a:ea typeface="宋体" panose="02010600030101010101" pitchFamily="2" charset="-122"/>
                </a:rPr>
                <a:t>Source File </a:t>
              </a:r>
            </a:p>
            <a:p>
              <a:pPr algn="ctr">
                <a:spcBef>
                  <a:spcPct val="50000"/>
                </a:spcBef>
                <a:buClrTx/>
                <a:buSzTx/>
                <a:buFontTx/>
                <a:buNone/>
              </a:pPr>
              <a:r>
                <a:rPr lang="en-US" altLang="zh-CN" sz="1800" i="0">
                  <a:latin typeface="Garamond" panose="02020404030301010803" pitchFamily="18" charset="0"/>
                  <a:ea typeface="宋体" panose="02010600030101010101" pitchFamily="2" charset="-122"/>
                </a:rPr>
                <a:t>(</a:t>
              </a:r>
              <a:r>
                <a:rPr lang="zh-CN" altLang="en-US" sz="1800" i="0">
                  <a:latin typeface="Garamond" panose="02020404030301010803" pitchFamily="18" charset="0"/>
                  <a:ea typeface="宋体" panose="02010600030101010101" pitchFamily="2" charset="-122"/>
                </a:rPr>
                <a:t>高级语言</a:t>
              </a:r>
              <a:r>
                <a:rPr lang="en-US" altLang="zh-CN" sz="1800" i="0">
                  <a:latin typeface="Garamond" panose="02020404030301010803" pitchFamily="18" charset="0"/>
                  <a:ea typeface="宋体" panose="02010600030101010101" pitchFamily="2" charset="-122"/>
                </a:rPr>
                <a:t>)</a:t>
              </a:r>
            </a:p>
          </p:txBody>
        </p:sp>
        <p:sp>
          <p:nvSpPr>
            <p:cNvPr id="54285" name="Text Box 13">
              <a:extLst>
                <a:ext uri="{FF2B5EF4-FFF2-40B4-BE49-F238E27FC236}">
                  <a16:creationId xmlns:a16="http://schemas.microsoft.com/office/drawing/2014/main" id="{A009D155-B939-40CC-AB76-368E0D5517F4}"/>
                </a:ext>
              </a:extLst>
            </p:cNvPr>
            <p:cNvSpPr txBox="1">
              <a:spLocks noChangeArrowheads="1"/>
            </p:cNvSpPr>
            <p:nvPr/>
          </p:nvSpPr>
          <p:spPr bwMode="auto">
            <a:xfrm>
              <a:off x="2640" y="2544"/>
              <a:ext cx="1392" cy="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9pPr>
            </a:lstStyle>
            <a:p>
              <a:pPr algn="ctr">
                <a:spcBef>
                  <a:spcPct val="50000"/>
                </a:spcBef>
                <a:buClrTx/>
                <a:buSzTx/>
                <a:buFontTx/>
                <a:buNone/>
              </a:pPr>
              <a:r>
                <a:rPr lang="en-US" altLang="zh-CN" sz="1800" i="0">
                  <a:latin typeface="Garamond" panose="02020404030301010803" pitchFamily="18" charset="0"/>
                  <a:ea typeface="宋体" panose="02010600030101010101" pitchFamily="2" charset="-122"/>
                </a:rPr>
                <a:t>Object File </a:t>
              </a:r>
            </a:p>
            <a:p>
              <a:pPr algn="ctr">
                <a:spcBef>
                  <a:spcPct val="50000"/>
                </a:spcBef>
                <a:buClrTx/>
                <a:buSzTx/>
                <a:buFontTx/>
                <a:buNone/>
              </a:pPr>
              <a:r>
                <a:rPr lang="en-US" altLang="zh-CN" sz="1800" i="0">
                  <a:latin typeface="Garamond" panose="02020404030301010803" pitchFamily="18" charset="0"/>
                  <a:ea typeface="宋体" panose="02010600030101010101" pitchFamily="2" charset="-122"/>
                </a:rPr>
                <a:t>(</a:t>
              </a:r>
              <a:r>
                <a:rPr lang="zh-CN" altLang="en-US" sz="1800" i="0">
                  <a:latin typeface="Garamond" panose="02020404030301010803" pitchFamily="18" charset="0"/>
                  <a:ea typeface="宋体" panose="02010600030101010101" pitchFamily="2" charset="-122"/>
                </a:rPr>
                <a:t>机器语言</a:t>
              </a:r>
              <a:r>
                <a:rPr lang="en-US" altLang="zh-CN" sz="1800" i="0">
                  <a:latin typeface="Garamond" panose="02020404030301010803" pitchFamily="18" charset="0"/>
                  <a:ea typeface="宋体" panose="02010600030101010101" pitchFamily="2" charset="-122"/>
                </a:rPr>
                <a:t>)</a:t>
              </a:r>
            </a:p>
          </p:txBody>
        </p:sp>
        <p:sp>
          <p:nvSpPr>
            <p:cNvPr id="54286" name="Text Box 14">
              <a:extLst>
                <a:ext uri="{FF2B5EF4-FFF2-40B4-BE49-F238E27FC236}">
                  <a16:creationId xmlns:a16="http://schemas.microsoft.com/office/drawing/2014/main" id="{E248D6B0-12B2-439D-99E7-7551078B5F0D}"/>
                </a:ext>
              </a:extLst>
            </p:cNvPr>
            <p:cNvSpPr txBox="1">
              <a:spLocks noChangeArrowheads="1"/>
            </p:cNvSpPr>
            <p:nvPr/>
          </p:nvSpPr>
          <p:spPr bwMode="auto">
            <a:xfrm>
              <a:off x="4272" y="2688"/>
              <a:ext cx="1392" cy="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9pPr>
            </a:lstStyle>
            <a:p>
              <a:pPr algn="ctr">
                <a:spcBef>
                  <a:spcPct val="50000"/>
                </a:spcBef>
                <a:buClrTx/>
                <a:buSzTx/>
                <a:buFontTx/>
                <a:buNone/>
              </a:pPr>
              <a:r>
                <a:rPr lang="en-US" altLang="zh-CN" sz="1800" i="0">
                  <a:latin typeface="Garamond" panose="02020404030301010803" pitchFamily="18" charset="0"/>
                  <a:ea typeface="宋体" panose="02010600030101010101" pitchFamily="2" charset="-122"/>
                </a:rPr>
                <a:t>Executable</a:t>
              </a:r>
            </a:p>
          </p:txBody>
        </p:sp>
        <p:sp>
          <p:nvSpPr>
            <p:cNvPr id="54287" name="AutoShape 15">
              <a:extLst>
                <a:ext uri="{FF2B5EF4-FFF2-40B4-BE49-F238E27FC236}">
                  <a16:creationId xmlns:a16="http://schemas.microsoft.com/office/drawing/2014/main" id="{B3BFFDCA-7E51-4803-99D3-D46F1BF3ED60}"/>
                </a:ext>
              </a:extLst>
            </p:cNvPr>
            <p:cNvSpPr>
              <a:spLocks noChangeArrowheads="1"/>
            </p:cNvSpPr>
            <p:nvPr/>
          </p:nvSpPr>
          <p:spPr bwMode="auto">
            <a:xfrm>
              <a:off x="288" y="1968"/>
              <a:ext cx="720" cy="468"/>
            </a:xfrm>
            <a:prstGeom prst="rightArrow">
              <a:avLst>
                <a:gd name="adj1" fmla="val 50000"/>
                <a:gd name="adj2" fmla="val 38462"/>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9pPr>
            </a:lstStyle>
            <a:p>
              <a:pPr algn="ctr">
                <a:spcBef>
                  <a:spcPct val="0"/>
                </a:spcBef>
                <a:buClrTx/>
                <a:buSzTx/>
                <a:buFontTx/>
                <a:buNone/>
              </a:pPr>
              <a:r>
                <a:rPr lang="en-US" altLang="zh-CN" sz="1800" i="0">
                  <a:latin typeface="Garamond" panose="02020404030301010803" pitchFamily="18" charset="0"/>
                  <a:ea typeface="宋体" panose="02010600030101010101" pitchFamily="2" charset="-122"/>
                </a:rPr>
                <a:t>Edit</a:t>
              </a:r>
            </a:p>
          </p:txBody>
        </p:sp>
      </p:grpSp>
    </p:spTree>
  </p:cSld>
  <p:clrMapOvr>
    <a:masterClrMapping/>
  </p:clrMapOvr>
  <p:transition spd="med">
    <p:wipe dir="r"/>
    <p:sndAc>
      <p:end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7523">
                                            <p:txEl>
                                              <p:pRg st="0" end="0"/>
                                            </p:txEl>
                                          </p:spTgt>
                                        </p:tgtEl>
                                        <p:attrNameLst>
                                          <p:attrName>style.visibility</p:attrName>
                                        </p:attrNameLst>
                                      </p:cBhvr>
                                      <p:to>
                                        <p:strVal val="visible"/>
                                      </p:to>
                                    </p:set>
                                    <p:anim calcmode="lin" valueType="num">
                                      <p:cBhvr additive="base">
                                        <p:cTn id="7" dur="500" fill="hold"/>
                                        <p:tgtEl>
                                          <p:spTgt spid="10752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7523">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7523">
                                            <p:txEl>
                                              <p:pRg st="1" end="1"/>
                                            </p:txEl>
                                          </p:spTgt>
                                        </p:tgtEl>
                                        <p:attrNameLst>
                                          <p:attrName>style.visibility</p:attrName>
                                        </p:attrNameLst>
                                      </p:cBhvr>
                                      <p:to>
                                        <p:strVal val="visible"/>
                                      </p:to>
                                    </p:set>
                                    <p:anim calcmode="lin" valueType="num">
                                      <p:cBhvr additive="base">
                                        <p:cTn id="13" dur="500" fill="hold"/>
                                        <p:tgtEl>
                                          <p:spTgt spid="10752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7523">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whoosh.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7523">
                                            <p:txEl>
                                              <p:pRg st="2" end="2"/>
                                            </p:txEl>
                                          </p:spTgt>
                                        </p:tgtEl>
                                        <p:attrNameLst>
                                          <p:attrName>style.visibility</p:attrName>
                                        </p:attrNameLst>
                                      </p:cBhvr>
                                      <p:to>
                                        <p:strVal val="visible"/>
                                      </p:to>
                                    </p:set>
                                    <p:anim calcmode="lin" valueType="num">
                                      <p:cBhvr additive="base">
                                        <p:cTn id="19" dur="500" fill="hold"/>
                                        <p:tgtEl>
                                          <p:spTgt spid="10752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7523">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whoosh.wav"/>
                                        </p:tgtEl>
                                      </p:cMediaNode>
                                    </p:audio>
                                  </p:sub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7523">
                                            <p:txEl>
                                              <p:pRg st="3" end="3"/>
                                            </p:txEl>
                                          </p:spTgt>
                                        </p:tgtEl>
                                        <p:attrNameLst>
                                          <p:attrName>style.visibility</p:attrName>
                                        </p:attrNameLst>
                                      </p:cBhvr>
                                      <p:to>
                                        <p:strVal val="visible"/>
                                      </p:to>
                                    </p:set>
                                    <p:anim calcmode="lin" valueType="num">
                                      <p:cBhvr additive="base">
                                        <p:cTn id="25" dur="500" fill="hold"/>
                                        <p:tgtEl>
                                          <p:spTgt spid="10752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7523">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whoosh.wav"/>
                                        </p:tgtEl>
                                      </p:cMediaNode>
                                    </p:audio>
                                  </p:sub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7523">
                                            <p:txEl>
                                              <p:pRg st="4" end="4"/>
                                            </p:txEl>
                                          </p:spTgt>
                                        </p:tgtEl>
                                        <p:attrNameLst>
                                          <p:attrName>style.visibility</p:attrName>
                                        </p:attrNameLst>
                                      </p:cBhvr>
                                      <p:to>
                                        <p:strVal val="visible"/>
                                      </p:to>
                                    </p:set>
                                    <p:anim calcmode="lin" valueType="num">
                                      <p:cBhvr additive="base">
                                        <p:cTn id="31" dur="500" fill="hold"/>
                                        <p:tgtEl>
                                          <p:spTgt spid="10752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07523">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2" name="whoosh.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107524"/>
                                        </p:tgtEl>
                                        <p:attrNameLst>
                                          <p:attrName>style.visibility</p:attrName>
                                        </p:attrNameLst>
                                      </p:cBhvr>
                                      <p:to>
                                        <p:strVal val="visible"/>
                                      </p:to>
                                    </p:set>
                                    <p:anim calcmode="lin" valueType="num">
                                      <p:cBhvr additive="base">
                                        <p:cTn id="37" dur="500" fill="hold"/>
                                        <p:tgtEl>
                                          <p:spTgt spid="107524"/>
                                        </p:tgtEl>
                                        <p:attrNameLst>
                                          <p:attrName>ppt_x</p:attrName>
                                        </p:attrNameLst>
                                      </p:cBhvr>
                                      <p:tavLst>
                                        <p:tav tm="0">
                                          <p:val>
                                            <p:strVal val="0-#ppt_w/2"/>
                                          </p:val>
                                        </p:tav>
                                        <p:tav tm="100000">
                                          <p:val>
                                            <p:strVal val="#ppt_x"/>
                                          </p:val>
                                        </p:tav>
                                      </p:tavLst>
                                    </p:anim>
                                    <p:anim calcmode="lin" valueType="num">
                                      <p:cBhvr additive="base">
                                        <p:cTn id="38" dur="500" fill="hold"/>
                                        <p:tgtEl>
                                          <p:spTgt spid="1075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3" grpId="0" build="p"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9746" name="Rectangle 2">
            <a:extLst>
              <a:ext uri="{FF2B5EF4-FFF2-40B4-BE49-F238E27FC236}">
                <a16:creationId xmlns:a16="http://schemas.microsoft.com/office/drawing/2014/main" id="{C1B6686C-2CE9-4106-8CF1-296D0DE99D6D}"/>
              </a:ext>
            </a:extLst>
          </p:cNvPr>
          <p:cNvSpPr>
            <a:spLocks noGrp="1" noChangeArrowheads="1"/>
          </p:cNvSpPr>
          <p:nvPr>
            <p:ph type="title"/>
          </p:nvPr>
        </p:nvSpPr>
        <p:spPr>
          <a:xfrm>
            <a:off x="381000" y="0"/>
            <a:ext cx="8458200" cy="1066800"/>
          </a:xfrm>
        </p:spPr>
        <p:txBody>
          <a:bodyPr/>
          <a:lstStyle/>
          <a:p>
            <a:pPr>
              <a:lnSpc>
                <a:spcPct val="100000"/>
              </a:lnSpc>
            </a:pPr>
            <a:r>
              <a:rPr lang="zh-CN" altLang="en-US" sz="4400">
                <a:solidFill>
                  <a:srgbClr val="FF0000"/>
                </a:solidFill>
                <a:effectLst>
                  <a:outerShdw blurRad="38100" dist="38100" dir="2700000" algn="tl">
                    <a:srgbClr val="000000"/>
                  </a:outerShdw>
                </a:effectLst>
                <a:latin typeface="楷体_GB2312" pitchFamily="49" charset="-122"/>
                <a:ea typeface="楷体_GB2312" pitchFamily="49" charset="-122"/>
              </a:rPr>
              <a:t>面向过程的语言</a:t>
            </a:r>
            <a:endParaRPr lang="zh-CN" altLang="en-US" b="0">
              <a:solidFill>
                <a:schemeClr val="tx1"/>
              </a:solidFill>
              <a:latin typeface="Times New Roman" panose="02020603050405020304" pitchFamily="18" charset="0"/>
              <a:ea typeface="宋体" panose="02010600030101010101" pitchFamily="2" charset="-122"/>
            </a:endParaRPr>
          </a:p>
        </p:txBody>
      </p:sp>
      <p:sp>
        <p:nvSpPr>
          <p:cNvPr id="159747" name="Rectangle 3">
            <a:extLst>
              <a:ext uri="{FF2B5EF4-FFF2-40B4-BE49-F238E27FC236}">
                <a16:creationId xmlns:a16="http://schemas.microsoft.com/office/drawing/2014/main" id="{5AF71F3C-A1A4-4C60-ABC2-E3BD73494589}"/>
              </a:ext>
            </a:extLst>
          </p:cNvPr>
          <p:cNvSpPr>
            <a:spLocks noGrp="1" noChangeArrowheads="1"/>
          </p:cNvSpPr>
          <p:nvPr>
            <p:ph type="body" idx="1"/>
          </p:nvPr>
        </p:nvSpPr>
        <p:spPr>
          <a:xfrm>
            <a:off x="304800" y="1326976"/>
            <a:ext cx="8610600" cy="5486400"/>
          </a:xfrm>
        </p:spPr>
        <p:txBody>
          <a:bodyPr/>
          <a:lstStyle/>
          <a:p>
            <a:pPr marL="0" indent="0">
              <a:buFont typeface="Monotype Sorts" pitchFamily="2" charset="2"/>
              <a:buNone/>
            </a:pPr>
            <a:r>
              <a:rPr lang="zh-CN" altLang="en-US" sz="4000" b="1" dirty="0">
                <a:latin typeface="楷体_GB2312" pitchFamily="49" charset="-122"/>
                <a:ea typeface="楷体_GB2312" pitchFamily="49" charset="-122"/>
              </a:rPr>
              <a:t>目前最流行最经常使用的程序设计语言属面向过程型的语言。</a:t>
            </a:r>
          </a:p>
          <a:p>
            <a:pPr marL="0" indent="0">
              <a:buFont typeface="Monotype Sorts" pitchFamily="2" charset="2"/>
              <a:buNone/>
            </a:pPr>
            <a:endParaRPr lang="zh-CN" altLang="en-US" sz="4000" b="1" dirty="0">
              <a:latin typeface="楷体_GB2312" pitchFamily="49" charset="-122"/>
              <a:ea typeface="楷体_GB2312" pitchFamily="49" charset="-122"/>
            </a:endParaRPr>
          </a:p>
          <a:p>
            <a:pPr marL="0" indent="0" algn="just">
              <a:buFont typeface="Monotype Sorts" pitchFamily="2" charset="2"/>
              <a:buNone/>
            </a:pPr>
            <a:r>
              <a:rPr lang="zh-CN" altLang="en-US" sz="4000" b="1" dirty="0">
                <a:latin typeface="楷体_GB2312" pitchFamily="49" charset="-122"/>
                <a:ea typeface="楷体_GB2312" pitchFamily="49" charset="-122"/>
              </a:rPr>
              <a:t>面向过程的语言虽可独立于计算机编写程序，但用这类语言编写程序时，程序不仅要说明做什么，更重要的是非常详细地告诉计算机如何做，程序需要详细描述解题的过程和细节。</a:t>
            </a:r>
          </a:p>
        </p:txBody>
      </p:sp>
    </p:spTree>
    <p:extLst>
      <p:ext uri="{BB962C8B-B14F-4D97-AF65-F5344CB8AC3E}">
        <p14:creationId xmlns:p14="http://schemas.microsoft.com/office/powerpoint/2010/main" val="1195253436"/>
      </p:ext>
    </p:extLst>
  </p:cSld>
  <p:clrMapOvr>
    <a:masterClrMapping/>
  </p:clrMapOvr>
  <p:transition>
    <p:cover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59746">
                                            <p:txEl>
                                              <p:pRg st="0" end="0"/>
                                            </p:txEl>
                                          </p:spTgt>
                                        </p:tgtEl>
                                        <p:attrNameLst>
                                          <p:attrName>style.visibility</p:attrName>
                                        </p:attrNameLst>
                                      </p:cBhvr>
                                      <p:to>
                                        <p:strVal val="visible"/>
                                      </p:to>
                                    </p:set>
                                    <p:anim calcmode="lin" valueType="num">
                                      <p:cBhvr additive="base">
                                        <p:cTn id="7" dur="500" fill="hold"/>
                                        <p:tgtEl>
                                          <p:spTgt spid="159746">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5974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59747">
                                            <p:txEl>
                                              <p:pRg st="0" end="0"/>
                                            </p:txEl>
                                          </p:spTgt>
                                        </p:tgtEl>
                                        <p:attrNameLst>
                                          <p:attrName>style.visibility</p:attrName>
                                        </p:attrNameLst>
                                      </p:cBhvr>
                                      <p:to>
                                        <p:strVal val="visible"/>
                                      </p:to>
                                    </p:set>
                                    <p:anim calcmode="lin" valueType="num">
                                      <p:cBhvr additive="base">
                                        <p:cTn id="13" dur="500" fill="hold"/>
                                        <p:tgtEl>
                                          <p:spTgt spid="159747">
                                            <p:txEl>
                                              <p:pRg st="0" end="0"/>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5974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59747">
                                            <p:txEl>
                                              <p:pRg st="2" end="2"/>
                                            </p:txEl>
                                          </p:spTgt>
                                        </p:tgtEl>
                                        <p:attrNameLst>
                                          <p:attrName>style.visibility</p:attrName>
                                        </p:attrNameLst>
                                      </p:cBhvr>
                                      <p:to>
                                        <p:strVal val="visible"/>
                                      </p:to>
                                    </p:set>
                                    <p:anim calcmode="lin" valueType="num">
                                      <p:cBhvr additive="base">
                                        <p:cTn id="19" dur="500" fill="hold"/>
                                        <p:tgtEl>
                                          <p:spTgt spid="159747">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59747">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46" grpId="0" build="p" autoUpdateAnimBg="0"/>
      <p:bldP spid="159747" grpId="0" build="p"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0770" name="Rectangle 2">
            <a:extLst>
              <a:ext uri="{FF2B5EF4-FFF2-40B4-BE49-F238E27FC236}">
                <a16:creationId xmlns:a16="http://schemas.microsoft.com/office/drawing/2014/main" id="{B3E15226-CB84-4EA2-85BC-5263EB90D17A}"/>
              </a:ext>
            </a:extLst>
          </p:cNvPr>
          <p:cNvSpPr>
            <a:spLocks noGrp="1" noChangeArrowheads="1"/>
          </p:cNvSpPr>
          <p:nvPr>
            <p:ph type="title"/>
          </p:nvPr>
        </p:nvSpPr>
        <p:spPr>
          <a:xfrm>
            <a:off x="381000" y="0"/>
            <a:ext cx="8458200" cy="838200"/>
          </a:xfrm>
        </p:spPr>
        <p:txBody>
          <a:bodyPr/>
          <a:lstStyle/>
          <a:p>
            <a:pPr>
              <a:lnSpc>
                <a:spcPct val="100000"/>
              </a:lnSpc>
            </a:pPr>
            <a:r>
              <a:rPr lang="zh-CN" altLang="en-US" sz="4400">
                <a:solidFill>
                  <a:srgbClr val="FF0000"/>
                </a:solidFill>
                <a:effectLst>
                  <a:outerShdw blurRad="38100" dist="38100" dir="2700000" algn="tl">
                    <a:srgbClr val="000000"/>
                  </a:outerShdw>
                </a:effectLst>
                <a:latin typeface="楷体_GB2312" pitchFamily="49" charset="-122"/>
                <a:ea typeface="楷体_GB2312" pitchFamily="49" charset="-122"/>
              </a:rPr>
              <a:t>面向问题的语言</a:t>
            </a:r>
            <a:endParaRPr lang="zh-CN" altLang="en-US" sz="3600">
              <a:solidFill>
                <a:srgbClr val="FF0000"/>
              </a:solidFill>
              <a:effectLst>
                <a:outerShdw blurRad="38100" dist="38100" dir="2700000" algn="tl">
                  <a:srgbClr val="000000"/>
                </a:outerShdw>
              </a:effectLst>
              <a:latin typeface="楷体_GB2312" pitchFamily="49" charset="-122"/>
              <a:ea typeface="楷体_GB2312" pitchFamily="49" charset="-122"/>
            </a:endParaRPr>
          </a:p>
        </p:txBody>
      </p:sp>
      <p:sp>
        <p:nvSpPr>
          <p:cNvPr id="160771" name="Rectangle 3">
            <a:extLst>
              <a:ext uri="{FF2B5EF4-FFF2-40B4-BE49-F238E27FC236}">
                <a16:creationId xmlns:a16="http://schemas.microsoft.com/office/drawing/2014/main" id="{09F79FB9-DFB2-4B23-9B14-3CC486AE80C0}"/>
              </a:ext>
            </a:extLst>
          </p:cNvPr>
          <p:cNvSpPr>
            <a:spLocks noGrp="1" noChangeArrowheads="1"/>
          </p:cNvSpPr>
          <p:nvPr>
            <p:ph type="body" idx="1"/>
          </p:nvPr>
        </p:nvSpPr>
        <p:spPr>
          <a:xfrm>
            <a:off x="108520" y="1234008"/>
            <a:ext cx="9144000" cy="5867400"/>
          </a:xfrm>
        </p:spPr>
        <p:txBody>
          <a:bodyPr/>
          <a:lstStyle/>
          <a:p>
            <a:pPr marL="0" indent="0">
              <a:buFont typeface="Monotype Sorts" pitchFamily="2" charset="2"/>
              <a:buNone/>
            </a:pPr>
            <a:r>
              <a:rPr lang="zh-CN" altLang="en-US" sz="4000" b="1" dirty="0">
                <a:latin typeface="楷体_GB2312" pitchFamily="49" charset="-122"/>
                <a:ea typeface="楷体_GB2312" pitchFamily="49" charset="-122"/>
              </a:rPr>
              <a:t>不必关心问题的求解算法和求解的过程，只需指出问题是做什么，数据的输入和输出形式，就能得到所需结果。面向问题语言又称为非过程化语言或陈述性语言，</a:t>
            </a:r>
            <a:r>
              <a:rPr lang="zh-CN" altLang="en-US" sz="2800" b="1" dirty="0">
                <a:latin typeface="楷体_GB2312" pitchFamily="49" charset="-122"/>
                <a:ea typeface="楷体_GB2312" pitchFamily="49" charset="-122"/>
              </a:rPr>
              <a:t>如数据库查询和操纵语言</a:t>
            </a:r>
            <a:r>
              <a:rPr lang="en-US" altLang="zh-CN" sz="2800" b="1" dirty="0">
                <a:latin typeface="楷体_GB2312" pitchFamily="49" charset="-122"/>
                <a:ea typeface="楷体_GB2312" pitchFamily="49" charset="-122"/>
              </a:rPr>
              <a:t>SQL( Structured Query Language)</a:t>
            </a:r>
            <a:r>
              <a:rPr lang="zh-CN" altLang="en-US" sz="2800" b="1" dirty="0">
                <a:latin typeface="楷体_GB2312" pitchFamily="49" charset="-122"/>
                <a:ea typeface="楷体_GB2312" pitchFamily="49" charset="-122"/>
              </a:rPr>
              <a:t>语言，能直接使用数据库管理系统。</a:t>
            </a:r>
            <a:r>
              <a:rPr lang="zh-CN" altLang="en-US" sz="3600" b="1" dirty="0">
                <a:latin typeface="楷体_GB2312" pitchFamily="49" charset="-122"/>
                <a:ea typeface="楷体_GB2312" pitchFamily="49" charset="-122"/>
              </a:rPr>
              <a:t>面向问题语言解题只要告诉计算机做什么，不告诉如何做</a:t>
            </a:r>
            <a:r>
              <a:rPr lang="zh-CN" altLang="en-US" sz="3200" b="1" dirty="0">
                <a:latin typeface="楷体_GB2312" pitchFamily="49" charset="-122"/>
                <a:ea typeface="楷体_GB2312" pitchFamily="49" charset="-122"/>
              </a:rPr>
              <a:t>，</a:t>
            </a:r>
            <a:r>
              <a:rPr lang="zh-CN" altLang="en-US" sz="4000" b="1" dirty="0">
                <a:latin typeface="楷体_GB2312" pitchFamily="49" charset="-122"/>
                <a:ea typeface="楷体_GB2312" pitchFamily="49" charset="-122"/>
              </a:rPr>
              <a:t>能方便用户的使用。但效率较低。目前其应用范围还比较狭窄。</a:t>
            </a:r>
            <a:endParaRPr lang="zh-CN" altLang="en-US" sz="4000" b="1" dirty="0">
              <a:solidFill>
                <a:srgbClr val="0000FF"/>
              </a:solidFill>
              <a:effectLst>
                <a:outerShdw blurRad="38100" dist="38100" dir="2700000" algn="tl">
                  <a:srgbClr val="000000"/>
                </a:outerShdw>
              </a:effectLst>
              <a:latin typeface="楷体_GB2312" pitchFamily="49" charset="-122"/>
              <a:ea typeface="楷体_GB2312" pitchFamily="49" charset="-122"/>
            </a:endParaRPr>
          </a:p>
        </p:txBody>
      </p:sp>
    </p:spTree>
    <p:extLst>
      <p:ext uri="{BB962C8B-B14F-4D97-AF65-F5344CB8AC3E}">
        <p14:creationId xmlns:p14="http://schemas.microsoft.com/office/powerpoint/2010/main" val="1785686462"/>
      </p:ext>
    </p:extLst>
  </p:cSld>
  <p:clrMapOvr>
    <a:masterClrMapping/>
  </p:clrMapOvr>
  <p:transition>
    <p:cover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60770">
                                            <p:txEl>
                                              <p:pRg st="0" end="0"/>
                                            </p:txEl>
                                          </p:spTgt>
                                        </p:tgtEl>
                                        <p:attrNameLst>
                                          <p:attrName>style.visibility</p:attrName>
                                        </p:attrNameLst>
                                      </p:cBhvr>
                                      <p:to>
                                        <p:strVal val="visible"/>
                                      </p:to>
                                    </p:set>
                                    <p:anim calcmode="lin" valueType="num">
                                      <p:cBhvr additive="base">
                                        <p:cTn id="7" dur="500" fill="hold"/>
                                        <p:tgtEl>
                                          <p:spTgt spid="160770">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6077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60771">
                                            <p:txEl>
                                              <p:pRg st="0" end="0"/>
                                            </p:txEl>
                                          </p:spTgt>
                                        </p:tgtEl>
                                        <p:attrNameLst>
                                          <p:attrName>style.visibility</p:attrName>
                                        </p:attrNameLst>
                                      </p:cBhvr>
                                      <p:to>
                                        <p:strVal val="visible"/>
                                      </p:to>
                                    </p:set>
                                    <p:anim calcmode="lin" valueType="num">
                                      <p:cBhvr additive="base">
                                        <p:cTn id="13" dur="500" fill="hold"/>
                                        <p:tgtEl>
                                          <p:spTgt spid="160771">
                                            <p:txEl>
                                              <p:pRg st="0" end="0"/>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60771">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0" grpId="0" build="p" autoUpdateAnimBg="0"/>
      <p:bldP spid="160771" grpId="0" build="p"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1794" name="Rectangle 2">
            <a:extLst>
              <a:ext uri="{FF2B5EF4-FFF2-40B4-BE49-F238E27FC236}">
                <a16:creationId xmlns:a16="http://schemas.microsoft.com/office/drawing/2014/main" id="{DE0841CD-5F7C-4D5B-9D2F-FDFB8256A12F}"/>
              </a:ext>
            </a:extLst>
          </p:cNvPr>
          <p:cNvSpPr>
            <a:spLocks noGrp="1" noChangeArrowheads="1"/>
          </p:cNvSpPr>
          <p:nvPr>
            <p:ph type="title"/>
          </p:nvPr>
        </p:nvSpPr>
        <p:spPr>
          <a:xfrm>
            <a:off x="381000" y="0"/>
            <a:ext cx="8458200" cy="990600"/>
          </a:xfrm>
        </p:spPr>
        <p:txBody>
          <a:bodyPr/>
          <a:lstStyle/>
          <a:p>
            <a:pPr>
              <a:lnSpc>
                <a:spcPct val="100000"/>
              </a:lnSpc>
            </a:pPr>
            <a:r>
              <a:rPr lang="zh-CN" altLang="en-US" sz="4000" dirty="0">
                <a:solidFill>
                  <a:srgbClr val="FF0000"/>
                </a:solidFill>
                <a:effectLst>
                  <a:outerShdw blurRad="38100" dist="38100" dir="2700000" algn="tl">
                    <a:srgbClr val="000000"/>
                  </a:outerShdw>
                </a:effectLst>
                <a:latin typeface="楷体_GB2312" pitchFamily="49" charset="-122"/>
                <a:ea typeface="楷体_GB2312" pitchFamily="49" charset="-122"/>
              </a:rPr>
              <a:t>面向对象语言（</a:t>
            </a:r>
            <a:r>
              <a:rPr lang="en-US" altLang="zh-CN" sz="4000" dirty="0">
                <a:solidFill>
                  <a:srgbClr val="FF0000"/>
                </a:solidFill>
                <a:effectLst>
                  <a:outerShdw blurRad="38100" dist="38100" dir="2700000" algn="tl">
                    <a:srgbClr val="000000"/>
                  </a:outerShdw>
                </a:effectLst>
                <a:latin typeface="楷体_GB2312" pitchFamily="49" charset="-122"/>
                <a:ea typeface="楷体_GB2312" pitchFamily="49" charset="-122"/>
              </a:rPr>
              <a:t>C++</a:t>
            </a:r>
            <a:r>
              <a:rPr lang="zh-CN" altLang="en-US" sz="4000" dirty="0">
                <a:solidFill>
                  <a:srgbClr val="FF0000"/>
                </a:solidFill>
                <a:effectLst>
                  <a:outerShdw blurRad="38100" dist="38100" dir="2700000" algn="tl">
                    <a:srgbClr val="000000"/>
                  </a:outerShdw>
                </a:effectLst>
                <a:latin typeface="楷体_GB2312" pitchFamily="49" charset="-122"/>
                <a:ea typeface="楷体_GB2312" pitchFamily="49" charset="-122"/>
              </a:rPr>
              <a:t>）</a:t>
            </a:r>
            <a:endParaRPr lang="zh-CN" altLang="en-US" b="0" dirty="0">
              <a:solidFill>
                <a:schemeClr val="tx1"/>
              </a:solidFill>
              <a:latin typeface="Times New Roman" panose="02020603050405020304" pitchFamily="18" charset="0"/>
              <a:ea typeface="宋体" panose="02010600030101010101" pitchFamily="2" charset="-122"/>
            </a:endParaRPr>
          </a:p>
        </p:txBody>
      </p:sp>
      <p:sp>
        <p:nvSpPr>
          <p:cNvPr id="161795" name="Rectangle 3">
            <a:extLst>
              <a:ext uri="{FF2B5EF4-FFF2-40B4-BE49-F238E27FC236}">
                <a16:creationId xmlns:a16="http://schemas.microsoft.com/office/drawing/2014/main" id="{8486E686-383F-4039-9CE1-A1ED65FD0665}"/>
              </a:ext>
            </a:extLst>
          </p:cNvPr>
          <p:cNvSpPr>
            <a:spLocks noGrp="1" noChangeArrowheads="1"/>
          </p:cNvSpPr>
          <p:nvPr>
            <p:ph type="body" idx="1"/>
          </p:nvPr>
        </p:nvSpPr>
        <p:spPr>
          <a:xfrm>
            <a:off x="0" y="1386408"/>
            <a:ext cx="8839200" cy="5715000"/>
          </a:xfrm>
        </p:spPr>
        <p:txBody>
          <a:bodyPr/>
          <a:lstStyle/>
          <a:p>
            <a:pPr>
              <a:buFont typeface="Monotype Sorts" pitchFamily="2" charset="2"/>
              <a:buNone/>
            </a:pPr>
            <a:r>
              <a:rPr lang="zh-CN" altLang="en-US" sz="3600" b="1" dirty="0">
                <a:solidFill>
                  <a:srgbClr val="0000FF"/>
                </a:solidFill>
                <a:effectLst>
                  <a:outerShdw blurRad="38100" dist="38100" dir="2700000" algn="tl">
                    <a:srgbClr val="000000"/>
                  </a:outerShdw>
                </a:effectLst>
                <a:latin typeface="楷体_GB2312" pitchFamily="49" charset="-122"/>
                <a:ea typeface="楷体_GB2312" pitchFamily="49" charset="-122"/>
              </a:rPr>
              <a:t>  </a:t>
            </a:r>
            <a:r>
              <a:rPr lang="zh-CN" altLang="en-US" sz="3600" b="1" dirty="0">
                <a:latin typeface="楷体_GB2312" pitchFamily="49" charset="-122"/>
                <a:ea typeface="楷体_GB2312" pitchFamily="49" charset="-122"/>
              </a:rPr>
              <a:t>为克服面向过程语言过分强调求解过程细节，程序不易复用的缺点，推出了面向对象程序设计方法和面向对象语言。面向对象语言引入了</a:t>
            </a:r>
            <a:r>
              <a:rPr lang="zh-CN" altLang="en-US" sz="3600" b="1" dirty="0">
                <a:highlight>
                  <a:srgbClr val="FFFF00"/>
                </a:highlight>
                <a:latin typeface="楷体_GB2312" pitchFamily="49" charset="-122"/>
                <a:ea typeface="楷体_GB2312" pitchFamily="49" charset="-122"/>
              </a:rPr>
              <a:t>对象、消息、类、继承、封装、抽象、多态性</a:t>
            </a:r>
            <a:r>
              <a:rPr lang="zh-CN" altLang="en-US" sz="3600" b="1" dirty="0">
                <a:latin typeface="楷体_GB2312" pitchFamily="49" charset="-122"/>
                <a:ea typeface="楷体_GB2312" pitchFamily="49" charset="-122"/>
              </a:rPr>
              <a:t>等机制和概念。用面向对象语言进行程序设计时，以问题中的对象为基础，将具有类似性质的对象抽象成类，利用继承机制，对差异进行程序设计。</a:t>
            </a:r>
          </a:p>
        </p:txBody>
      </p:sp>
    </p:spTree>
    <p:extLst>
      <p:ext uri="{BB962C8B-B14F-4D97-AF65-F5344CB8AC3E}">
        <p14:creationId xmlns:p14="http://schemas.microsoft.com/office/powerpoint/2010/main" val="2458863275"/>
      </p:ext>
    </p:extLst>
  </p:cSld>
  <p:clrMapOvr>
    <a:masterClrMapping/>
  </p:clrMapOvr>
  <p:transition>
    <p:cover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1794">
                                            <p:txEl>
                                              <p:pRg st="0" end="0"/>
                                            </p:txEl>
                                          </p:spTgt>
                                        </p:tgtEl>
                                        <p:attrNameLst>
                                          <p:attrName>style.visibility</p:attrName>
                                        </p:attrNameLst>
                                      </p:cBhvr>
                                      <p:to>
                                        <p:strVal val="visible"/>
                                      </p:to>
                                    </p:set>
                                    <p:anim calcmode="lin" valueType="num">
                                      <p:cBhvr additive="base">
                                        <p:cTn id="7" dur="500" fill="hold"/>
                                        <p:tgtEl>
                                          <p:spTgt spid="16179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61794">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61795">
                                            <p:txEl>
                                              <p:pRg st="0" end="0"/>
                                            </p:txEl>
                                          </p:spTgt>
                                        </p:tgtEl>
                                        <p:attrNameLst>
                                          <p:attrName>style.visibility</p:attrName>
                                        </p:attrNameLst>
                                      </p:cBhvr>
                                      <p:to>
                                        <p:strVal val="visible"/>
                                      </p:to>
                                    </p:set>
                                    <p:anim calcmode="lin" valueType="num">
                                      <p:cBhvr additive="base">
                                        <p:cTn id="13" dur="500" fill="hold"/>
                                        <p:tgtEl>
                                          <p:spTgt spid="161795">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61795">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4" grpId="0" build="p" autoUpdateAnimBg="0"/>
      <p:bldP spid="161795" grpId="0" build="p"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0051" name="Rectangle 3"/>
          <p:cNvSpPr>
            <a:spLocks noGrp="1" noChangeArrowheads="1"/>
          </p:cNvSpPr>
          <p:nvPr>
            <p:ph idx="1"/>
          </p:nvPr>
        </p:nvSpPr>
        <p:spPr>
          <a:xfrm>
            <a:off x="395932" y="620688"/>
            <a:ext cx="8064500" cy="5672138"/>
          </a:xfrm>
        </p:spPr>
        <p:txBody>
          <a:bodyPr>
            <a:normAutofit/>
          </a:bodyPr>
          <a:lstStyle/>
          <a:p>
            <a:pPr marL="0" indent="0" fontAlgn="auto">
              <a:lnSpc>
                <a:spcPct val="90000"/>
              </a:lnSpc>
              <a:spcAft>
                <a:spcPts val="0"/>
              </a:spcAft>
              <a:buClr>
                <a:schemeClr val="accent3"/>
              </a:buClr>
              <a:buFont typeface="Monotype Sorts" charset="2"/>
              <a:buNone/>
              <a:defRPr/>
            </a:pPr>
            <a:r>
              <a:rPr lang="zh-CN" altLang="en-US" sz="3600" b="1" dirty="0">
                <a:solidFill>
                  <a:srgbClr val="C00000"/>
                </a:solidFill>
                <a:effectLst>
                  <a:outerShdw blurRad="38100" dist="38100" dir="2700000" algn="tl">
                    <a:srgbClr val="000000">
                      <a:alpha val="43137"/>
                    </a:srgbClr>
                  </a:outerShdw>
                </a:effectLst>
                <a:latin typeface="黑体" pitchFamily="2" charset="-122"/>
                <a:ea typeface="黑体" pitchFamily="2" charset="-122"/>
              </a:rPr>
              <a:t>计算机程序</a:t>
            </a:r>
          </a:p>
          <a:p>
            <a:pPr marL="0" indent="0" fontAlgn="auto">
              <a:lnSpc>
                <a:spcPct val="90000"/>
              </a:lnSpc>
              <a:spcAft>
                <a:spcPts val="0"/>
              </a:spcAft>
              <a:buClr>
                <a:schemeClr val="accent3"/>
              </a:buClr>
              <a:buFont typeface="Wingdings 2"/>
              <a:buChar char=""/>
              <a:defRPr/>
            </a:pPr>
            <a:r>
              <a:rPr lang="zh-CN" altLang="en-US" sz="3100" b="1" dirty="0">
                <a:solidFill>
                  <a:srgbClr val="0000FF"/>
                </a:solidFill>
                <a:latin typeface="楷体_GB2312" pitchFamily="49" charset="-122"/>
                <a:ea typeface="楷体_GB2312" pitchFamily="49" charset="-122"/>
              </a:rPr>
              <a:t> </a:t>
            </a:r>
            <a:r>
              <a:rPr lang="zh-CN" altLang="en-US" sz="3100" b="1" dirty="0">
                <a:latin typeface="楷体_GB2312" pitchFamily="49" charset="-122"/>
                <a:ea typeface="楷体_GB2312" pitchFamily="49" charset="-122"/>
              </a:rPr>
              <a:t>为使计算机完成预定的工作，必须把要完成工作的具体步骤编写成相应的计算机指令（序列）。这样的指令序列就是程序。</a:t>
            </a:r>
            <a:endParaRPr lang="en-US" altLang="zh-CN" sz="3100" b="1" dirty="0">
              <a:latin typeface="楷体_GB2312" pitchFamily="49" charset="-122"/>
              <a:ea typeface="楷体_GB2312" pitchFamily="49" charset="-122"/>
            </a:endParaRPr>
          </a:p>
          <a:p>
            <a:pPr marL="365760" lvl="1" indent="0" fontAlgn="auto">
              <a:lnSpc>
                <a:spcPct val="90000"/>
              </a:lnSpc>
              <a:spcAft>
                <a:spcPts val="0"/>
              </a:spcAft>
              <a:buFont typeface="Wingdings 2"/>
              <a:buChar char=""/>
              <a:defRPr/>
            </a:pPr>
            <a:r>
              <a:rPr lang="zh-CN" altLang="en-US" sz="3100" b="1" dirty="0">
                <a:latin typeface="楷体_GB2312" pitchFamily="49" charset="-122"/>
                <a:ea typeface="楷体_GB2312" pitchFamily="49" charset="-122"/>
              </a:rPr>
              <a:t>计算机程序主要包含两方面的内容：</a:t>
            </a:r>
            <a:endParaRPr lang="en-US" altLang="zh-CN" sz="3100" b="1" dirty="0">
              <a:latin typeface="楷体_GB2312" pitchFamily="49" charset="-122"/>
              <a:ea typeface="楷体_GB2312" pitchFamily="49" charset="-122"/>
            </a:endParaRPr>
          </a:p>
          <a:p>
            <a:pPr marL="365760" lvl="1" indent="0" fontAlgn="auto">
              <a:lnSpc>
                <a:spcPct val="90000"/>
              </a:lnSpc>
              <a:spcAft>
                <a:spcPts val="0"/>
              </a:spcAft>
              <a:buNone/>
              <a:defRPr/>
            </a:pPr>
            <a:endParaRPr lang="zh-CN" altLang="en-US" sz="3100" b="1" dirty="0">
              <a:latin typeface="楷体_GB2312" pitchFamily="49" charset="-122"/>
              <a:ea typeface="楷体_GB2312" pitchFamily="49" charset="-122"/>
            </a:endParaRPr>
          </a:p>
          <a:p>
            <a:pPr marL="0" indent="0" fontAlgn="auto">
              <a:lnSpc>
                <a:spcPct val="90000"/>
              </a:lnSpc>
              <a:spcAft>
                <a:spcPts val="0"/>
              </a:spcAft>
              <a:buClr>
                <a:schemeClr val="accent3"/>
              </a:buClr>
              <a:buFont typeface="Monotype Sorts" charset="2"/>
              <a:buNone/>
              <a:defRPr/>
            </a:pPr>
            <a:r>
              <a:rPr lang="zh-CN" altLang="en-US" sz="3100" b="1" dirty="0">
                <a:solidFill>
                  <a:srgbClr val="CC0000"/>
                </a:solidFill>
                <a:latin typeface="楷体_GB2312" pitchFamily="49" charset="-122"/>
                <a:ea typeface="楷体_GB2312" pitchFamily="49" charset="-122"/>
              </a:rPr>
              <a:t>  </a:t>
            </a:r>
            <a:r>
              <a:rPr lang="zh-CN" altLang="en-US" sz="3100" b="1" dirty="0">
                <a:solidFill>
                  <a:srgbClr val="C00000"/>
                </a:solidFill>
                <a:latin typeface="楷体_GB2312" pitchFamily="49" charset="-122"/>
                <a:ea typeface="楷体_GB2312" pitchFamily="49" charset="-122"/>
              </a:rPr>
              <a:t>数据结构、算法</a:t>
            </a:r>
          </a:p>
          <a:p>
            <a:pPr marL="365760" lvl="1" indent="0" fontAlgn="auto">
              <a:lnSpc>
                <a:spcPct val="90000"/>
              </a:lnSpc>
              <a:spcAft>
                <a:spcPts val="0"/>
              </a:spcAft>
              <a:buFont typeface="Wingdings 2"/>
              <a:buChar char=""/>
              <a:defRPr/>
            </a:pPr>
            <a:r>
              <a:rPr lang="zh-CN" altLang="en-US" sz="2900" b="1" dirty="0">
                <a:latin typeface="楷体_GB2312" pitchFamily="49" charset="-122"/>
                <a:ea typeface="楷体_GB2312" pitchFamily="49" charset="-122"/>
              </a:rPr>
              <a:t>数据结构：描述数据及数据之间的关系</a:t>
            </a:r>
          </a:p>
          <a:p>
            <a:pPr marL="365760" lvl="1" indent="0" fontAlgn="auto">
              <a:lnSpc>
                <a:spcPct val="90000"/>
              </a:lnSpc>
              <a:spcAft>
                <a:spcPts val="0"/>
              </a:spcAft>
              <a:buFont typeface="Wingdings 2"/>
              <a:buChar char=""/>
              <a:defRPr/>
            </a:pPr>
            <a:r>
              <a:rPr lang="zh-CN" altLang="en-US" sz="2900" b="1" dirty="0">
                <a:latin typeface="楷体_GB2312" pitchFamily="49" charset="-122"/>
                <a:ea typeface="楷体_GB2312" pitchFamily="49" charset="-122"/>
              </a:rPr>
              <a:t>算法：描述数据对象的处理过程。</a:t>
            </a:r>
          </a:p>
        </p:txBody>
      </p:sp>
      <p:sp>
        <p:nvSpPr>
          <p:cNvPr id="5" name="灯片编号占位符 5"/>
          <p:cNvSpPr>
            <a:spLocks noGrp="1"/>
          </p:cNvSpPr>
          <p:nvPr>
            <p:ph type="sldNum" sz="quarter" idx="12"/>
          </p:nvPr>
        </p:nvSpPr>
        <p:spPr/>
        <p:txBody>
          <a:bodyPr/>
          <a:lstStyle/>
          <a:p>
            <a:pPr defTabSz="1128713">
              <a:defRPr/>
            </a:pPr>
            <a:fld id="{CE3AF22B-8405-49A7-9FC4-012043ABFF9F}" type="slidenum">
              <a:rPr lang="zh-CN" altLang="en-US">
                <a:latin typeface="+mn-lt"/>
              </a:rPr>
              <a:pPr defTabSz="1128713">
                <a:defRPr/>
              </a:pPr>
              <a:t>36</a:t>
            </a:fld>
            <a:endParaRPr lang="en-US" altLang="zh-CN">
              <a:latin typeface="+mn-lt"/>
            </a:endParaRPr>
          </a:p>
        </p:txBody>
      </p:sp>
    </p:spTree>
    <p:extLst>
      <p:ext uri="{BB962C8B-B14F-4D97-AF65-F5344CB8AC3E}">
        <p14:creationId xmlns:p14="http://schemas.microsoft.com/office/powerpoint/2010/main" val="3726106314"/>
      </p:ext>
    </p:extLst>
  </p:cSld>
  <p:clrMapOvr>
    <a:masterClrMapping/>
  </p:clrMapOvr>
  <p:transition>
    <p:random/>
  </p:transition>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B9ECA22F-A5C1-42F5-A93E-D220C130D05E}"/>
              </a:ext>
            </a:extLst>
          </p:cNvPr>
          <p:cNvSpPr>
            <a:spLocks noGrp="1" noChangeArrowheads="1"/>
          </p:cNvSpPr>
          <p:nvPr>
            <p:ph type="title"/>
          </p:nvPr>
        </p:nvSpPr>
        <p:spPr>
          <a:xfrm>
            <a:off x="1150938" y="555625"/>
            <a:ext cx="7793037" cy="779463"/>
          </a:xfrm>
        </p:spPr>
        <p:txBody>
          <a:bodyPr/>
          <a:lstStyle/>
          <a:p>
            <a:pPr eaLnBrk="1" hangingPunct="1"/>
            <a:r>
              <a:rPr lang="zh-CN" altLang="en-US"/>
              <a:t>计算机数据的分类</a:t>
            </a:r>
          </a:p>
        </p:txBody>
      </p:sp>
      <p:sp>
        <p:nvSpPr>
          <p:cNvPr id="100355" name="Rectangle 3">
            <a:extLst>
              <a:ext uri="{FF2B5EF4-FFF2-40B4-BE49-F238E27FC236}">
                <a16:creationId xmlns:a16="http://schemas.microsoft.com/office/drawing/2014/main" id="{8913953A-2BB5-4517-B117-4274F7269876}"/>
              </a:ext>
            </a:extLst>
          </p:cNvPr>
          <p:cNvSpPr>
            <a:spLocks noGrp="1" noChangeArrowheads="1"/>
          </p:cNvSpPr>
          <p:nvPr>
            <p:ph type="body" idx="1"/>
          </p:nvPr>
        </p:nvSpPr>
        <p:spPr/>
        <p:txBody>
          <a:bodyPr/>
          <a:lstStyle/>
          <a:p>
            <a:pPr eaLnBrk="1" hangingPunct="1"/>
            <a:r>
              <a:rPr lang="zh-CN" altLang="en-US"/>
              <a:t>一般数据</a:t>
            </a:r>
          </a:p>
          <a:p>
            <a:pPr lvl="1" eaLnBrk="1" hangingPunct="1"/>
            <a:r>
              <a:rPr lang="zh-CN" altLang="en-US"/>
              <a:t>一段文字</a:t>
            </a:r>
          </a:p>
          <a:p>
            <a:pPr lvl="1" eaLnBrk="1" hangingPunct="1"/>
            <a:r>
              <a:rPr lang="zh-CN" altLang="en-US"/>
              <a:t>一幅图片</a:t>
            </a:r>
          </a:p>
          <a:p>
            <a:pPr lvl="1" eaLnBrk="1" hangingPunct="1"/>
            <a:r>
              <a:rPr lang="en-US" altLang="zh-CN">
                <a:latin typeface="Arial" panose="020B0604020202020204" pitchFamily="34" charset="0"/>
              </a:rPr>
              <a:t>…</a:t>
            </a:r>
            <a:endParaRPr lang="en-US" altLang="zh-CN"/>
          </a:p>
          <a:p>
            <a:pPr eaLnBrk="1" hangingPunct="1"/>
            <a:r>
              <a:rPr lang="zh-CN" altLang="en-US"/>
              <a:t>指令</a:t>
            </a:r>
          </a:p>
          <a:p>
            <a:pPr lvl="1" eaLnBrk="1" hangingPunct="1"/>
            <a:r>
              <a:rPr lang="zh-CN" altLang="en-US"/>
              <a:t>编译为机器代码的程序</a:t>
            </a:r>
          </a:p>
          <a:p>
            <a:pPr eaLnBrk="1" hangingPunct="1"/>
            <a:r>
              <a:rPr lang="zh-CN" altLang="en-US"/>
              <a:t>地址</a:t>
            </a:r>
          </a:p>
          <a:p>
            <a:pPr lvl="1" eaLnBrk="1" hangingPunct="1"/>
            <a:r>
              <a:rPr lang="zh-CN" altLang="en-US"/>
              <a:t>指示数据的存放单元编号</a:t>
            </a:r>
          </a:p>
        </p:txBody>
      </p:sp>
    </p:spTree>
  </p:cSld>
  <p:clrMapOvr>
    <a:masterClrMapping/>
  </p:clrMapOvr>
  <p:transition spd="med">
    <p:wipe dir="r"/>
    <p:sndAc>
      <p:end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0355">
                                            <p:txEl>
                                              <p:pRg st="0" end="0"/>
                                            </p:txEl>
                                          </p:spTgt>
                                        </p:tgtEl>
                                        <p:attrNameLst>
                                          <p:attrName>style.visibility</p:attrName>
                                        </p:attrNameLst>
                                      </p:cBhvr>
                                      <p:to>
                                        <p:strVal val="visible"/>
                                      </p:to>
                                    </p:set>
                                    <p:anim calcmode="lin" valueType="num">
                                      <p:cBhvr additive="base">
                                        <p:cTn id="7" dur="500" fill="hold"/>
                                        <p:tgtEl>
                                          <p:spTgt spid="10035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0355">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par>
                                <p:cTn id="9" presetID="2" presetClass="entr" presetSubtype="8" fill="hold" grpId="0" nodeType="withEffect">
                                  <p:stCondLst>
                                    <p:cond delay="0"/>
                                  </p:stCondLst>
                                  <p:childTnLst>
                                    <p:set>
                                      <p:cBhvr>
                                        <p:cTn id="10" dur="1" fill="hold">
                                          <p:stCondLst>
                                            <p:cond delay="0"/>
                                          </p:stCondLst>
                                        </p:cTn>
                                        <p:tgtEl>
                                          <p:spTgt spid="100355">
                                            <p:txEl>
                                              <p:pRg st="1" end="1"/>
                                            </p:txEl>
                                          </p:spTgt>
                                        </p:tgtEl>
                                        <p:attrNameLst>
                                          <p:attrName>style.visibility</p:attrName>
                                        </p:attrNameLst>
                                      </p:cBhvr>
                                      <p:to>
                                        <p:strVal val="visible"/>
                                      </p:to>
                                    </p:set>
                                    <p:anim calcmode="lin" valueType="num">
                                      <p:cBhvr additive="base">
                                        <p:cTn id="11" dur="500" fill="hold"/>
                                        <p:tgtEl>
                                          <p:spTgt spid="100355">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100355">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2" name="whoosh.wav"/>
                                        </p:tgtEl>
                                      </p:cMediaNode>
                                    </p:audio>
                                  </p:subTnLst>
                                </p:cTn>
                              </p:par>
                              <p:par>
                                <p:cTn id="13" presetID="2" presetClass="entr" presetSubtype="8" fill="hold" grpId="0" nodeType="withEffect">
                                  <p:stCondLst>
                                    <p:cond delay="0"/>
                                  </p:stCondLst>
                                  <p:childTnLst>
                                    <p:set>
                                      <p:cBhvr>
                                        <p:cTn id="14" dur="1" fill="hold">
                                          <p:stCondLst>
                                            <p:cond delay="0"/>
                                          </p:stCondLst>
                                        </p:cTn>
                                        <p:tgtEl>
                                          <p:spTgt spid="100355">
                                            <p:txEl>
                                              <p:pRg st="2" end="2"/>
                                            </p:txEl>
                                          </p:spTgt>
                                        </p:tgtEl>
                                        <p:attrNameLst>
                                          <p:attrName>style.visibility</p:attrName>
                                        </p:attrNameLst>
                                      </p:cBhvr>
                                      <p:to>
                                        <p:strVal val="visible"/>
                                      </p:to>
                                    </p:set>
                                    <p:anim calcmode="lin" valueType="num">
                                      <p:cBhvr additive="base">
                                        <p:cTn id="15" dur="500" fill="hold"/>
                                        <p:tgtEl>
                                          <p:spTgt spid="100355">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100355">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2" name="whoosh.wav"/>
                                        </p:tgtEl>
                                      </p:cMediaNode>
                                    </p:audio>
                                  </p:subTnLst>
                                </p:cTn>
                              </p:par>
                              <p:par>
                                <p:cTn id="17" presetID="2" presetClass="entr" presetSubtype="8" fill="hold" grpId="0" nodeType="withEffect">
                                  <p:stCondLst>
                                    <p:cond delay="0"/>
                                  </p:stCondLst>
                                  <p:childTnLst>
                                    <p:set>
                                      <p:cBhvr>
                                        <p:cTn id="18" dur="1" fill="hold">
                                          <p:stCondLst>
                                            <p:cond delay="0"/>
                                          </p:stCondLst>
                                        </p:cTn>
                                        <p:tgtEl>
                                          <p:spTgt spid="100355">
                                            <p:txEl>
                                              <p:pRg st="3" end="3"/>
                                            </p:txEl>
                                          </p:spTgt>
                                        </p:tgtEl>
                                        <p:attrNameLst>
                                          <p:attrName>style.visibility</p:attrName>
                                        </p:attrNameLst>
                                      </p:cBhvr>
                                      <p:to>
                                        <p:strVal val="visible"/>
                                      </p:to>
                                    </p:set>
                                    <p:anim calcmode="lin" valueType="num">
                                      <p:cBhvr additive="base">
                                        <p:cTn id="19" dur="500" fill="hold"/>
                                        <p:tgtEl>
                                          <p:spTgt spid="100355">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0355">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whoosh.wav"/>
                                        </p:tgtEl>
                                      </p:cMediaNode>
                                    </p:audio>
                                  </p:sub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0355">
                                            <p:txEl>
                                              <p:pRg st="4" end="4"/>
                                            </p:txEl>
                                          </p:spTgt>
                                        </p:tgtEl>
                                        <p:attrNameLst>
                                          <p:attrName>style.visibility</p:attrName>
                                        </p:attrNameLst>
                                      </p:cBhvr>
                                      <p:to>
                                        <p:strVal val="visible"/>
                                      </p:to>
                                    </p:set>
                                    <p:anim calcmode="lin" valueType="num">
                                      <p:cBhvr additive="base">
                                        <p:cTn id="25" dur="500" fill="hold"/>
                                        <p:tgtEl>
                                          <p:spTgt spid="100355">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0355">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whoosh.wav"/>
                                        </p:tgtEl>
                                      </p:cMediaNode>
                                    </p:audio>
                                  </p:subTnLst>
                                </p:cTn>
                              </p:par>
                              <p:par>
                                <p:cTn id="27" presetID="2" presetClass="entr" presetSubtype="8" fill="hold" grpId="0" nodeType="withEffect">
                                  <p:stCondLst>
                                    <p:cond delay="0"/>
                                  </p:stCondLst>
                                  <p:childTnLst>
                                    <p:set>
                                      <p:cBhvr>
                                        <p:cTn id="28" dur="1" fill="hold">
                                          <p:stCondLst>
                                            <p:cond delay="0"/>
                                          </p:stCondLst>
                                        </p:cTn>
                                        <p:tgtEl>
                                          <p:spTgt spid="100355">
                                            <p:txEl>
                                              <p:pRg st="5" end="5"/>
                                            </p:txEl>
                                          </p:spTgt>
                                        </p:tgtEl>
                                        <p:attrNameLst>
                                          <p:attrName>style.visibility</p:attrName>
                                        </p:attrNameLst>
                                      </p:cBhvr>
                                      <p:to>
                                        <p:strVal val="visible"/>
                                      </p:to>
                                    </p:set>
                                    <p:anim calcmode="lin" valueType="num">
                                      <p:cBhvr additive="base">
                                        <p:cTn id="29" dur="500" fill="hold"/>
                                        <p:tgtEl>
                                          <p:spTgt spid="100355">
                                            <p:txEl>
                                              <p:pRg st="5" end="5"/>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100355">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7"/>
                                            </p:cond>
                                          </p:stCondLst>
                                          <p:endCondLst>
                                            <p:cond evt="onStopAudio" delay="0">
                                              <p:tgtEl>
                                                <p:sldTgt/>
                                              </p:tgtEl>
                                            </p:cond>
                                          </p:endCondLst>
                                        </p:cTn>
                                        <p:tgtEl>
                                          <p:sndTgt r:embed="rId2" name="whoosh.wav"/>
                                        </p:tgtEl>
                                      </p:cMediaNode>
                                    </p:audio>
                                  </p:sub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100355">
                                            <p:txEl>
                                              <p:pRg st="6" end="6"/>
                                            </p:txEl>
                                          </p:spTgt>
                                        </p:tgtEl>
                                        <p:attrNameLst>
                                          <p:attrName>style.visibility</p:attrName>
                                        </p:attrNameLst>
                                      </p:cBhvr>
                                      <p:to>
                                        <p:strVal val="visible"/>
                                      </p:to>
                                    </p:set>
                                    <p:anim calcmode="lin" valueType="num">
                                      <p:cBhvr additive="base">
                                        <p:cTn id="35" dur="500" fill="hold"/>
                                        <p:tgtEl>
                                          <p:spTgt spid="100355">
                                            <p:txEl>
                                              <p:pRg st="6" end="6"/>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100355">
                                            <p:txEl>
                                              <p:pRg st="6" end="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3"/>
                                            </p:cond>
                                          </p:stCondLst>
                                          <p:endCondLst>
                                            <p:cond evt="onStopAudio" delay="0">
                                              <p:tgtEl>
                                                <p:sldTgt/>
                                              </p:tgtEl>
                                            </p:cond>
                                          </p:endCondLst>
                                        </p:cTn>
                                        <p:tgtEl>
                                          <p:sndTgt r:embed="rId2" name="whoosh.wav"/>
                                        </p:tgtEl>
                                      </p:cMediaNode>
                                    </p:audio>
                                  </p:subTnLst>
                                </p:cTn>
                              </p:par>
                              <p:par>
                                <p:cTn id="37" presetID="2" presetClass="entr" presetSubtype="8" fill="hold" grpId="0" nodeType="withEffect">
                                  <p:stCondLst>
                                    <p:cond delay="0"/>
                                  </p:stCondLst>
                                  <p:childTnLst>
                                    <p:set>
                                      <p:cBhvr>
                                        <p:cTn id="38" dur="1" fill="hold">
                                          <p:stCondLst>
                                            <p:cond delay="0"/>
                                          </p:stCondLst>
                                        </p:cTn>
                                        <p:tgtEl>
                                          <p:spTgt spid="100355">
                                            <p:txEl>
                                              <p:pRg st="7" end="7"/>
                                            </p:txEl>
                                          </p:spTgt>
                                        </p:tgtEl>
                                        <p:attrNameLst>
                                          <p:attrName>style.visibility</p:attrName>
                                        </p:attrNameLst>
                                      </p:cBhvr>
                                      <p:to>
                                        <p:strVal val="visible"/>
                                      </p:to>
                                    </p:set>
                                    <p:anim calcmode="lin" valueType="num">
                                      <p:cBhvr additive="base">
                                        <p:cTn id="39" dur="500" fill="hold"/>
                                        <p:tgtEl>
                                          <p:spTgt spid="100355">
                                            <p:txEl>
                                              <p:pRg st="7" end="7"/>
                                            </p:txEl>
                                          </p:spTgt>
                                        </p:tgtEl>
                                        <p:attrNameLst>
                                          <p:attrName>ppt_x</p:attrName>
                                        </p:attrNameLst>
                                      </p:cBhvr>
                                      <p:tavLst>
                                        <p:tav tm="0">
                                          <p:val>
                                            <p:strVal val="0-#ppt_w/2"/>
                                          </p:val>
                                        </p:tav>
                                        <p:tav tm="100000">
                                          <p:val>
                                            <p:strVal val="#ppt_x"/>
                                          </p:val>
                                        </p:tav>
                                      </p:tavLst>
                                    </p:anim>
                                    <p:anim calcmode="lin" valueType="num">
                                      <p:cBhvr additive="base">
                                        <p:cTn id="40" dur="500" fill="hold"/>
                                        <p:tgtEl>
                                          <p:spTgt spid="100355">
                                            <p:txEl>
                                              <p:pRg st="7" end="7"/>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7"/>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5" grpId="0" build="p"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5FEA0B2A-5C8B-420A-BA33-F4CD9E82C2B5}"/>
              </a:ext>
            </a:extLst>
          </p:cNvPr>
          <p:cNvSpPr>
            <a:spLocks noGrp="1" noChangeArrowheads="1"/>
          </p:cNvSpPr>
          <p:nvPr>
            <p:ph type="title"/>
          </p:nvPr>
        </p:nvSpPr>
        <p:spPr>
          <a:xfrm>
            <a:off x="1150938" y="555625"/>
            <a:ext cx="7793037" cy="779463"/>
          </a:xfrm>
        </p:spPr>
        <p:txBody>
          <a:bodyPr/>
          <a:lstStyle/>
          <a:p>
            <a:pPr eaLnBrk="1" hangingPunct="1"/>
            <a:r>
              <a:rPr lang="zh-CN" altLang="en-US"/>
              <a:t>字符的表示</a:t>
            </a:r>
            <a:r>
              <a:rPr lang="en-US" altLang="zh-CN"/>
              <a:t>——ASCII</a:t>
            </a:r>
            <a:r>
              <a:rPr lang="zh-CN" altLang="en-US"/>
              <a:t>编码</a:t>
            </a:r>
          </a:p>
        </p:txBody>
      </p:sp>
      <p:sp>
        <p:nvSpPr>
          <p:cNvPr id="101379" name="Rectangle 3">
            <a:extLst>
              <a:ext uri="{FF2B5EF4-FFF2-40B4-BE49-F238E27FC236}">
                <a16:creationId xmlns:a16="http://schemas.microsoft.com/office/drawing/2014/main" id="{1DBF0E40-D98E-4FBC-9912-06F806898E50}"/>
              </a:ext>
            </a:extLst>
          </p:cNvPr>
          <p:cNvSpPr>
            <a:spLocks noGrp="1" noChangeArrowheads="1"/>
          </p:cNvSpPr>
          <p:nvPr>
            <p:ph type="body" idx="1"/>
          </p:nvPr>
        </p:nvSpPr>
        <p:spPr/>
        <p:txBody>
          <a:bodyPr/>
          <a:lstStyle/>
          <a:p>
            <a:pPr eaLnBrk="1" hangingPunct="1"/>
            <a:r>
              <a:rPr lang="en-US" altLang="zh-CN"/>
              <a:t>ASCII</a:t>
            </a:r>
            <a:r>
              <a:rPr lang="en-US" altLang="zh-CN">
                <a:latin typeface="Arial" panose="020B0604020202020204" pitchFamily="34" charset="0"/>
              </a:rPr>
              <a:t>——</a:t>
            </a:r>
            <a:r>
              <a:rPr lang="zh-CN" altLang="en-US"/>
              <a:t>美国信息交换标准代码</a:t>
            </a:r>
          </a:p>
          <a:p>
            <a:pPr eaLnBrk="1" hangingPunct="1"/>
            <a:r>
              <a:rPr lang="en-US" altLang="zh-CN"/>
              <a:t>7</a:t>
            </a:r>
            <a:r>
              <a:rPr lang="zh-CN" altLang="en-US"/>
              <a:t>位二进制</a:t>
            </a:r>
          </a:p>
          <a:p>
            <a:pPr eaLnBrk="1" hangingPunct="1"/>
            <a:r>
              <a:rPr lang="zh-CN" altLang="en-US"/>
              <a:t>包括数字、字母和其它一些字符的编码</a:t>
            </a:r>
          </a:p>
          <a:p>
            <a:pPr eaLnBrk="1" hangingPunct="1"/>
            <a:r>
              <a:rPr lang="zh-CN" altLang="en-US"/>
              <a:t>要点</a:t>
            </a:r>
          </a:p>
          <a:p>
            <a:pPr lvl="1" eaLnBrk="1" hangingPunct="1"/>
            <a:r>
              <a:rPr lang="zh-CN" altLang="en-US"/>
              <a:t>数字和字母的</a:t>
            </a:r>
            <a:r>
              <a:rPr lang="en-US" altLang="zh-CN"/>
              <a:t>ASCII</a:t>
            </a:r>
            <a:r>
              <a:rPr lang="zh-CN" altLang="en-US"/>
              <a:t>编码</a:t>
            </a:r>
          </a:p>
          <a:p>
            <a:pPr lvl="1" eaLnBrk="1" hangingPunct="1"/>
            <a:r>
              <a:rPr lang="en-US" altLang="zh-CN"/>
              <a:t>7</a:t>
            </a:r>
            <a:r>
              <a:rPr lang="zh-CN" altLang="en-US"/>
              <a:t>位编码</a:t>
            </a:r>
          </a:p>
        </p:txBody>
      </p:sp>
    </p:spTree>
  </p:cSld>
  <p:clrMapOvr>
    <a:masterClrMapping/>
  </p:clrMapOvr>
  <p:transition spd="med">
    <p:wipe dir="r"/>
    <p:sndAc>
      <p:end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1379">
                                            <p:txEl>
                                              <p:pRg st="0" end="0"/>
                                            </p:txEl>
                                          </p:spTgt>
                                        </p:tgtEl>
                                        <p:attrNameLst>
                                          <p:attrName>style.visibility</p:attrName>
                                        </p:attrNameLst>
                                      </p:cBhvr>
                                      <p:to>
                                        <p:strVal val="visible"/>
                                      </p:to>
                                    </p:set>
                                    <p:anim calcmode="lin" valueType="num">
                                      <p:cBhvr additive="base">
                                        <p:cTn id="7" dur="500" fill="hold"/>
                                        <p:tgtEl>
                                          <p:spTgt spid="10137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1379">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1379">
                                            <p:txEl>
                                              <p:pRg st="1" end="1"/>
                                            </p:txEl>
                                          </p:spTgt>
                                        </p:tgtEl>
                                        <p:attrNameLst>
                                          <p:attrName>style.visibility</p:attrName>
                                        </p:attrNameLst>
                                      </p:cBhvr>
                                      <p:to>
                                        <p:strVal val="visible"/>
                                      </p:to>
                                    </p:set>
                                    <p:anim calcmode="lin" valueType="num">
                                      <p:cBhvr additive="base">
                                        <p:cTn id="13" dur="500" fill="hold"/>
                                        <p:tgtEl>
                                          <p:spTgt spid="10137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1379">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whoosh.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1379">
                                            <p:txEl>
                                              <p:pRg st="2" end="2"/>
                                            </p:txEl>
                                          </p:spTgt>
                                        </p:tgtEl>
                                        <p:attrNameLst>
                                          <p:attrName>style.visibility</p:attrName>
                                        </p:attrNameLst>
                                      </p:cBhvr>
                                      <p:to>
                                        <p:strVal val="visible"/>
                                      </p:to>
                                    </p:set>
                                    <p:anim calcmode="lin" valueType="num">
                                      <p:cBhvr additive="base">
                                        <p:cTn id="19" dur="500" fill="hold"/>
                                        <p:tgtEl>
                                          <p:spTgt spid="10137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1379">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whoosh.wav"/>
                                        </p:tgtEl>
                                      </p:cMediaNode>
                                    </p:audio>
                                  </p:sub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1379">
                                            <p:txEl>
                                              <p:pRg st="3" end="3"/>
                                            </p:txEl>
                                          </p:spTgt>
                                        </p:tgtEl>
                                        <p:attrNameLst>
                                          <p:attrName>style.visibility</p:attrName>
                                        </p:attrNameLst>
                                      </p:cBhvr>
                                      <p:to>
                                        <p:strVal val="visible"/>
                                      </p:to>
                                    </p:set>
                                    <p:anim calcmode="lin" valueType="num">
                                      <p:cBhvr additive="base">
                                        <p:cTn id="25" dur="500" fill="hold"/>
                                        <p:tgtEl>
                                          <p:spTgt spid="101379">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1379">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whoosh.wav"/>
                                        </p:tgtEl>
                                      </p:cMediaNode>
                                    </p:audio>
                                  </p:subTnLst>
                                </p:cTn>
                              </p:par>
                              <p:par>
                                <p:cTn id="27" presetID="2" presetClass="entr" presetSubtype="8" fill="hold" grpId="0" nodeType="withEffect">
                                  <p:stCondLst>
                                    <p:cond delay="0"/>
                                  </p:stCondLst>
                                  <p:childTnLst>
                                    <p:set>
                                      <p:cBhvr>
                                        <p:cTn id="28" dur="1" fill="hold">
                                          <p:stCondLst>
                                            <p:cond delay="0"/>
                                          </p:stCondLst>
                                        </p:cTn>
                                        <p:tgtEl>
                                          <p:spTgt spid="101379">
                                            <p:txEl>
                                              <p:pRg st="4" end="4"/>
                                            </p:txEl>
                                          </p:spTgt>
                                        </p:tgtEl>
                                        <p:attrNameLst>
                                          <p:attrName>style.visibility</p:attrName>
                                        </p:attrNameLst>
                                      </p:cBhvr>
                                      <p:to>
                                        <p:strVal val="visible"/>
                                      </p:to>
                                    </p:set>
                                    <p:anim calcmode="lin" valueType="num">
                                      <p:cBhvr additive="base">
                                        <p:cTn id="29" dur="500" fill="hold"/>
                                        <p:tgtEl>
                                          <p:spTgt spid="101379">
                                            <p:txEl>
                                              <p:pRg st="4" end="4"/>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101379">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7"/>
                                            </p:cond>
                                          </p:stCondLst>
                                          <p:endCondLst>
                                            <p:cond evt="onStopAudio" delay="0">
                                              <p:tgtEl>
                                                <p:sldTgt/>
                                              </p:tgtEl>
                                            </p:cond>
                                          </p:endCondLst>
                                        </p:cTn>
                                        <p:tgtEl>
                                          <p:sndTgt r:embed="rId2" name="whoosh.wav"/>
                                        </p:tgtEl>
                                      </p:cMediaNode>
                                    </p:audio>
                                  </p:subTnLst>
                                </p:cTn>
                              </p:par>
                              <p:par>
                                <p:cTn id="31" presetID="2" presetClass="entr" presetSubtype="8" fill="hold" grpId="0" nodeType="withEffect">
                                  <p:stCondLst>
                                    <p:cond delay="0"/>
                                  </p:stCondLst>
                                  <p:childTnLst>
                                    <p:set>
                                      <p:cBhvr>
                                        <p:cTn id="32" dur="1" fill="hold">
                                          <p:stCondLst>
                                            <p:cond delay="0"/>
                                          </p:stCondLst>
                                        </p:cTn>
                                        <p:tgtEl>
                                          <p:spTgt spid="101379">
                                            <p:txEl>
                                              <p:pRg st="5" end="5"/>
                                            </p:txEl>
                                          </p:spTgt>
                                        </p:tgtEl>
                                        <p:attrNameLst>
                                          <p:attrName>style.visibility</p:attrName>
                                        </p:attrNameLst>
                                      </p:cBhvr>
                                      <p:to>
                                        <p:strVal val="visible"/>
                                      </p:to>
                                    </p:set>
                                    <p:anim calcmode="lin" valueType="num">
                                      <p:cBhvr additive="base">
                                        <p:cTn id="33" dur="500" fill="hold"/>
                                        <p:tgtEl>
                                          <p:spTgt spid="101379">
                                            <p:txEl>
                                              <p:pRg st="5" end="5"/>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101379">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1"/>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9" grpId="0" build="p"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9B6C882B-3E88-45DF-8F22-4B2A9BC324F1}"/>
              </a:ext>
            </a:extLst>
          </p:cNvPr>
          <p:cNvSpPr>
            <a:spLocks noGrp="1" noChangeArrowheads="1"/>
          </p:cNvSpPr>
          <p:nvPr>
            <p:ph type="title"/>
          </p:nvPr>
        </p:nvSpPr>
        <p:spPr>
          <a:xfrm>
            <a:off x="1150938" y="555625"/>
            <a:ext cx="7793037" cy="779463"/>
          </a:xfrm>
        </p:spPr>
        <p:txBody>
          <a:bodyPr/>
          <a:lstStyle/>
          <a:p>
            <a:pPr eaLnBrk="1" hangingPunct="1"/>
            <a:r>
              <a:rPr lang="en-US" altLang="zh-CN"/>
              <a:t>ASCII</a:t>
            </a:r>
            <a:r>
              <a:rPr lang="zh-CN" altLang="en-US"/>
              <a:t>表</a:t>
            </a:r>
          </a:p>
        </p:txBody>
      </p:sp>
      <p:pic>
        <p:nvPicPr>
          <p:cNvPr id="102403" name="Picture 3">
            <a:extLst>
              <a:ext uri="{FF2B5EF4-FFF2-40B4-BE49-F238E27FC236}">
                <a16:creationId xmlns:a16="http://schemas.microsoft.com/office/drawing/2014/main" id="{31C80129-5D80-4099-B4DC-A3DDE6FA2D1C}"/>
              </a:ext>
            </a:extLst>
          </p:cNvPr>
          <p:cNvPicPr>
            <a:picLocks noGrp="1" noChangeAspect="1" noChangeArrowheads="1"/>
          </p:cNvPicPr>
          <p:nvPr>
            <p:ph type="body" idx="1"/>
          </p:nvPr>
        </p:nvPicPr>
        <p:blipFill>
          <a:blip r:embed="rId3">
            <a:extLst>
              <a:ext uri="{28A0092B-C50C-407E-A947-70E740481C1C}">
                <a14:useLocalDpi xmlns:a14="http://schemas.microsoft.com/office/drawing/2010/main" val="0"/>
              </a:ext>
            </a:extLst>
          </a:blip>
          <a:srcRect l="21875" t="27083" r="21875" b="28125"/>
          <a:stretch>
            <a:fillRect/>
          </a:stretch>
        </p:blipFill>
        <p:spPr>
          <a:xfrm>
            <a:off x="838200" y="2017713"/>
            <a:ext cx="7675563" cy="4584700"/>
          </a:xfrm>
          <a:noFill/>
          <a:extLs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Lst>
        </p:spPr>
      </p:pic>
    </p:spTree>
  </p:cSld>
  <p:clrMapOvr>
    <a:masterClrMapping/>
  </p:clrMapOvr>
  <p:transition spd="med">
    <p:wipe dir="r"/>
    <p:sndAc>
      <p:end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02403"/>
                                        </p:tgtEl>
                                        <p:attrNameLst>
                                          <p:attrName>style.visibility</p:attrName>
                                        </p:attrNameLst>
                                      </p:cBhvr>
                                      <p:to>
                                        <p:strVal val="visible"/>
                                      </p:to>
                                    </p:set>
                                    <p:anim calcmode="lin" valueType="num">
                                      <p:cBhvr additive="base">
                                        <p:cTn id="7" dur="500" fill="hold"/>
                                        <p:tgtEl>
                                          <p:spTgt spid="102403"/>
                                        </p:tgtEl>
                                        <p:attrNameLst>
                                          <p:attrName>ppt_x</p:attrName>
                                        </p:attrNameLst>
                                      </p:cBhvr>
                                      <p:tavLst>
                                        <p:tav tm="0">
                                          <p:val>
                                            <p:strVal val="0-#ppt_w/2"/>
                                          </p:val>
                                        </p:tav>
                                        <p:tav tm="100000">
                                          <p:val>
                                            <p:strVal val="#ppt_x"/>
                                          </p:val>
                                        </p:tav>
                                      </p:tavLst>
                                    </p:anim>
                                    <p:anim calcmode="lin" valueType="num">
                                      <p:cBhvr additive="base">
                                        <p:cTn id="8" dur="500" fill="hold"/>
                                        <p:tgtEl>
                                          <p:spTgt spid="10240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1304085D-F397-470E-A0E9-C37832DF6CF7}"/>
              </a:ext>
            </a:extLst>
          </p:cNvPr>
          <p:cNvSpPr>
            <a:spLocks noGrp="1" noChangeArrowheads="1"/>
          </p:cNvSpPr>
          <p:nvPr>
            <p:ph type="title"/>
          </p:nvPr>
        </p:nvSpPr>
        <p:spPr>
          <a:xfrm>
            <a:off x="1150938" y="555625"/>
            <a:ext cx="7793037" cy="779463"/>
          </a:xfrm>
        </p:spPr>
        <p:txBody>
          <a:bodyPr/>
          <a:lstStyle/>
          <a:p>
            <a:pPr eaLnBrk="1" hangingPunct="1"/>
            <a:r>
              <a:rPr lang="zh-CN" altLang="en-US"/>
              <a:t>常见中文编码</a:t>
            </a:r>
          </a:p>
        </p:txBody>
      </p:sp>
      <p:sp>
        <p:nvSpPr>
          <p:cNvPr id="103427" name="Rectangle 3">
            <a:extLst>
              <a:ext uri="{FF2B5EF4-FFF2-40B4-BE49-F238E27FC236}">
                <a16:creationId xmlns:a16="http://schemas.microsoft.com/office/drawing/2014/main" id="{D28A41C3-76C1-45D5-8B2C-1E90F352076D}"/>
              </a:ext>
            </a:extLst>
          </p:cNvPr>
          <p:cNvSpPr>
            <a:spLocks noGrp="1" noChangeArrowheads="1"/>
          </p:cNvSpPr>
          <p:nvPr>
            <p:ph type="body" idx="1"/>
          </p:nvPr>
        </p:nvSpPr>
        <p:spPr/>
        <p:txBody>
          <a:bodyPr/>
          <a:lstStyle/>
          <a:p>
            <a:pPr eaLnBrk="1" hangingPunct="1">
              <a:lnSpc>
                <a:spcPct val="90000"/>
              </a:lnSpc>
            </a:pPr>
            <a:r>
              <a:rPr lang="en-US" altLang="zh-CN" sz="2800"/>
              <a:t>GB2312</a:t>
            </a:r>
          </a:p>
          <a:p>
            <a:pPr lvl="1" eaLnBrk="1" hangingPunct="1">
              <a:lnSpc>
                <a:spcPct val="90000"/>
              </a:lnSpc>
            </a:pPr>
            <a:r>
              <a:rPr lang="zh-CN" altLang="en-US" sz="2400"/>
              <a:t>国标</a:t>
            </a:r>
            <a:r>
              <a:rPr lang="en-US" altLang="zh-CN" sz="2400">
                <a:latin typeface="Arial" panose="020B0604020202020204" pitchFamily="34" charset="0"/>
              </a:rPr>
              <a:t>——</a:t>
            </a:r>
            <a:r>
              <a:rPr lang="zh-CN" altLang="en-US" sz="2400"/>
              <a:t>国家标准，</a:t>
            </a:r>
            <a:r>
              <a:rPr lang="en-US" altLang="zh-CN" sz="2400"/>
              <a:t>6763</a:t>
            </a:r>
            <a:r>
              <a:rPr lang="zh-CN" altLang="en-US" sz="2400"/>
              <a:t>个汉字</a:t>
            </a:r>
          </a:p>
          <a:p>
            <a:pPr lvl="1" eaLnBrk="1" hangingPunct="1">
              <a:lnSpc>
                <a:spcPct val="90000"/>
              </a:lnSpc>
            </a:pPr>
            <a:r>
              <a:rPr lang="en-US" altLang="zh-CN" sz="2400"/>
              <a:t>16</a:t>
            </a:r>
            <a:r>
              <a:rPr lang="zh-CN" altLang="en-US" sz="2400"/>
              <a:t>位编码</a:t>
            </a:r>
            <a:r>
              <a:rPr lang="en-US" altLang="zh-CN" sz="2400"/>
              <a:t>(</a:t>
            </a:r>
            <a:r>
              <a:rPr lang="zh-CN" altLang="en-US" sz="2400"/>
              <a:t>一个汉字占</a:t>
            </a:r>
            <a:r>
              <a:rPr lang="en-US" altLang="zh-CN" sz="2400"/>
              <a:t>16</a:t>
            </a:r>
            <a:r>
              <a:rPr lang="zh-CN" altLang="en-US" sz="2400"/>
              <a:t>位二进制，即</a:t>
            </a:r>
            <a:r>
              <a:rPr lang="en-US" altLang="zh-CN" sz="2400"/>
              <a:t>2</a:t>
            </a:r>
            <a:r>
              <a:rPr lang="zh-CN" altLang="en-US" sz="2400"/>
              <a:t>字节</a:t>
            </a:r>
            <a:r>
              <a:rPr lang="en-US" altLang="zh-CN" sz="2400"/>
              <a:t>)</a:t>
            </a:r>
          </a:p>
          <a:p>
            <a:pPr eaLnBrk="1" hangingPunct="1">
              <a:lnSpc>
                <a:spcPct val="90000"/>
              </a:lnSpc>
            </a:pPr>
            <a:r>
              <a:rPr lang="en-US" altLang="zh-CN" sz="2800"/>
              <a:t>GBK </a:t>
            </a:r>
          </a:p>
          <a:p>
            <a:pPr lvl="1" eaLnBrk="1" hangingPunct="1">
              <a:lnSpc>
                <a:spcPct val="90000"/>
              </a:lnSpc>
            </a:pPr>
            <a:r>
              <a:rPr lang="zh-CN" altLang="en-US" sz="2400"/>
              <a:t>国标大字符集，</a:t>
            </a:r>
            <a:r>
              <a:rPr lang="en-US" altLang="zh-CN" sz="2400"/>
              <a:t>21003</a:t>
            </a:r>
            <a:r>
              <a:rPr lang="zh-CN" altLang="en-US" sz="2400"/>
              <a:t>个汉字</a:t>
            </a:r>
          </a:p>
          <a:p>
            <a:pPr lvl="1" eaLnBrk="1" hangingPunct="1">
              <a:lnSpc>
                <a:spcPct val="90000"/>
              </a:lnSpc>
            </a:pPr>
            <a:r>
              <a:rPr lang="zh-CN" altLang="en-US" sz="2400"/>
              <a:t>在</a:t>
            </a:r>
            <a:r>
              <a:rPr lang="en-US" altLang="zh-CN" sz="2400"/>
              <a:t>GB2312</a:t>
            </a:r>
            <a:r>
              <a:rPr lang="zh-CN" altLang="en-US" sz="2400"/>
              <a:t>基础上扩充（如</a:t>
            </a:r>
            <a:r>
              <a:rPr lang="zh-CN" altLang="en-US" sz="2400">
                <a:latin typeface="Arial" panose="020B0604020202020204" pitchFamily="34" charset="0"/>
              </a:rPr>
              <a:t>“</a:t>
            </a:r>
            <a:r>
              <a:rPr lang="zh-CN" altLang="en-US" sz="2400"/>
              <a:t>镕</a:t>
            </a:r>
            <a:r>
              <a:rPr lang="zh-CN" altLang="en-US" sz="2400">
                <a:latin typeface="Arial" panose="020B0604020202020204" pitchFamily="34" charset="0"/>
              </a:rPr>
              <a:t>”</a:t>
            </a:r>
            <a:r>
              <a:rPr lang="zh-CN" altLang="en-US" sz="2400"/>
              <a:t>不属于</a:t>
            </a:r>
            <a:r>
              <a:rPr lang="en-US" altLang="zh-CN" sz="2400"/>
              <a:t>GB2312</a:t>
            </a:r>
            <a:r>
              <a:rPr lang="zh-CN" altLang="en-US" sz="2400"/>
              <a:t>）</a:t>
            </a:r>
          </a:p>
          <a:p>
            <a:pPr lvl="1" eaLnBrk="1" hangingPunct="1">
              <a:lnSpc>
                <a:spcPct val="90000"/>
              </a:lnSpc>
            </a:pPr>
            <a:r>
              <a:rPr lang="en-US" altLang="zh-CN" sz="2400"/>
              <a:t>16</a:t>
            </a:r>
            <a:r>
              <a:rPr lang="zh-CN" altLang="en-US" sz="2400"/>
              <a:t>位编码</a:t>
            </a:r>
          </a:p>
          <a:p>
            <a:pPr eaLnBrk="1" hangingPunct="1">
              <a:lnSpc>
                <a:spcPct val="90000"/>
              </a:lnSpc>
            </a:pPr>
            <a:r>
              <a:rPr lang="en-US" altLang="zh-CN" sz="2800"/>
              <a:t>BIG5</a:t>
            </a:r>
          </a:p>
          <a:p>
            <a:pPr lvl="1" eaLnBrk="1" hangingPunct="1">
              <a:lnSpc>
                <a:spcPct val="90000"/>
              </a:lnSpc>
            </a:pPr>
            <a:r>
              <a:rPr lang="zh-CN" altLang="en-US" sz="2400"/>
              <a:t>大</a:t>
            </a:r>
            <a:r>
              <a:rPr lang="en-US" altLang="zh-CN" sz="2400"/>
              <a:t>5</a:t>
            </a:r>
            <a:r>
              <a:rPr lang="zh-CN" altLang="en-US" sz="2400"/>
              <a:t>码，</a:t>
            </a:r>
            <a:r>
              <a:rPr lang="en-US" altLang="zh-CN" sz="2400"/>
              <a:t>13053</a:t>
            </a:r>
            <a:r>
              <a:rPr lang="zh-CN" altLang="en-US" sz="2400"/>
              <a:t>个汉字</a:t>
            </a:r>
          </a:p>
          <a:p>
            <a:pPr lvl="1" eaLnBrk="1" hangingPunct="1">
              <a:lnSpc>
                <a:spcPct val="90000"/>
              </a:lnSpc>
            </a:pPr>
            <a:r>
              <a:rPr lang="zh-CN" altLang="en-US" sz="2400"/>
              <a:t>广泛应用于台湾地区</a:t>
            </a:r>
          </a:p>
          <a:p>
            <a:pPr lvl="1" eaLnBrk="1" hangingPunct="1">
              <a:lnSpc>
                <a:spcPct val="90000"/>
              </a:lnSpc>
            </a:pPr>
            <a:r>
              <a:rPr lang="en-US" altLang="zh-CN" sz="2400"/>
              <a:t>14</a:t>
            </a:r>
            <a:r>
              <a:rPr lang="zh-CN" altLang="en-US" sz="2400"/>
              <a:t>位编码</a:t>
            </a:r>
          </a:p>
        </p:txBody>
      </p:sp>
    </p:spTree>
  </p:cSld>
  <p:clrMapOvr>
    <a:masterClrMapping/>
  </p:clrMapOvr>
  <p:transition spd="med">
    <p:wipe dir="r"/>
    <p:sndAc>
      <p:end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3427">
                                            <p:txEl>
                                              <p:pRg st="0" end="0"/>
                                            </p:txEl>
                                          </p:spTgt>
                                        </p:tgtEl>
                                        <p:attrNameLst>
                                          <p:attrName>style.visibility</p:attrName>
                                        </p:attrNameLst>
                                      </p:cBhvr>
                                      <p:to>
                                        <p:strVal val="visible"/>
                                      </p:to>
                                    </p:set>
                                    <p:anim calcmode="lin" valueType="num">
                                      <p:cBhvr additive="base">
                                        <p:cTn id="7" dur="500" fill="hold"/>
                                        <p:tgtEl>
                                          <p:spTgt spid="10342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3427">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par>
                                <p:cTn id="9" presetID="2" presetClass="entr" presetSubtype="8" fill="hold" grpId="0" nodeType="withEffect">
                                  <p:stCondLst>
                                    <p:cond delay="0"/>
                                  </p:stCondLst>
                                  <p:childTnLst>
                                    <p:set>
                                      <p:cBhvr>
                                        <p:cTn id="10" dur="1" fill="hold">
                                          <p:stCondLst>
                                            <p:cond delay="0"/>
                                          </p:stCondLst>
                                        </p:cTn>
                                        <p:tgtEl>
                                          <p:spTgt spid="103427">
                                            <p:txEl>
                                              <p:pRg st="1" end="1"/>
                                            </p:txEl>
                                          </p:spTgt>
                                        </p:tgtEl>
                                        <p:attrNameLst>
                                          <p:attrName>style.visibility</p:attrName>
                                        </p:attrNameLst>
                                      </p:cBhvr>
                                      <p:to>
                                        <p:strVal val="visible"/>
                                      </p:to>
                                    </p:set>
                                    <p:anim calcmode="lin" valueType="num">
                                      <p:cBhvr additive="base">
                                        <p:cTn id="11" dur="500" fill="hold"/>
                                        <p:tgtEl>
                                          <p:spTgt spid="103427">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103427">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2" name="whoosh.wav"/>
                                        </p:tgtEl>
                                      </p:cMediaNode>
                                    </p:audio>
                                  </p:subTnLst>
                                </p:cTn>
                              </p:par>
                              <p:par>
                                <p:cTn id="13" presetID="2" presetClass="entr" presetSubtype="8" fill="hold" grpId="0" nodeType="withEffect">
                                  <p:stCondLst>
                                    <p:cond delay="0"/>
                                  </p:stCondLst>
                                  <p:childTnLst>
                                    <p:set>
                                      <p:cBhvr>
                                        <p:cTn id="14" dur="1" fill="hold">
                                          <p:stCondLst>
                                            <p:cond delay="0"/>
                                          </p:stCondLst>
                                        </p:cTn>
                                        <p:tgtEl>
                                          <p:spTgt spid="103427">
                                            <p:txEl>
                                              <p:pRg st="2" end="2"/>
                                            </p:txEl>
                                          </p:spTgt>
                                        </p:tgtEl>
                                        <p:attrNameLst>
                                          <p:attrName>style.visibility</p:attrName>
                                        </p:attrNameLst>
                                      </p:cBhvr>
                                      <p:to>
                                        <p:strVal val="visible"/>
                                      </p:to>
                                    </p:set>
                                    <p:anim calcmode="lin" valueType="num">
                                      <p:cBhvr additive="base">
                                        <p:cTn id="15" dur="500" fill="hold"/>
                                        <p:tgtEl>
                                          <p:spTgt spid="103427">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103427">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2" name="whoosh.wav"/>
                                        </p:tgtEl>
                                      </p:cMediaNode>
                                    </p:audio>
                                  </p:sub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103427">
                                            <p:txEl>
                                              <p:pRg st="3" end="3"/>
                                            </p:txEl>
                                          </p:spTgt>
                                        </p:tgtEl>
                                        <p:attrNameLst>
                                          <p:attrName>style.visibility</p:attrName>
                                        </p:attrNameLst>
                                      </p:cBhvr>
                                      <p:to>
                                        <p:strVal val="visible"/>
                                      </p:to>
                                    </p:set>
                                    <p:anim calcmode="lin" valueType="num">
                                      <p:cBhvr additive="base">
                                        <p:cTn id="21" dur="500" fill="hold"/>
                                        <p:tgtEl>
                                          <p:spTgt spid="103427">
                                            <p:txEl>
                                              <p:pRg st="3" end="3"/>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103427">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9"/>
                                            </p:cond>
                                          </p:stCondLst>
                                          <p:endCondLst>
                                            <p:cond evt="onStopAudio" delay="0">
                                              <p:tgtEl>
                                                <p:sldTgt/>
                                              </p:tgtEl>
                                            </p:cond>
                                          </p:endCondLst>
                                        </p:cTn>
                                        <p:tgtEl>
                                          <p:sndTgt r:embed="rId2" name="whoosh.wav"/>
                                        </p:tgtEl>
                                      </p:cMediaNode>
                                    </p:audio>
                                  </p:subTnLst>
                                </p:cTn>
                              </p:par>
                              <p:par>
                                <p:cTn id="23" presetID="2" presetClass="entr" presetSubtype="8" fill="hold" grpId="0" nodeType="withEffect">
                                  <p:stCondLst>
                                    <p:cond delay="0"/>
                                  </p:stCondLst>
                                  <p:childTnLst>
                                    <p:set>
                                      <p:cBhvr>
                                        <p:cTn id="24" dur="1" fill="hold">
                                          <p:stCondLst>
                                            <p:cond delay="0"/>
                                          </p:stCondLst>
                                        </p:cTn>
                                        <p:tgtEl>
                                          <p:spTgt spid="103427">
                                            <p:txEl>
                                              <p:pRg st="4" end="4"/>
                                            </p:txEl>
                                          </p:spTgt>
                                        </p:tgtEl>
                                        <p:attrNameLst>
                                          <p:attrName>style.visibility</p:attrName>
                                        </p:attrNameLst>
                                      </p:cBhvr>
                                      <p:to>
                                        <p:strVal val="visible"/>
                                      </p:to>
                                    </p:set>
                                    <p:anim calcmode="lin" valueType="num">
                                      <p:cBhvr additive="base">
                                        <p:cTn id="25" dur="500" fill="hold"/>
                                        <p:tgtEl>
                                          <p:spTgt spid="103427">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3427">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whoosh.wav"/>
                                        </p:tgtEl>
                                      </p:cMediaNode>
                                    </p:audio>
                                  </p:subTnLst>
                                </p:cTn>
                              </p:par>
                              <p:par>
                                <p:cTn id="27" presetID="2" presetClass="entr" presetSubtype="8" fill="hold" grpId="0" nodeType="withEffect">
                                  <p:stCondLst>
                                    <p:cond delay="0"/>
                                  </p:stCondLst>
                                  <p:childTnLst>
                                    <p:set>
                                      <p:cBhvr>
                                        <p:cTn id="28" dur="1" fill="hold">
                                          <p:stCondLst>
                                            <p:cond delay="0"/>
                                          </p:stCondLst>
                                        </p:cTn>
                                        <p:tgtEl>
                                          <p:spTgt spid="103427">
                                            <p:txEl>
                                              <p:pRg st="5" end="5"/>
                                            </p:txEl>
                                          </p:spTgt>
                                        </p:tgtEl>
                                        <p:attrNameLst>
                                          <p:attrName>style.visibility</p:attrName>
                                        </p:attrNameLst>
                                      </p:cBhvr>
                                      <p:to>
                                        <p:strVal val="visible"/>
                                      </p:to>
                                    </p:set>
                                    <p:anim calcmode="lin" valueType="num">
                                      <p:cBhvr additive="base">
                                        <p:cTn id="29" dur="500" fill="hold"/>
                                        <p:tgtEl>
                                          <p:spTgt spid="103427">
                                            <p:txEl>
                                              <p:pRg st="5" end="5"/>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103427">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7"/>
                                            </p:cond>
                                          </p:stCondLst>
                                          <p:endCondLst>
                                            <p:cond evt="onStopAudio" delay="0">
                                              <p:tgtEl>
                                                <p:sldTgt/>
                                              </p:tgtEl>
                                            </p:cond>
                                          </p:endCondLst>
                                        </p:cTn>
                                        <p:tgtEl>
                                          <p:sndTgt r:embed="rId2" name="whoosh.wav"/>
                                        </p:tgtEl>
                                      </p:cMediaNode>
                                    </p:audio>
                                  </p:subTnLst>
                                </p:cTn>
                              </p:par>
                              <p:par>
                                <p:cTn id="31" presetID="2" presetClass="entr" presetSubtype="8" fill="hold" grpId="0" nodeType="withEffect">
                                  <p:stCondLst>
                                    <p:cond delay="0"/>
                                  </p:stCondLst>
                                  <p:childTnLst>
                                    <p:set>
                                      <p:cBhvr>
                                        <p:cTn id="32" dur="1" fill="hold">
                                          <p:stCondLst>
                                            <p:cond delay="0"/>
                                          </p:stCondLst>
                                        </p:cTn>
                                        <p:tgtEl>
                                          <p:spTgt spid="103427">
                                            <p:txEl>
                                              <p:pRg st="6" end="6"/>
                                            </p:txEl>
                                          </p:spTgt>
                                        </p:tgtEl>
                                        <p:attrNameLst>
                                          <p:attrName>style.visibility</p:attrName>
                                        </p:attrNameLst>
                                      </p:cBhvr>
                                      <p:to>
                                        <p:strVal val="visible"/>
                                      </p:to>
                                    </p:set>
                                    <p:anim calcmode="lin" valueType="num">
                                      <p:cBhvr additive="base">
                                        <p:cTn id="33" dur="500" fill="hold"/>
                                        <p:tgtEl>
                                          <p:spTgt spid="103427">
                                            <p:txEl>
                                              <p:pRg st="6" end="6"/>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103427">
                                            <p:txEl>
                                              <p:pRg st="6" end="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1"/>
                                            </p:cond>
                                          </p:stCondLst>
                                          <p:endCondLst>
                                            <p:cond evt="onStopAudio" delay="0">
                                              <p:tgtEl>
                                                <p:sldTgt/>
                                              </p:tgtEl>
                                            </p:cond>
                                          </p:endCondLst>
                                        </p:cTn>
                                        <p:tgtEl>
                                          <p:sndTgt r:embed="rId2" name="whoosh.wav"/>
                                        </p:tgtEl>
                                      </p:cMediaNode>
                                    </p:audio>
                                  </p:sub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8" fill="hold" grpId="0" nodeType="clickEffect">
                                  <p:stCondLst>
                                    <p:cond delay="0"/>
                                  </p:stCondLst>
                                  <p:childTnLst>
                                    <p:set>
                                      <p:cBhvr>
                                        <p:cTn id="38" dur="1" fill="hold">
                                          <p:stCondLst>
                                            <p:cond delay="0"/>
                                          </p:stCondLst>
                                        </p:cTn>
                                        <p:tgtEl>
                                          <p:spTgt spid="103427">
                                            <p:txEl>
                                              <p:pRg st="7" end="7"/>
                                            </p:txEl>
                                          </p:spTgt>
                                        </p:tgtEl>
                                        <p:attrNameLst>
                                          <p:attrName>style.visibility</p:attrName>
                                        </p:attrNameLst>
                                      </p:cBhvr>
                                      <p:to>
                                        <p:strVal val="visible"/>
                                      </p:to>
                                    </p:set>
                                    <p:anim calcmode="lin" valueType="num">
                                      <p:cBhvr additive="base">
                                        <p:cTn id="39" dur="500" fill="hold"/>
                                        <p:tgtEl>
                                          <p:spTgt spid="103427">
                                            <p:txEl>
                                              <p:pRg st="7" end="7"/>
                                            </p:txEl>
                                          </p:spTgt>
                                        </p:tgtEl>
                                        <p:attrNameLst>
                                          <p:attrName>ppt_x</p:attrName>
                                        </p:attrNameLst>
                                      </p:cBhvr>
                                      <p:tavLst>
                                        <p:tav tm="0">
                                          <p:val>
                                            <p:strVal val="0-#ppt_w/2"/>
                                          </p:val>
                                        </p:tav>
                                        <p:tav tm="100000">
                                          <p:val>
                                            <p:strVal val="#ppt_x"/>
                                          </p:val>
                                        </p:tav>
                                      </p:tavLst>
                                    </p:anim>
                                    <p:anim calcmode="lin" valueType="num">
                                      <p:cBhvr additive="base">
                                        <p:cTn id="40" dur="500" fill="hold"/>
                                        <p:tgtEl>
                                          <p:spTgt spid="103427">
                                            <p:txEl>
                                              <p:pRg st="7" end="7"/>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7"/>
                                            </p:cond>
                                          </p:stCondLst>
                                          <p:endCondLst>
                                            <p:cond evt="onStopAudio" delay="0">
                                              <p:tgtEl>
                                                <p:sldTgt/>
                                              </p:tgtEl>
                                            </p:cond>
                                          </p:endCondLst>
                                        </p:cTn>
                                        <p:tgtEl>
                                          <p:sndTgt r:embed="rId2" name="whoosh.wav"/>
                                        </p:tgtEl>
                                      </p:cMediaNode>
                                    </p:audio>
                                  </p:subTnLst>
                                </p:cTn>
                              </p:par>
                              <p:par>
                                <p:cTn id="41" presetID="2" presetClass="entr" presetSubtype="8" fill="hold" grpId="0" nodeType="withEffect">
                                  <p:stCondLst>
                                    <p:cond delay="0"/>
                                  </p:stCondLst>
                                  <p:childTnLst>
                                    <p:set>
                                      <p:cBhvr>
                                        <p:cTn id="42" dur="1" fill="hold">
                                          <p:stCondLst>
                                            <p:cond delay="0"/>
                                          </p:stCondLst>
                                        </p:cTn>
                                        <p:tgtEl>
                                          <p:spTgt spid="103427">
                                            <p:txEl>
                                              <p:pRg st="8" end="8"/>
                                            </p:txEl>
                                          </p:spTgt>
                                        </p:tgtEl>
                                        <p:attrNameLst>
                                          <p:attrName>style.visibility</p:attrName>
                                        </p:attrNameLst>
                                      </p:cBhvr>
                                      <p:to>
                                        <p:strVal val="visible"/>
                                      </p:to>
                                    </p:set>
                                    <p:anim calcmode="lin" valueType="num">
                                      <p:cBhvr additive="base">
                                        <p:cTn id="43" dur="500" fill="hold"/>
                                        <p:tgtEl>
                                          <p:spTgt spid="103427">
                                            <p:txEl>
                                              <p:pRg st="8" end="8"/>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03427">
                                            <p:txEl>
                                              <p:pRg st="8" end="8"/>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2" name="whoosh.wav"/>
                                        </p:tgtEl>
                                      </p:cMediaNode>
                                    </p:audio>
                                  </p:subTnLst>
                                </p:cTn>
                              </p:par>
                              <p:par>
                                <p:cTn id="45" presetID="2" presetClass="entr" presetSubtype="8" fill="hold" grpId="0" nodeType="withEffect">
                                  <p:stCondLst>
                                    <p:cond delay="0"/>
                                  </p:stCondLst>
                                  <p:childTnLst>
                                    <p:set>
                                      <p:cBhvr>
                                        <p:cTn id="46" dur="1" fill="hold">
                                          <p:stCondLst>
                                            <p:cond delay="0"/>
                                          </p:stCondLst>
                                        </p:cTn>
                                        <p:tgtEl>
                                          <p:spTgt spid="103427">
                                            <p:txEl>
                                              <p:pRg st="9" end="9"/>
                                            </p:txEl>
                                          </p:spTgt>
                                        </p:tgtEl>
                                        <p:attrNameLst>
                                          <p:attrName>style.visibility</p:attrName>
                                        </p:attrNameLst>
                                      </p:cBhvr>
                                      <p:to>
                                        <p:strVal val="visible"/>
                                      </p:to>
                                    </p:set>
                                    <p:anim calcmode="lin" valueType="num">
                                      <p:cBhvr additive="base">
                                        <p:cTn id="47" dur="500" fill="hold"/>
                                        <p:tgtEl>
                                          <p:spTgt spid="103427">
                                            <p:txEl>
                                              <p:pRg st="9" end="9"/>
                                            </p:txEl>
                                          </p:spTgt>
                                        </p:tgtEl>
                                        <p:attrNameLst>
                                          <p:attrName>ppt_x</p:attrName>
                                        </p:attrNameLst>
                                      </p:cBhvr>
                                      <p:tavLst>
                                        <p:tav tm="0">
                                          <p:val>
                                            <p:strVal val="0-#ppt_w/2"/>
                                          </p:val>
                                        </p:tav>
                                        <p:tav tm="100000">
                                          <p:val>
                                            <p:strVal val="#ppt_x"/>
                                          </p:val>
                                        </p:tav>
                                      </p:tavLst>
                                    </p:anim>
                                    <p:anim calcmode="lin" valueType="num">
                                      <p:cBhvr additive="base">
                                        <p:cTn id="48" dur="500" fill="hold"/>
                                        <p:tgtEl>
                                          <p:spTgt spid="103427">
                                            <p:txEl>
                                              <p:pRg st="9" end="9"/>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5"/>
                                            </p:cond>
                                          </p:stCondLst>
                                          <p:endCondLst>
                                            <p:cond evt="onStopAudio" delay="0">
                                              <p:tgtEl>
                                                <p:sldTgt/>
                                              </p:tgtEl>
                                            </p:cond>
                                          </p:endCondLst>
                                        </p:cTn>
                                        <p:tgtEl>
                                          <p:sndTgt r:embed="rId2" name="whoosh.wav"/>
                                        </p:tgtEl>
                                      </p:cMediaNode>
                                    </p:audio>
                                  </p:subTnLst>
                                </p:cTn>
                              </p:par>
                              <p:par>
                                <p:cTn id="49" presetID="2" presetClass="entr" presetSubtype="8" fill="hold" grpId="0" nodeType="withEffect">
                                  <p:stCondLst>
                                    <p:cond delay="0"/>
                                  </p:stCondLst>
                                  <p:childTnLst>
                                    <p:set>
                                      <p:cBhvr>
                                        <p:cTn id="50" dur="1" fill="hold">
                                          <p:stCondLst>
                                            <p:cond delay="0"/>
                                          </p:stCondLst>
                                        </p:cTn>
                                        <p:tgtEl>
                                          <p:spTgt spid="103427">
                                            <p:txEl>
                                              <p:pRg st="10" end="10"/>
                                            </p:txEl>
                                          </p:spTgt>
                                        </p:tgtEl>
                                        <p:attrNameLst>
                                          <p:attrName>style.visibility</p:attrName>
                                        </p:attrNameLst>
                                      </p:cBhvr>
                                      <p:to>
                                        <p:strVal val="visible"/>
                                      </p:to>
                                    </p:set>
                                    <p:anim calcmode="lin" valueType="num">
                                      <p:cBhvr additive="base">
                                        <p:cTn id="51" dur="500" fill="hold"/>
                                        <p:tgtEl>
                                          <p:spTgt spid="103427">
                                            <p:txEl>
                                              <p:pRg st="10" end="10"/>
                                            </p:txEl>
                                          </p:spTgt>
                                        </p:tgtEl>
                                        <p:attrNameLst>
                                          <p:attrName>ppt_x</p:attrName>
                                        </p:attrNameLst>
                                      </p:cBhvr>
                                      <p:tavLst>
                                        <p:tav tm="0">
                                          <p:val>
                                            <p:strVal val="0-#ppt_w/2"/>
                                          </p:val>
                                        </p:tav>
                                        <p:tav tm="100000">
                                          <p:val>
                                            <p:strVal val="#ppt_x"/>
                                          </p:val>
                                        </p:tav>
                                      </p:tavLst>
                                    </p:anim>
                                    <p:anim calcmode="lin" valueType="num">
                                      <p:cBhvr additive="base">
                                        <p:cTn id="52" dur="500" fill="hold"/>
                                        <p:tgtEl>
                                          <p:spTgt spid="103427">
                                            <p:txEl>
                                              <p:pRg st="10" end="1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9"/>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7" grpId="0" build="p"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F04021C6-208E-4489-B1B5-B24FCA60BBD9}"/>
              </a:ext>
            </a:extLst>
          </p:cNvPr>
          <p:cNvSpPr>
            <a:spLocks noGrp="1" noChangeArrowheads="1"/>
          </p:cNvSpPr>
          <p:nvPr>
            <p:ph type="title"/>
          </p:nvPr>
        </p:nvSpPr>
        <p:spPr>
          <a:xfrm>
            <a:off x="1150938" y="555625"/>
            <a:ext cx="7793037" cy="779463"/>
          </a:xfrm>
        </p:spPr>
        <p:txBody>
          <a:bodyPr/>
          <a:lstStyle/>
          <a:p>
            <a:pPr eaLnBrk="1" hangingPunct="1"/>
            <a:r>
              <a:rPr lang="zh-CN" altLang="en-US"/>
              <a:t>程序设计语言</a:t>
            </a:r>
          </a:p>
        </p:txBody>
      </p:sp>
      <p:sp>
        <p:nvSpPr>
          <p:cNvPr id="51203" name="Rectangle 3">
            <a:extLst>
              <a:ext uri="{FF2B5EF4-FFF2-40B4-BE49-F238E27FC236}">
                <a16:creationId xmlns:a16="http://schemas.microsoft.com/office/drawing/2014/main" id="{5E302D72-066D-4B7B-922E-029689D9C654}"/>
              </a:ext>
            </a:extLst>
          </p:cNvPr>
          <p:cNvSpPr>
            <a:spLocks noChangeArrowheads="1"/>
          </p:cNvSpPr>
          <p:nvPr/>
        </p:nvSpPr>
        <p:spPr bwMode="auto">
          <a:xfrm>
            <a:off x="1219200" y="2133600"/>
            <a:ext cx="23622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9pPr>
          </a:lstStyle>
          <a:p>
            <a:pPr algn="ctr">
              <a:spcBef>
                <a:spcPct val="0"/>
              </a:spcBef>
              <a:buClrTx/>
              <a:buSzTx/>
              <a:buFontTx/>
              <a:buNone/>
            </a:pPr>
            <a:r>
              <a:rPr lang="zh-CN" altLang="en-US" sz="1800" i="0">
                <a:latin typeface="Garamond" panose="02020404030301010803" pitchFamily="18" charset="0"/>
                <a:ea typeface="宋体" panose="02010600030101010101" pitchFamily="2" charset="-122"/>
              </a:rPr>
              <a:t>机器语言</a:t>
            </a:r>
          </a:p>
          <a:p>
            <a:pPr algn="ctr">
              <a:spcBef>
                <a:spcPct val="0"/>
              </a:spcBef>
              <a:buClrTx/>
              <a:buSzTx/>
              <a:buFontTx/>
              <a:buNone/>
            </a:pPr>
            <a:r>
              <a:rPr lang="en-US" altLang="zh-CN" sz="1800" i="0">
                <a:latin typeface="Garamond" panose="02020404030301010803" pitchFamily="18" charset="0"/>
                <a:ea typeface="宋体" panose="02010600030101010101" pitchFamily="2" charset="-122"/>
              </a:rPr>
              <a:t>Machine Languages</a:t>
            </a:r>
          </a:p>
        </p:txBody>
      </p:sp>
      <p:sp>
        <p:nvSpPr>
          <p:cNvPr id="51204" name="Rectangle 4">
            <a:extLst>
              <a:ext uri="{FF2B5EF4-FFF2-40B4-BE49-F238E27FC236}">
                <a16:creationId xmlns:a16="http://schemas.microsoft.com/office/drawing/2014/main" id="{C62A0ACB-C762-49D3-AC49-F23052CED7F5}"/>
              </a:ext>
            </a:extLst>
          </p:cNvPr>
          <p:cNvSpPr>
            <a:spLocks noChangeArrowheads="1"/>
          </p:cNvSpPr>
          <p:nvPr/>
        </p:nvSpPr>
        <p:spPr bwMode="auto">
          <a:xfrm>
            <a:off x="1219200" y="3962400"/>
            <a:ext cx="23622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9pPr>
          </a:lstStyle>
          <a:p>
            <a:pPr algn="ctr">
              <a:spcBef>
                <a:spcPct val="0"/>
              </a:spcBef>
              <a:buClrTx/>
              <a:buSzTx/>
              <a:buFontTx/>
              <a:buNone/>
            </a:pPr>
            <a:r>
              <a:rPr lang="zh-CN" altLang="en-US" sz="1800" i="0">
                <a:latin typeface="Garamond" panose="02020404030301010803" pitchFamily="18" charset="0"/>
                <a:ea typeface="宋体" panose="02010600030101010101" pitchFamily="2" charset="-122"/>
              </a:rPr>
              <a:t>汇编语言</a:t>
            </a:r>
          </a:p>
          <a:p>
            <a:pPr algn="ctr">
              <a:spcBef>
                <a:spcPct val="0"/>
              </a:spcBef>
              <a:buClrTx/>
              <a:buSzTx/>
              <a:buFontTx/>
              <a:buNone/>
            </a:pPr>
            <a:r>
              <a:rPr lang="en-US" altLang="zh-CN" sz="1800" i="0">
                <a:latin typeface="Garamond" panose="02020404030301010803" pitchFamily="18" charset="0"/>
                <a:ea typeface="宋体" panose="02010600030101010101" pitchFamily="2" charset="-122"/>
              </a:rPr>
              <a:t>Assembly Languages</a:t>
            </a:r>
          </a:p>
        </p:txBody>
      </p:sp>
      <p:sp>
        <p:nvSpPr>
          <p:cNvPr id="51205" name="Rectangle 5">
            <a:extLst>
              <a:ext uri="{FF2B5EF4-FFF2-40B4-BE49-F238E27FC236}">
                <a16:creationId xmlns:a16="http://schemas.microsoft.com/office/drawing/2014/main" id="{B77D273A-93ED-47BE-99CF-D5452E0A823A}"/>
              </a:ext>
            </a:extLst>
          </p:cNvPr>
          <p:cNvSpPr>
            <a:spLocks noChangeArrowheads="1"/>
          </p:cNvSpPr>
          <p:nvPr/>
        </p:nvSpPr>
        <p:spPr bwMode="auto">
          <a:xfrm>
            <a:off x="1219200" y="5715000"/>
            <a:ext cx="23622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9pPr>
          </a:lstStyle>
          <a:p>
            <a:pPr algn="ctr">
              <a:spcBef>
                <a:spcPct val="0"/>
              </a:spcBef>
              <a:buClrTx/>
              <a:buSzTx/>
              <a:buFontTx/>
              <a:buNone/>
            </a:pPr>
            <a:r>
              <a:rPr lang="zh-CN" altLang="en-US" sz="1800" i="0">
                <a:latin typeface="Garamond" panose="02020404030301010803" pitchFamily="18" charset="0"/>
                <a:ea typeface="宋体" panose="02010600030101010101" pitchFamily="2" charset="-122"/>
              </a:rPr>
              <a:t>高级语言</a:t>
            </a:r>
          </a:p>
          <a:p>
            <a:pPr algn="ctr">
              <a:spcBef>
                <a:spcPct val="0"/>
              </a:spcBef>
              <a:buClrTx/>
              <a:buSzTx/>
              <a:buFontTx/>
              <a:buNone/>
            </a:pPr>
            <a:r>
              <a:rPr lang="en-US" altLang="zh-CN" sz="1800" i="0">
                <a:latin typeface="Garamond" panose="02020404030301010803" pitchFamily="18" charset="0"/>
                <a:ea typeface="宋体" panose="02010600030101010101" pitchFamily="2" charset="-122"/>
              </a:rPr>
              <a:t>High-Level Languages</a:t>
            </a:r>
          </a:p>
        </p:txBody>
      </p:sp>
      <p:sp>
        <p:nvSpPr>
          <p:cNvPr id="51206" name="AutoShape 6">
            <a:extLst>
              <a:ext uri="{FF2B5EF4-FFF2-40B4-BE49-F238E27FC236}">
                <a16:creationId xmlns:a16="http://schemas.microsoft.com/office/drawing/2014/main" id="{5B1FCD69-947A-467D-8F75-FB85C9D9A551}"/>
              </a:ext>
            </a:extLst>
          </p:cNvPr>
          <p:cNvSpPr>
            <a:spLocks noChangeArrowheads="1"/>
          </p:cNvSpPr>
          <p:nvPr/>
        </p:nvSpPr>
        <p:spPr bwMode="auto">
          <a:xfrm>
            <a:off x="5334000" y="1981200"/>
            <a:ext cx="1828800" cy="1066800"/>
          </a:xfrm>
          <a:prstGeom prst="bracketPair">
            <a:avLst>
              <a:gd name="adj" fmla="val 16667"/>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9pPr>
          </a:lstStyle>
          <a:p>
            <a:pPr algn="ctr">
              <a:spcBef>
                <a:spcPct val="0"/>
              </a:spcBef>
              <a:buClrTx/>
              <a:buSzTx/>
              <a:buFontTx/>
              <a:buNone/>
            </a:pPr>
            <a:r>
              <a:rPr lang="en-US" altLang="zh-CN" sz="1800" i="0">
                <a:latin typeface="Garamond" panose="02020404030301010803" pitchFamily="18" charset="0"/>
                <a:ea typeface="宋体" panose="02010600030101010101" pitchFamily="2" charset="-122"/>
              </a:rPr>
              <a:t>1300000774</a:t>
            </a:r>
          </a:p>
          <a:p>
            <a:pPr algn="ctr">
              <a:spcBef>
                <a:spcPct val="0"/>
              </a:spcBef>
              <a:buClrTx/>
              <a:buSzTx/>
              <a:buFontTx/>
              <a:buNone/>
            </a:pPr>
            <a:r>
              <a:rPr lang="en-US" altLang="zh-CN" sz="1800" i="0">
                <a:latin typeface="Garamond" panose="02020404030301010803" pitchFamily="18" charset="0"/>
                <a:ea typeface="宋体" panose="02010600030101010101" pitchFamily="2" charset="-122"/>
              </a:rPr>
              <a:t>1300001419</a:t>
            </a:r>
          </a:p>
          <a:p>
            <a:pPr algn="ctr">
              <a:spcBef>
                <a:spcPct val="0"/>
              </a:spcBef>
              <a:buClrTx/>
              <a:buSzTx/>
              <a:buFontTx/>
              <a:buNone/>
            </a:pPr>
            <a:r>
              <a:rPr lang="en-US" altLang="zh-CN" sz="1800" i="0">
                <a:latin typeface="Garamond" panose="02020404030301010803" pitchFamily="18" charset="0"/>
                <a:ea typeface="宋体" panose="02010600030101010101" pitchFamily="2" charset="-122"/>
              </a:rPr>
              <a:t>2200000001</a:t>
            </a:r>
          </a:p>
          <a:p>
            <a:pPr algn="ctr">
              <a:spcBef>
                <a:spcPct val="0"/>
              </a:spcBef>
              <a:buClrTx/>
              <a:buSzTx/>
              <a:buFontTx/>
              <a:buNone/>
            </a:pPr>
            <a:r>
              <a:rPr lang="en-US" altLang="zh-CN" sz="1800" i="0">
                <a:latin typeface="Garamond" panose="02020404030301010803" pitchFamily="18" charset="0"/>
                <a:ea typeface="宋体" panose="02010600030101010101" pitchFamily="2" charset="-122"/>
              </a:rPr>
              <a:t>1400000027</a:t>
            </a:r>
          </a:p>
        </p:txBody>
      </p:sp>
      <p:sp>
        <p:nvSpPr>
          <p:cNvPr id="51207" name="AutoShape 7">
            <a:extLst>
              <a:ext uri="{FF2B5EF4-FFF2-40B4-BE49-F238E27FC236}">
                <a16:creationId xmlns:a16="http://schemas.microsoft.com/office/drawing/2014/main" id="{A779E1BA-5802-4AAE-8E57-FDB3C4C020E7}"/>
              </a:ext>
            </a:extLst>
          </p:cNvPr>
          <p:cNvSpPr>
            <a:spLocks noChangeArrowheads="1"/>
          </p:cNvSpPr>
          <p:nvPr/>
        </p:nvSpPr>
        <p:spPr bwMode="auto">
          <a:xfrm>
            <a:off x="5334000" y="3733800"/>
            <a:ext cx="1828800" cy="1066800"/>
          </a:xfrm>
          <a:prstGeom prst="bracketPair">
            <a:avLst>
              <a:gd name="adj" fmla="val 16667"/>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9pPr>
          </a:lstStyle>
          <a:p>
            <a:pPr algn="ctr">
              <a:spcBef>
                <a:spcPct val="0"/>
              </a:spcBef>
              <a:buClrTx/>
              <a:buSzTx/>
              <a:buFontTx/>
              <a:buNone/>
            </a:pPr>
            <a:r>
              <a:rPr lang="en-US" altLang="zh-CN" sz="1800" i="0">
                <a:latin typeface="Garamond" panose="02020404030301010803" pitchFamily="18" charset="0"/>
                <a:ea typeface="宋体" panose="02010600030101010101" pitchFamily="2" charset="-122"/>
              </a:rPr>
              <a:t>LOAD RG0 A</a:t>
            </a:r>
          </a:p>
          <a:p>
            <a:pPr algn="ctr">
              <a:spcBef>
                <a:spcPct val="0"/>
              </a:spcBef>
              <a:buClrTx/>
              <a:buSzTx/>
              <a:buFontTx/>
              <a:buNone/>
            </a:pPr>
            <a:r>
              <a:rPr lang="en-US" altLang="zh-CN" sz="1800" i="0">
                <a:latin typeface="Garamond" panose="02020404030301010803" pitchFamily="18" charset="0"/>
                <a:ea typeface="宋体" panose="02010600030101010101" pitchFamily="2" charset="-122"/>
              </a:rPr>
              <a:t>LOAD RG1 B</a:t>
            </a:r>
          </a:p>
          <a:p>
            <a:pPr algn="ctr">
              <a:spcBef>
                <a:spcPct val="0"/>
              </a:spcBef>
              <a:buClrTx/>
              <a:buSzTx/>
              <a:buFontTx/>
              <a:buNone/>
            </a:pPr>
            <a:r>
              <a:rPr lang="en-US" altLang="zh-CN" sz="1800" i="0">
                <a:latin typeface="Garamond" panose="02020404030301010803" pitchFamily="18" charset="0"/>
                <a:ea typeface="宋体" panose="02010600030101010101" pitchFamily="2" charset="-122"/>
              </a:rPr>
              <a:t>ADD RG0 RG1</a:t>
            </a:r>
          </a:p>
          <a:p>
            <a:pPr algn="ctr">
              <a:spcBef>
                <a:spcPct val="0"/>
              </a:spcBef>
              <a:buClrTx/>
              <a:buSzTx/>
              <a:buFontTx/>
              <a:buNone/>
            </a:pPr>
            <a:r>
              <a:rPr lang="en-US" altLang="zh-CN" sz="1800" i="0">
                <a:latin typeface="Garamond" panose="02020404030301010803" pitchFamily="18" charset="0"/>
                <a:ea typeface="宋体" panose="02010600030101010101" pitchFamily="2" charset="-122"/>
              </a:rPr>
              <a:t>STORE RG0 C</a:t>
            </a:r>
          </a:p>
        </p:txBody>
      </p:sp>
      <p:sp>
        <p:nvSpPr>
          <p:cNvPr id="51208" name="AutoShape 8">
            <a:extLst>
              <a:ext uri="{FF2B5EF4-FFF2-40B4-BE49-F238E27FC236}">
                <a16:creationId xmlns:a16="http://schemas.microsoft.com/office/drawing/2014/main" id="{6DB75F67-0F92-47F3-B4E2-D2E12F127922}"/>
              </a:ext>
            </a:extLst>
          </p:cNvPr>
          <p:cNvSpPr>
            <a:spLocks noChangeArrowheads="1"/>
          </p:cNvSpPr>
          <p:nvPr/>
        </p:nvSpPr>
        <p:spPr bwMode="auto">
          <a:xfrm>
            <a:off x="5257800" y="5562600"/>
            <a:ext cx="1828800" cy="1066800"/>
          </a:xfrm>
          <a:prstGeom prst="bracketPair">
            <a:avLst>
              <a:gd name="adj" fmla="val 16667"/>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9pPr>
          </a:lstStyle>
          <a:p>
            <a:pPr algn="ctr">
              <a:spcBef>
                <a:spcPct val="0"/>
              </a:spcBef>
              <a:buClrTx/>
              <a:buSzTx/>
              <a:buFontTx/>
              <a:buNone/>
            </a:pPr>
            <a:r>
              <a:rPr lang="en-US" altLang="zh-CN" sz="1800" i="0">
                <a:latin typeface="Garamond" panose="02020404030301010803" pitchFamily="18" charset="0"/>
                <a:ea typeface="宋体" panose="02010600030101010101" pitchFamily="2" charset="-122"/>
              </a:rPr>
              <a:t>C=A+B</a:t>
            </a:r>
          </a:p>
        </p:txBody>
      </p:sp>
      <p:sp>
        <p:nvSpPr>
          <p:cNvPr id="51209" name="Line 9">
            <a:extLst>
              <a:ext uri="{FF2B5EF4-FFF2-40B4-BE49-F238E27FC236}">
                <a16:creationId xmlns:a16="http://schemas.microsoft.com/office/drawing/2014/main" id="{C1D78448-88C2-4479-942B-1C6AB3FF26C8}"/>
              </a:ext>
            </a:extLst>
          </p:cNvPr>
          <p:cNvSpPr>
            <a:spLocks noChangeShapeType="1"/>
          </p:cNvSpPr>
          <p:nvPr/>
        </p:nvSpPr>
        <p:spPr bwMode="auto">
          <a:xfrm>
            <a:off x="3733800" y="2514600"/>
            <a:ext cx="1371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210" name="Line 10">
            <a:extLst>
              <a:ext uri="{FF2B5EF4-FFF2-40B4-BE49-F238E27FC236}">
                <a16:creationId xmlns:a16="http://schemas.microsoft.com/office/drawing/2014/main" id="{B880EAD1-BB0F-4DF0-A751-AE4DAE3DB439}"/>
              </a:ext>
            </a:extLst>
          </p:cNvPr>
          <p:cNvSpPr>
            <a:spLocks noChangeShapeType="1"/>
          </p:cNvSpPr>
          <p:nvPr/>
        </p:nvSpPr>
        <p:spPr bwMode="auto">
          <a:xfrm>
            <a:off x="3733800" y="4267200"/>
            <a:ext cx="1371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211" name="Line 11">
            <a:extLst>
              <a:ext uri="{FF2B5EF4-FFF2-40B4-BE49-F238E27FC236}">
                <a16:creationId xmlns:a16="http://schemas.microsoft.com/office/drawing/2014/main" id="{20101305-AAE7-4178-B876-51BD0391C037}"/>
              </a:ext>
            </a:extLst>
          </p:cNvPr>
          <p:cNvSpPr>
            <a:spLocks noChangeShapeType="1"/>
          </p:cNvSpPr>
          <p:nvPr/>
        </p:nvSpPr>
        <p:spPr bwMode="auto">
          <a:xfrm>
            <a:off x="3810000" y="6019800"/>
            <a:ext cx="1371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212" name="AutoShape 12">
            <a:extLst>
              <a:ext uri="{FF2B5EF4-FFF2-40B4-BE49-F238E27FC236}">
                <a16:creationId xmlns:a16="http://schemas.microsoft.com/office/drawing/2014/main" id="{40469704-3811-48BF-989D-4EBD3DA506FF}"/>
              </a:ext>
            </a:extLst>
          </p:cNvPr>
          <p:cNvSpPr>
            <a:spLocks noChangeArrowheads="1"/>
          </p:cNvSpPr>
          <p:nvPr/>
        </p:nvSpPr>
        <p:spPr bwMode="auto">
          <a:xfrm>
            <a:off x="2133600" y="3048000"/>
            <a:ext cx="341313" cy="685800"/>
          </a:xfrm>
          <a:prstGeom prst="upArrow">
            <a:avLst>
              <a:gd name="adj1" fmla="val 50000"/>
              <a:gd name="adj2" fmla="val 50232"/>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9pPr>
          </a:lstStyle>
          <a:p>
            <a:pPr eaLnBrk="1" hangingPunct="1">
              <a:buFont typeface="Wingdings" panose="05000000000000000000" pitchFamily="2" charset="2"/>
              <a:buChar char="u"/>
            </a:pPr>
            <a:endParaRPr lang="zh-CN" altLang="en-US">
              <a:latin typeface="Arial Unicode MS" pitchFamily="34" charset="-122"/>
            </a:endParaRPr>
          </a:p>
        </p:txBody>
      </p:sp>
      <p:sp>
        <p:nvSpPr>
          <p:cNvPr id="51213" name="AutoShape 13">
            <a:extLst>
              <a:ext uri="{FF2B5EF4-FFF2-40B4-BE49-F238E27FC236}">
                <a16:creationId xmlns:a16="http://schemas.microsoft.com/office/drawing/2014/main" id="{970FBEE5-0F21-4A91-84FA-9FC311CD051B}"/>
              </a:ext>
            </a:extLst>
          </p:cNvPr>
          <p:cNvSpPr>
            <a:spLocks noChangeArrowheads="1"/>
          </p:cNvSpPr>
          <p:nvPr/>
        </p:nvSpPr>
        <p:spPr bwMode="auto">
          <a:xfrm>
            <a:off x="2133600" y="4800600"/>
            <a:ext cx="341313" cy="685800"/>
          </a:xfrm>
          <a:prstGeom prst="upArrow">
            <a:avLst>
              <a:gd name="adj1" fmla="val 50000"/>
              <a:gd name="adj2" fmla="val 50232"/>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9pPr>
          </a:lstStyle>
          <a:p>
            <a:pPr eaLnBrk="1" hangingPunct="1">
              <a:buFont typeface="Wingdings" panose="05000000000000000000" pitchFamily="2" charset="2"/>
              <a:buChar char="u"/>
            </a:pPr>
            <a:endParaRPr lang="zh-CN" altLang="en-US">
              <a:latin typeface="Arial Unicode MS" pitchFamily="34"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0771" name="Rectangle 3"/>
          <p:cNvSpPr>
            <a:spLocks noGrp="1" noChangeArrowheads="1"/>
          </p:cNvSpPr>
          <p:nvPr>
            <p:ph idx="1"/>
          </p:nvPr>
        </p:nvSpPr>
        <p:spPr>
          <a:xfrm>
            <a:off x="539750" y="476250"/>
            <a:ext cx="8353425" cy="6049963"/>
          </a:xfrm>
        </p:spPr>
        <p:txBody>
          <a:bodyPr>
            <a:normAutofit/>
          </a:bodyPr>
          <a:lstStyle/>
          <a:p>
            <a:pPr marL="0" indent="0" fontAlgn="auto">
              <a:spcAft>
                <a:spcPts val="0"/>
              </a:spcAft>
              <a:buClr>
                <a:schemeClr val="accent3"/>
              </a:buClr>
              <a:buFont typeface="Monotype Sorts" charset="2"/>
              <a:buNone/>
              <a:defRPr/>
            </a:pPr>
            <a:r>
              <a:rPr lang="zh-CN" altLang="en-US" sz="3200" b="1" dirty="0">
                <a:solidFill>
                  <a:srgbClr val="C00000"/>
                </a:solidFill>
                <a:latin typeface="黑体" pitchFamily="2" charset="-122"/>
                <a:ea typeface="黑体" pitchFamily="2" charset="-122"/>
              </a:rPr>
              <a:t>算法</a:t>
            </a:r>
          </a:p>
          <a:p>
            <a:pPr marL="0" indent="0" fontAlgn="auto">
              <a:spcAft>
                <a:spcPts val="0"/>
              </a:spcAft>
              <a:buClr>
                <a:schemeClr val="accent3"/>
              </a:buClr>
              <a:buFont typeface="Monotype Sorts" charset="2"/>
              <a:buNone/>
              <a:defRPr/>
            </a:pPr>
            <a:endParaRPr lang="zh-CN" altLang="en-US" b="1" dirty="0">
              <a:solidFill>
                <a:srgbClr val="0000FF"/>
              </a:solidFill>
              <a:effectLst>
                <a:outerShdw blurRad="38100" dist="38100" dir="2700000" algn="tl">
                  <a:srgbClr val="000000"/>
                </a:outerShdw>
              </a:effectLst>
              <a:latin typeface="楷体_GB2312" pitchFamily="49" charset="-122"/>
              <a:ea typeface="楷体_GB2312" pitchFamily="49" charset="-122"/>
            </a:endParaRPr>
          </a:p>
          <a:p>
            <a:pPr marL="0" indent="0" fontAlgn="auto">
              <a:spcAft>
                <a:spcPts val="0"/>
              </a:spcAft>
              <a:buClr>
                <a:schemeClr val="accent3"/>
              </a:buClr>
              <a:buFont typeface="Wingdings 2"/>
              <a:buChar char=""/>
              <a:defRPr/>
            </a:pPr>
            <a:r>
              <a:rPr lang="zh-CN" altLang="en-US" sz="3600" b="1" dirty="0">
                <a:solidFill>
                  <a:srgbClr val="FF6600"/>
                </a:solidFill>
                <a:latin typeface="楷体_GB2312" pitchFamily="49" charset="-122"/>
                <a:ea typeface="楷体_GB2312" pitchFamily="49" charset="-122"/>
              </a:rPr>
              <a:t> </a:t>
            </a:r>
            <a:r>
              <a:rPr lang="zh-CN" altLang="en-US" sz="3600" b="1" dirty="0">
                <a:latin typeface="楷体_GB2312" pitchFamily="49" charset="-122"/>
                <a:ea typeface="楷体_GB2312" pitchFamily="49" charset="-122"/>
              </a:rPr>
              <a:t>算法是解题过程的精确描述，由有限条可执行的、有确定结果的指令构成。</a:t>
            </a:r>
            <a:endParaRPr lang="en-US" altLang="zh-CN" sz="3600" b="1" dirty="0">
              <a:latin typeface="楷体_GB2312" pitchFamily="49" charset="-122"/>
              <a:ea typeface="楷体_GB2312" pitchFamily="49" charset="-122"/>
            </a:endParaRPr>
          </a:p>
          <a:p>
            <a:pPr marL="0" indent="0" fontAlgn="auto">
              <a:spcAft>
                <a:spcPts val="0"/>
              </a:spcAft>
              <a:buClr>
                <a:schemeClr val="accent3"/>
              </a:buClr>
              <a:buFont typeface="Wingdings 2"/>
              <a:buChar char=""/>
              <a:defRPr/>
            </a:pPr>
            <a:r>
              <a:rPr lang="zh-CN" altLang="en-US" sz="3600" b="1" dirty="0">
                <a:solidFill>
                  <a:srgbClr val="0000FF"/>
                </a:solidFill>
                <a:latin typeface="楷体_GB2312" pitchFamily="49" charset="-122"/>
                <a:ea typeface="楷体_GB2312" pitchFamily="49" charset="-122"/>
              </a:rPr>
              <a:t> </a:t>
            </a:r>
            <a:r>
              <a:rPr lang="zh-CN" altLang="en-US" sz="3600" b="1" dirty="0">
                <a:latin typeface="楷体_GB2312" pitchFamily="49" charset="-122"/>
                <a:ea typeface="楷体_GB2312" pitchFamily="49" charset="-122"/>
              </a:rPr>
              <a:t>从程序的角度理解：算法由明确说明的一组简单指令和规则组成。计算机按规则执行其中的指令能在有限的步骤内解决目标问题或者完成函数的计算。</a:t>
            </a:r>
          </a:p>
        </p:txBody>
      </p:sp>
      <p:sp>
        <p:nvSpPr>
          <p:cNvPr id="5" name="灯片编号占位符 5"/>
          <p:cNvSpPr>
            <a:spLocks noGrp="1"/>
          </p:cNvSpPr>
          <p:nvPr>
            <p:ph type="sldNum" sz="quarter" idx="12"/>
          </p:nvPr>
        </p:nvSpPr>
        <p:spPr/>
        <p:txBody>
          <a:bodyPr/>
          <a:lstStyle/>
          <a:p>
            <a:pPr defTabSz="1128713">
              <a:defRPr/>
            </a:pPr>
            <a:fld id="{D1B6EE79-9641-4E90-8DE2-CA97B0A28499}" type="slidenum">
              <a:rPr lang="zh-CN" altLang="en-US">
                <a:latin typeface="+mn-lt"/>
              </a:rPr>
              <a:pPr defTabSz="1128713">
                <a:defRPr/>
              </a:pPr>
              <a:t>42</a:t>
            </a:fld>
            <a:endParaRPr lang="en-US" altLang="zh-CN">
              <a:latin typeface="+mn-lt"/>
            </a:endParaRPr>
          </a:p>
        </p:txBody>
      </p:sp>
    </p:spTree>
  </p:cSld>
  <p:clrMapOvr>
    <a:masterClrMapping/>
  </p:clrMapOvr>
  <p:transition>
    <p:random/>
  </p:transition>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6" name="Rectangle 2"/>
          <p:cNvSpPr>
            <a:spLocks noGrp="1" noChangeArrowheads="1"/>
          </p:cNvSpPr>
          <p:nvPr>
            <p:ph idx="1"/>
          </p:nvPr>
        </p:nvSpPr>
        <p:spPr>
          <a:xfrm>
            <a:off x="143508" y="1417861"/>
            <a:ext cx="8856984" cy="4824958"/>
          </a:xfrm>
        </p:spPr>
        <p:txBody>
          <a:bodyPr/>
          <a:lstStyle/>
          <a:p>
            <a:pPr marL="0" indent="0">
              <a:lnSpc>
                <a:spcPct val="90000"/>
              </a:lnSpc>
            </a:pPr>
            <a:r>
              <a:rPr lang="zh-CN" altLang="en-US" sz="3100" b="1" dirty="0">
                <a:ea typeface="楷体_GB2312" pitchFamily="49" charset="-122"/>
              </a:rPr>
              <a:t>求解同一个问题可能会有多种算法可供选择，选择算法的标准首先是算法的</a:t>
            </a:r>
            <a:r>
              <a:rPr lang="zh-CN" altLang="en-US" sz="3100" b="1" dirty="0">
                <a:highlight>
                  <a:srgbClr val="FFFF00"/>
                </a:highlight>
                <a:ea typeface="楷体_GB2312" pitchFamily="49" charset="-122"/>
              </a:rPr>
              <a:t>正确性和可靠性</a:t>
            </a:r>
            <a:r>
              <a:rPr lang="zh-CN" altLang="en-US" sz="3100" b="1" dirty="0">
                <a:ea typeface="楷体_GB2312" pitchFamily="49" charset="-122"/>
              </a:rPr>
              <a:t>，算法</a:t>
            </a:r>
            <a:r>
              <a:rPr lang="zh-CN" altLang="en-US" sz="3100" b="1" dirty="0">
                <a:highlight>
                  <a:srgbClr val="FFFF00"/>
                </a:highlight>
                <a:ea typeface="楷体_GB2312" pitchFamily="49" charset="-122"/>
              </a:rPr>
              <a:t>简单性和易理解性</a:t>
            </a:r>
            <a:r>
              <a:rPr lang="zh-CN" altLang="en-US" sz="3100" b="1" dirty="0">
                <a:ea typeface="楷体_GB2312" pitchFamily="49" charset="-122"/>
              </a:rPr>
              <a:t>。其它的标准还有算法</a:t>
            </a:r>
            <a:r>
              <a:rPr lang="zh-CN" altLang="en-US" sz="3100" b="1" dirty="0">
                <a:highlight>
                  <a:srgbClr val="FFFF00"/>
                </a:highlight>
                <a:ea typeface="楷体_GB2312" pitchFamily="49" charset="-122"/>
              </a:rPr>
              <a:t>执行速度</a:t>
            </a:r>
            <a:r>
              <a:rPr lang="zh-CN" altLang="en-US" sz="3100" b="1" dirty="0">
                <a:ea typeface="楷体_GB2312" pitchFamily="49" charset="-122"/>
              </a:rPr>
              <a:t>快，所需要的</a:t>
            </a:r>
            <a:r>
              <a:rPr lang="zh-CN" altLang="en-US" sz="3100" b="1" dirty="0">
                <a:highlight>
                  <a:srgbClr val="FFFF00"/>
                </a:highlight>
                <a:ea typeface="楷体_GB2312" pitchFamily="49" charset="-122"/>
              </a:rPr>
              <a:t>存储空间少</a:t>
            </a:r>
            <a:r>
              <a:rPr lang="zh-CN" altLang="en-US" sz="3100" b="1" dirty="0">
                <a:ea typeface="楷体_GB2312" pitchFamily="49" charset="-122"/>
              </a:rPr>
              <a:t>等。</a:t>
            </a:r>
            <a:endParaRPr lang="en-US" altLang="zh-CN" sz="3100" b="1" dirty="0">
              <a:ea typeface="楷体_GB2312" pitchFamily="49" charset="-122"/>
            </a:endParaRPr>
          </a:p>
          <a:p>
            <a:pPr marL="0" indent="0">
              <a:lnSpc>
                <a:spcPct val="90000"/>
              </a:lnSpc>
            </a:pPr>
            <a:endParaRPr lang="zh-CN" altLang="en-US" sz="3100" b="1" dirty="0">
              <a:ea typeface="楷体_GB2312" pitchFamily="49" charset="-122"/>
            </a:endParaRPr>
          </a:p>
          <a:p>
            <a:pPr marL="0" indent="0">
              <a:lnSpc>
                <a:spcPct val="90000"/>
              </a:lnSpc>
            </a:pPr>
            <a:r>
              <a:rPr lang="zh-CN" altLang="en-US" sz="3100" b="1" dirty="0">
                <a:ea typeface="楷体_GB2312" pitchFamily="49" charset="-122"/>
              </a:rPr>
              <a:t> 描述算法可用流程图</a:t>
            </a:r>
            <a:r>
              <a:rPr lang="en-US" altLang="zh-CN" sz="3100" b="1" dirty="0">
                <a:ea typeface="楷体_GB2312" pitchFamily="49" charset="-122"/>
              </a:rPr>
              <a:t>(</a:t>
            </a:r>
            <a:r>
              <a:rPr lang="zh-CN" altLang="en-US" sz="3100" b="1" dirty="0">
                <a:ea typeface="楷体_GB2312" pitchFamily="49" charset="-122"/>
              </a:rPr>
              <a:t>框图</a:t>
            </a:r>
            <a:r>
              <a:rPr lang="en-US" altLang="zh-CN" sz="3100" b="1" dirty="0">
                <a:ea typeface="楷体_GB2312" pitchFamily="49" charset="-122"/>
              </a:rPr>
              <a:t>)</a:t>
            </a:r>
            <a:r>
              <a:rPr lang="zh-CN" altLang="en-US" sz="3100" b="1" dirty="0">
                <a:ea typeface="楷体_GB2312" pitchFamily="49" charset="-122"/>
              </a:rPr>
              <a:t>。流程图是算法的图形描述，由于流程图往往比程序更直观清晰，容易阅读和理解，所以它不仅可以作为编写程序的依据，而且也是交流算法思想的重要工具。</a:t>
            </a:r>
          </a:p>
        </p:txBody>
      </p:sp>
      <p:sp>
        <p:nvSpPr>
          <p:cNvPr id="5" name="灯片编号占位符 5"/>
          <p:cNvSpPr>
            <a:spLocks noGrp="1"/>
          </p:cNvSpPr>
          <p:nvPr>
            <p:ph type="sldNum" sz="quarter" idx="12"/>
          </p:nvPr>
        </p:nvSpPr>
        <p:spPr/>
        <p:txBody>
          <a:bodyPr/>
          <a:lstStyle/>
          <a:p>
            <a:pPr defTabSz="1128713">
              <a:defRPr/>
            </a:pPr>
            <a:fld id="{4BD09D39-E07E-4B6A-A075-0E18F3E34C6A}" type="slidenum">
              <a:rPr lang="zh-CN" altLang="en-US">
                <a:latin typeface="+mn-lt"/>
              </a:rPr>
              <a:pPr defTabSz="1128713">
                <a:defRPr/>
              </a:pPr>
              <a:t>43</a:t>
            </a:fld>
            <a:endParaRPr lang="en-US" altLang="zh-CN">
              <a:latin typeface="+mn-lt"/>
            </a:endParaRPr>
          </a:p>
        </p:txBody>
      </p:sp>
    </p:spTree>
  </p:cSld>
  <p:clrMapOvr>
    <a:masterClrMapping/>
  </p:clrMapOvr>
  <p:transition>
    <p:random/>
  </p:transition>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1795" name="Rectangle 3"/>
          <p:cNvSpPr>
            <a:spLocks noGrp="1" noChangeArrowheads="1"/>
          </p:cNvSpPr>
          <p:nvPr>
            <p:ph idx="1"/>
          </p:nvPr>
        </p:nvSpPr>
        <p:spPr>
          <a:xfrm>
            <a:off x="250825" y="1196975"/>
            <a:ext cx="8569325" cy="5251450"/>
          </a:xfrm>
        </p:spPr>
        <p:txBody>
          <a:bodyPr>
            <a:normAutofit/>
          </a:bodyPr>
          <a:lstStyle/>
          <a:p>
            <a:pPr marL="0" indent="0" fontAlgn="auto">
              <a:spcAft>
                <a:spcPts val="0"/>
              </a:spcAft>
              <a:buClr>
                <a:schemeClr val="accent3"/>
              </a:buClr>
              <a:buFont typeface="Monotype Sorts" pitchFamily="2" charset="2"/>
              <a:buNone/>
              <a:defRPr/>
            </a:pPr>
            <a:r>
              <a:rPr lang="zh-CN" altLang="en-US" sz="2800" b="1">
                <a:solidFill>
                  <a:srgbClr val="0000FF"/>
                </a:solidFill>
                <a:effectLst>
                  <a:outerShdw blurRad="38100" dist="38100" dir="2700000" algn="tl">
                    <a:srgbClr val="000000"/>
                  </a:outerShdw>
                </a:effectLst>
                <a:latin typeface="楷体_GB2312" pitchFamily="49" charset="-122"/>
                <a:ea typeface="楷体_GB2312" pitchFamily="49" charset="-122"/>
              </a:rPr>
              <a:t>     </a:t>
            </a:r>
            <a:endParaRPr lang="zh-CN" altLang="en-US" sz="3600" b="1">
              <a:solidFill>
                <a:srgbClr val="0000FF"/>
              </a:solidFill>
              <a:effectLst>
                <a:outerShdw blurRad="38100" dist="38100" dir="2700000" algn="tl">
                  <a:srgbClr val="000000"/>
                </a:outerShdw>
              </a:effectLst>
              <a:latin typeface="楷体_GB2312" pitchFamily="49" charset="-122"/>
              <a:ea typeface="楷体_GB2312" pitchFamily="49" charset="-122"/>
            </a:endParaRPr>
          </a:p>
        </p:txBody>
      </p:sp>
      <p:sp>
        <p:nvSpPr>
          <p:cNvPr id="27" name="灯片编号占位符 5"/>
          <p:cNvSpPr>
            <a:spLocks noGrp="1"/>
          </p:cNvSpPr>
          <p:nvPr>
            <p:ph type="sldNum" sz="quarter" idx="12"/>
          </p:nvPr>
        </p:nvSpPr>
        <p:spPr/>
        <p:txBody>
          <a:bodyPr/>
          <a:lstStyle/>
          <a:p>
            <a:pPr defTabSz="1128713">
              <a:defRPr/>
            </a:pPr>
            <a:fld id="{B882CAE5-FBD5-471B-A69B-2D72AFAF59E2}" type="slidenum">
              <a:rPr lang="zh-CN" altLang="en-US">
                <a:latin typeface="+mn-lt"/>
              </a:rPr>
              <a:pPr defTabSz="1128713">
                <a:defRPr/>
              </a:pPr>
              <a:t>44</a:t>
            </a:fld>
            <a:endParaRPr lang="en-US" altLang="zh-CN">
              <a:latin typeface="+mn-lt"/>
            </a:endParaRPr>
          </a:p>
        </p:txBody>
      </p:sp>
      <p:sp>
        <p:nvSpPr>
          <p:cNvPr id="43012" name="Text Box 26"/>
          <p:cNvSpPr txBox="1">
            <a:spLocks noChangeArrowheads="1"/>
          </p:cNvSpPr>
          <p:nvPr/>
        </p:nvSpPr>
        <p:spPr bwMode="auto">
          <a:xfrm>
            <a:off x="755650" y="549275"/>
            <a:ext cx="8064500" cy="969963"/>
          </a:xfrm>
          <a:prstGeom prst="rect">
            <a:avLst/>
          </a:prstGeom>
          <a:noFill/>
          <a:ln w="9525">
            <a:noFill/>
            <a:miter lim="800000"/>
            <a:headEnd/>
            <a:tailEnd/>
          </a:ln>
        </p:spPr>
        <p:txBody>
          <a:bodyPr>
            <a:spAutoFit/>
          </a:bodyPr>
          <a:lstStyle/>
          <a:p>
            <a:pPr eaLnBrk="1" hangingPunct="1">
              <a:lnSpc>
                <a:spcPct val="80000"/>
              </a:lnSpc>
              <a:spcBef>
                <a:spcPct val="20000"/>
              </a:spcBef>
              <a:buClr>
                <a:schemeClr val="hlink"/>
              </a:buClr>
              <a:buSzPct val="50000"/>
              <a:buFont typeface="Monotype Sorts" charset="2"/>
              <a:buNone/>
            </a:pPr>
            <a:r>
              <a:rPr kumimoji="1" lang="zh-CN" altLang="en-US" b="1"/>
              <a:t>输入</a:t>
            </a:r>
            <a:r>
              <a:rPr kumimoji="1" lang="en-US" altLang="zh-CN" b="1"/>
              <a:t>10</a:t>
            </a:r>
            <a:r>
              <a:rPr kumimoji="1" lang="zh-CN" altLang="en-US" b="1"/>
              <a:t>个整数求和计算的算法</a:t>
            </a:r>
          </a:p>
          <a:p>
            <a:endParaRPr lang="zh-CN" altLang="en-US"/>
          </a:p>
        </p:txBody>
      </p:sp>
      <p:pic>
        <p:nvPicPr>
          <p:cNvPr id="43013" name="Picture 26" descr="图1_1"/>
          <p:cNvPicPr>
            <a:picLocks noChangeAspect="1" noChangeArrowheads="1"/>
          </p:cNvPicPr>
          <p:nvPr/>
        </p:nvPicPr>
        <p:blipFill>
          <a:blip r:embed="rId2" cstate="print"/>
          <a:srcRect/>
          <a:stretch>
            <a:fillRect/>
          </a:stretch>
        </p:blipFill>
        <p:spPr bwMode="auto">
          <a:xfrm>
            <a:off x="1979712" y="1142999"/>
            <a:ext cx="5378351" cy="5679165"/>
          </a:xfrm>
          <a:prstGeom prst="rect">
            <a:avLst/>
          </a:prstGeom>
          <a:noFill/>
          <a:ln w="9525">
            <a:noFill/>
            <a:miter lim="800000"/>
            <a:headEnd/>
            <a:tailEnd/>
          </a:ln>
        </p:spPr>
      </p:pic>
    </p:spTree>
  </p:cSld>
  <p:clrMapOvr>
    <a:masterClrMapping/>
  </p:clrMapOvr>
  <p:transition>
    <p:random/>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2E867E08-7C1F-4602-AAF6-72ACD5DDB35C}"/>
              </a:ext>
            </a:extLst>
          </p:cNvPr>
          <p:cNvSpPr>
            <a:spLocks noGrp="1"/>
          </p:cNvSpPr>
          <p:nvPr>
            <p:ph type="sldNum" sz="quarter" idx="12"/>
          </p:nvPr>
        </p:nvSpPr>
        <p:spPr/>
        <p:txBody>
          <a:bodyPr/>
          <a:lstStyle/>
          <a:p>
            <a:pPr>
              <a:defRPr/>
            </a:pPr>
            <a:fld id="{F5B931C6-46ED-4D6F-ADB1-4B91676450DC}" type="slidenum">
              <a:rPr lang="zh-CN" altLang="en-US" smtClean="0"/>
              <a:pPr>
                <a:defRPr/>
              </a:pPr>
              <a:t>45</a:t>
            </a:fld>
            <a:endParaRPr lang="en-US" altLang="zh-CN"/>
          </a:p>
        </p:txBody>
      </p:sp>
      <p:pic>
        <p:nvPicPr>
          <p:cNvPr id="5" name="Picture 2">
            <a:extLst>
              <a:ext uri="{FF2B5EF4-FFF2-40B4-BE49-F238E27FC236}">
                <a16:creationId xmlns:a16="http://schemas.microsoft.com/office/drawing/2014/main" id="{448E7621-E5A3-4B8E-A361-859824D16E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562" y="1988840"/>
            <a:ext cx="9032875"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2">
            <a:extLst>
              <a:ext uri="{FF2B5EF4-FFF2-40B4-BE49-F238E27FC236}">
                <a16:creationId xmlns:a16="http://schemas.microsoft.com/office/drawing/2014/main" id="{C7DAA0CF-985C-47A4-8CEF-746518671E84}"/>
              </a:ext>
            </a:extLst>
          </p:cNvPr>
          <p:cNvSpPr>
            <a:spLocks noGrp="1" noChangeArrowheads="1"/>
          </p:cNvSpPr>
          <p:nvPr>
            <p:ph type="title"/>
          </p:nvPr>
        </p:nvSpPr>
        <p:spPr>
          <a:xfrm>
            <a:off x="342899" y="836712"/>
            <a:ext cx="8458200" cy="838200"/>
          </a:xfrm>
        </p:spPr>
        <p:txBody>
          <a:bodyPr/>
          <a:lstStyle/>
          <a:p>
            <a:pPr>
              <a:lnSpc>
                <a:spcPct val="100000"/>
              </a:lnSpc>
            </a:pPr>
            <a:r>
              <a:rPr lang="zh-CN" altLang="en-US" sz="4400" dirty="0">
                <a:solidFill>
                  <a:srgbClr val="FF0000"/>
                </a:solidFill>
                <a:effectLst>
                  <a:outerShdw blurRad="38100" dist="38100" dir="2700000" algn="tl">
                    <a:srgbClr val="000000"/>
                  </a:outerShdw>
                </a:effectLst>
                <a:latin typeface="楷体_GB2312" pitchFamily="49" charset="-122"/>
                <a:ea typeface="楷体_GB2312" pitchFamily="49" charset="-122"/>
              </a:rPr>
              <a:t>算法时间复杂度</a:t>
            </a:r>
            <a:endParaRPr lang="zh-CN" altLang="en-US" sz="3600" dirty="0">
              <a:solidFill>
                <a:srgbClr val="FF0000"/>
              </a:solidFill>
              <a:effectLst>
                <a:outerShdw blurRad="38100" dist="38100" dir="2700000" algn="tl">
                  <a:srgbClr val="000000"/>
                </a:outerShdw>
              </a:effectLst>
              <a:latin typeface="楷体_GB2312" pitchFamily="49" charset="-122"/>
              <a:ea typeface="楷体_GB2312" pitchFamily="49" charset="-122"/>
            </a:endParaRPr>
          </a:p>
        </p:txBody>
      </p:sp>
    </p:spTree>
    <p:extLst>
      <p:ext uri="{BB962C8B-B14F-4D97-AF65-F5344CB8AC3E}">
        <p14:creationId xmlns:p14="http://schemas.microsoft.com/office/powerpoint/2010/main" val="114257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6914" name="Rectangle 2">
            <a:extLst>
              <a:ext uri="{FF2B5EF4-FFF2-40B4-BE49-F238E27FC236}">
                <a16:creationId xmlns:a16="http://schemas.microsoft.com/office/drawing/2014/main" id="{A9FBD4E8-B22C-4803-B82E-80DB76592917}"/>
              </a:ext>
            </a:extLst>
          </p:cNvPr>
          <p:cNvSpPr>
            <a:spLocks noGrp="1" noChangeArrowheads="1"/>
          </p:cNvSpPr>
          <p:nvPr>
            <p:ph type="title"/>
          </p:nvPr>
        </p:nvSpPr>
        <p:spPr>
          <a:xfrm>
            <a:off x="381000" y="304800"/>
            <a:ext cx="8458200" cy="762000"/>
          </a:xfrm>
        </p:spPr>
        <p:txBody>
          <a:bodyPr/>
          <a:lstStyle/>
          <a:p>
            <a:pPr>
              <a:lnSpc>
                <a:spcPct val="100000"/>
              </a:lnSpc>
            </a:pPr>
            <a:r>
              <a:rPr lang="zh-CN" altLang="en-US" sz="4400">
                <a:solidFill>
                  <a:srgbClr val="FF0000"/>
                </a:solidFill>
                <a:effectLst>
                  <a:outerShdw blurRad="38100" dist="38100" dir="2700000" algn="tl">
                    <a:srgbClr val="000000"/>
                  </a:outerShdw>
                </a:effectLst>
                <a:latin typeface="楷体_GB2312" pitchFamily="49" charset="-122"/>
                <a:ea typeface="楷体_GB2312" pitchFamily="49" charset="-122"/>
              </a:rPr>
              <a:t>数据结构</a:t>
            </a:r>
            <a:endParaRPr lang="zh-CN" altLang="en-US" sz="3600">
              <a:solidFill>
                <a:srgbClr val="FF0000"/>
              </a:solidFill>
              <a:effectLst>
                <a:outerShdw blurRad="38100" dist="38100" dir="2700000" algn="tl">
                  <a:srgbClr val="000000"/>
                </a:outerShdw>
              </a:effectLst>
              <a:latin typeface="楷体_GB2312" pitchFamily="49" charset="-122"/>
              <a:ea typeface="楷体_GB2312" pitchFamily="49" charset="-122"/>
            </a:endParaRPr>
          </a:p>
        </p:txBody>
      </p:sp>
      <p:sp>
        <p:nvSpPr>
          <p:cNvPr id="166915" name="Rectangle 3">
            <a:extLst>
              <a:ext uri="{FF2B5EF4-FFF2-40B4-BE49-F238E27FC236}">
                <a16:creationId xmlns:a16="http://schemas.microsoft.com/office/drawing/2014/main" id="{D0FCACA7-6CAB-498D-B351-6A2EA8137038}"/>
              </a:ext>
            </a:extLst>
          </p:cNvPr>
          <p:cNvSpPr>
            <a:spLocks noGrp="1" noChangeArrowheads="1"/>
          </p:cNvSpPr>
          <p:nvPr>
            <p:ph type="body" idx="1"/>
          </p:nvPr>
        </p:nvSpPr>
        <p:spPr>
          <a:xfrm>
            <a:off x="381000" y="1828800"/>
            <a:ext cx="8534400" cy="3962400"/>
          </a:xfrm>
        </p:spPr>
        <p:txBody>
          <a:bodyPr/>
          <a:lstStyle/>
          <a:p>
            <a:pPr marL="0" indent="0">
              <a:buFont typeface="Monotype Sorts" pitchFamily="2" charset="2"/>
              <a:buNone/>
            </a:pPr>
            <a:r>
              <a:rPr lang="zh-CN" altLang="en-US" sz="4000" b="1" u="sng">
                <a:solidFill>
                  <a:srgbClr val="0000FF"/>
                </a:solidFill>
                <a:effectLst>
                  <a:outerShdw blurRad="38100" dist="38100" dir="2700000" algn="tl">
                    <a:srgbClr val="000000"/>
                  </a:outerShdw>
                </a:effectLst>
                <a:ea typeface="黑体" panose="02010609060101010101" pitchFamily="49" charset="-122"/>
              </a:rPr>
              <a:t>定义</a:t>
            </a:r>
            <a:r>
              <a:rPr lang="zh-CN" altLang="en-US" sz="4000" b="1">
                <a:solidFill>
                  <a:srgbClr val="0000FF"/>
                </a:solidFill>
                <a:effectLst>
                  <a:outerShdw blurRad="38100" dist="38100" dir="2700000" algn="tl">
                    <a:srgbClr val="000000"/>
                  </a:outerShdw>
                </a:effectLst>
                <a:ea typeface="黑体" panose="02010609060101010101" pitchFamily="49" charset="-122"/>
              </a:rPr>
              <a:t>:</a:t>
            </a:r>
            <a:r>
              <a:rPr lang="zh-CN" altLang="en-US" sz="4000" b="1">
                <a:effectLst>
                  <a:outerShdw blurRad="38100" dist="38100" dir="2700000" algn="tl">
                    <a:srgbClr val="000000"/>
                  </a:outerShdw>
                </a:effectLst>
                <a:ea typeface="楷体_GB2312" pitchFamily="49" charset="-122"/>
              </a:rPr>
              <a:t>由</a:t>
            </a:r>
            <a:r>
              <a:rPr lang="zh-CN" altLang="en-US" sz="4000" b="1">
                <a:solidFill>
                  <a:srgbClr val="FF6600"/>
                </a:solidFill>
                <a:effectLst>
                  <a:outerShdw blurRad="38100" dist="38100" dir="2700000" algn="tl">
                    <a:srgbClr val="000000"/>
                  </a:outerShdw>
                </a:effectLst>
                <a:ea typeface="楷体_GB2312" pitchFamily="49" charset="-122"/>
              </a:rPr>
              <a:t>某一数据对象</a:t>
            </a:r>
            <a:r>
              <a:rPr lang="zh-CN" altLang="en-US" sz="4000" b="1">
                <a:effectLst>
                  <a:outerShdw blurRad="38100" dist="38100" dir="2700000" algn="tl">
                    <a:srgbClr val="000000"/>
                  </a:outerShdw>
                </a:effectLst>
                <a:ea typeface="楷体_GB2312" pitchFamily="49" charset="-122"/>
              </a:rPr>
              <a:t>及</a:t>
            </a:r>
            <a:r>
              <a:rPr lang="zh-CN" altLang="en-US" sz="4000" b="1">
                <a:solidFill>
                  <a:srgbClr val="FF6600"/>
                </a:solidFill>
                <a:effectLst>
                  <a:outerShdw blurRad="38100" dist="38100" dir="2700000" algn="tl">
                    <a:srgbClr val="000000"/>
                  </a:outerShdw>
                </a:effectLst>
                <a:ea typeface="楷体_GB2312" pitchFamily="49" charset="-122"/>
              </a:rPr>
              <a:t>该对象中所有数据成员</a:t>
            </a:r>
            <a:r>
              <a:rPr lang="zh-CN" altLang="en-US" sz="4000" b="1">
                <a:effectLst>
                  <a:outerShdw blurRad="38100" dist="38100" dir="2700000" algn="tl">
                    <a:srgbClr val="000000"/>
                  </a:outerShdw>
                </a:effectLst>
                <a:ea typeface="楷体_GB2312" pitchFamily="49" charset="-122"/>
              </a:rPr>
              <a:t>之间的关系组成。记为：</a:t>
            </a:r>
          </a:p>
          <a:p>
            <a:pPr marL="0" indent="0">
              <a:buFont typeface="Monotype Sorts" pitchFamily="2" charset="2"/>
              <a:buNone/>
            </a:pPr>
            <a:r>
              <a:rPr lang="zh-CN" altLang="en-US" sz="4000" b="1">
                <a:effectLst>
                  <a:outerShdw blurRad="38100" dist="38100" dir="2700000" algn="tl">
                    <a:srgbClr val="000000"/>
                  </a:outerShdw>
                </a:effectLst>
                <a:ea typeface="楷体_GB2312" pitchFamily="49" charset="-122"/>
              </a:rPr>
              <a:t>           </a:t>
            </a:r>
            <a:r>
              <a:rPr lang="en-US" altLang="zh-CN" sz="4000" b="1">
                <a:effectLst>
                  <a:outerShdw blurRad="38100" dist="38100" dir="2700000" algn="tl">
                    <a:srgbClr val="000000"/>
                  </a:outerShdw>
                </a:effectLst>
                <a:ea typeface="楷体_GB2312" pitchFamily="49" charset="-122"/>
              </a:rPr>
              <a:t>Data_Structure = {D, R}</a:t>
            </a:r>
          </a:p>
          <a:p>
            <a:pPr marL="0" indent="0">
              <a:buFont typeface="Monotype Sorts" pitchFamily="2" charset="2"/>
              <a:buNone/>
            </a:pPr>
            <a:r>
              <a:rPr lang="zh-CN" altLang="en-US" sz="4000" b="1">
                <a:solidFill>
                  <a:srgbClr val="000066"/>
                </a:solidFill>
                <a:effectLst>
                  <a:outerShdw blurRad="38100" dist="38100" dir="2700000" algn="tl">
                    <a:srgbClr val="000000"/>
                  </a:outerShdw>
                </a:effectLst>
                <a:ea typeface="楷体_GB2312" pitchFamily="49" charset="-122"/>
              </a:rPr>
              <a:t>其中，</a:t>
            </a:r>
            <a:r>
              <a:rPr lang="en-US" altLang="zh-CN" sz="4000" b="1">
                <a:solidFill>
                  <a:srgbClr val="000066"/>
                </a:solidFill>
                <a:effectLst>
                  <a:outerShdw blurRad="38100" dist="38100" dir="2700000" algn="tl">
                    <a:srgbClr val="000000"/>
                  </a:outerShdw>
                </a:effectLst>
                <a:ea typeface="楷体_GB2312" pitchFamily="49" charset="-122"/>
              </a:rPr>
              <a:t>D</a:t>
            </a:r>
            <a:r>
              <a:rPr lang="zh-CN" altLang="en-US" sz="4000" b="1">
                <a:solidFill>
                  <a:srgbClr val="000066"/>
                </a:solidFill>
                <a:effectLst>
                  <a:outerShdw blurRad="38100" dist="38100" dir="2700000" algn="tl">
                    <a:srgbClr val="000000"/>
                  </a:outerShdw>
                </a:effectLst>
                <a:ea typeface="楷体_GB2312" pitchFamily="49" charset="-122"/>
              </a:rPr>
              <a:t>是数据对象，</a:t>
            </a:r>
            <a:r>
              <a:rPr lang="en-US" altLang="zh-CN" sz="4000" b="1">
                <a:solidFill>
                  <a:srgbClr val="000066"/>
                </a:solidFill>
                <a:effectLst>
                  <a:outerShdw blurRad="38100" dist="38100" dir="2700000" algn="tl">
                    <a:srgbClr val="000000"/>
                  </a:outerShdw>
                </a:effectLst>
                <a:ea typeface="楷体_GB2312" pitchFamily="49" charset="-122"/>
              </a:rPr>
              <a:t>R</a:t>
            </a:r>
            <a:r>
              <a:rPr lang="zh-CN" altLang="en-US" sz="4000" b="1">
                <a:solidFill>
                  <a:srgbClr val="000066"/>
                </a:solidFill>
                <a:effectLst>
                  <a:outerShdw blurRad="38100" dist="38100" dir="2700000" algn="tl">
                    <a:srgbClr val="000000"/>
                  </a:outerShdw>
                </a:effectLst>
                <a:ea typeface="楷体_GB2312" pitchFamily="49" charset="-122"/>
              </a:rPr>
              <a:t>是该对象中所有数据成员之间的关系的有限集合。</a:t>
            </a:r>
            <a:endParaRPr lang="zh-CN" altLang="en-US" sz="2800">
              <a:solidFill>
                <a:srgbClr val="000066"/>
              </a:solidFill>
              <a:latin typeface="楷体_GB2312" pitchFamily="49" charset="-122"/>
              <a:ea typeface="楷体_GB2312" pitchFamily="49" charset="-122"/>
            </a:endParaRPr>
          </a:p>
        </p:txBody>
      </p:sp>
    </p:spTree>
  </p:cSld>
  <p:clrMapOvr>
    <a:masterClrMapping/>
  </p:clrMapOvr>
  <p:transition>
    <p:cover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66914">
                                            <p:txEl>
                                              <p:pRg st="0" end="0"/>
                                            </p:txEl>
                                          </p:spTgt>
                                        </p:tgtEl>
                                        <p:attrNameLst>
                                          <p:attrName>style.visibility</p:attrName>
                                        </p:attrNameLst>
                                      </p:cBhvr>
                                      <p:to>
                                        <p:strVal val="visible"/>
                                      </p:to>
                                    </p:set>
                                    <p:anim calcmode="lin" valueType="num">
                                      <p:cBhvr additive="base">
                                        <p:cTn id="7" dur="500" fill="hold"/>
                                        <p:tgtEl>
                                          <p:spTgt spid="166914">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6691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66915">
                                            <p:txEl>
                                              <p:pRg st="0" end="0"/>
                                            </p:txEl>
                                          </p:spTgt>
                                        </p:tgtEl>
                                        <p:attrNameLst>
                                          <p:attrName>style.visibility</p:attrName>
                                        </p:attrNameLst>
                                      </p:cBhvr>
                                      <p:to>
                                        <p:strVal val="visible"/>
                                      </p:to>
                                    </p:set>
                                    <p:anim calcmode="lin" valueType="num">
                                      <p:cBhvr additive="base">
                                        <p:cTn id="13" dur="500" fill="hold"/>
                                        <p:tgtEl>
                                          <p:spTgt spid="166915">
                                            <p:txEl>
                                              <p:pRg st="0" end="0"/>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6691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66915">
                                            <p:txEl>
                                              <p:pRg st="1" end="1"/>
                                            </p:txEl>
                                          </p:spTgt>
                                        </p:tgtEl>
                                        <p:attrNameLst>
                                          <p:attrName>style.visibility</p:attrName>
                                        </p:attrNameLst>
                                      </p:cBhvr>
                                      <p:to>
                                        <p:strVal val="visible"/>
                                      </p:to>
                                    </p:set>
                                    <p:anim calcmode="lin" valueType="num">
                                      <p:cBhvr additive="base">
                                        <p:cTn id="19" dur="500" fill="hold"/>
                                        <p:tgtEl>
                                          <p:spTgt spid="166915">
                                            <p:txEl>
                                              <p:pRg st="1" end="1"/>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6691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66915">
                                            <p:txEl>
                                              <p:pRg st="2" end="2"/>
                                            </p:txEl>
                                          </p:spTgt>
                                        </p:tgtEl>
                                        <p:attrNameLst>
                                          <p:attrName>style.visibility</p:attrName>
                                        </p:attrNameLst>
                                      </p:cBhvr>
                                      <p:to>
                                        <p:strVal val="visible"/>
                                      </p:to>
                                    </p:set>
                                    <p:anim calcmode="lin" valueType="num">
                                      <p:cBhvr additive="base">
                                        <p:cTn id="25" dur="500" fill="hold"/>
                                        <p:tgtEl>
                                          <p:spTgt spid="166915">
                                            <p:txEl>
                                              <p:pRg st="2" end="2"/>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66915">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914" grpId="0" build="p" autoUpdateAnimBg="0"/>
      <p:bldP spid="166915" grpId="0" build="p"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9986" name="Rectangle 2">
            <a:extLst>
              <a:ext uri="{FF2B5EF4-FFF2-40B4-BE49-F238E27FC236}">
                <a16:creationId xmlns:a16="http://schemas.microsoft.com/office/drawing/2014/main" id="{728A9278-F303-48D8-A240-A1D56C113024}"/>
              </a:ext>
            </a:extLst>
          </p:cNvPr>
          <p:cNvSpPr>
            <a:spLocks noGrp="1" noChangeArrowheads="1"/>
          </p:cNvSpPr>
          <p:nvPr>
            <p:ph type="title"/>
          </p:nvPr>
        </p:nvSpPr>
        <p:spPr>
          <a:xfrm>
            <a:off x="381000" y="0"/>
            <a:ext cx="8458200" cy="914400"/>
          </a:xfrm>
        </p:spPr>
        <p:txBody>
          <a:bodyPr/>
          <a:lstStyle/>
          <a:p>
            <a:pPr>
              <a:lnSpc>
                <a:spcPct val="100000"/>
              </a:lnSpc>
            </a:pPr>
            <a:r>
              <a:rPr lang="zh-CN" altLang="en-US" sz="4400">
                <a:solidFill>
                  <a:srgbClr val="FF0000"/>
                </a:solidFill>
                <a:effectLst>
                  <a:outerShdw blurRad="38100" dist="38100" dir="2700000" algn="tl">
                    <a:srgbClr val="000000"/>
                  </a:outerShdw>
                </a:effectLst>
                <a:latin typeface="楷体_GB2312" pitchFamily="49" charset="-122"/>
                <a:ea typeface="楷体_GB2312" pitchFamily="49" charset="-122"/>
              </a:rPr>
              <a:t>数据结构</a:t>
            </a:r>
            <a:r>
              <a:rPr lang="zh-CN" altLang="en-US" sz="2400">
                <a:solidFill>
                  <a:srgbClr val="FF0000"/>
                </a:solidFill>
                <a:latin typeface="楷体_GB2312" pitchFamily="49" charset="-122"/>
                <a:ea typeface="楷体_GB2312" pitchFamily="49" charset="-122"/>
              </a:rPr>
              <a:t>（续）</a:t>
            </a:r>
            <a:endParaRPr lang="zh-CN" altLang="en-US" sz="3600">
              <a:solidFill>
                <a:srgbClr val="FF0000"/>
              </a:solidFill>
              <a:effectLst>
                <a:outerShdw blurRad="38100" dist="38100" dir="2700000" algn="tl">
                  <a:srgbClr val="000000"/>
                </a:outerShdw>
              </a:effectLst>
              <a:latin typeface="楷体_GB2312" pitchFamily="49" charset="-122"/>
              <a:ea typeface="楷体_GB2312" pitchFamily="49" charset="-122"/>
            </a:endParaRPr>
          </a:p>
        </p:txBody>
      </p:sp>
      <p:sp>
        <p:nvSpPr>
          <p:cNvPr id="169987" name="Rectangle 3">
            <a:extLst>
              <a:ext uri="{FF2B5EF4-FFF2-40B4-BE49-F238E27FC236}">
                <a16:creationId xmlns:a16="http://schemas.microsoft.com/office/drawing/2014/main" id="{02C7BB43-3B1D-4E6F-8338-26B92437AFD9}"/>
              </a:ext>
            </a:extLst>
          </p:cNvPr>
          <p:cNvSpPr>
            <a:spLocks noGrp="1" noChangeArrowheads="1"/>
          </p:cNvSpPr>
          <p:nvPr>
            <p:ph type="body" idx="1"/>
          </p:nvPr>
        </p:nvSpPr>
        <p:spPr>
          <a:xfrm>
            <a:off x="304800" y="1124744"/>
            <a:ext cx="8382000" cy="5504656"/>
          </a:xfrm>
        </p:spPr>
        <p:txBody>
          <a:bodyPr/>
          <a:lstStyle/>
          <a:p>
            <a:pPr marL="0" indent="0">
              <a:buFont typeface="Monotype Sorts" pitchFamily="2" charset="2"/>
              <a:buNone/>
            </a:pPr>
            <a:r>
              <a:rPr lang="zh-CN" altLang="en-US" sz="4000" b="1" dirty="0">
                <a:latin typeface="楷体_GB2312" pitchFamily="49" charset="-122"/>
                <a:ea typeface="楷体_GB2312" pitchFamily="49" charset="-122"/>
              </a:rPr>
              <a:t>程序的处理对象是描述客观事物的数据，由于客观事物的多样性，会有不同形式的数据。</a:t>
            </a:r>
            <a:r>
              <a:rPr lang="zh-CN" altLang="en-US" sz="3200" b="1" dirty="0">
                <a:latin typeface="楷体_GB2312" pitchFamily="49" charset="-122"/>
                <a:ea typeface="楷体_GB2312" pitchFamily="49" charset="-122"/>
              </a:rPr>
              <a:t>如整数、实数、字符，以及所有计算机能够接收和处理的各种各样符号集合。</a:t>
            </a:r>
          </a:p>
          <a:p>
            <a:pPr marL="0" indent="0">
              <a:buFont typeface="Monotype Sorts" pitchFamily="2" charset="2"/>
              <a:buNone/>
            </a:pPr>
            <a:r>
              <a:rPr lang="zh-CN" altLang="en-US" sz="4000" b="1" dirty="0">
                <a:latin typeface="楷体_GB2312" pitchFamily="49" charset="-122"/>
                <a:ea typeface="楷体_GB2312" pitchFamily="49" charset="-122"/>
              </a:rPr>
              <a:t>在程序中，形式不同的数据采用数据类型来标识。</a:t>
            </a:r>
          </a:p>
          <a:p>
            <a:pPr marL="0" indent="0">
              <a:buFont typeface="Monotype Sorts" pitchFamily="2" charset="2"/>
              <a:buNone/>
            </a:pPr>
            <a:r>
              <a:rPr lang="zh-CN" altLang="en-US" sz="4000" b="1" dirty="0">
                <a:latin typeface="楷体_GB2312" pitchFamily="49" charset="-122"/>
                <a:ea typeface="楷体_GB2312" pitchFamily="49" charset="-122"/>
              </a:rPr>
              <a:t>变量的数据类型说明变量可能取的值的集合、施于变量的操作的集合。</a:t>
            </a:r>
            <a:endParaRPr lang="zh-CN" altLang="en-US" sz="2800" b="1" dirty="0">
              <a:latin typeface="楷体_GB2312" pitchFamily="49" charset="-122"/>
              <a:ea typeface="楷体_GB2312" pitchFamily="49" charset="-122"/>
            </a:endParaRPr>
          </a:p>
        </p:txBody>
      </p:sp>
    </p:spTree>
  </p:cSld>
  <p:clrMapOvr>
    <a:masterClrMapping/>
  </p:clrMapOvr>
  <p:transition>
    <p:cover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69986">
                                            <p:txEl>
                                              <p:pRg st="0" end="0"/>
                                            </p:txEl>
                                          </p:spTgt>
                                        </p:tgtEl>
                                        <p:attrNameLst>
                                          <p:attrName>style.visibility</p:attrName>
                                        </p:attrNameLst>
                                      </p:cBhvr>
                                      <p:to>
                                        <p:strVal val="visible"/>
                                      </p:to>
                                    </p:set>
                                    <p:anim calcmode="lin" valueType="num">
                                      <p:cBhvr additive="base">
                                        <p:cTn id="7" dur="500" fill="hold"/>
                                        <p:tgtEl>
                                          <p:spTgt spid="169986">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6998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69987">
                                            <p:txEl>
                                              <p:pRg st="0" end="0"/>
                                            </p:txEl>
                                          </p:spTgt>
                                        </p:tgtEl>
                                        <p:attrNameLst>
                                          <p:attrName>style.visibility</p:attrName>
                                        </p:attrNameLst>
                                      </p:cBhvr>
                                      <p:to>
                                        <p:strVal val="visible"/>
                                      </p:to>
                                    </p:set>
                                    <p:anim calcmode="lin" valueType="num">
                                      <p:cBhvr additive="base">
                                        <p:cTn id="13" dur="500" fill="hold"/>
                                        <p:tgtEl>
                                          <p:spTgt spid="169987">
                                            <p:txEl>
                                              <p:pRg st="0" end="0"/>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6998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69987">
                                            <p:txEl>
                                              <p:pRg st="1" end="1"/>
                                            </p:txEl>
                                          </p:spTgt>
                                        </p:tgtEl>
                                        <p:attrNameLst>
                                          <p:attrName>style.visibility</p:attrName>
                                        </p:attrNameLst>
                                      </p:cBhvr>
                                      <p:to>
                                        <p:strVal val="visible"/>
                                      </p:to>
                                    </p:set>
                                    <p:anim calcmode="lin" valueType="num">
                                      <p:cBhvr additive="base">
                                        <p:cTn id="19" dur="500" fill="hold"/>
                                        <p:tgtEl>
                                          <p:spTgt spid="169987">
                                            <p:txEl>
                                              <p:pRg st="1" end="1"/>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6998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69987">
                                            <p:txEl>
                                              <p:pRg st="2" end="2"/>
                                            </p:txEl>
                                          </p:spTgt>
                                        </p:tgtEl>
                                        <p:attrNameLst>
                                          <p:attrName>style.visibility</p:attrName>
                                        </p:attrNameLst>
                                      </p:cBhvr>
                                      <p:to>
                                        <p:strVal val="visible"/>
                                      </p:to>
                                    </p:set>
                                    <p:anim calcmode="lin" valueType="num">
                                      <p:cBhvr additive="base">
                                        <p:cTn id="25" dur="500" fill="hold"/>
                                        <p:tgtEl>
                                          <p:spTgt spid="169987">
                                            <p:txEl>
                                              <p:pRg st="2" end="2"/>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69987">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986" grpId="0" build="p" autoUpdateAnimBg="0"/>
      <p:bldP spid="169987" grpId="0" build="p"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02" name="Rectangle 2">
            <a:extLst>
              <a:ext uri="{FF2B5EF4-FFF2-40B4-BE49-F238E27FC236}">
                <a16:creationId xmlns:a16="http://schemas.microsoft.com/office/drawing/2014/main" id="{6898D27C-0D81-4E51-9311-A363F9D91A62}"/>
              </a:ext>
            </a:extLst>
          </p:cNvPr>
          <p:cNvSpPr>
            <a:spLocks noGrp="1" noChangeArrowheads="1"/>
          </p:cNvSpPr>
          <p:nvPr>
            <p:ph type="title"/>
          </p:nvPr>
        </p:nvSpPr>
        <p:spPr>
          <a:xfrm>
            <a:off x="381000" y="304800"/>
            <a:ext cx="8458200" cy="762000"/>
          </a:xfrm>
        </p:spPr>
        <p:txBody>
          <a:bodyPr/>
          <a:lstStyle/>
          <a:p>
            <a:pPr>
              <a:lnSpc>
                <a:spcPct val="100000"/>
              </a:lnSpc>
            </a:pPr>
            <a:r>
              <a:rPr lang="zh-CN" altLang="en-US" sz="4400">
                <a:solidFill>
                  <a:srgbClr val="FF0000"/>
                </a:solidFill>
                <a:effectLst>
                  <a:outerShdw blurRad="38100" dist="38100" dir="2700000" algn="tl">
                    <a:srgbClr val="000000"/>
                  </a:outerShdw>
                </a:effectLst>
                <a:latin typeface="楷体_GB2312" pitchFamily="49" charset="-122"/>
                <a:ea typeface="楷体_GB2312" pitchFamily="49" charset="-122"/>
              </a:rPr>
              <a:t>数据结构</a:t>
            </a:r>
            <a:r>
              <a:rPr lang="zh-CN" altLang="en-US" sz="2400">
                <a:solidFill>
                  <a:srgbClr val="FF0000"/>
                </a:solidFill>
                <a:latin typeface="楷体_GB2312" pitchFamily="49" charset="-122"/>
                <a:ea typeface="楷体_GB2312" pitchFamily="49" charset="-122"/>
              </a:rPr>
              <a:t>（续）</a:t>
            </a:r>
            <a:endParaRPr lang="zh-CN" altLang="en-US" sz="3600">
              <a:solidFill>
                <a:srgbClr val="FF0000"/>
              </a:solidFill>
              <a:effectLst>
                <a:outerShdw blurRad="38100" dist="38100" dir="2700000" algn="tl">
                  <a:srgbClr val="000000"/>
                </a:outerShdw>
              </a:effectLst>
              <a:latin typeface="楷体_GB2312" pitchFamily="49" charset="-122"/>
              <a:ea typeface="楷体_GB2312" pitchFamily="49" charset="-122"/>
            </a:endParaRPr>
          </a:p>
        </p:txBody>
      </p:sp>
      <p:sp>
        <p:nvSpPr>
          <p:cNvPr id="204803" name="Rectangle 3">
            <a:extLst>
              <a:ext uri="{FF2B5EF4-FFF2-40B4-BE49-F238E27FC236}">
                <a16:creationId xmlns:a16="http://schemas.microsoft.com/office/drawing/2014/main" id="{EAF71217-7BAE-4F7C-B4D7-54FD3A61023F}"/>
              </a:ext>
            </a:extLst>
          </p:cNvPr>
          <p:cNvSpPr>
            <a:spLocks noGrp="1" noChangeArrowheads="1"/>
          </p:cNvSpPr>
          <p:nvPr>
            <p:ph type="body" idx="1"/>
          </p:nvPr>
        </p:nvSpPr>
        <p:spPr>
          <a:xfrm>
            <a:off x="304800" y="1700808"/>
            <a:ext cx="8610600" cy="4928592"/>
          </a:xfrm>
        </p:spPr>
        <p:txBody>
          <a:bodyPr/>
          <a:lstStyle/>
          <a:p>
            <a:pPr indent="-42863"/>
            <a:r>
              <a:rPr lang="zh-CN" altLang="en-US" sz="4000" b="1" dirty="0">
                <a:latin typeface="楷体_GB2312" pitchFamily="49" charset="-122"/>
                <a:ea typeface="楷体_GB2312" pitchFamily="49" charset="-122"/>
              </a:rPr>
              <a:t>数据类型定义: </a:t>
            </a:r>
          </a:p>
          <a:p>
            <a:pPr indent="-42863">
              <a:buFont typeface="Monotype Sorts" pitchFamily="2" charset="2"/>
              <a:buNone/>
            </a:pPr>
            <a:r>
              <a:rPr lang="zh-CN" altLang="en-US" sz="4000" b="1" dirty="0">
                <a:solidFill>
                  <a:srgbClr val="000066"/>
                </a:solidFill>
                <a:latin typeface="楷体_GB2312" pitchFamily="49" charset="-122"/>
                <a:ea typeface="楷体_GB2312" pitchFamily="49" charset="-122"/>
              </a:rPr>
              <a:t>一组形式相同的数据集，对这组数据可施行的一组操作集。</a:t>
            </a:r>
          </a:p>
          <a:p>
            <a:pPr indent="-42863"/>
            <a:r>
              <a:rPr lang="zh-CN" altLang="en-US" sz="4000" b="1" dirty="0">
                <a:latin typeface="楷体_GB2312" pitchFamily="49" charset="-122"/>
                <a:ea typeface="楷体_GB2312" pitchFamily="49" charset="-122"/>
              </a:rPr>
              <a:t>数据结构是指数据对象及其相互关系和构造方法，程序的数据结构描述了程序中的数据间的组织形式和结构关系</a:t>
            </a:r>
            <a:r>
              <a:rPr lang="zh-CN" altLang="en-US" sz="4000" dirty="0">
                <a:latin typeface="楷体_GB2312" pitchFamily="49" charset="-122"/>
                <a:ea typeface="楷体_GB2312" pitchFamily="49" charset="-122"/>
              </a:rPr>
              <a:t>。</a:t>
            </a:r>
          </a:p>
        </p:txBody>
      </p:sp>
    </p:spTree>
  </p:cSld>
  <p:clrMapOvr>
    <a:masterClrMapping/>
  </p:clrMapOvr>
  <p:transition>
    <p:cover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04802">
                                            <p:txEl>
                                              <p:pRg st="0" end="0"/>
                                            </p:txEl>
                                          </p:spTgt>
                                        </p:tgtEl>
                                        <p:attrNameLst>
                                          <p:attrName>style.visibility</p:attrName>
                                        </p:attrNameLst>
                                      </p:cBhvr>
                                      <p:to>
                                        <p:strVal val="visible"/>
                                      </p:to>
                                    </p:set>
                                    <p:anim calcmode="lin" valueType="num">
                                      <p:cBhvr additive="base">
                                        <p:cTn id="7" dur="500" fill="hold"/>
                                        <p:tgtEl>
                                          <p:spTgt spid="204802">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20480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204803">
                                            <p:txEl>
                                              <p:pRg st="0" end="0"/>
                                            </p:txEl>
                                          </p:spTgt>
                                        </p:tgtEl>
                                        <p:attrNameLst>
                                          <p:attrName>style.visibility</p:attrName>
                                        </p:attrNameLst>
                                      </p:cBhvr>
                                      <p:to>
                                        <p:strVal val="visible"/>
                                      </p:to>
                                    </p:set>
                                    <p:anim calcmode="lin" valueType="num">
                                      <p:cBhvr additive="base">
                                        <p:cTn id="13" dur="500" fill="hold"/>
                                        <p:tgtEl>
                                          <p:spTgt spid="204803">
                                            <p:txEl>
                                              <p:pRg st="0" end="0"/>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20480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204803">
                                            <p:txEl>
                                              <p:pRg st="1" end="1"/>
                                            </p:txEl>
                                          </p:spTgt>
                                        </p:tgtEl>
                                        <p:attrNameLst>
                                          <p:attrName>style.visibility</p:attrName>
                                        </p:attrNameLst>
                                      </p:cBhvr>
                                      <p:to>
                                        <p:strVal val="visible"/>
                                      </p:to>
                                    </p:set>
                                    <p:anim calcmode="lin" valueType="num">
                                      <p:cBhvr additive="base">
                                        <p:cTn id="19" dur="500" fill="hold"/>
                                        <p:tgtEl>
                                          <p:spTgt spid="204803">
                                            <p:txEl>
                                              <p:pRg st="1" end="1"/>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20480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204803">
                                            <p:txEl>
                                              <p:pRg st="2" end="2"/>
                                            </p:txEl>
                                          </p:spTgt>
                                        </p:tgtEl>
                                        <p:attrNameLst>
                                          <p:attrName>style.visibility</p:attrName>
                                        </p:attrNameLst>
                                      </p:cBhvr>
                                      <p:to>
                                        <p:strVal val="visible"/>
                                      </p:to>
                                    </p:set>
                                    <p:anim calcmode="lin" valueType="num">
                                      <p:cBhvr additive="base">
                                        <p:cTn id="25" dur="500" fill="hold"/>
                                        <p:tgtEl>
                                          <p:spTgt spid="204803">
                                            <p:txEl>
                                              <p:pRg st="2" end="2"/>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20480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02" grpId="0" build="p" autoUpdateAnimBg="0"/>
      <p:bldP spid="204803" grpId="0" build="p"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826" name="Rectangle 2">
            <a:extLst>
              <a:ext uri="{FF2B5EF4-FFF2-40B4-BE49-F238E27FC236}">
                <a16:creationId xmlns:a16="http://schemas.microsoft.com/office/drawing/2014/main" id="{BF1B7777-7625-4825-9E77-34CA45176828}"/>
              </a:ext>
            </a:extLst>
          </p:cNvPr>
          <p:cNvSpPr>
            <a:spLocks noGrp="1" noChangeArrowheads="1"/>
          </p:cNvSpPr>
          <p:nvPr>
            <p:ph type="title"/>
          </p:nvPr>
        </p:nvSpPr>
        <p:spPr>
          <a:xfrm>
            <a:off x="381000" y="0"/>
            <a:ext cx="8458200" cy="762000"/>
          </a:xfrm>
        </p:spPr>
        <p:txBody>
          <a:bodyPr/>
          <a:lstStyle/>
          <a:p>
            <a:pPr>
              <a:lnSpc>
                <a:spcPct val="100000"/>
              </a:lnSpc>
            </a:pPr>
            <a:r>
              <a:rPr lang="zh-CN" altLang="en-US" sz="4400">
                <a:solidFill>
                  <a:srgbClr val="FF0000"/>
                </a:solidFill>
                <a:effectLst>
                  <a:outerShdw blurRad="38100" dist="38100" dir="2700000" algn="tl">
                    <a:srgbClr val="000000"/>
                  </a:outerShdw>
                </a:effectLst>
                <a:latin typeface="楷体_GB2312" pitchFamily="49" charset="-122"/>
                <a:ea typeface="楷体_GB2312" pitchFamily="49" charset="-122"/>
              </a:rPr>
              <a:t>数据结构与算法的关系</a:t>
            </a:r>
            <a:r>
              <a:rPr lang="zh-CN" altLang="en-US" sz="2800">
                <a:solidFill>
                  <a:srgbClr val="FF0000"/>
                </a:solidFill>
                <a:effectLst>
                  <a:outerShdw blurRad="38100" dist="38100" dir="2700000" algn="tl">
                    <a:srgbClr val="000000"/>
                  </a:outerShdw>
                </a:effectLst>
                <a:latin typeface="楷体_GB2312" pitchFamily="49" charset="-122"/>
                <a:ea typeface="楷体_GB2312" pitchFamily="49" charset="-122"/>
              </a:rPr>
              <a:t>（续）</a:t>
            </a:r>
            <a:endParaRPr lang="zh-CN" altLang="en-US" b="0">
              <a:solidFill>
                <a:schemeClr val="tx1"/>
              </a:solidFill>
              <a:latin typeface="Times New Roman" panose="02020603050405020304" pitchFamily="18" charset="0"/>
              <a:ea typeface="宋体" panose="02010600030101010101" pitchFamily="2" charset="-122"/>
            </a:endParaRPr>
          </a:p>
        </p:txBody>
      </p:sp>
      <p:sp>
        <p:nvSpPr>
          <p:cNvPr id="205827" name="Rectangle 3">
            <a:extLst>
              <a:ext uri="{FF2B5EF4-FFF2-40B4-BE49-F238E27FC236}">
                <a16:creationId xmlns:a16="http://schemas.microsoft.com/office/drawing/2014/main" id="{71102F0F-C5E3-4B78-B934-61FC4E90E012}"/>
              </a:ext>
            </a:extLst>
          </p:cNvPr>
          <p:cNvSpPr>
            <a:spLocks noGrp="1" noChangeArrowheads="1"/>
          </p:cNvSpPr>
          <p:nvPr>
            <p:ph type="body" idx="1"/>
          </p:nvPr>
        </p:nvSpPr>
        <p:spPr>
          <a:xfrm>
            <a:off x="304800" y="762000"/>
            <a:ext cx="8382000" cy="5867400"/>
          </a:xfrm>
        </p:spPr>
        <p:txBody>
          <a:bodyPr/>
          <a:lstStyle/>
          <a:p>
            <a:pPr marL="0" indent="0" algn="just"/>
            <a:endParaRPr lang="zh-CN" altLang="en-US" sz="4000" b="1">
              <a:effectLst>
                <a:outerShdw blurRad="38100" dist="38100" dir="2700000" algn="tl">
                  <a:srgbClr val="000000"/>
                </a:outerShdw>
              </a:effectLst>
              <a:latin typeface="楷体_GB2312" pitchFamily="49" charset="-122"/>
              <a:ea typeface="楷体_GB2312" pitchFamily="49" charset="-122"/>
            </a:endParaRPr>
          </a:p>
          <a:p>
            <a:pPr marL="0" indent="0" algn="just">
              <a:buFont typeface="Monotype Sorts" pitchFamily="2" charset="2"/>
              <a:buNone/>
            </a:pPr>
            <a:r>
              <a:rPr lang="zh-CN" altLang="en-US" sz="4000" b="1">
                <a:effectLst>
                  <a:outerShdw blurRad="38100" dist="38100" dir="2700000" algn="tl">
                    <a:srgbClr val="000000"/>
                  </a:outerShdw>
                </a:effectLst>
                <a:latin typeface="楷体_GB2312" pitchFamily="49" charset="-122"/>
                <a:ea typeface="楷体_GB2312" pitchFamily="49" charset="-122"/>
              </a:rPr>
              <a:t>程序、数据结构和算法三者之间的关系</a:t>
            </a:r>
          </a:p>
          <a:p>
            <a:pPr marL="0" indent="0" algn="just">
              <a:buFont typeface="Monotype Sorts" pitchFamily="2" charset="2"/>
              <a:buNone/>
            </a:pPr>
            <a:r>
              <a:rPr lang="zh-CN" altLang="en-US" sz="4000" b="1">
                <a:effectLst>
                  <a:outerShdw blurRad="38100" dist="38100" dir="2700000" algn="tl">
                    <a:srgbClr val="000000"/>
                  </a:outerShdw>
                </a:effectLst>
                <a:latin typeface="楷体_GB2312" pitchFamily="49" charset="-122"/>
                <a:ea typeface="楷体_GB2312" pitchFamily="49" charset="-122"/>
              </a:rPr>
              <a:t>    </a:t>
            </a:r>
            <a:r>
              <a:rPr lang="zh-CN" altLang="en-US" sz="4000" b="1">
                <a:solidFill>
                  <a:srgbClr val="000066"/>
                </a:solidFill>
                <a:effectLst>
                  <a:outerShdw blurRad="38100" dist="38100" dir="2700000" algn="tl">
                    <a:srgbClr val="000000"/>
                  </a:outerShdw>
                </a:effectLst>
                <a:latin typeface="楷体_GB2312" pitchFamily="49" charset="-122"/>
                <a:ea typeface="楷体_GB2312" pitchFamily="49" charset="-122"/>
              </a:rPr>
              <a:t>程序 ＝ 数据结构 ＋ 算法</a:t>
            </a:r>
            <a:endParaRPr lang="zh-CN" altLang="en-US" sz="4000" b="1">
              <a:solidFill>
                <a:srgbClr val="FF0000"/>
              </a:solidFill>
              <a:effectLst>
                <a:outerShdw blurRad="38100" dist="38100" dir="2700000" algn="tl">
                  <a:srgbClr val="000000"/>
                </a:outerShdw>
              </a:effectLst>
              <a:latin typeface="楷体_GB2312" pitchFamily="49" charset="-122"/>
              <a:ea typeface="楷体_GB2312" pitchFamily="49" charset="-122"/>
            </a:endParaRPr>
          </a:p>
        </p:txBody>
      </p:sp>
    </p:spTree>
  </p:cSld>
  <p:clrMapOvr>
    <a:masterClrMapping/>
  </p:clrMapOvr>
  <p:transition>
    <p:cover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05826">
                                            <p:txEl>
                                              <p:pRg st="0" end="0"/>
                                            </p:txEl>
                                          </p:spTgt>
                                        </p:tgtEl>
                                        <p:attrNameLst>
                                          <p:attrName>style.visibility</p:attrName>
                                        </p:attrNameLst>
                                      </p:cBhvr>
                                      <p:to>
                                        <p:strVal val="visible"/>
                                      </p:to>
                                    </p:set>
                                    <p:anim calcmode="lin" valueType="num">
                                      <p:cBhvr additive="base">
                                        <p:cTn id="7" dur="500" fill="hold"/>
                                        <p:tgtEl>
                                          <p:spTgt spid="205826">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20582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205827">
                                            <p:txEl>
                                              <p:pRg st="1" end="1"/>
                                            </p:txEl>
                                          </p:spTgt>
                                        </p:tgtEl>
                                        <p:attrNameLst>
                                          <p:attrName>style.visibility</p:attrName>
                                        </p:attrNameLst>
                                      </p:cBhvr>
                                      <p:to>
                                        <p:strVal val="visible"/>
                                      </p:to>
                                    </p:set>
                                    <p:anim calcmode="lin" valueType="num">
                                      <p:cBhvr additive="base">
                                        <p:cTn id="13" dur="500" fill="hold"/>
                                        <p:tgtEl>
                                          <p:spTgt spid="205827">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20582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205827">
                                            <p:txEl>
                                              <p:pRg st="2" end="2"/>
                                            </p:txEl>
                                          </p:spTgt>
                                        </p:tgtEl>
                                        <p:attrNameLst>
                                          <p:attrName>style.visibility</p:attrName>
                                        </p:attrNameLst>
                                      </p:cBhvr>
                                      <p:to>
                                        <p:strVal val="visible"/>
                                      </p:to>
                                    </p:set>
                                    <p:anim calcmode="lin" valueType="num">
                                      <p:cBhvr additive="base">
                                        <p:cTn id="19" dur="500" fill="hold"/>
                                        <p:tgtEl>
                                          <p:spTgt spid="205827">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205827">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826" grpId="0" build="p" autoUpdateAnimBg="0"/>
      <p:bldP spid="205827" grpId="0" build="p"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2819" name="Rectangle 3"/>
          <p:cNvSpPr>
            <a:spLocks noGrp="1" noChangeArrowheads="1"/>
          </p:cNvSpPr>
          <p:nvPr>
            <p:ph idx="1"/>
          </p:nvPr>
        </p:nvSpPr>
        <p:spPr>
          <a:xfrm>
            <a:off x="323850" y="476250"/>
            <a:ext cx="8424863" cy="6049963"/>
          </a:xfrm>
        </p:spPr>
        <p:txBody>
          <a:bodyPr>
            <a:normAutofit/>
          </a:bodyPr>
          <a:lstStyle/>
          <a:p>
            <a:pPr marL="0" indent="0" fontAlgn="auto">
              <a:lnSpc>
                <a:spcPct val="90000"/>
              </a:lnSpc>
              <a:spcAft>
                <a:spcPts val="0"/>
              </a:spcAft>
              <a:buClr>
                <a:schemeClr val="accent3"/>
              </a:buClr>
              <a:buFont typeface="Monotype Sorts" pitchFamily="2" charset="2"/>
              <a:buNone/>
              <a:defRPr/>
            </a:pPr>
            <a:r>
              <a:rPr lang="zh-CN" altLang="en-US" sz="3200" b="1" dirty="0">
                <a:latin typeface="楷体_GB2312" pitchFamily="49" charset="-122"/>
                <a:ea typeface="楷体_GB2312" pitchFamily="49" charset="-122"/>
              </a:rPr>
              <a:t>结构化程序设计方法中，目前多数采用结构化的伪代码来描述算法。本书采用与</a:t>
            </a:r>
            <a:r>
              <a:rPr lang="en-US" altLang="zh-CN" sz="3200" b="1" dirty="0">
                <a:latin typeface="楷体_GB2312" pitchFamily="49" charset="-122"/>
                <a:ea typeface="楷体_GB2312" pitchFamily="49" charset="-122"/>
              </a:rPr>
              <a:t>C</a:t>
            </a:r>
            <a:r>
              <a:rPr lang="zh-CN" altLang="en-US" sz="3200" b="1" dirty="0">
                <a:latin typeface="楷体_GB2312" pitchFamily="49" charset="-122"/>
                <a:ea typeface="楷体_GB2312" pitchFamily="49" charset="-122"/>
              </a:rPr>
              <a:t>语言控制结构一致的伪代码描述算法。例如，上图的算法用伪代码可描述如下：</a:t>
            </a:r>
          </a:p>
          <a:p>
            <a:pPr marL="0" indent="0" fontAlgn="auto">
              <a:lnSpc>
                <a:spcPct val="90000"/>
              </a:lnSpc>
              <a:spcAft>
                <a:spcPts val="0"/>
              </a:spcAft>
              <a:buClr>
                <a:schemeClr val="accent3"/>
              </a:buClr>
              <a:buFont typeface="Monotype Sorts" pitchFamily="2" charset="2"/>
              <a:buNone/>
              <a:defRPr/>
            </a:pPr>
            <a:r>
              <a:rPr lang="zh-CN" altLang="en-US" b="1" dirty="0">
                <a:effectLst>
                  <a:outerShdw blurRad="38100" dist="38100" dir="2700000" algn="tl">
                    <a:srgbClr val="000000"/>
                  </a:outerShdw>
                </a:effectLst>
                <a:latin typeface="楷体_GB2312" pitchFamily="49" charset="-122"/>
                <a:ea typeface="楷体_GB2312" pitchFamily="49" charset="-122"/>
              </a:rPr>
              <a:t>    </a:t>
            </a:r>
            <a:endParaRPr lang="en-US" altLang="zh-CN" b="1" dirty="0">
              <a:effectLst>
                <a:outerShdw blurRad="38100" dist="38100" dir="2700000" algn="tl">
                  <a:srgbClr val="000000"/>
                </a:outerShdw>
              </a:effectLst>
              <a:latin typeface="楷体_GB2312" pitchFamily="49" charset="-122"/>
              <a:ea typeface="楷体_GB2312" pitchFamily="49" charset="-122"/>
            </a:endParaRPr>
          </a:p>
          <a:p>
            <a:pPr marL="0" indent="0" fontAlgn="auto">
              <a:lnSpc>
                <a:spcPct val="90000"/>
              </a:lnSpc>
              <a:spcAft>
                <a:spcPts val="0"/>
              </a:spcAft>
              <a:buClr>
                <a:schemeClr val="accent3"/>
              </a:buClr>
              <a:buFont typeface="Monotype Sorts" pitchFamily="2" charset="2"/>
              <a:buNone/>
              <a:defRPr/>
            </a:pPr>
            <a:r>
              <a:rPr lang="en-US" altLang="zh-CN" b="1" dirty="0">
                <a:effectLst>
                  <a:outerShdw blurRad="38100" dist="38100" dir="2700000" algn="tl">
                    <a:srgbClr val="000000"/>
                  </a:outerShdw>
                </a:effectLst>
                <a:latin typeface="楷体_GB2312" pitchFamily="49" charset="-122"/>
                <a:ea typeface="楷体_GB2312" pitchFamily="49" charset="-122"/>
              </a:rPr>
              <a:t>s = 0; k = 0;</a:t>
            </a:r>
          </a:p>
          <a:p>
            <a:pPr marL="0" indent="0" fontAlgn="auto">
              <a:lnSpc>
                <a:spcPct val="90000"/>
              </a:lnSpc>
              <a:spcAft>
                <a:spcPts val="0"/>
              </a:spcAft>
              <a:buClr>
                <a:schemeClr val="accent3"/>
              </a:buClr>
              <a:buFont typeface="Monotype Sorts" pitchFamily="2" charset="2"/>
              <a:buNone/>
              <a:defRPr/>
            </a:pPr>
            <a:r>
              <a:rPr lang="en-US" altLang="zh-CN" b="1" dirty="0">
                <a:effectLst>
                  <a:outerShdw blurRad="38100" dist="38100" dir="2700000" algn="tl">
                    <a:srgbClr val="000000"/>
                  </a:outerShdw>
                </a:effectLst>
                <a:latin typeface="楷体_GB2312" pitchFamily="49" charset="-122"/>
                <a:ea typeface="楷体_GB2312" pitchFamily="49" charset="-122"/>
              </a:rPr>
              <a:t>    do {</a:t>
            </a:r>
          </a:p>
          <a:p>
            <a:pPr marL="0" indent="0" fontAlgn="auto">
              <a:lnSpc>
                <a:spcPct val="90000"/>
              </a:lnSpc>
              <a:spcAft>
                <a:spcPts val="0"/>
              </a:spcAft>
              <a:buClr>
                <a:schemeClr val="accent3"/>
              </a:buClr>
              <a:buFont typeface="Monotype Sorts" pitchFamily="2" charset="2"/>
              <a:buNone/>
              <a:defRPr/>
            </a:pPr>
            <a:r>
              <a:rPr lang="en-US" altLang="zh-CN" b="1" dirty="0">
                <a:effectLst>
                  <a:outerShdw blurRad="38100" dist="38100" dir="2700000" algn="tl">
                    <a:srgbClr val="000000"/>
                  </a:outerShdw>
                </a:effectLst>
                <a:latin typeface="楷体_GB2312" pitchFamily="49" charset="-122"/>
                <a:ea typeface="楷体_GB2312" pitchFamily="49" charset="-122"/>
              </a:rPr>
              <a:t>       </a:t>
            </a:r>
            <a:r>
              <a:rPr lang="zh-CN" altLang="en-US" b="1" dirty="0">
                <a:effectLst>
                  <a:outerShdw blurRad="38100" dist="38100" dir="2700000" algn="tl">
                    <a:srgbClr val="000000"/>
                  </a:outerShdw>
                </a:effectLst>
                <a:latin typeface="楷体_GB2312" pitchFamily="49" charset="-122"/>
                <a:ea typeface="楷体_GB2312" pitchFamily="49" charset="-122"/>
              </a:rPr>
              <a:t>输入</a:t>
            </a:r>
            <a:r>
              <a:rPr lang="en-US" altLang="zh-CN" b="1" dirty="0">
                <a:effectLst>
                  <a:outerShdw blurRad="38100" dist="38100" dir="2700000" algn="tl">
                    <a:srgbClr val="000000"/>
                  </a:outerShdw>
                </a:effectLst>
                <a:latin typeface="楷体_GB2312" pitchFamily="49" charset="-122"/>
                <a:ea typeface="楷体_GB2312" pitchFamily="49" charset="-122"/>
              </a:rPr>
              <a:t>x;</a:t>
            </a:r>
          </a:p>
          <a:p>
            <a:pPr marL="0" indent="0" fontAlgn="auto">
              <a:lnSpc>
                <a:spcPct val="90000"/>
              </a:lnSpc>
              <a:spcAft>
                <a:spcPts val="0"/>
              </a:spcAft>
              <a:buClr>
                <a:schemeClr val="accent3"/>
              </a:buClr>
              <a:buFont typeface="Monotype Sorts" pitchFamily="2" charset="2"/>
              <a:buNone/>
              <a:defRPr/>
            </a:pPr>
            <a:r>
              <a:rPr lang="en-US" altLang="zh-CN" b="1" dirty="0">
                <a:effectLst>
                  <a:outerShdw blurRad="38100" dist="38100" dir="2700000" algn="tl">
                    <a:srgbClr val="000000"/>
                  </a:outerShdw>
                </a:effectLst>
                <a:latin typeface="楷体_GB2312" pitchFamily="49" charset="-122"/>
                <a:ea typeface="楷体_GB2312" pitchFamily="49" charset="-122"/>
              </a:rPr>
              <a:t>       s = </a:t>
            </a:r>
            <a:r>
              <a:rPr lang="en-US" altLang="zh-CN" b="1" dirty="0" err="1">
                <a:effectLst>
                  <a:outerShdw blurRad="38100" dist="38100" dir="2700000" algn="tl">
                    <a:srgbClr val="000000"/>
                  </a:outerShdw>
                </a:effectLst>
                <a:latin typeface="楷体_GB2312" pitchFamily="49" charset="-122"/>
                <a:ea typeface="楷体_GB2312" pitchFamily="49" charset="-122"/>
              </a:rPr>
              <a:t>s+x</a:t>
            </a:r>
            <a:r>
              <a:rPr lang="en-US" altLang="zh-CN" b="1" dirty="0">
                <a:effectLst>
                  <a:outerShdw blurRad="38100" dist="38100" dir="2700000" algn="tl">
                    <a:srgbClr val="000000"/>
                  </a:outerShdw>
                </a:effectLst>
                <a:latin typeface="楷体_GB2312" pitchFamily="49" charset="-122"/>
                <a:ea typeface="楷体_GB2312" pitchFamily="49" charset="-122"/>
              </a:rPr>
              <a:t>;</a:t>
            </a:r>
          </a:p>
          <a:p>
            <a:pPr marL="0" indent="0" fontAlgn="auto">
              <a:lnSpc>
                <a:spcPct val="90000"/>
              </a:lnSpc>
              <a:spcAft>
                <a:spcPts val="0"/>
              </a:spcAft>
              <a:buClr>
                <a:schemeClr val="accent3"/>
              </a:buClr>
              <a:buFont typeface="Monotype Sorts" pitchFamily="2" charset="2"/>
              <a:buNone/>
              <a:defRPr/>
            </a:pPr>
            <a:r>
              <a:rPr lang="en-US" altLang="zh-CN" b="1" dirty="0">
                <a:effectLst>
                  <a:outerShdw blurRad="38100" dist="38100" dir="2700000" algn="tl">
                    <a:srgbClr val="000000"/>
                  </a:outerShdw>
                </a:effectLst>
                <a:latin typeface="楷体_GB2312" pitchFamily="49" charset="-122"/>
                <a:ea typeface="楷体_GB2312" pitchFamily="49" charset="-122"/>
              </a:rPr>
              <a:t>       k = k+1;</a:t>
            </a:r>
          </a:p>
          <a:p>
            <a:pPr marL="0" indent="0" fontAlgn="auto">
              <a:lnSpc>
                <a:spcPct val="90000"/>
              </a:lnSpc>
              <a:spcAft>
                <a:spcPts val="0"/>
              </a:spcAft>
              <a:buClr>
                <a:schemeClr val="accent3"/>
              </a:buClr>
              <a:buFont typeface="Monotype Sorts" pitchFamily="2" charset="2"/>
              <a:buNone/>
              <a:defRPr/>
            </a:pPr>
            <a:r>
              <a:rPr lang="en-US" altLang="zh-CN" b="1" dirty="0">
                <a:effectLst>
                  <a:outerShdw blurRad="38100" dist="38100" dir="2700000" algn="tl">
                    <a:srgbClr val="000000"/>
                  </a:outerShdw>
                </a:effectLst>
                <a:latin typeface="楷体_GB2312" pitchFamily="49" charset="-122"/>
                <a:ea typeface="楷体_GB2312" pitchFamily="49" charset="-122"/>
              </a:rPr>
              <a:t>    } while(k &lt; 10); </a:t>
            </a:r>
          </a:p>
        </p:txBody>
      </p:sp>
      <p:sp>
        <p:nvSpPr>
          <p:cNvPr id="5" name="灯片编号占位符 5"/>
          <p:cNvSpPr>
            <a:spLocks noGrp="1"/>
          </p:cNvSpPr>
          <p:nvPr>
            <p:ph type="sldNum" sz="quarter" idx="12"/>
          </p:nvPr>
        </p:nvSpPr>
        <p:spPr/>
        <p:txBody>
          <a:bodyPr/>
          <a:lstStyle/>
          <a:p>
            <a:pPr defTabSz="1128713">
              <a:defRPr/>
            </a:pPr>
            <a:fld id="{4806FE77-99DB-4149-9306-D0E402024DB5}" type="slidenum">
              <a:rPr lang="zh-CN" altLang="en-US">
                <a:latin typeface="+mn-lt"/>
              </a:rPr>
              <a:pPr defTabSz="1128713">
                <a:defRPr/>
              </a:pPr>
              <a:t>50</a:t>
            </a:fld>
            <a:endParaRPr lang="en-US" altLang="zh-CN">
              <a:latin typeface="+mn-lt"/>
            </a:endParaRPr>
          </a:p>
        </p:txBody>
      </p:sp>
    </p:spTree>
  </p:cSld>
  <p:clrMapOvr>
    <a:masterClrMapping/>
  </p:clrMapOvr>
  <p:transition>
    <p:random/>
  </p:transition>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43" name="Rectangle 3"/>
          <p:cNvSpPr>
            <a:spLocks noGrp="1" noChangeArrowheads="1"/>
          </p:cNvSpPr>
          <p:nvPr>
            <p:ph idx="1"/>
          </p:nvPr>
        </p:nvSpPr>
        <p:spPr>
          <a:xfrm>
            <a:off x="304800" y="333375"/>
            <a:ext cx="8515350" cy="6296025"/>
          </a:xfrm>
        </p:spPr>
        <p:txBody>
          <a:bodyPr>
            <a:normAutofit/>
          </a:bodyPr>
          <a:lstStyle/>
          <a:p>
            <a:pPr marL="0" indent="0" fontAlgn="auto">
              <a:lnSpc>
                <a:spcPct val="90000"/>
              </a:lnSpc>
              <a:spcAft>
                <a:spcPts val="0"/>
              </a:spcAft>
              <a:buClr>
                <a:schemeClr val="accent3"/>
              </a:buClr>
              <a:buFont typeface="Monotype Sorts" charset="2"/>
              <a:buNone/>
              <a:defRPr/>
            </a:pPr>
            <a:r>
              <a:rPr lang="zh-CN" altLang="en-US" sz="3600" b="1" dirty="0">
                <a:solidFill>
                  <a:srgbClr val="C00000"/>
                </a:solidFill>
                <a:latin typeface="黑体" pitchFamily="2" charset="-122"/>
                <a:ea typeface="黑体" pitchFamily="2" charset="-122"/>
              </a:rPr>
              <a:t>数据类型与数据结构</a:t>
            </a:r>
          </a:p>
          <a:p>
            <a:pPr marL="0" indent="0" fontAlgn="auto">
              <a:lnSpc>
                <a:spcPct val="90000"/>
              </a:lnSpc>
              <a:spcAft>
                <a:spcPts val="0"/>
              </a:spcAft>
              <a:buClr>
                <a:schemeClr val="accent3"/>
              </a:buClr>
              <a:buFont typeface="Monotype Sorts" charset="2"/>
              <a:buNone/>
              <a:defRPr/>
            </a:pPr>
            <a:endParaRPr lang="zh-CN" altLang="en-US" sz="3100" b="1" dirty="0">
              <a:solidFill>
                <a:srgbClr val="0000FF"/>
              </a:solidFill>
              <a:effectLst>
                <a:outerShdw blurRad="38100" dist="38100" dir="2700000" algn="tl">
                  <a:srgbClr val="000000"/>
                </a:outerShdw>
              </a:effectLst>
              <a:latin typeface="楷体_GB2312" pitchFamily="49" charset="-122"/>
              <a:ea typeface="楷体_GB2312" pitchFamily="49" charset="-122"/>
            </a:endParaRPr>
          </a:p>
          <a:p>
            <a:pPr marL="0" indent="0" fontAlgn="auto">
              <a:lnSpc>
                <a:spcPct val="90000"/>
              </a:lnSpc>
              <a:spcAft>
                <a:spcPts val="0"/>
              </a:spcAft>
              <a:buClr>
                <a:schemeClr val="accent3"/>
              </a:buClr>
              <a:buFont typeface="Wingdings 2"/>
              <a:buChar char=""/>
              <a:defRPr/>
            </a:pPr>
            <a:r>
              <a:rPr lang="zh-CN" altLang="en-US" sz="3100" b="1" dirty="0">
                <a:latin typeface="楷体_GB2312" pitchFamily="49" charset="-122"/>
                <a:ea typeface="楷体_GB2312" pitchFamily="49" charset="-122"/>
              </a:rPr>
              <a:t> 程序处理的是描述客观事物的数据，由于事物的多样性，数据形式也不尽相同，如整数、实数、字符，以及所有计算机能够接收、存储和处理的各种各样符号集合。</a:t>
            </a:r>
          </a:p>
          <a:p>
            <a:pPr marL="0" indent="0" fontAlgn="auto">
              <a:lnSpc>
                <a:spcPct val="90000"/>
              </a:lnSpc>
              <a:spcAft>
                <a:spcPts val="0"/>
              </a:spcAft>
              <a:buClr>
                <a:schemeClr val="accent3"/>
              </a:buClr>
              <a:buFont typeface="Wingdings 2"/>
              <a:buChar char=""/>
              <a:defRPr/>
            </a:pPr>
            <a:r>
              <a:rPr lang="zh-CN" altLang="en-US" sz="3100" b="1" dirty="0">
                <a:latin typeface="楷体_GB2312" pitchFamily="49" charset="-122"/>
                <a:ea typeface="楷体_GB2312" pitchFamily="49" charset="-122"/>
              </a:rPr>
              <a:t> 在计算机程序中，形式不同的数据采用数据类型来标识。变量的数据类型说明变量可能取的值的集合，以及可能施加于变量的操作的集合。</a:t>
            </a:r>
          </a:p>
          <a:p>
            <a:pPr marL="0" indent="0" fontAlgn="auto">
              <a:lnSpc>
                <a:spcPct val="90000"/>
              </a:lnSpc>
              <a:spcAft>
                <a:spcPts val="0"/>
              </a:spcAft>
              <a:buClr>
                <a:schemeClr val="accent3"/>
              </a:buClr>
              <a:buFont typeface="Monotype Sorts" charset="2"/>
              <a:buNone/>
              <a:defRPr/>
            </a:pPr>
            <a:r>
              <a:rPr lang="zh-CN" altLang="en-US" sz="3100" b="1" dirty="0">
                <a:latin typeface="楷体_GB2312" pitchFamily="49" charset="-122"/>
                <a:ea typeface="楷体_GB2312" pitchFamily="49" charset="-122"/>
              </a:rPr>
              <a:t>例如，对于记录计算机个数的变量，一般只能取大于或等于零的整数，对它施行整数的四则运算。所以数据类型</a:t>
            </a:r>
            <a:r>
              <a:rPr lang="zh-CN" altLang="en-US" sz="3100" b="1" dirty="0">
                <a:solidFill>
                  <a:srgbClr val="FF0000"/>
                </a:solidFill>
                <a:latin typeface="楷体_GB2312" pitchFamily="49" charset="-122"/>
                <a:ea typeface="楷体_GB2312" pitchFamily="49" charset="-122"/>
              </a:rPr>
              <a:t>不仅定义了一个形式相同的数据集，也定义了对这组数据可施行的一个操作集</a:t>
            </a:r>
            <a:r>
              <a:rPr lang="zh-CN" altLang="en-US" sz="3100" b="1" dirty="0">
                <a:latin typeface="楷体_GB2312" pitchFamily="49" charset="-122"/>
                <a:ea typeface="楷体_GB2312" pitchFamily="49" charset="-122"/>
              </a:rPr>
              <a:t>。</a:t>
            </a:r>
          </a:p>
        </p:txBody>
      </p:sp>
      <p:sp>
        <p:nvSpPr>
          <p:cNvPr id="5" name="灯片编号占位符 5"/>
          <p:cNvSpPr>
            <a:spLocks noGrp="1"/>
          </p:cNvSpPr>
          <p:nvPr>
            <p:ph type="sldNum" sz="quarter" idx="12"/>
          </p:nvPr>
        </p:nvSpPr>
        <p:spPr/>
        <p:txBody>
          <a:bodyPr/>
          <a:lstStyle/>
          <a:p>
            <a:pPr defTabSz="1128713">
              <a:defRPr/>
            </a:pPr>
            <a:fld id="{3851234C-6FF8-48D6-B076-0702CDFB1F97}" type="slidenum">
              <a:rPr lang="zh-CN" altLang="en-US">
                <a:latin typeface="+mn-lt"/>
              </a:rPr>
              <a:pPr defTabSz="1128713">
                <a:defRPr/>
              </a:pPr>
              <a:t>51</a:t>
            </a:fld>
            <a:endParaRPr lang="en-US" altLang="zh-CN">
              <a:latin typeface="+mn-lt"/>
            </a:endParaRPr>
          </a:p>
        </p:txBody>
      </p:sp>
    </p:spTree>
  </p:cSld>
  <p:clrMapOvr>
    <a:masterClrMapping/>
  </p:clrMapOvr>
  <p:transition>
    <p:random/>
  </p:transition>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8962" name="Rectangle 2">
            <a:extLst>
              <a:ext uri="{FF2B5EF4-FFF2-40B4-BE49-F238E27FC236}">
                <a16:creationId xmlns:a16="http://schemas.microsoft.com/office/drawing/2014/main" id="{09C2F0B5-EFD1-4658-B6DD-85AFB77F8426}"/>
              </a:ext>
            </a:extLst>
          </p:cNvPr>
          <p:cNvSpPr>
            <a:spLocks noGrp="1" noChangeArrowheads="1"/>
          </p:cNvSpPr>
          <p:nvPr>
            <p:ph type="title"/>
          </p:nvPr>
        </p:nvSpPr>
        <p:spPr>
          <a:xfrm>
            <a:off x="381000" y="304800"/>
            <a:ext cx="8458200" cy="762000"/>
          </a:xfrm>
        </p:spPr>
        <p:txBody>
          <a:bodyPr/>
          <a:lstStyle/>
          <a:p>
            <a:pPr>
              <a:lnSpc>
                <a:spcPct val="100000"/>
              </a:lnSpc>
            </a:pPr>
            <a:r>
              <a:rPr lang="zh-CN" altLang="en-US" sz="5400" dirty="0">
                <a:solidFill>
                  <a:srgbClr val="FF0000"/>
                </a:solidFill>
                <a:effectLst>
                  <a:outerShdw blurRad="38100" dist="38100" dir="2700000" algn="tl">
                    <a:srgbClr val="000000"/>
                  </a:outerShdw>
                </a:effectLst>
                <a:latin typeface="楷体_GB2312" pitchFamily="49" charset="-122"/>
                <a:ea typeface="楷体_GB2312" pitchFamily="49" charset="-122"/>
              </a:rPr>
              <a:t>结构化程序设计</a:t>
            </a:r>
            <a:endParaRPr lang="zh-CN" altLang="en-US" sz="3600" dirty="0">
              <a:solidFill>
                <a:srgbClr val="FF0000"/>
              </a:solidFill>
              <a:effectLst>
                <a:outerShdw blurRad="38100" dist="38100" dir="2700000" algn="tl">
                  <a:srgbClr val="000000"/>
                </a:outerShdw>
              </a:effectLst>
              <a:latin typeface="楷体_GB2312" pitchFamily="49" charset="-122"/>
              <a:ea typeface="楷体_GB2312" pitchFamily="49" charset="-122"/>
            </a:endParaRPr>
          </a:p>
        </p:txBody>
      </p:sp>
      <p:sp>
        <p:nvSpPr>
          <p:cNvPr id="168963" name="Rectangle 3">
            <a:extLst>
              <a:ext uri="{FF2B5EF4-FFF2-40B4-BE49-F238E27FC236}">
                <a16:creationId xmlns:a16="http://schemas.microsoft.com/office/drawing/2014/main" id="{04A3A174-3BB5-4D15-9CE7-2C55E4A390C5}"/>
              </a:ext>
            </a:extLst>
          </p:cNvPr>
          <p:cNvSpPr>
            <a:spLocks noGrp="1" noChangeArrowheads="1"/>
          </p:cNvSpPr>
          <p:nvPr>
            <p:ph type="body" idx="1"/>
          </p:nvPr>
        </p:nvSpPr>
        <p:spPr>
          <a:xfrm>
            <a:off x="197296" y="1340768"/>
            <a:ext cx="8839200" cy="5334000"/>
          </a:xfrm>
        </p:spPr>
        <p:txBody>
          <a:bodyPr/>
          <a:lstStyle/>
          <a:p>
            <a:pPr marL="0" indent="0" algn="just">
              <a:buFont typeface="Monotype Sorts" pitchFamily="2" charset="2"/>
              <a:buNone/>
            </a:pPr>
            <a:endParaRPr lang="zh-CN" altLang="en-US" sz="3200" b="1" dirty="0">
              <a:effectLst>
                <a:outerShdw blurRad="38100" dist="38100" dir="2700000" algn="tl">
                  <a:srgbClr val="000000"/>
                </a:outerShdw>
              </a:effectLst>
              <a:latin typeface="楷体_GB2312" pitchFamily="49" charset="-122"/>
              <a:ea typeface="楷体_GB2312" pitchFamily="49" charset="-122"/>
            </a:endParaRPr>
          </a:p>
          <a:p>
            <a:pPr marL="0" indent="0" algn="just">
              <a:buFont typeface="Monotype Sorts" pitchFamily="2" charset="2"/>
              <a:buNone/>
            </a:pPr>
            <a:r>
              <a:rPr lang="zh-CN" altLang="en-US" sz="4000" b="1" dirty="0">
                <a:effectLst>
                  <a:outerShdw blurRad="38100" dist="38100" dir="2700000" algn="tl">
                    <a:srgbClr val="000000"/>
                  </a:outerShdw>
                </a:effectLst>
                <a:latin typeface="楷体_GB2312" pitchFamily="49" charset="-122"/>
                <a:ea typeface="楷体_GB2312" pitchFamily="49" charset="-122"/>
              </a:rPr>
              <a:t>程序结构自顶向下模块化设计方法</a:t>
            </a:r>
          </a:p>
          <a:p>
            <a:pPr marL="0" indent="0" algn="just">
              <a:buFont typeface="Monotype Sorts" pitchFamily="2" charset="2"/>
              <a:buNone/>
            </a:pPr>
            <a:endParaRPr lang="zh-CN" altLang="en-US" sz="3200" b="1" dirty="0">
              <a:effectLst>
                <a:outerShdw blurRad="38100" dist="38100" dir="2700000" algn="tl">
                  <a:srgbClr val="000000"/>
                </a:outerShdw>
              </a:effectLst>
              <a:latin typeface="楷体_GB2312" pitchFamily="49" charset="-122"/>
              <a:ea typeface="楷体_GB2312" pitchFamily="49" charset="-122"/>
            </a:endParaRPr>
          </a:p>
          <a:p>
            <a:pPr marL="0" indent="0" algn="just">
              <a:buFont typeface="Monotype Sorts" pitchFamily="2" charset="2"/>
              <a:buNone/>
            </a:pPr>
            <a:r>
              <a:rPr lang="zh-CN" altLang="en-US" sz="4000" b="1" dirty="0">
                <a:effectLst>
                  <a:outerShdw blurRad="38100" dist="38100" dir="2700000" algn="tl">
                    <a:srgbClr val="000000"/>
                  </a:outerShdw>
                </a:effectLst>
                <a:latin typeface="楷体_GB2312" pitchFamily="49" charset="-122"/>
                <a:ea typeface="楷体_GB2312" pitchFamily="49" charset="-122"/>
              </a:rPr>
              <a:t>模块算法的逐步求精设计方法</a:t>
            </a:r>
          </a:p>
          <a:p>
            <a:pPr marL="0" indent="0" algn="just">
              <a:buFont typeface="Monotype Sorts" pitchFamily="2" charset="2"/>
              <a:buNone/>
            </a:pPr>
            <a:endParaRPr lang="zh-CN" altLang="en-US" sz="3200" b="1" dirty="0">
              <a:effectLst>
                <a:outerShdw blurRad="38100" dist="38100" dir="2700000" algn="tl">
                  <a:srgbClr val="000000"/>
                </a:outerShdw>
              </a:effectLst>
              <a:latin typeface="楷体_GB2312" pitchFamily="49" charset="-122"/>
              <a:ea typeface="楷体_GB2312" pitchFamily="49" charset="-122"/>
            </a:endParaRPr>
          </a:p>
          <a:p>
            <a:pPr marL="0" indent="0" algn="just">
              <a:buFont typeface="Monotype Sorts" pitchFamily="2" charset="2"/>
              <a:buNone/>
            </a:pPr>
            <a:r>
              <a:rPr lang="zh-CN" altLang="en-US" sz="4000" b="1" dirty="0">
                <a:effectLst>
                  <a:outerShdw blurRad="38100" dist="38100" dir="2700000" algn="tl">
                    <a:srgbClr val="000000"/>
                  </a:outerShdw>
                </a:effectLst>
                <a:latin typeface="楷体_GB2312" pitchFamily="49" charset="-122"/>
                <a:ea typeface="楷体_GB2312" pitchFamily="49" charset="-122"/>
              </a:rPr>
              <a:t>用结构化控制结构描述算法和编写程序</a:t>
            </a:r>
            <a:endParaRPr lang="zh-CN" altLang="en-US" dirty="0">
              <a:latin typeface="宋体" panose="02010600030101010101" pitchFamily="2" charset="-122"/>
              <a:ea typeface="宋体" panose="02010600030101010101" pitchFamily="2" charset="-122"/>
            </a:endParaRPr>
          </a:p>
        </p:txBody>
      </p:sp>
    </p:spTree>
  </p:cSld>
  <p:clrMapOvr>
    <a:masterClrMapping/>
  </p:clrMapOvr>
  <p:transition>
    <p:cover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68962">
                                            <p:txEl>
                                              <p:pRg st="0" end="0"/>
                                            </p:txEl>
                                          </p:spTgt>
                                        </p:tgtEl>
                                        <p:attrNameLst>
                                          <p:attrName>style.visibility</p:attrName>
                                        </p:attrNameLst>
                                      </p:cBhvr>
                                      <p:to>
                                        <p:strVal val="visible"/>
                                      </p:to>
                                    </p:set>
                                    <p:animEffect transition="in" filter="box(out)">
                                      <p:cBhvr>
                                        <p:cTn id="7" dur="500"/>
                                        <p:tgtEl>
                                          <p:spTgt spid="168962">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68963">
                                            <p:txEl>
                                              <p:pRg st="1" end="1"/>
                                            </p:txEl>
                                          </p:spTgt>
                                        </p:tgtEl>
                                        <p:attrNameLst>
                                          <p:attrName>style.visibility</p:attrName>
                                        </p:attrNameLst>
                                      </p:cBhvr>
                                      <p:to>
                                        <p:strVal val="visible"/>
                                      </p:to>
                                    </p:set>
                                    <p:animEffect transition="in" filter="box(out)">
                                      <p:cBhvr>
                                        <p:cTn id="12" dur="500"/>
                                        <p:tgtEl>
                                          <p:spTgt spid="168963">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68963">
                                            <p:txEl>
                                              <p:pRg st="3" end="3"/>
                                            </p:txEl>
                                          </p:spTgt>
                                        </p:tgtEl>
                                        <p:attrNameLst>
                                          <p:attrName>style.visibility</p:attrName>
                                        </p:attrNameLst>
                                      </p:cBhvr>
                                      <p:to>
                                        <p:strVal val="visible"/>
                                      </p:to>
                                    </p:set>
                                    <p:animEffect transition="in" filter="box(out)">
                                      <p:cBhvr>
                                        <p:cTn id="17" dur="500"/>
                                        <p:tgtEl>
                                          <p:spTgt spid="168963">
                                            <p:txEl>
                                              <p:pRg st="3" end="3"/>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68963">
                                            <p:txEl>
                                              <p:pRg st="5" end="5"/>
                                            </p:txEl>
                                          </p:spTgt>
                                        </p:tgtEl>
                                        <p:attrNameLst>
                                          <p:attrName>style.visibility</p:attrName>
                                        </p:attrNameLst>
                                      </p:cBhvr>
                                      <p:to>
                                        <p:strVal val="visible"/>
                                      </p:to>
                                    </p:set>
                                    <p:animEffect transition="in" filter="box(out)">
                                      <p:cBhvr>
                                        <p:cTn id="22" dur="500"/>
                                        <p:tgtEl>
                                          <p:spTgt spid="168963">
                                            <p:txEl>
                                              <p:pRg st="5" end="5"/>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62" grpId="0" build="p" autoUpdateAnimBg="0"/>
      <p:bldP spid="168963" grpId="0" build="p"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1010" name="Rectangle 2">
            <a:extLst>
              <a:ext uri="{FF2B5EF4-FFF2-40B4-BE49-F238E27FC236}">
                <a16:creationId xmlns:a16="http://schemas.microsoft.com/office/drawing/2014/main" id="{6AB2AAF7-DF48-4D34-AEE5-DBDB77012057}"/>
              </a:ext>
            </a:extLst>
          </p:cNvPr>
          <p:cNvSpPr>
            <a:spLocks noGrp="1" noChangeArrowheads="1"/>
          </p:cNvSpPr>
          <p:nvPr>
            <p:ph type="title"/>
          </p:nvPr>
        </p:nvSpPr>
        <p:spPr>
          <a:xfrm>
            <a:off x="381000" y="304800"/>
            <a:ext cx="8458200" cy="762000"/>
          </a:xfrm>
        </p:spPr>
        <p:txBody>
          <a:bodyPr/>
          <a:lstStyle/>
          <a:p>
            <a:pPr>
              <a:lnSpc>
                <a:spcPct val="100000"/>
              </a:lnSpc>
            </a:pPr>
            <a:r>
              <a:rPr lang="zh-CN" altLang="en-US" sz="4400">
                <a:solidFill>
                  <a:srgbClr val="FF0000"/>
                </a:solidFill>
                <a:effectLst>
                  <a:outerShdw blurRad="38100" dist="38100" dir="2700000" algn="tl">
                    <a:srgbClr val="000000"/>
                  </a:outerShdw>
                </a:effectLst>
                <a:latin typeface="楷体_GB2312" pitchFamily="49" charset="-122"/>
                <a:ea typeface="楷体_GB2312" pitchFamily="49" charset="-122"/>
              </a:rPr>
              <a:t>自顶向下模块化设计方法</a:t>
            </a:r>
            <a:endParaRPr lang="zh-CN" altLang="en-US" sz="3600">
              <a:solidFill>
                <a:srgbClr val="FF0000"/>
              </a:solidFill>
              <a:effectLst>
                <a:outerShdw blurRad="38100" dist="38100" dir="2700000" algn="tl">
                  <a:srgbClr val="000000"/>
                </a:outerShdw>
              </a:effectLst>
              <a:latin typeface="楷体_GB2312" pitchFamily="49" charset="-122"/>
              <a:ea typeface="楷体_GB2312" pitchFamily="49" charset="-122"/>
            </a:endParaRPr>
          </a:p>
        </p:txBody>
      </p:sp>
      <p:sp>
        <p:nvSpPr>
          <p:cNvPr id="171011" name="Rectangle 3">
            <a:extLst>
              <a:ext uri="{FF2B5EF4-FFF2-40B4-BE49-F238E27FC236}">
                <a16:creationId xmlns:a16="http://schemas.microsoft.com/office/drawing/2014/main" id="{2A30EFE5-F44B-4242-B872-4F88B9A05E9C}"/>
              </a:ext>
            </a:extLst>
          </p:cNvPr>
          <p:cNvSpPr>
            <a:spLocks noGrp="1" noChangeArrowheads="1"/>
          </p:cNvSpPr>
          <p:nvPr>
            <p:ph type="body" idx="1"/>
          </p:nvPr>
        </p:nvSpPr>
        <p:spPr>
          <a:xfrm>
            <a:off x="304800" y="1295400"/>
            <a:ext cx="8382000" cy="5257800"/>
          </a:xfrm>
        </p:spPr>
        <p:txBody>
          <a:bodyPr/>
          <a:lstStyle/>
          <a:p>
            <a:pPr algn="just"/>
            <a:r>
              <a:rPr lang="zh-CN" altLang="en-US" sz="4000" b="1" dirty="0">
                <a:latin typeface="楷体_GB2312" pitchFamily="49" charset="-122"/>
                <a:ea typeface="楷体_GB2312" pitchFamily="49" charset="-122"/>
              </a:rPr>
              <a:t>限制程序复杂性是程序设计核心。</a:t>
            </a:r>
          </a:p>
          <a:p>
            <a:pPr algn="just"/>
            <a:r>
              <a:rPr lang="zh-CN" altLang="en-US" sz="4000" b="1" dirty="0">
                <a:latin typeface="楷体_GB2312" pitchFamily="49" charset="-122"/>
                <a:ea typeface="楷体_GB2312" pitchFamily="49" charset="-122"/>
              </a:rPr>
              <a:t>程序结构自顶向下模块化设计方法就是把大程序按功能划分成一些较小的部分，每个完成独立功能。</a:t>
            </a:r>
          </a:p>
          <a:p>
            <a:pPr algn="just"/>
            <a:r>
              <a:rPr lang="zh-CN" altLang="en-US" sz="4000" b="1" dirty="0">
                <a:latin typeface="楷体_GB2312" pitchFamily="49" charset="-122"/>
                <a:ea typeface="楷体_GB2312" pitchFamily="49" charset="-122"/>
              </a:rPr>
              <a:t>分解模块的原则是简单性、独立性和完整性。模块化设计方法开发程序，使程序具有较高的可靠性和灵活性，同时便于程序的测试和维护</a:t>
            </a:r>
            <a:r>
              <a:rPr lang="zh-CN" altLang="en-US" sz="4000" b="1" dirty="0">
                <a:effectLst>
                  <a:outerShdw blurRad="38100" dist="38100" dir="2700000" algn="tl">
                    <a:srgbClr val="000000"/>
                  </a:outerShdw>
                </a:effectLst>
                <a:latin typeface="楷体_GB2312" pitchFamily="49" charset="-122"/>
                <a:ea typeface="楷体_GB2312" pitchFamily="49" charset="-122"/>
              </a:rPr>
              <a:t>。</a:t>
            </a:r>
          </a:p>
        </p:txBody>
      </p:sp>
    </p:spTree>
  </p:cSld>
  <p:clrMapOvr>
    <a:masterClrMapping/>
  </p:clrMapOvr>
  <p:transition>
    <p:cover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71010">
                                            <p:txEl>
                                              <p:pRg st="0" end="0"/>
                                            </p:txEl>
                                          </p:spTgt>
                                        </p:tgtEl>
                                        <p:attrNameLst>
                                          <p:attrName>style.visibility</p:attrName>
                                        </p:attrNameLst>
                                      </p:cBhvr>
                                      <p:to>
                                        <p:strVal val="visible"/>
                                      </p:to>
                                    </p:set>
                                    <p:anim calcmode="lin" valueType="num">
                                      <p:cBhvr additive="base">
                                        <p:cTn id="7" dur="500" fill="hold"/>
                                        <p:tgtEl>
                                          <p:spTgt spid="171010">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71010">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LASER.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71011">
                                            <p:txEl>
                                              <p:pRg st="0" end="0"/>
                                            </p:txEl>
                                          </p:spTgt>
                                        </p:tgtEl>
                                        <p:attrNameLst>
                                          <p:attrName>style.visibility</p:attrName>
                                        </p:attrNameLst>
                                      </p:cBhvr>
                                      <p:to>
                                        <p:strVal val="visible"/>
                                      </p:to>
                                    </p:set>
                                    <p:animEffect transition="in" filter="box(out)">
                                      <p:cBhvr>
                                        <p:cTn id="13" dur="500"/>
                                        <p:tgtEl>
                                          <p:spTgt spid="171011">
                                            <p:txEl>
                                              <p:pRg st="0" end="0"/>
                                            </p:txEl>
                                          </p:spTgt>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nodeType="clickPar">
                      <p:stCondLst>
                        <p:cond delay="indefinite"/>
                      </p:stCondLst>
                      <p:childTnLst>
                        <p:par>
                          <p:cTn id="15" fill="hold" nodeType="withGroup">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71011">
                                            <p:txEl>
                                              <p:pRg st="1" end="1"/>
                                            </p:txEl>
                                          </p:spTgt>
                                        </p:tgtEl>
                                        <p:attrNameLst>
                                          <p:attrName>style.visibility</p:attrName>
                                        </p:attrNameLst>
                                      </p:cBhvr>
                                      <p:to>
                                        <p:strVal val="visible"/>
                                      </p:to>
                                    </p:set>
                                    <p:animEffect transition="in" filter="box(out)">
                                      <p:cBhvr>
                                        <p:cTn id="18" dur="500"/>
                                        <p:tgtEl>
                                          <p:spTgt spid="171011">
                                            <p:txEl>
                                              <p:pRg st="1" end="1"/>
                                            </p:txEl>
                                          </p:spTgt>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nodeType="clickPar">
                      <p:stCondLst>
                        <p:cond delay="indefinite"/>
                      </p:stCondLst>
                      <p:childTnLst>
                        <p:par>
                          <p:cTn id="20" fill="hold" nodeType="withGroup">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171011">
                                            <p:txEl>
                                              <p:pRg st="2" end="2"/>
                                            </p:txEl>
                                          </p:spTgt>
                                        </p:tgtEl>
                                        <p:attrNameLst>
                                          <p:attrName>style.visibility</p:attrName>
                                        </p:attrNameLst>
                                      </p:cBhvr>
                                      <p:to>
                                        <p:strVal val="visible"/>
                                      </p:to>
                                    </p:set>
                                    <p:animEffect transition="in" filter="box(out)">
                                      <p:cBhvr>
                                        <p:cTn id="23" dur="500"/>
                                        <p:tgtEl>
                                          <p:spTgt spid="171011">
                                            <p:txEl>
                                              <p:pRg st="2" end="2"/>
                                            </p:txEl>
                                          </p:spTgt>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0" grpId="0" build="p" autoUpdateAnimBg="0"/>
      <p:bldP spid="171011" grpId="0" build="p"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2034" name="Rectangle 2">
            <a:extLst>
              <a:ext uri="{FF2B5EF4-FFF2-40B4-BE49-F238E27FC236}">
                <a16:creationId xmlns:a16="http://schemas.microsoft.com/office/drawing/2014/main" id="{B6A87A59-F7FE-462C-B811-45F9EB036E6F}"/>
              </a:ext>
            </a:extLst>
          </p:cNvPr>
          <p:cNvSpPr>
            <a:spLocks noGrp="1" noChangeArrowheads="1"/>
          </p:cNvSpPr>
          <p:nvPr>
            <p:ph type="title"/>
          </p:nvPr>
        </p:nvSpPr>
        <p:spPr>
          <a:xfrm>
            <a:off x="74240" y="116632"/>
            <a:ext cx="8458200" cy="762000"/>
          </a:xfrm>
        </p:spPr>
        <p:txBody>
          <a:bodyPr/>
          <a:lstStyle/>
          <a:p>
            <a:pPr>
              <a:lnSpc>
                <a:spcPct val="100000"/>
              </a:lnSpc>
            </a:pPr>
            <a:r>
              <a:rPr lang="zh-CN" altLang="en-US" sz="4400" dirty="0">
                <a:solidFill>
                  <a:srgbClr val="FF0000"/>
                </a:solidFill>
                <a:effectLst>
                  <a:outerShdw blurRad="38100" dist="38100" dir="2700000" algn="tl">
                    <a:srgbClr val="000000"/>
                  </a:outerShdw>
                </a:effectLst>
                <a:latin typeface="楷体_GB2312" pitchFamily="49" charset="-122"/>
                <a:ea typeface="楷体_GB2312" pitchFamily="49" charset="-122"/>
              </a:rPr>
              <a:t>自顶向下模块化设计方法</a:t>
            </a:r>
            <a:r>
              <a:rPr lang="zh-CN" altLang="en-US" sz="2800" dirty="0">
                <a:solidFill>
                  <a:srgbClr val="FF0000"/>
                </a:solidFill>
                <a:effectLst>
                  <a:outerShdw blurRad="38100" dist="38100" dir="2700000" algn="tl">
                    <a:srgbClr val="000000"/>
                  </a:outerShdw>
                </a:effectLst>
                <a:latin typeface="楷体_GB2312" pitchFamily="49" charset="-122"/>
                <a:ea typeface="楷体_GB2312" pitchFamily="49" charset="-122"/>
              </a:rPr>
              <a:t>（续）</a:t>
            </a:r>
            <a:endParaRPr lang="zh-CN" altLang="en-US" sz="3600" dirty="0">
              <a:solidFill>
                <a:srgbClr val="FF0000"/>
              </a:solidFill>
              <a:effectLst>
                <a:outerShdw blurRad="38100" dist="38100" dir="2700000" algn="tl">
                  <a:srgbClr val="000000"/>
                </a:outerShdw>
              </a:effectLst>
              <a:latin typeface="楷体_GB2312" pitchFamily="49" charset="-122"/>
              <a:ea typeface="楷体_GB2312" pitchFamily="49" charset="-122"/>
            </a:endParaRPr>
          </a:p>
        </p:txBody>
      </p:sp>
      <p:sp>
        <p:nvSpPr>
          <p:cNvPr id="172035" name="Rectangle 3">
            <a:extLst>
              <a:ext uri="{FF2B5EF4-FFF2-40B4-BE49-F238E27FC236}">
                <a16:creationId xmlns:a16="http://schemas.microsoft.com/office/drawing/2014/main" id="{3C8100E1-6F60-4FAC-BBE7-45F35A5A7682}"/>
              </a:ext>
            </a:extLst>
          </p:cNvPr>
          <p:cNvSpPr>
            <a:spLocks noGrp="1" noChangeArrowheads="1"/>
          </p:cNvSpPr>
          <p:nvPr>
            <p:ph type="body" idx="1"/>
          </p:nvPr>
        </p:nvSpPr>
        <p:spPr>
          <a:xfrm>
            <a:off x="304800" y="1066800"/>
            <a:ext cx="8382000" cy="5791200"/>
          </a:xfrm>
        </p:spPr>
        <p:txBody>
          <a:bodyPr/>
          <a:lstStyle/>
          <a:p>
            <a:pPr marL="0" indent="0">
              <a:buFont typeface="Monotype Sorts" pitchFamily="2" charset="2"/>
              <a:buNone/>
            </a:pPr>
            <a:r>
              <a:rPr lang="zh-CN" altLang="en-US" sz="3600" b="1" dirty="0">
                <a:latin typeface="楷体_GB2312" pitchFamily="49" charset="-122"/>
                <a:ea typeface="楷体_GB2312" pitchFamily="49" charset="-122"/>
              </a:rPr>
              <a:t>在用模块化方法划分程序模块时，应尽量让模块具有如下良好性质：</a:t>
            </a:r>
          </a:p>
          <a:p>
            <a:pPr marL="0" indent="0"/>
            <a:r>
              <a:rPr lang="zh-CN" altLang="en-US" sz="3600" b="1" dirty="0">
                <a:latin typeface="楷体_GB2312" pitchFamily="49" charset="-122"/>
                <a:ea typeface="楷体_GB2312" pitchFamily="49" charset="-122"/>
              </a:rPr>
              <a:t>  模块具有单一入口和单一出口。</a:t>
            </a:r>
          </a:p>
          <a:p>
            <a:pPr marL="0" indent="0"/>
            <a:r>
              <a:rPr lang="zh-CN" altLang="en-US" sz="3600" b="1" dirty="0">
                <a:latin typeface="楷体_GB2312" pitchFamily="49" charset="-122"/>
                <a:ea typeface="楷体_GB2312" pitchFamily="49" charset="-122"/>
              </a:rPr>
              <a:t>  模块不宜过大，模块功能单一。</a:t>
            </a:r>
          </a:p>
          <a:p>
            <a:pPr marL="0" indent="0"/>
            <a:r>
              <a:rPr lang="zh-CN" altLang="en-US" sz="3600" b="1" dirty="0">
                <a:latin typeface="楷体_GB2312" pitchFamily="49" charset="-122"/>
                <a:ea typeface="楷体_GB2312" pitchFamily="49" charset="-122"/>
              </a:rPr>
              <a:t>  模块的执行不对环境产生副作用。</a:t>
            </a:r>
          </a:p>
          <a:p>
            <a:pPr marL="0" indent="0"/>
            <a:r>
              <a:rPr lang="zh-CN" altLang="en-US" sz="3600" b="1" dirty="0">
                <a:latin typeface="楷体_GB2312" pitchFamily="49" charset="-122"/>
                <a:ea typeface="楷体_GB2312" pitchFamily="49" charset="-122"/>
              </a:rPr>
              <a:t>  让模块与环境的联系仅限于输入和输出参数，模块的内部结构与调用它的程序无关。</a:t>
            </a:r>
          </a:p>
          <a:p>
            <a:pPr marL="0" indent="0"/>
            <a:r>
              <a:rPr lang="zh-CN" altLang="en-US" sz="3600" b="1" dirty="0">
                <a:latin typeface="楷体_GB2312" pitchFamily="49" charset="-122"/>
                <a:ea typeface="楷体_GB2312" pitchFamily="49" charset="-122"/>
              </a:rPr>
              <a:t>  尽量用模块的名字调用模块。</a:t>
            </a:r>
          </a:p>
        </p:txBody>
      </p:sp>
    </p:spTree>
  </p:cSld>
  <p:clrMapOvr>
    <a:masterClrMapping/>
  </p:clrMapOvr>
  <p:transition>
    <p:cover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72034">
                                            <p:txEl>
                                              <p:pRg st="0" end="0"/>
                                            </p:txEl>
                                          </p:spTgt>
                                        </p:tgtEl>
                                        <p:attrNameLst>
                                          <p:attrName>style.visibility</p:attrName>
                                        </p:attrNameLst>
                                      </p:cBhvr>
                                      <p:to>
                                        <p:strVal val="visible"/>
                                      </p:to>
                                    </p:set>
                                    <p:animEffect transition="in" filter="box(out)">
                                      <p:cBhvr>
                                        <p:cTn id="7" dur="500"/>
                                        <p:tgtEl>
                                          <p:spTgt spid="172034">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72035">
                                            <p:txEl>
                                              <p:pRg st="0" end="0"/>
                                            </p:txEl>
                                          </p:spTgt>
                                        </p:tgtEl>
                                        <p:attrNameLst>
                                          <p:attrName>style.visibility</p:attrName>
                                        </p:attrNameLst>
                                      </p:cBhvr>
                                      <p:to>
                                        <p:strVal val="visible"/>
                                      </p:to>
                                    </p:set>
                                    <p:animEffect transition="in" filter="box(out)">
                                      <p:cBhvr>
                                        <p:cTn id="12" dur="500"/>
                                        <p:tgtEl>
                                          <p:spTgt spid="172035">
                                            <p:txEl>
                                              <p:pRg st="0" end="0"/>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72035">
                                            <p:txEl>
                                              <p:pRg st="1" end="1"/>
                                            </p:txEl>
                                          </p:spTgt>
                                        </p:tgtEl>
                                        <p:attrNameLst>
                                          <p:attrName>style.visibility</p:attrName>
                                        </p:attrNameLst>
                                      </p:cBhvr>
                                      <p:to>
                                        <p:strVal val="visible"/>
                                      </p:to>
                                    </p:set>
                                    <p:animEffect transition="in" filter="box(out)">
                                      <p:cBhvr>
                                        <p:cTn id="17" dur="500"/>
                                        <p:tgtEl>
                                          <p:spTgt spid="172035">
                                            <p:txEl>
                                              <p:pRg st="1" end="1"/>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72035">
                                            <p:txEl>
                                              <p:pRg st="2" end="2"/>
                                            </p:txEl>
                                          </p:spTgt>
                                        </p:tgtEl>
                                        <p:attrNameLst>
                                          <p:attrName>style.visibility</p:attrName>
                                        </p:attrNameLst>
                                      </p:cBhvr>
                                      <p:to>
                                        <p:strVal val="visible"/>
                                      </p:to>
                                    </p:set>
                                    <p:animEffect transition="in" filter="box(out)">
                                      <p:cBhvr>
                                        <p:cTn id="22" dur="500"/>
                                        <p:tgtEl>
                                          <p:spTgt spid="172035">
                                            <p:txEl>
                                              <p:pRg st="2" end="2"/>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72035">
                                            <p:txEl>
                                              <p:pRg st="3" end="3"/>
                                            </p:txEl>
                                          </p:spTgt>
                                        </p:tgtEl>
                                        <p:attrNameLst>
                                          <p:attrName>style.visibility</p:attrName>
                                        </p:attrNameLst>
                                      </p:cBhvr>
                                      <p:to>
                                        <p:strVal val="visible"/>
                                      </p:to>
                                    </p:set>
                                    <p:animEffect transition="in" filter="box(out)">
                                      <p:cBhvr>
                                        <p:cTn id="27" dur="500"/>
                                        <p:tgtEl>
                                          <p:spTgt spid="172035">
                                            <p:txEl>
                                              <p:pRg st="3" end="3"/>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WAV"/>
                                        </p:tgtEl>
                                      </p:cMediaNode>
                                    </p:audio>
                                  </p:sub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172035">
                                            <p:txEl>
                                              <p:pRg st="4" end="4"/>
                                            </p:txEl>
                                          </p:spTgt>
                                        </p:tgtEl>
                                        <p:attrNameLst>
                                          <p:attrName>style.visibility</p:attrName>
                                        </p:attrNameLst>
                                      </p:cBhvr>
                                      <p:to>
                                        <p:strVal val="visible"/>
                                      </p:to>
                                    </p:set>
                                    <p:animEffect transition="in" filter="box(out)">
                                      <p:cBhvr>
                                        <p:cTn id="32" dur="500"/>
                                        <p:tgtEl>
                                          <p:spTgt spid="172035">
                                            <p:txEl>
                                              <p:pRg st="4" end="4"/>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172035">
                                            <p:txEl>
                                              <p:pRg st="5" end="5"/>
                                            </p:txEl>
                                          </p:spTgt>
                                        </p:tgtEl>
                                        <p:attrNameLst>
                                          <p:attrName>style.visibility</p:attrName>
                                        </p:attrNameLst>
                                      </p:cBhvr>
                                      <p:to>
                                        <p:strVal val="visible"/>
                                      </p:to>
                                    </p:set>
                                    <p:animEffect transition="in" filter="box(out)">
                                      <p:cBhvr>
                                        <p:cTn id="37" dur="500"/>
                                        <p:tgtEl>
                                          <p:spTgt spid="172035">
                                            <p:txEl>
                                              <p:pRg st="5" end="5"/>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34" grpId="0" build="p" autoUpdateAnimBg="0"/>
      <p:bldP spid="172035" grpId="0" build="p"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3058" name="Rectangle 2">
            <a:extLst>
              <a:ext uri="{FF2B5EF4-FFF2-40B4-BE49-F238E27FC236}">
                <a16:creationId xmlns:a16="http://schemas.microsoft.com/office/drawing/2014/main" id="{0AC10414-032D-4AB3-A3C0-42D3662AA430}"/>
              </a:ext>
            </a:extLst>
          </p:cNvPr>
          <p:cNvSpPr>
            <a:spLocks noGrp="1" noChangeArrowheads="1"/>
          </p:cNvSpPr>
          <p:nvPr>
            <p:ph type="title"/>
          </p:nvPr>
        </p:nvSpPr>
        <p:spPr>
          <a:xfrm>
            <a:off x="381000" y="304800"/>
            <a:ext cx="8458200" cy="762000"/>
          </a:xfrm>
        </p:spPr>
        <p:txBody>
          <a:bodyPr/>
          <a:lstStyle/>
          <a:p>
            <a:pPr>
              <a:lnSpc>
                <a:spcPct val="100000"/>
              </a:lnSpc>
            </a:pPr>
            <a:r>
              <a:rPr lang="zh-CN" altLang="en-US" sz="4400" dirty="0">
                <a:solidFill>
                  <a:srgbClr val="FF0000"/>
                </a:solidFill>
                <a:effectLst>
                  <a:outerShdw blurRad="38100" dist="38100" dir="2700000" algn="tl">
                    <a:srgbClr val="000000"/>
                  </a:outerShdw>
                </a:effectLst>
                <a:latin typeface="楷体_GB2312" pitchFamily="49" charset="-122"/>
                <a:ea typeface="楷体_GB2312" pitchFamily="49" charset="-122"/>
              </a:rPr>
              <a:t>逐步求精设计方法</a:t>
            </a:r>
            <a:endParaRPr lang="zh-CN" altLang="en-US" sz="3600" dirty="0">
              <a:solidFill>
                <a:srgbClr val="FF0000"/>
              </a:solidFill>
              <a:effectLst>
                <a:outerShdw blurRad="38100" dist="38100" dir="2700000" algn="tl">
                  <a:srgbClr val="000000"/>
                </a:outerShdw>
              </a:effectLst>
              <a:latin typeface="楷体_GB2312" pitchFamily="49" charset="-122"/>
              <a:ea typeface="楷体_GB2312" pitchFamily="49" charset="-122"/>
            </a:endParaRPr>
          </a:p>
        </p:txBody>
      </p:sp>
      <p:sp>
        <p:nvSpPr>
          <p:cNvPr id="173059" name="Rectangle 3">
            <a:extLst>
              <a:ext uri="{FF2B5EF4-FFF2-40B4-BE49-F238E27FC236}">
                <a16:creationId xmlns:a16="http://schemas.microsoft.com/office/drawing/2014/main" id="{9EEE4898-957E-4CB4-8215-C2F2B7CF4FA1}"/>
              </a:ext>
            </a:extLst>
          </p:cNvPr>
          <p:cNvSpPr>
            <a:spLocks noGrp="1" noChangeArrowheads="1"/>
          </p:cNvSpPr>
          <p:nvPr>
            <p:ph type="body" idx="1"/>
          </p:nvPr>
        </p:nvSpPr>
        <p:spPr>
          <a:xfrm>
            <a:off x="381000" y="1412776"/>
            <a:ext cx="8151440" cy="5562600"/>
          </a:xfrm>
        </p:spPr>
        <p:txBody>
          <a:bodyPr/>
          <a:lstStyle/>
          <a:p>
            <a:pPr marL="0" indent="0" algn="just">
              <a:buFont typeface="Monotype Sorts" pitchFamily="2" charset="2"/>
              <a:buNone/>
            </a:pPr>
            <a:r>
              <a:rPr lang="zh-CN" altLang="en-US" sz="3600" b="1" dirty="0">
                <a:latin typeface="楷体_GB2312" pitchFamily="49" charset="-122"/>
                <a:ea typeface="楷体_GB2312" pitchFamily="49" charset="-122"/>
              </a:rPr>
              <a:t>程序设计的基本方法是</a:t>
            </a:r>
            <a:r>
              <a:rPr lang="zh-CN" altLang="en-US" sz="3600" dirty="0">
                <a:latin typeface="楷体_GB2312" pitchFamily="49" charset="-122"/>
                <a:ea typeface="楷体_GB2312" pitchFamily="49" charset="-122"/>
              </a:rPr>
              <a:t>  </a:t>
            </a:r>
          </a:p>
          <a:p>
            <a:pPr marL="0" indent="0" algn="just">
              <a:buFont typeface="Monotype Sorts" pitchFamily="2" charset="2"/>
              <a:buNone/>
            </a:pPr>
            <a:r>
              <a:rPr lang="zh-CN" altLang="en-US" sz="3600" b="1" dirty="0">
                <a:solidFill>
                  <a:srgbClr val="FF0000"/>
                </a:solidFill>
                <a:latin typeface="楷体_GB2312" pitchFamily="49" charset="-122"/>
                <a:ea typeface="楷体_GB2312" pitchFamily="49" charset="-122"/>
              </a:rPr>
              <a:t>    抽象 枚举 归纳</a:t>
            </a:r>
            <a:endParaRPr lang="zh-CN" altLang="en-US" sz="3600" dirty="0">
              <a:latin typeface="楷体_GB2312" pitchFamily="49" charset="-122"/>
              <a:ea typeface="楷体_GB2312" pitchFamily="49" charset="-122"/>
            </a:endParaRPr>
          </a:p>
          <a:p>
            <a:pPr marL="0" indent="0" algn="just">
              <a:buFont typeface="Monotype Sorts" pitchFamily="2" charset="2"/>
              <a:buNone/>
            </a:pPr>
            <a:r>
              <a:rPr lang="zh-CN" altLang="en-US" sz="3600" b="1" dirty="0">
                <a:latin typeface="楷体_GB2312" pitchFamily="49" charset="-122"/>
                <a:ea typeface="楷体_GB2312" pitchFamily="49" charset="-122"/>
              </a:rPr>
              <a:t>抽象包括算法抽象和数据抽象。算法抽象是指算法的寻求(或开发)采用逐步求精、逐层分解的方法。数据抽象也指在算法抽象的过程中逐步完善数据结构和引入新的数据及确定关于数据的操作</a:t>
            </a:r>
            <a:r>
              <a:rPr lang="zh-CN" altLang="en-US" sz="3600" dirty="0">
                <a:latin typeface="楷体_GB2312" pitchFamily="49" charset="-122"/>
                <a:ea typeface="楷体_GB2312" pitchFamily="49" charset="-122"/>
              </a:rPr>
              <a:t>。</a:t>
            </a:r>
            <a:endParaRPr lang="zh-CN" altLang="en-US" sz="3600" b="1" dirty="0">
              <a:latin typeface="楷体_GB2312" pitchFamily="49" charset="-122"/>
              <a:ea typeface="楷体_GB2312" pitchFamily="49" charset="-122"/>
            </a:endParaRPr>
          </a:p>
        </p:txBody>
      </p:sp>
    </p:spTree>
  </p:cSld>
  <p:clrMapOvr>
    <a:masterClrMapping/>
  </p:clrMapOvr>
  <p:transition>
    <p:cover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73058">
                                            <p:txEl>
                                              <p:pRg st="0" end="0"/>
                                            </p:txEl>
                                          </p:spTgt>
                                        </p:tgtEl>
                                        <p:attrNameLst>
                                          <p:attrName>style.visibility</p:attrName>
                                        </p:attrNameLst>
                                      </p:cBhvr>
                                      <p:to>
                                        <p:strVal val="visible"/>
                                      </p:to>
                                    </p:set>
                                    <p:anim calcmode="lin" valueType="num">
                                      <p:cBhvr additive="base">
                                        <p:cTn id="7" dur="500" fill="hold"/>
                                        <p:tgtEl>
                                          <p:spTgt spid="17305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73058">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73059">
                                            <p:txEl>
                                              <p:pRg st="0" end="0"/>
                                            </p:txEl>
                                          </p:spTgt>
                                        </p:tgtEl>
                                        <p:attrNameLst>
                                          <p:attrName>style.visibility</p:attrName>
                                        </p:attrNameLst>
                                      </p:cBhvr>
                                      <p:to>
                                        <p:strVal val="visible"/>
                                      </p:to>
                                    </p:set>
                                    <p:anim calcmode="lin" valueType="num">
                                      <p:cBhvr additive="base">
                                        <p:cTn id="13" dur="500" fill="hold"/>
                                        <p:tgtEl>
                                          <p:spTgt spid="173059">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73059">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WHOOSH.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73059">
                                            <p:txEl>
                                              <p:pRg st="1" end="1"/>
                                            </p:txEl>
                                          </p:spTgt>
                                        </p:tgtEl>
                                        <p:attrNameLst>
                                          <p:attrName>style.visibility</p:attrName>
                                        </p:attrNameLst>
                                      </p:cBhvr>
                                      <p:to>
                                        <p:strVal val="visible"/>
                                      </p:to>
                                    </p:set>
                                    <p:anim calcmode="lin" valueType="num">
                                      <p:cBhvr additive="base">
                                        <p:cTn id="19" dur="500" fill="hold"/>
                                        <p:tgtEl>
                                          <p:spTgt spid="173059">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73059">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WHOOSH.WAV"/>
                                        </p:tgtEl>
                                      </p:cMediaNode>
                                    </p:audio>
                                  </p:sub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73059">
                                            <p:txEl>
                                              <p:pRg st="2" end="2"/>
                                            </p:txEl>
                                          </p:spTgt>
                                        </p:tgtEl>
                                        <p:attrNameLst>
                                          <p:attrName>style.visibility</p:attrName>
                                        </p:attrNameLst>
                                      </p:cBhvr>
                                      <p:to>
                                        <p:strVal val="visible"/>
                                      </p:to>
                                    </p:set>
                                    <p:anim calcmode="lin" valueType="num">
                                      <p:cBhvr additive="base">
                                        <p:cTn id="25" dur="500" fill="hold"/>
                                        <p:tgtEl>
                                          <p:spTgt spid="173059">
                                            <p:txEl>
                                              <p:pRg st="2" end="2"/>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73059">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058" grpId="0" build="p" autoUpdateAnimBg="0"/>
      <p:bldP spid="173059" grpId="0" build="p"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082" name="Rectangle 2">
            <a:extLst>
              <a:ext uri="{FF2B5EF4-FFF2-40B4-BE49-F238E27FC236}">
                <a16:creationId xmlns:a16="http://schemas.microsoft.com/office/drawing/2014/main" id="{9F5D9A51-D7A3-4F62-9D2B-193036B3201A}"/>
              </a:ext>
            </a:extLst>
          </p:cNvPr>
          <p:cNvSpPr>
            <a:spLocks noGrp="1" noChangeArrowheads="1"/>
          </p:cNvSpPr>
          <p:nvPr>
            <p:ph type="title"/>
          </p:nvPr>
        </p:nvSpPr>
        <p:spPr>
          <a:xfrm>
            <a:off x="381000" y="304800"/>
            <a:ext cx="8458200" cy="762000"/>
          </a:xfrm>
        </p:spPr>
        <p:txBody>
          <a:bodyPr/>
          <a:lstStyle/>
          <a:p>
            <a:pPr>
              <a:lnSpc>
                <a:spcPct val="100000"/>
              </a:lnSpc>
            </a:pPr>
            <a:r>
              <a:rPr lang="zh-CN" altLang="en-US" sz="4400">
                <a:solidFill>
                  <a:srgbClr val="FF0000"/>
                </a:solidFill>
                <a:effectLst>
                  <a:outerShdw blurRad="38100" dist="38100" dir="2700000" algn="tl">
                    <a:srgbClr val="000000"/>
                  </a:outerShdw>
                </a:effectLst>
                <a:latin typeface="楷体_GB2312" pitchFamily="49" charset="-122"/>
                <a:ea typeface="楷体_GB2312" pitchFamily="49" charset="-122"/>
              </a:rPr>
              <a:t>逐步求精设计方法</a:t>
            </a:r>
            <a:r>
              <a:rPr lang="zh-CN" altLang="en-US" sz="2400">
                <a:solidFill>
                  <a:srgbClr val="FF0000"/>
                </a:solidFill>
                <a:latin typeface="楷体_GB2312" pitchFamily="49" charset="-122"/>
                <a:ea typeface="楷体_GB2312" pitchFamily="49" charset="-122"/>
              </a:rPr>
              <a:t>（续）</a:t>
            </a:r>
          </a:p>
        </p:txBody>
      </p:sp>
      <p:sp>
        <p:nvSpPr>
          <p:cNvPr id="174083" name="Rectangle 3">
            <a:extLst>
              <a:ext uri="{FF2B5EF4-FFF2-40B4-BE49-F238E27FC236}">
                <a16:creationId xmlns:a16="http://schemas.microsoft.com/office/drawing/2014/main" id="{E113BD33-AEFA-4416-9607-FA14EEE24106}"/>
              </a:ext>
            </a:extLst>
          </p:cNvPr>
          <p:cNvSpPr>
            <a:spLocks noGrp="1" noChangeArrowheads="1"/>
          </p:cNvSpPr>
          <p:nvPr>
            <p:ph type="body" idx="1"/>
          </p:nvPr>
        </p:nvSpPr>
        <p:spPr>
          <a:xfrm>
            <a:off x="399525" y="1700808"/>
            <a:ext cx="8839200" cy="4343400"/>
          </a:xfrm>
        </p:spPr>
        <p:txBody>
          <a:bodyPr/>
          <a:lstStyle/>
          <a:p>
            <a:pPr marL="0" indent="0">
              <a:lnSpc>
                <a:spcPct val="90000"/>
              </a:lnSpc>
              <a:buFont typeface="Monotype Sorts" pitchFamily="2" charset="2"/>
              <a:buNone/>
            </a:pPr>
            <a:r>
              <a:rPr lang="zh-CN" altLang="en-US" sz="4000" b="1" dirty="0">
                <a:latin typeface="楷体_GB2312" pitchFamily="49" charset="-122"/>
                <a:ea typeface="楷体_GB2312" pitchFamily="49" charset="-122"/>
              </a:rPr>
              <a:t>算法设计采用逐步求精设计方法，即先设计出一个抽象算法，这是一个在抽象数据上实施一系列抽象操作的算法，由粗略的控制结构和抽象的计算步骤组成。抽象操作只指明</a:t>
            </a:r>
            <a:r>
              <a:rPr lang="zh-CN" altLang="en-US" sz="4000" b="1" dirty="0">
                <a:latin typeface="Courier New" panose="02070309020205020404" pitchFamily="49" charset="0"/>
                <a:ea typeface="楷体_GB2312" pitchFamily="49" charset="-122"/>
              </a:rPr>
              <a:t>“</a:t>
            </a:r>
            <a:r>
              <a:rPr lang="zh-CN" altLang="en-US" sz="4000" b="1" dirty="0">
                <a:solidFill>
                  <a:srgbClr val="CC0000"/>
                </a:solidFill>
                <a:latin typeface="楷体_GB2312" pitchFamily="49" charset="-122"/>
                <a:ea typeface="楷体_GB2312" pitchFamily="49" charset="-122"/>
              </a:rPr>
              <a:t>做什么</a:t>
            </a:r>
            <a:r>
              <a:rPr lang="zh-CN" altLang="en-US" sz="4000" b="1" dirty="0">
                <a:latin typeface="Courier New" panose="02070309020205020404" pitchFamily="49" charset="0"/>
                <a:ea typeface="楷体_GB2312" pitchFamily="49" charset="-122"/>
              </a:rPr>
              <a:t>”</a:t>
            </a:r>
            <a:r>
              <a:rPr lang="zh-CN" altLang="en-US" sz="4000" b="1" dirty="0">
                <a:latin typeface="楷体_GB2312" pitchFamily="49" charset="-122"/>
                <a:ea typeface="楷体_GB2312" pitchFamily="49" charset="-122"/>
              </a:rPr>
              <a:t>，对这些抽象操作的细化就是想方设法回答它</a:t>
            </a:r>
            <a:r>
              <a:rPr lang="zh-CN" altLang="en-US" sz="4000" b="1" dirty="0">
                <a:latin typeface="Courier New" panose="02070309020205020404" pitchFamily="49" charset="0"/>
                <a:ea typeface="楷体_GB2312" pitchFamily="49" charset="-122"/>
              </a:rPr>
              <a:t>“</a:t>
            </a:r>
            <a:r>
              <a:rPr lang="zh-CN" altLang="en-US" sz="4000" b="1" dirty="0">
                <a:solidFill>
                  <a:srgbClr val="CC0000"/>
                </a:solidFill>
                <a:latin typeface="楷体_GB2312" pitchFamily="49" charset="-122"/>
                <a:ea typeface="楷体_GB2312" pitchFamily="49" charset="-122"/>
              </a:rPr>
              <a:t>如何做</a:t>
            </a:r>
            <a:r>
              <a:rPr lang="zh-CN" altLang="en-US" sz="4000" b="1" dirty="0">
                <a:latin typeface="Courier New" panose="02070309020205020404" pitchFamily="49" charset="0"/>
                <a:ea typeface="楷体_GB2312" pitchFamily="49" charset="-122"/>
              </a:rPr>
              <a:t>”</a:t>
            </a:r>
            <a:r>
              <a:rPr lang="zh-CN" altLang="en-US" sz="4000" b="1" dirty="0">
                <a:effectLst>
                  <a:outerShdw blurRad="38100" dist="38100" dir="2700000" algn="tl">
                    <a:srgbClr val="000000"/>
                  </a:outerShdw>
                </a:effectLst>
                <a:latin typeface="楷体_GB2312" pitchFamily="49" charset="-122"/>
                <a:ea typeface="楷体_GB2312" pitchFamily="49" charset="-122"/>
              </a:rPr>
              <a:t>。</a:t>
            </a:r>
          </a:p>
        </p:txBody>
      </p:sp>
    </p:spTree>
  </p:cSld>
  <p:clrMapOvr>
    <a:masterClrMapping/>
  </p:clrMapOvr>
  <p:transition>
    <p:cover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74082">
                                            <p:txEl>
                                              <p:pRg st="0" end="0"/>
                                            </p:txEl>
                                          </p:spTgt>
                                        </p:tgtEl>
                                        <p:attrNameLst>
                                          <p:attrName>style.visibility</p:attrName>
                                        </p:attrNameLst>
                                      </p:cBhvr>
                                      <p:to>
                                        <p:strVal val="visible"/>
                                      </p:to>
                                    </p:set>
                                    <p:anim calcmode="lin" valueType="num">
                                      <p:cBhvr additive="base">
                                        <p:cTn id="7" dur="500" fill="hold"/>
                                        <p:tgtEl>
                                          <p:spTgt spid="174082">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7408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74083">
                                            <p:txEl>
                                              <p:pRg st="0" end="0"/>
                                            </p:txEl>
                                          </p:spTgt>
                                        </p:tgtEl>
                                        <p:attrNameLst>
                                          <p:attrName>style.visibility</p:attrName>
                                        </p:attrNameLst>
                                      </p:cBhvr>
                                      <p:to>
                                        <p:strVal val="visible"/>
                                      </p:to>
                                    </p:set>
                                    <p:animEffect transition="in" filter="box(out)">
                                      <p:cBhvr>
                                        <p:cTn id="13" dur="500"/>
                                        <p:tgtEl>
                                          <p:spTgt spid="174083">
                                            <p:txEl>
                                              <p:pRg st="0" end="0"/>
                                            </p:txEl>
                                          </p:spTgt>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082" grpId="0" build="p" autoUpdateAnimBg="0"/>
      <p:bldP spid="174083" grpId="0" build="p"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6850" name="Rectangle 1026">
            <a:extLst>
              <a:ext uri="{FF2B5EF4-FFF2-40B4-BE49-F238E27FC236}">
                <a16:creationId xmlns:a16="http://schemas.microsoft.com/office/drawing/2014/main" id="{E2ED84BF-B7C9-4538-AEE9-2DB8880353D7}"/>
              </a:ext>
            </a:extLst>
          </p:cNvPr>
          <p:cNvSpPr>
            <a:spLocks noGrp="1" noChangeArrowheads="1"/>
          </p:cNvSpPr>
          <p:nvPr>
            <p:ph type="title"/>
          </p:nvPr>
        </p:nvSpPr>
        <p:spPr>
          <a:xfrm>
            <a:off x="381000" y="304800"/>
            <a:ext cx="8458200" cy="762000"/>
          </a:xfrm>
        </p:spPr>
        <p:txBody>
          <a:bodyPr/>
          <a:lstStyle/>
          <a:p>
            <a:pPr>
              <a:lnSpc>
                <a:spcPct val="100000"/>
              </a:lnSpc>
            </a:pPr>
            <a:r>
              <a:rPr lang="zh-CN" altLang="en-US" sz="4400">
                <a:solidFill>
                  <a:srgbClr val="FF0000"/>
                </a:solidFill>
                <a:effectLst>
                  <a:outerShdw blurRad="38100" dist="38100" dir="2700000" algn="tl">
                    <a:srgbClr val="000000"/>
                  </a:outerShdw>
                </a:effectLst>
                <a:latin typeface="楷体_GB2312" pitchFamily="49" charset="-122"/>
                <a:ea typeface="楷体_GB2312" pitchFamily="49" charset="-122"/>
              </a:rPr>
              <a:t>逐步求精设计方法</a:t>
            </a:r>
            <a:r>
              <a:rPr lang="zh-CN" altLang="en-US" sz="2400">
                <a:solidFill>
                  <a:srgbClr val="FF0000"/>
                </a:solidFill>
                <a:latin typeface="楷体_GB2312" pitchFamily="49" charset="-122"/>
                <a:ea typeface="楷体_GB2312" pitchFamily="49" charset="-122"/>
              </a:rPr>
              <a:t>（续）</a:t>
            </a:r>
          </a:p>
        </p:txBody>
      </p:sp>
      <p:sp>
        <p:nvSpPr>
          <p:cNvPr id="206851" name="Rectangle 1027">
            <a:extLst>
              <a:ext uri="{FF2B5EF4-FFF2-40B4-BE49-F238E27FC236}">
                <a16:creationId xmlns:a16="http://schemas.microsoft.com/office/drawing/2014/main" id="{5E553804-4DCC-4636-9450-A06CC864DE81}"/>
              </a:ext>
            </a:extLst>
          </p:cNvPr>
          <p:cNvSpPr>
            <a:spLocks noGrp="1" noChangeArrowheads="1"/>
          </p:cNvSpPr>
          <p:nvPr>
            <p:ph type="body" idx="1"/>
          </p:nvPr>
        </p:nvSpPr>
        <p:spPr>
          <a:xfrm>
            <a:off x="381000" y="1556792"/>
            <a:ext cx="8382000" cy="4343400"/>
          </a:xfrm>
        </p:spPr>
        <p:txBody>
          <a:bodyPr/>
          <a:lstStyle/>
          <a:p>
            <a:pPr marL="0" indent="0">
              <a:buFont typeface="Monotype Sorts" pitchFamily="2" charset="2"/>
              <a:buNone/>
            </a:pPr>
            <a:r>
              <a:rPr lang="zh-CN" altLang="en-US" sz="4000" b="1" dirty="0">
                <a:latin typeface="楷体_GB2312" pitchFamily="49" charset="-122"/>
                <a:ea typeface="楷体_GB2312" pitchFamily="49" charset="-122"/>
              </a:rPr>
              <a:t>采用逐步求精的方法，由粗到细，将抽象步骤进一步分解成若干子任务。分而治之，对仍不具体的抽象子任务再进行分解。如此反复地一步步细化，算法越来越具体，抽象成分越来越少，直至可以编程为止。</a:t>
            </a:r>
          </a:p>
        </p:txBody>
      </p:sp>
    </p:spTree>
  </p:cSld>
  <p:clrMapOvr>
    <a:masterClrMapping/>
  </p:clrMapOvr>
  <p:transition>
    <p:cover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06850">
                                            <p:txEl>
                                              <p:pRg st="0" end="0"/>
                                            </p:txEl>
                                          </p:spTgt>
                                        </p:tgtEl>
                                        <p:attrNameLst>
                                          <p:attrName>style.visibility</p:attrName>
                                        </p:attrNameLst>
                                      </p:cBhvr>
                                      <p:to>
                                        <p:strVal val="visible"/>
                                      </p:to>
                                    </p:set>
                                    <p:anim calcmode="lin" valueType="num">
                                      <p:cBhvr additive="base">
                                        <p:cTn id="7" dur="500" fill="hold"/>
                                        <p:tgtEl>
                                          <p:spTgt spid="206850">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20685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206851">
                                            <p:txEl>
                                              <p:pRg st="0" end="0"/>
                                            </p:txEl>
                                          </p:spTgt>
                                        </p:tgtEl>
                                        <p:attrNameLst>
                                          <p:attrName>style.visibility</p:attrName>
                                        </p:attrNameLst>
                                      </p:cBhvr>
                                      <p:to>
                                        <p:strVal val="visible"/>
                                      </p:to>
                                    </p:set>
                                    <p:animEffect transition="in" filter="box(out)">
                                      <p:cBhvr>
                                        <p:cTn id="13" dur="500"/>
                                        <p:tgtEl>
                                          <p:spTgt spid="206851">
                                            <p:txEl>
                                              <p:pRg st="0" end="0"/>
                                            </p:txEl>
                                          </p:spTgt>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850" grpId="0" build="p" autoUpdateAnimBg="0"/>
      <p:bldP spid="206851" grpId="0" build="p"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106" name="Rectangle 2"/>
          <p:cNvSpPr>
            <a:spLocks noGrp="1" noChangeArrowheads="1"/>
          </p:cNvSpPr>
          <p:nvPr>
            <p:ph idx="1"/>
          </p:nvPr>
        </p:nvSpPr>
        <p:spPr>
          <a:xfrm>
            <a:off x="304800" y="928688"/>
            <a:ext cx="8515350" cy="5700712"/>
          </a:xfrm>
        </p:spPr>
        <p:txBody>
          <a:bodyPr/>
          <a:lstStyle/>
          <a:p>
            <a:pPr marL="0" indent="0"/>
            <a:r>
              <a:rPr lang="zh-CN" altLang="en-US" sz="3600" b="1" dirty="0">
                <a:ea typeface="楷体_GB2312" pitchFamily="49" charset="-122"/>
              </a:rPr>
              <a:t> 数据结构是指数据对象及其相互关系，程序的数据结构描述了程序中数据间的组织形式和结构关系。</a:t>
            </a:r>
          </a:p>
          <a:p>
            <a:pPr marL="0" indent="0">
              <a:buFont typeface="Monotype Sorts" charset="2"/>
              <a:buNone/>
            </a:pPr>
            <a:endParaRPr lang="zh-CN" altLang="en-US" sz="3600" b="1" dirty="0">
              <a:ea typeface="楷体_GB2312" pitchFamily="49" charset="-122"/>
            </a:endParaRPr>
          </a:p>
          <a:p>
            <a:pPr marL="0" indent="0"/>
            <a:r>
              <a:rPr lang="zh-CN" altLang="en-US" sz="3600" b="1" dirty="0">
                <a:ea typeface="楷体_GB2312" pitchFamily="49" charset="-122"/>
              </a:rPr>
              <a:t>数据结构与算法有密切的关系，明确了问题的算法，才能较好地设计数据结构。选择好的算法，又常常依赖于合理的数据结构。数据结构是构造算法的基础。</a:t>
            </a:r>
          </a:p>
        </p:txBody>
      </p:sp>
      <p:sp>
        <p:nvSpPr>
          <p:cNvPr id="5" name="灯片编号占位符 5"/>
          <p:cNvSpPr>
            <a:spLocks noGrp="1"/>
          </p:cNvSpPr>
          <p:nvPr>
            <p:ph type="sldNum" sz="quarter" idx="12"/>
          </p:nvPr>
        </p:nvSpPr>
        <p:spPr/>
        <p:txBody>
          <a:bodyPr/>
          <a:lstStyle/>
          <a:p>
            <a:pPr defTabSz="1128713">
              <a:defRPr/>
            </a:pPr>
            <a:fld id="{E25CB3B0-230F-459C-B80B-6F12671E3AFD}" type="slidenum">
              <a:rPr lang="zh-CN" altLang="en-US">
                <a:latin typeface="+mn-lt"/>
              </a:rPr>
              <a:pPr defTabSz="1128713">
                <a:defRPr/>
              </a:pPr>
              <a:t>58</a:t>
            </a:fld>
            <a:endParaRPr lang="en-US" altLang="zh-CN">
              <a:latin typeface="+mn-lt"/>
            </a:endParaRPr>
          </a:p>
        </p:txBody>
      </p:sp>
    </p:spTree>
  </p:cSld>
  <p:clrMapOvr>
    <a:masterClrMapping/>
  </p:clrMapOvr>
  <p:transition>
    <p:random/>
  </p:transition>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9987" name="Rectangle 3"/>
          <p:cNvSpPr>
            <a:spLocks noGrp="1" noChangeArrowheads="1"/>
          </p:cNvSpPr>
          <p:nvPr>
            <p:ph idx="1"/>
          </p:nvPr>
        </p:nvSpPr>
        <p:spPr>
          <a:xfrm>
            <a:off x="468313" y="620713"/>
            <a:ext cx="8280400" cy="5891212"/>
          </a:xfrm>
        </p:spPr>
        <p:txBody>
          <a:bodyPr>
            <a:normAutofit/>
          </a:bodyPr>
          <a:lstStyle/>
          <a:p>
            <a:pPr marL="0" indent="0" fontAlgn="auto">
              <a:spcAft>
                <a:spcPts val="0"/>
              </a:spcAft>
              <a:buClr>
                <a:schemeClr val="accent3"/>
              </a:buClr>
              <a:buFont typeface="Monotype Sorts" pitchFamily="2" charset="2"/>
              <a:buNone/>
              <a:defRPr/>
            </a:pPr>
            <a:r>
              <a:rPr lang="zh-CN" altLang="en-US" sz="3200" b="1" dirty="0">
                <a:solidFill>
                  <a:srgbClr val="C00000"/>
                </a:solidFill>
                <a:latin typeface="黑体" pitchFamily="2" charset="-122"/>
                <a:ea typeface="黑体" pitchFamily="2" charset="-122"/>
              </a:rPr>
              <a:t>程序的组织</a:t>
            </a:r>
          </a:p>
          <a:p>
            <a:pPr marL="0" indent="0" fontAlgn="auto">
              <a:spcAft>
                <a:spcPts val="0"/>
              </a:spcAft>
              <a:buClr>
                <a:schemeClr val="accent3"/>
              </a:buClr>
              <a:buFont typeface="Monotype Sorts" pitchFamily="2" charset="2"/>
              <a:buNone/>
              <a:defRPr/>
            </a:pPr>
            <a:endParaRPr lang="zh-CN" altLang="en-US" b="1" dirty="0">
              <a:solidFill>
                <a:schemeClr val="bg2"/>
              </a:solidFill>
              <a:effectLst>
                <a:outerShdw blurRad="38100" dist="38100" dir="2700000" algn="tl">
                  <a:srgbClr val="FFFFFF"/>
                </a:outerShdw>
              </a:effectLst>
              <a:latin typeface="楷体_GB2312" pitchFamily="49" charset="-122"/>
              <a:ea typeface="楷体_GB2312" pitchFamily="49" charset="-122"/>
            </a:endParaRPr>
          </a:p>
          <a:p>
            <a:pPr marL="0" indent="0" fontAlgn="auto">
              <a:spcAft>
                <a:spcPts val="0"/>
              </a:spcAft>
              <a:buClr>
                <a:schemeClr val="accent3"/>
              </a:buClr>
              <a:defRPr/>
            </a:pPr>
            <a:r>
              <a:rPr lang="zh-CN" altLang="en-US" sz="3200" b="1" dirty="0">
                <a:latin typeface="楷体_GB2312" pitchFamily="49" charset="-122"/>
                <a:ea typeface="楷体_GB2312" pitchFamily="49" charset="-122"/>
              </a:rPr>
              <a:t> 在早期的程序设计活动中，因没有统一的现成方法，因人习惯而异，编制的程序结构混乱，很难阅读和修改。</a:t>
            </a:r>
            <a:endParaRPr lang="en-US" altLang="zh-CN" sz="3200" b="1" dirty="0">
              <a:latin typeface="楷体_GB2312" pitchFamily="49" charset="-122"/>
              <a:ea typeface="楷体_GB2312" pitchFamily="49" charset="-122"/>
            </a:endParaRPr>
          </a:p>
          <a:p>
            <a:pPr marL="0" indent="0" fontAlgn="auto">
              <a:spcAft>
                <a:spcPts val="0"/>
              </a:spcAft>
              <a:buClr>
                <a:schemeClr val="accent3"/>
              </a:buClr>
              <a:defRPr/>
            </a:pPr>
            <a:r>
              <a:rPr lang="zh-CN" altLang="en-US" sz="3200" b="1" dirty="0">
                <a:latin typeface="楷体_GB2312" pitchFamily="49" charset="-122"/>
                <a:ea typeface="楷体_GB2312" pitchFamily="49" charset="-122"/>
              </a:rPr>
              <a:t> 随着理论的发展，研究人员已归结出</a:t>
            </a:r>
            <a:r>
              <a:rPr lang="zh-CN" altLang="en-US" sz="3200" b="1" dirty="0">
                <a:solidFill>
                  <a:srgbClr val="FF0000"/>
                </a:solidFill>
                <a:latin typeface="楷体_GB2312" pitchFamily="49" charset="-122"/>
                <a:ea typeface="楷体_GB2312" pitchFamily="49" charset="-122"/>
              </a:rPr>
              <a:t>顺序、选择和循环</a:t>
            </a:r>
            <a:r>
              <a:rPr lang="zh-CN" altLang="en-US" sz="3200" b="1" dirty="0">
                <a:latin typeface="楷体_GB2312" pitchFamily="49" charset="-122"/>
                <a:ea typeface="楷体_GB2312" pitchFamily="49" charset="-122"/>
              </a:rPr>
              <a:t>三种结构化的控制结构，并在</a:t>
            </a:r>
            <a:r>
              <a:rPr lang="zh-CN" altLang="en-US" sz="3200" b="1" dirty="0">
                <a:solidFill>
                  <a:srgbClr val="FF0000"/>
                </a:solidFill>
                <a:latin typeface="楷体_GB2312" pitchFamily="49" charset="-122"/>
                <a:ea typeface="楷体_GB2312" pitchFamily="49" charset="-122"/>
              </a:rPr>
              <a:t>理论上证明</a:t>
            </a:r>
            <a:r>
              <a:rPr lang="zh-CN" altLang="en-US" sz="3200" b="1" dirty="0">
                <a:latin typeface="楷体_GB2312" pitchFamily="49" charset="-122"/>
                <a:ea typeface="楷体_GB2312" pitchFamily="49" charset="-122"/>
              </a:rPr>
              <a:t>了解决可计算问题的程序都可用这三种控制结构来描述。</a:t>
            </a:r>
          </a:p>
        </p:txBody>
      </p:sp>
      <p:sp>
        <p:nvSpPr>
          <p:cNvPr id="5" name="灯片编号占位符 5"/>
          <p:cNvSpPr>
            <a:spLocks noGrp="1"/>
          </p:cNvSpPr>
          <p:nvPr>
            <p:ph type="sldNum" sz="quarter" idx="12"/>
          </p:nvPr>
        </p:nvSpPr>
        <p:spPr/>
        <p:txBody>
          <a:bodyPr/>
          <a:lstStyle/>
          <a:p>
            <a:pPr defTabSz="1128713">
              <a:defRPr/>
            </a:pPr>
            <a:fld id="{AEF360CA-BAC5-40C6-8BE9-F6064C697412}" type="slidenum">
              <a:rPr lang="zh-CN" altLang="en-US">
                <a:latin typeface="+mn-lt"/>
              </a:rPr>
              <a:pPr defTabSz="1128713">
                <a:defRPr/>
              </a:pPr>
              <a:t>59</a:t>
            </a:fld>
            <a:endParaRPr lang="en-US" altLang="zh-CN">
              <a:latin typeface="+mn-lt"/>
            </a:endParaRPr>
          </a:p>
        </p:txBody>
      </p:sp>
    </p:spTree>
  </p:cSld>
  <p:clrMapOvr>
    <a:masterClrMapping/>
  </p:clrMapOvr>
  <p:transition>
    <p:random/>
  </p:transition>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03" name="Rectangle 3"/>
          <p:cNvSpPr>
            <a:spLocks noGrp="1" noChangeArrowheads="1"/>
          </p:cNvSpPr>
          <p:nvPr>
            <p:ph type="body" sz="half" idx="1"/>
          </p:nvPr>
        </p:nvSpPr>
        <p:spPr>
          <a:xfrm>
            <a:off x="179388" y="596900"/>
            <a:ext cx="6264275" cy="5761038"/>
          </a:xfrm>
        </p:spPr>
        <p:txBody>
          <a:bodyPr>
            <a:normAutofit/>
          </a:bodyPr>
          <a:lstStyle/>
          <a:p>
            <a:pPr marL="363538" indent="17463" fontAlgn="auto">
              <a:spcAft>
                <a:spcPts val="0"/>
              </a:spcAft>
              <a:buClr>
                <a:schemeClr val="accent3"/>
              </a:buClr>
              <a:buFont typeface="Monotype Sorts" pitchFamily="2" charset="2"/>
              <a:buNone/>
              <a:defRPr/>
            </a:pPr>
            <a:r>
              <a:rPr lang="zh-CN" altLang="en-US" sz="3600" b="1" dirty="0">
                <a:solidFill>
                  <a:srgbClr val="C00000"/>
                </a:solidFill>
                <a:effectLst>
                  <a:outerShdw blurRad="38100" dist="38100" dir="2700000" algn="tl">
                    <a:srgbClr val="000000"/>
                  </a:outerShdw>
                </a:effectLst>
                <a:latin typeface="黑体" pitchFamily="2" charset="-122"/>
                <a:ea typeface="黑体" pitchFamily="2" charset="-122"/>
              </a:rPr>
              <a:t>顺序结构</a:t>
            </a:r>
          </a:p>
          <a:p>
            <a:pPr marL="363538" indent="17463" fontAlgn="auto">
              <a:spcAft>
                <a:spcPts val="0"/>
              </a:spcAft>
              <a:buClr>
                <a:schemeClr val="accent3"/>
              </a:buClr>
              <a:buFont typeface="Monotype Sorts" pitchFamily="2" charset="2"/>
              <a:buNone/>
              <a:defRPr/>
            </a:pPr>
            <a:endParaRPr lang="en-US" altLang="zh-CN" b="1" dirty="0">
              <a:latin typeface="楷体_GB2312" pitchFamily="49" charset="-122"/>
              <a:ea typeface="楷体_GB2312" pitchFamily="49" charset="-122"/>
            </a:endParaRPr>
          </a:p>
          <a:p>
            <a:pPr marL="363538" indent="17463" fontAlgn="auto">
              <a:spcAft>
                <a:spcPts val="0"/>
              </a:spcAft>
              <a:buClr>
                <a:schemeClr val="accent3"/>
              </a:buClr>
              <a:buFont typeface="Wingdings 2"/>
              <a:buChar char=""/>
              <a:defRPr/>
            </a:pPr>
            <a:r>
              <a:rPr lang="zh-CN" altLang="en-US" b="1" dirty="0">
                <a:latin typeface="楷体_GB2312" pitchFamily="49" charset="-122"/>
                <a:ea typeface="楷体_GB2312" pitchFamily="49" charset="-122"/>
              </a:rPr>
              <a:t>把复杂工作分解成多项简单的子任务序列，并逐一完成，直至最终完成整个工作。</a:t>
            </a:r>
            <a:endParaRPr lang="en-US" altLang="zh-CN" b="1" dirty="0">
              <a:latin typeface="楷体_GB2312" pitchFamily="49" charset="-122"/>
              <a:ea typeface="楷体_GB2312" pitchFamily="49" charset="-122"/>
            </a:endParaRPr>
          </a:p>
          <a:p>
            <a:pPr marL="363538" indent="17463" fontAlgn="auto">
              <a:spcAft>
                <a:spcPts val="0"/>
              </a:spcAft>
              <a:buClr>
                <a:schemeClr val="accent3"/>
              </a:buClr>
              <a:buFont typeface="Wingdings 2"/>
              <a:buChar char=""/>
              <a:defRPr/>
            </a:pPr>
            <a:r>
              <a:rPr lang="zh-CN" altLang="en-US" b="1" dirty="0">
                <a:latin typeface="楷体_GB2312" pitchFamily="49" charset="-122"/>
                <a:ea typeface="楷体_GB2312" pitchFamily="49" charset="-122"/>
              </a:rPr>
              <a:t> 顺序结构用于控制若干简单计算的顺序执行。</a:t>
            </a:r>
          </a:p>
          <a:p>
            <a:pPr marL="363538" indent="17463" fontAlgn="auto">
              <a:spcAft>
                <a:spcPts val="0"/>
              </a:spcAft>
              <a:buClr>
                <a:schemeClr val="accent3"/>
              </a:buClr>
              <a:buFont typeface="Wingdings 2"/>
              <a:buChar char=""/>
              <a:defRPr/>
            </a:pPr>
            <a:r>
              <a:rPr lang="zh-CN" altLang="en-US" b="1" dirty="0">
                <a:latin typeface="楷体_GB2312" pitchFamily="49" charset="-122"/>
                <a:ea typeface="楷体_GB2312" pitchFamily="49" charset="-122"/>
              </a:rPr>
              <a:t> 顺序结构执行时，从操作序列的第一个步骤开始，顺序执行序列中的每个操作，直至序列的最后一个操作执行后结束。右图表示只有操作步骤</a:t>
            </a:r>
            <a:r>
              <a:rPr lang="en-US" altLang="zh-CN" b="1" dirty="0">
                <a:latin typeface="楷体_GB2312" pitchFamily="49" charset="-122"/>
                <a:ea typeface="楷体_GB2312" pitchFamily="49" charset="-122"/>
              </a:rPr>
              <a:t>A </a:t>
            </a:r>
            <a:r>
              <a:rPr lang="zh-CN" altLang="en-US" b="1" dirty="0">
                <a:latin typeface="楷体_GB2312" pitchFamily="49" charset="-122"/>
                <a:ea typeface="楷体_GB2312" pitchFamily="49" charset="-122"/>
              </a:rPr>
              <a:t>和操作步骤</a:t>
            </a:r>
            <a:r>
              <a:rPr lang="en-US" altLang="zh-CN" b="1" dirty="0">
                <a:latin typeface="楷体_GB2312" pitchFamily="49" charset="-122"/>
                <a:ea typeface="楷体_GB2312" pitchFamily="49" charset="-122"/>
              </a:rPr>
              <a:t>B</a:t>
            </a:r>
            <a:r>
              <a:rPr lang="zh-CN" altLang="en-US" b="1" dirty="0">
                <a:latin typeface="楷体_GB2312" pitchFamily="49" charset="-122"/>
                <a:ea typeface="楷体_GB2312" pitchFamily="49" charset="-122"/>
              </a:rPr>
              <a:t>组成的一个顺序结构，该结构控制操作步骤</a:t>
            </a:r>
            <a:r>
              <a:rPr lang="en-US" altLang="zh-CN" b="1" dirty="0">
                <a:latin typeface="楷体_GB2312" pitchFamily="49" charset="-122"/>
                <a:ea typeface="楷体_GB2312" pitchFamily="49" charset="-122"/>
              </a:rPr>
              <a:t>A</a:t>
            </a:r>
            <a:r>
              <a:rPr lang="zh-CN" altLang="en-US" b="1" dirty="0">
                <a:latin typeface="楷体_GB2312" pitchFamily="49" charset="-122"/>
                <a:ea typeface="楷体_GB2312" pitchFamily="49" charset="-122"/>
              </a:rPr>
              <a:t>和操作步骤</a:t>
            </a:r>
            <a:r>
              <a:rPr lang="en-US" altLang="zh-CN" b="1" dirty="0">
                <a:latin typeface="楷体_GB2312" pitchFamily="49" charset="-122"/>
                <a:ea typeface="楷体_GB2312" pitchFamily="49" charset="-122"/>
              </a:rPr>
              <a:t>B</a:t>
            </a:r>
            <a:r>
              <a:rPr lang="zh-CN" altLang="en-US" b="1" dirty="0">
                <a:latin typeface="楷体_GB2312" pitchFamily="49" charset="-122"/>
                <a:ea typeface="楷体_GB2312" pitchFamily="49" charset="-122"/>
              </a:rPr>
              <a:t>的顺序执行。</a:t>
            </a:r>
          </a:p>
        </p:txBody>
      </p:sp>
      <p:graphicFrame>
        <p:nvGraphicFramePr>
          <p:cNvPr id="1026" name="Object 5"/>
          <p:cNvGraphicFramePr>
            <a:graphicFrameLocks noGrp="1" noChangeAspect="1"/>
          </p:cNvGraphicFramePr>
          <p:nvPr>
            <p:ph sz="half" idx="2"/>
          </p:nvPr>
        </p:nvGraphicFramePr>
        <p:xfrm>
          <a:off x="6500813" y="1643063"/>
          <a:ext cx="2382837" cy="4114800"/>
        </p:xfrm>
        <a:graphic>
          <a:graphicData uri="http://schemas.openxmlformats.org/presentationml/2006/ole">
            <mc:AlternateContent xmlns:mc="http://schemas.openxmlformats.org/markup-compatibility/2006">
              <mc:Choice xmlns:v="urn:schemas-microsoft-com:vml" Requires="v">
                <p:oleObj spid="_x0000_s1038" name="Visio" r:id="rId3" imgW="2914802" imgH="5031943" progId="Visio.Drawing.11">
                  <p:embed/>
                </p:oleObj>
              </mc:Choice>
              <mc:Fallback>
                <p:oleObj name="Visio" r:id="rId3" imgW="2914802" imgH="5031943" progId="Visio.Drawing.11">
                  <p:embed/>
                  <p:pic>
                    <p:nvPicPr>
                      <p:cNvPr id="0" name="Picture 10"/>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00813" y="1643063"/>
                        <a:ext cx="2382837" cy="411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灯片编号占位符 6"/>
          <p:cNvSpPr>
            <a:spLocks noGrp="1"/>
          </p:cNvSpPr>
          <p:nvPr>
            <p:ph type="sldNum" sz="quarter" idx="12"/>
          </p:nvPr>
        </p:nvSpPr>
        <p:spPr/>
        <p:txBody>
          <a:bodyPr/>
          <a:lstStyle/>
          <a:p>
            <a:pPr defTabSz="1128713">
              <a:defRPr/>
            </a:pPr>
            <a:fld id="{4ECDB194-7B34-4513-B5F8-58C0386DD8F5}" type="slidenum">
              <a:rPr lang="zh-CN" altLang="en-US">
                <a:latin typeface="+mn-lt"/>
              </a:rPr>
              <a:pPr defTabSz="1128713">
                <a:defRPr/>
              </a:pPr>
              <a:t>60</a:t>
            </a:fld>
            <a:endParaRPr lang="en-US" altLang="zh-CN">
              <a:latin typeface="+mn-lt"/>
            </a:endParaRPr>
          </a:p>
        </p:txBody>
      </p:sp>
      <p:sp>
        <p:nvSpPr>
          <p:cNvPr id="1029" name="Text Box 8"/>
          <p:cNvSpPr txBox="1">
            <a:spLocks noChangeArrowheads="1"/>
          </p:cNvSpPr>
          <p:nvPr/>
        </p:nvSpPr>
        <p:spPr bwMode="auto">
          <a:xfrm>
            <a:off x="6715125" y="5715000"/>
            <a:ext cx="2428875" cy="579438"/>
          </a:xfrm>
          <a:prstGeom prst="rect">
            <a:avLst/>
          </a:prstGeom>
          <a:noFill/>
          <a:ln w="9525">
            <a:noFill/>
            <a:miter lim="800000"/>
            <a:headEnd/>
            <a:tailEnd/>
          </a:ln>
        </p:spPr>
        <p:txBody>
          <a:bodyPr>
            <a:spAutoFit/>
          </a:bodyPr>
          <a:lstStyle/>
          <a:p>
            <a:r>
              <a:rPr lang="zh-CN" altLang="en-US" sz="2400"/>
              <a:t>顺序结构示意图</a:t>
            </a:r>
            <a:r>
              <a:rPr lang="zh-CN" altLang="en-US"/>
              <a:t> </a:t>
            </a:r>
          </a:p>
        </p:txBody>
      </p:sp>
    </p:spTree>
  </p:cSld>
  <p:clrMapOvr>
    <a:masterClrMapping/>
  </p:clrMapOvr>
  <p:transition>
    <p:random/>
  </p:transition>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7939" name="Rectangle 3"/>
          <p:cNvSpPr>
            <a:spLocks noGrp="1" noChangeArrowheads="1"/>
          </p:cNvSpPr>
          <p:nvPr>
            <p:ph idx="1"/>
          </p:nvPr>
        </p:nvSpPr>
        <p:spPr>
          <a:xfrm>
            <a:off x="304800" y="1052513"/>
            <a:ext cx="8382000" cy="5329237"/>
          </a:xfrm>
        </p:spPr>
        <p:txBody>
          <a:bodyPr>
            <a:normAutofit/>
          </a:bodyPr>
          <a:lstStyle/>
          <a:p>
            <a:pPr marL="0" indent="0" fontAlgn="auto">
              <a:lnSpc>
                <a:spcPct val="90000"/>
              </a:lnSpc>
              <a:spcAft>
                <a:spcPts val="0"/>
              </a:spcAft>
              <a:buClr>
                <a:schemeClr val="accent3"/>
              </a:buClr>
              <a:buFont typeface="Monotype Sorts" pitchFamily="2" charset="2"/>
              <a:buNone/>
              <a:defRPr/>
            </a:pPr>
            <a:r>
              <a:rPr lang="zh-CN" altLang="en-US" b="1" dirty="0">
                <a:latin typeface="楷体_GB2312" pitchFamily="49" charset="-122"/>
                <a:ea typeface="楷体_GB2312" pitchFamily="49" charset="-122"/>
              </a:rPr>
              <a:t>上图的顺序结构也可用以下形式的伪代码表示：</a:t>
            </a:r>
          </a:p>
          <a:p>
            <a:pPr marL="0" indent="0" fontAlgn="auto">
              <a:lnSpc>
                <a:spcPct val="90000"/>
              </a:lnSpc>
              <a:spcAft>
                <a:spcPts val="0"/>
              </a:spcAft>
              <a:buClr>
                <a:schemeClr val="accent3"/>
              </a:buClr>
              <a:buFont typeface="Monotype Sorts" pitchFamily="2" charset="2"/>
              <a:buNone/>
              <a:defRPr/>
            </a:pPr>
            <a:r>
              <a:rPr lang="zh-CN" altLang="en-US" b="1" dirty="0">
                <a:latin typeface="楷体_GB2312" pitchFamily="49" charset="-122"/>
                <a:ea typeface="楷体_GB2312" pitchFamily="49" charset="-122"/>
              </a:rPr>
              <a:t>   </a:t>
            </a:r>
            <a:r>
              <a:rPr lang="en-US" altLang="zh-CN" b="1" dirty="0">
                <a:latin typeface="楷体_GB2312" pitchFamily="49" charset="-122"/>
                <a:ea typeface="楷体_GB2312" pitchFamily="49" charset="-122"/>
              </a:rPr>
              <a:t>{</a:t>
            </a:r>
          </a:p>
          <a:p>
            <a:pPr marL="0" indent="0" fontAlgn="auto">
              <a:lnSpc>
                <a:spcPct val="90000"/>
              </a:lnSpc>
              <a:spcAft>
                <a:spcPts val="0"/>
              </a:spcAft>
              <a:buClr>
                <a:schemeClr val="accent3"/>
              </a:buClr>
              <a:buFont typeface="Monotype Sorts" pitchFamily="2" charset="2"/>
              <a:buNone/>
              <a:defRPr/>
            </a:pPr>
            <a:r>
              <a:rPr lang="en-US" altLang="zh-CN" b="1" dirty="0">
                <a:latin typeface="楷体_GB2312" pitchFamily="49" charset="-122"/>
                <a:ea typeface="楷体_GB2312" pitchFamily="49" charset="-122"/>
              </a:rPr>
              <a:t>      </a:t>
            </a:r>
            <a:r>
              <a:rPr lang="zh-CN" altLang="en-US" b="1" dirty="0">
                <a:latin typeface="楷体_GB2312" pitchFamily="49" charset="-122"/>
                <a:ea typeface="楷体_GB2312" pitchFamily="49" charset="-122"/>
              </a:rPr>
              <a:t>操作步骤</a:t>
            </a:r>
            <a:r>
              <a:rPr lang="en-US" altLang="zh-CN" b="1" dirty="0">
                <a:latin typeface="楷体_GB2312" pitchFamily="49" charset="-122"/>
                <a:ea typeface="楷体_GB2312" pitchFamily="49" charset="-122"/>
              </a:rPr>
              <a:t>A;</a:t>
            </a:r>
          </a:p>
          <a:p>
            <a:pPr marL="0" indent="0" fontAlgn="auto">
              <a:lnSpc>
                <a:spcPct val="90000"/>
              </a:lnSpc>
              <a:spcAft>
                <a:spcPts val="0"/>
              </a:spcAft>
              <a:buClr>
                <a:schemeClr val="accent3"/>
              </a:buClr>
              <a:buFont typeface="Monotype Sorts" pitchFamily="2" charset="2"/>
              <a:buNone/>
              <a:defRPr/>
            </a:pPr>
            <a:r>
              <a:rPr lang="en-US" altLang="zh-CN" b="1" dirty="0">
                <a:latin typeface="楷体_GB2312" pitchFamily="49" charset="-122"/>
                <a:ea typeface="楷体_GB2312" pitchFamily="49" charset="-122"/>
              </a:rPr>
              <a:t>      </a:t>
            </a:r>
            <a:r>
              <a:rPr lang="zh-CN" altLang="en-US" b="1" dirty="0">
                <a:latin typeface="楷体_GB2312" pitchFamily="49" charset="-122"/>
                <a:ea typeface="楷体_GB2312" pitchFamily="49" charset="-122"/>
              </a:rPr>
              <a:t>操作步骤</a:t>
            </a:r>
            <a:r>
              <a:rPr lang="en-US" altLang="zh-CN" b="1" dirty="0">
                <a:latin typeface="楷体_GB2312" pitchFamily="49" charset="-122"/>
                <a:ea typeface="楷体_GB2312" pitchFamily="49" charset="-122"/>
              </a:rPr>
              <a:t>B; </a:t>
            </a:r>
          </a:p>
          <a:p>
            <a:pPr marL="0" indent="0" fontAlgn="auto">
              <a:lnSpc>
                <a:spcPct val="90000"/>
              </a:lnSpc>
              <a:spcAft>
                <a:spcPts val="0"/>
              </a:spcAft>
              <a:buClr>
                <a:schemeClr val="accent3"/>
              </a:buClr>
              <a:buFont typeface="Monotype Sorts" pitchFamily="2" charset="2"/>
              <a:buNone/>
              <a:defRPr/>
            </a:pPr>
            <a:r>
              <a:rPr lang="en-US" altLang="zh-CN" b="1" dirty="0">
                <a:latin typeface="楷体_GB2312" pitchFamily="49" charset="-122"/>
                <a:ea typeface="楷体_GB2312" pitchFamily="49" charset="-122"/>
              </a:rPr>
              <a:t>   }</a:t>
            </a:r>
          </a:p>
          <a:p>
            <a:pPr marL="0" indent="0" fontAlgn="auto">
              <a:lnSpc>
                <a:spcPct val="90000"/>
              </a:lnSpc>
              <a:spcAft>
                <a:spcPts val="0"/>
              </a:spcAft>
              <a:buClr>
                <a:schemeClr val="accent3"/>
              </a:buClr>
              <a:buFont typeface="Monotype Sorts" pitchFamily="2" charset="2"/>
              <a:buNone/>
              <a:defRPr/>
            </a:pPr>
            <a:r>
              <a:rPr lang="zh-CN" altLang="en-US" b="1" dirty="0">
                <a:latin typeface="楷体_GB2312" pitchFamily="49" charset="-122"/>
                <a:ea typeface="楷体_GB2312" pitchFamily="49" charset="-122"/>
              </a:rPr>
              <a:t>例如，为交换变量</a:t>
            </a:r>
            <a:r>
              <a:rPr lang="en-US" altLang="zh-CN" b="1" dirty="0">
                <a:latin typeface="楷体_GB2312" pitchFamily="49" charset="-122"/>
                <a:ea typeface="楷体_GB2312" pitchFamily="49" charset="-122"/>
              </a:rPr>
              <a:t>x</a:t>
            </a:r>
            <a:r>
              <a:rPr lang="zh-CN" altLang="en-US" b="1" dirty="0">
                <a:latin typeface="楷体_GB2312" pitchFamily="49" charset="-122"/>
                <a:ea typeface="楷体_GB2312" pitchFamily="49" charset="-122"/>
              </a:rPr>
              <a:t>和</a:t>
            </a:r>
            <a:r>
              <a:rPr lang="en-US" altLang="zh-CN" b="1" dirty="0">
                <a:latin typeface="楷体_GB2312" pitchFamily="49" charset="-122"/>
                <a:ea typeface="楷体_GB2312" pitchFamily="49" charset="-122"/>
              </a:rPr>
              <a:t>y</a:t>
            </a:r>
            <a:r>
              <a:rPr lang="zh-CN" altLang="en-US" b="1" dirty="0">
                <a:latin typeface="楷体_GB2312" pitchFamily="49" charset="-122"/>
                <a:ea typeface="楷体_GB2312" pitchFamily="49" charset="-122"/>
              </a:rPr>
              <a:t>的值，可分解为顺序执行的三个操作，写成顺序结构有：</a:t>
            </a:r>
          </a:p>
          <a:p>
            <a:pPr marL="0" indent="0" fontAlgn="auto">
              <a:lnSpc>
                <a:spcPct val="90000"/>
              </a:lnSpc>
              <a:spcAft>
                <a:spcPts val="0"/>
              </a:spcAft>
              <a:buClr>
                <a:schemeClr val="accent3"/>
              </a:buClr>
              <a:buFont typeface="Monotype Sorts" pitchFamily="2" charset="2"/>
              <a:buNone/>
              <a:defRPr/>
            </a:pPr>
            <a:r>
              <a:rPr lang="zh-CN" altLang="en-US" b="1" dirty="0">
                <a:latin typeface="楷体_GB2312" pitchFamily="49" charset="-122"/>
                <a:ea typeface="楷体_GB2312" pitchFamily="49" charset="-122"/>
              </a:rPr>
              <a:t>  </a:t>
            </a:r>
            <a:r>
              <a:rPr lang="en-US" altLang="zh-CN" b="1" dirty="0">
                <a:latin typeface="楷体_GB2312" pitchFamily="49" charset="-122"/>
                <a:ea typeface="楷体_GB2312" pitchFamily="49" charset="-122"/>
              </a:rPr>
              <a:t>{</a:t>
            </a:r>
          </a:p>
          <a:p>
            <a:pPr marL="0" indent="0" fontAlgn="auto">
              <a:lnSpc>
                <a:spcPct val="90000"/>
              </a:lnSpc>
              <a:spcAft>
                <a:spcPts val="0"/>
              </a:spcAft>
              <a:buClr>
                <a:schemeClr val="accent3"/>
              </a:buClr>
              <a:buFont typeface="Monotype Sorts" pitchFamily="2" charset="2"/>
              <a:buNone/>
              <a:defRPr/>
            </a:pPr>
            <a:r>
              <a:rPr lang="en-US" altLang="zh-CN" b="1" dirty="0">
                <a:latin typeface="楷体_GB2312" pitchFamily="49" charset="-122"/>
                <a:ea typeface="楷体_GB2312" pitchFamily="49" charset="-122"/>
              </a:rPr>
              <a:t>     temp = x;    /* </a:t>
            </a:r>
            <a:r>
              <a:rPr lang="zh-CN" altLang="en-US" b="1" dirty="0">
                <a:latin typeface="楷体_GB2312" pitchFamily="49" charset="-122"/>
                <a:ea typeface="楷体_GB2312" pitchFamily="49" charset="-122"/>
              </a:rPr>
              <a:t>将</a:t>
            </a:r>
            <a:r>
              <a:rPr lang="en-US" altLang="zh-CN" b="1" dirty="0">
                <a:latin typeface="楷体_GB2312" pitchFamily="49" charset="-122"/>
                <a:ea typeface="楷体_GB2312" pitchFamily="49" charset="-122"/>
              </a:rPr>
              <a:t>x</a:t>
            </a:r>
            <a:r>
              <a:rPr lang="zh-CN" altLang="en-US" b="1" dirty="0">
                <a:latin typeface="楷体_GB2312" pitchFamily="49" charset="-122"/>
                <a:ea typeface="楷体_GB2312" pitchFamily="49" charset="-122"/>
              </a:rPr>
              <a:t>的值暂存于</a:t>
            </a:r>
            <a:r>
              <a:rPr lang="en-US" altLang="zh-CN" b="1" dirty="0">
                <a:latin typeface="楷体_GB2312" pitchFamily="49" charset="-122"/>
                <a:ea typeface="楷体_GB2312" pitchFamily="49" charset="-122"/>
              </a:rPr>
              <a:t>temp */</a:t>
            </a:r>
          </a:p>
          <a:p>
            <a:pPr marL="0" indent="0" fontAlgn="auto">
              <a:lnSpc>
                <a:spcPct val="90000"/>
              </a:lnSpc>
              <a:spcAft>
                <a:spcPts val="0"/>
              </a:spcAft>
              <a:buClr>
                <a:schemeClr val="accent3"/>
              </a:buClr>
              <a:buFont typeface="Monotype Sorts" pitchFamily="2" charset="2"/>
              <a:buNone/>
              <a:defRPr/>
            </a:pPr>
            <a:r>
              <a:rPr lang="en-US" altLang="zh-CN" b="1" dirty="0">
                <a:latin typeface="楷体_GB2312" pitchFamily="49" charset="-122"/>
                <a:ea typeface="楷体_GB2312" pitchFamily="49" charset="-122"/>
              </a:rPr>
              <a:t>     x    = y;    /* </a:t>
            </a:r>
            <a:r>
              <a:rPr lang="zh-CN" altLang="en-US" b="1" dirty="0">
                <a:latin typeface="楷体_GB2312" pitchFamily="49" charset="-122"/>
                <a:ea typeface="楷体_GB2312" pitchFamily="49" charset="-122"/>
              </a:rPr>
              <a:t>将</a:t>
            </a:r>
            <a:r>
              <a:rPr lang="en-US" altLang="zh-CN" b="1" dirty="0">
                <a:latin typeface="楷体_GB2312" pitchFamily="49" charset="-122"/>
                <a:ea typeface="楷体_GB2312" pitchFamily="49" charset="-122"/>
              </a:rPr>
              <a:t>x</a:t>
            </a:r>
            <a:r>
              <a:rPr lang="zh-CN" altLang="en-US" b="1" dirty="0">
                <a:latin typeface="楷体_GB2312" pitchFamily="49" charset="-122"/>
                <a:ea typeface="楷体_GB2312" pitchFamily="49" charset="-122"/>
              </a:rPr>
              <a:t>置成</a:t>
            </a:r>
            <a:r>
              <a:rPr lang="en-US" altLang="zh-CN" b="1" dirty="0">
                <a:latin typeface="楷体_GB2312" pitchFamily="49" charset="-122"/>
                <a:ea typeface="楷体_GB2312" pitchFamily="49" charset="-122"/>
              </a:rPr>
              <a:t>y</a:t>
            </a:r>
            <a:r>
              <a:rPr lang="zh-CN" altLang="en-US" b="1" dirty="0">
                <a:latin typeface="楷体_GB2312" pitchFamily="49" charset="-122"/>
                <a:ea typeface="楷体_GB2312" pitchFamily="49" charset="-122"/>
              </a:rPr>
              <a:t>的值 *</a:t>
            </a:r>
            <a:r>
              <a:rPr lang="en-US" altLang="zh-CN" b="1" dirty="0">
                <a:latin typeface="楷体_GB2312" pitchFamily="49" charset="-122"/>
                <a:ea typeface="楷体_GB2312" pitchFamily="49" charset="-122"/>
              </a:rPr>
              <a:t>/</a:t>
            </a:r>
          </a:p>
          <a:p>
            <a:pPr marL="0" indent="0" fontAlgn="auto">
              <a:lnSpc>
                <a:spcPct val="90000"/>
              </a:lnSpc>
              <a:spcAft>
                <a:spcPts val="0"/>
              </a:spcAft>
              <a:buClr>
                <a:schemeClr val="accent3"/>
              </a:buClr>
              <a:buFont typeface="Monotype Sorts" pitchFamily="2" charset="2"/>
              <a:buNone/>
              <a:defRPr/>
            </a:pPr>
            <a:r>
              <a:rPr lang="en-US" altLang="zh-CN" b="1" dirty="0">
                <a:latin typeface="楷体_GB2312" pitchFamily="49" charset="-122"/>
                <a:ea typeface="楷体_GB2312" pitchFamily="49" charset="-122"/>
              </a:rPr>
              <a:t>     y    = temp; /* </a:t>
            </a:r>
            <a:r>
              <a:rPr lang="zh-CN" altLang="en-US" b="1" dirty="0">
                <a:latin typeface="楷体_GB2312" pitchFamily="49" charset="-122"/>
                <a:ea typeface="楷体_GB2312" pitchFamily="49" charset="-122"/>
              </a:rPr>
              <a:t>将</a:t>
            </a:r>
            <a:r>
              <a:rPr lang="en-US" altLang="zh-CN" b="1" dirty="0">
                <a:latin typeface="楷体_GB2312" pitchFamily="49" charset="-122"/>
                <a:ea typeface="楷体_GB2312" pitchFamily="49" charset="-122"/>
              </a:rPr>
              <a:t>y</a:t>
            </a:r>
            <a:r>
              <a:rPr lang="zh-CN" altLang="en-US" b="1" dirty="0">
                <a:latin typeface="楷体_GB2312" pitchFamily="49" charset="-122"/>
                <a:ea typeface="楷体_GB2312" pitchFamily="49" charset="-122"/>
              </a:rPr>
              <a:t>置成暂存于</a:t>
            </a:r>
            <a:r>
              <a:rPr lang="en-US" altLang="zh-CN" b="1" dirty="0">
                <a:latin typeface="楷体_GB2312" pitchFamily="49" charset="-122"/>
                <a:ea typeface="楷体_GB2312" pitchFamily="49" charset="-122"/>
              </a:rPr>
              <a:t>temp</a:t>
            </a:r>
            <a:r>
              <a:rPr lang="zh-CN" altLang="en-US" b="1" dirty="0">
                <a:latin typeface="楷体_GB2312" pitchFamily="49" charset="-122"/>
                <a:ea typeface="楷体_GB2312" pitchFamily="49" charset="-122"/>
              </a:rPr>
              <a:t>的值 *</a:t>
            </a:r>
            <a:r>
              <a:rPr lang="en-US" altLang="zh-CN" b="1" dirty="0">
                <a:latin typeface="楷体_GB2312" pitchFamily="49" charset="-122"/>
                <a:ea typeface="楷体_GB2312" pitchFamily="49" charset="-122"/>
              </a:rPr>
              <a:t>/</a:t>
            </a:r>
          </a:p>
          <a:p>
            <a:pPr marL="0" indent="0" fontAlgn="auto">
              <a:lnSpc>
                <a:spcPct val="90000"/>
              </a:lnSpc>
              <a:spcAft>
                <a:spcPts val="0"/>
              </a:spcAft>
              <a:buClr>
                <a:schemeClr val="accent3"/>
              </a:buClr>
              <a:buFont typeface="Monotype Sorts" pitchFamily="2" charset="2"/>
              <a:buNone/>
              <a:defRPr/>
            </a:pPr>
            <a:r>
              <a:rPr lang="en-US" altLang="zh-CN" b="1" dirty="0">
                <a:latin typeface="楷体_GB2312" pitchFamily="49" charset="-122"/>
                <a:ea typeface="楷体_GB2312" pitchFamily="49" charset="-122"/>
              </a:rPr>
              <a:t>  }</a:t>
            </a:r>
            <a:endParaRPr lang="zh-CN" altLang="en-US" b="1" dirty="0">
              <a:latin typeface="楷体_GB2312" pitchFamily="49" charset="-122"/>
              <a:ea typeface="楷体_GB2312" pitchFamily="49" charset="-122"/>
            </a:endParaRPr>
          </a:p>
        </p:txBody>
      </p:sp>
      <p:sp>
        <p:nvSpPr>
          <p:cNvPr id="5" name="灯片编号占位符 5"/>
          <p:cNvSpPr>
            <a:spLocks noGrp="1"/>
          </p:cNvSpPr>
          <p:nvPr>
            <p:ph type="sldNum" sz="quarter" idx="12"/>
          </p:nvPr>
        </p:nvSpPr>
        <p:spPr/>
        <p:txBody>
          <a:bodyPr/>
          <a:lstStyle/>
          <a:p>
            <a:pPr defTabSz="1128713">
              <a:defRPr/>
            </a:pPr>
            <a:fld id="{7BFC8F84-F282-4280-8355-9BE41F37A99C}" type="slidenum">
              <a:rPr lang="zh-CN" altLang="en-US">
                <a:latin typeface="+mn-lt"/>
              </a:rPr>
              <a:pPr defTabSz="1128713">
                <a:defRPr/>
              </a:pPr>
              <a:t>61</a:t>
            </a:fld>
            <a:endParaRPr lang="en-US" altLang="zh-CN">
              <a:latin typeface="+mn-lt"/>
            </a:endParaRPr>
          </a:p>
        </p:txBody>
      </p:sp>
    </p:spTree>
  </p:cSld>
  <p:clrMapOvr>
    <a:masterClrMapping/>
  </p:clrMapOvr>
  <p:transition>
    <p:random/>
  </p:transition>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827" name="Rectangle 3"/>
          <p:cNvSpPr>
            <a:spLocks noGrp="1" noChangeArrowheads="1"/>
          </p:cNvSpPr>
          <p:nvPr>
            <p:ph idx="1"/>
          </p:nvPr>
        </p:nvSpPr>
        <p:spPr>
          <a:xfrm>
            <a:off x="250825" y="549275"/>
            <a:ext cx="5321300" cy="6308725"/>
          </a:xfrm>
        </p:spPr>
        <p:txBody>
          <a:bodyPr>
            <a:normAutofit/>
          </a:bodyPr>
          <a:lstStyle/>
          <a:p>
            <a:pPr marL="0" indent="0" fontAlgn="auto">
              <a:lnSpc>
                <a:spcPct val="90000"/>
              </a:lnSpc>
              <a:spcAft>
                <a:spcPts val="0"/>
              </a:spcAft>
              <a:buClr>
                <a:schemeClr val="accent3"/>
              </a:buClr>
              <a:buFont typeface="Monotype Sorts" pitchFamily="2" charset="2"/>
              <a:buNone/>
              <a:defRPr/>
            </a:pPr>
            <a:r>
              <a:rPr lang="zh-CN" altLang="en-US" sz="2800" b="1" dirty="0">
                <a:solidFill>
                  <a:srgbClr val="C00000"/>
                </a:solidFill>
                <a:effectLst>
                  <a:outerShdw blurRad="38100" dist="38100" dir="2700000" algn="tl">
                    <a:srgbClr val="000000"/>
                  </a:outerShdw>
                </a:effectLst>
                <a:latin typeface="黑体" pitchFamily="2" charset="-122"/>
                <a:ea typeface="黑体" pitchFamily="2" charset="-122"/>
              </a:rPr>
              <a:t>条件选择结构（枚举）</a:t>
            </a:r>
          </a:p>
          <a:p>
            <a:pPr marL="0" indent="0" fontAlgn="auto">
              <a:lnSpc>
                <a:spcPct val="90000"/>
              </a:lnSpc>
              <a:spcAft>
                <a:spcPts val="0"/>
              </a:spcAft>
              <a:buClr>
                <a:schemeClr val="accent3"/>
              </a:buClr>
              <a:buFont typeface="Wingdings 2"/>
              <a:buChar char=""/>
              <a:defRPr/>
            </a:pPr>
            <a:r>
              <a:rPr lang="zh-CN" altLang="en-US" sz="2800" b="1" dirty="0">
                <a:latin typeface="楷体_GB2312" pitchFamily="49" charset="-122"/>
                <a:ea typeface="楷体_GB2312" pitchFamily="49" charset="-122"/>
              </a:rPr>
              <a:t> 根据不同情况，选择一个操作步骤执行。</a:t>
            </a:r>
            <a:endParaRPr lang="en-US" altLang="zh-CN" sz="2800" b="1" dirty="0">
              <a:latin typeface="楷体_GB2312" pitchFamily="49" charset="-122"/>
              <a:ea typeface="楷体_GB2312" pitchFamily="49" charset="-122"/>
            </a:endParaRPr>
          </a:p>
          <a:p>
            <a:pPr marL="0" indent="0" fontAlgn="auto">
              <a:lnSpc>
                <a:spcPct val="90000"/>
              </a:lnSpc>
              <a:spcAft>
                <a:spcPts val="0"/>
              </a:spcAft>
              <a:buClr>
                <a:schemeClr val="accent3"/>
              </a:buClr>
              <a:buFont typeface="Wingdings 2"/>
              <a:buChar char=""/>
              <a:defRPr/>
            </a:pPr>
            <a:r>
              <a:rPr lang="zh-CN" altLang="en-US" sz="2800" b="1" dirty="0">
                <a:latin typeface="楷体_GB2312" pitchFamily="49" charset="-122"/>
                <a:ea typeface="楷体_GB2312" pitchFamily="49" charset="-122"/>
              </a:rPr>
              <a:t> 条件选择结构有一个判断条件和两个供选择的操作步骤</a:t>
            </a:r>
            <a:r>
              <a:rPr lang="en-US" altLang="zh-CN" sz="2800" b="1" dirty="0">
                <a:latin typeface="楷体_GB2312" pitchFamily="49" charset="-122"/>
                <a:ea typeface="楷体_GB2312" pitchFamily="49" charset="-122"/>
              </a:rPr>
              <a:t>A</a:t>
            </a:r>
            <a:r>
              <a:rPr lang="zh-CN" altLang="en-US" sz="2800" b="1" dirty="0">
                <a:latin typeface="楷体_GB2312" pitchFamily="49" charset="-122"/>
                <a:ea typeface="楷体_GB2312" pitchFamily="49" charset="-122"/>
              </a:rPr>
              <a:t>和</a:t>
            </a:r>
            <a:r>
              <a:rPr lang="en-US" altLang="zh-CN" sz="2800" b="1" dirty="0">
                <a:latin typeface="楷体_GB2312" pitchFamily="49" charset="-122"/>
                <a:ea typeface="楷体_GB2312" pitchFamily="49" charset="-122"/>
              </a:rPr>
              <a:t>B</a:t>
            </a:r>
            <a:r>
              <a:rPr lang="zh-CN" altLang="en-US" sz="2800" b="1" dirty="0">
                <a:latin typeface="楷体_GB2312" pitchFamily="49" charset="-122"/>
                <a:ea typeface="楷体_GB2312" pitchFamily="49" charset="-122"/>
              </a:rPr>
              <a:t>组成，该控制结构实现如右图所示的选择控制。</a:t>
            </a:r>
            <a:endParaRPr lang="en-US" altLang="zh-CN" sz="2800" b="1" dirty="0">
              <a:latin typeface="楷体_GB2312" pitchFamily="49" charset="-122"/>
              <a:ea typeface="楷体_GB2312" pitchFamily="49" charset="-122"/>
            </a:endParaRPr>
          </a:p>
          <a:p>
            <a:pPr marL="0" indent="0" fontAlgn="auto">
              <a:lnSpc>
                <a:spcPct val="90000"/>
              </a:lnSpc>
              <a:spcAft>
                <a:spcPts val="0"/>
              </a:spcAft>
              <a:buClr>
                <a:schemeClr val="accent3"/>
              </a:buClr>
              <a:buFont typeface="Wingdings 2"/>
              <a:buChar char=""/>
              <a:defRPr/>
            </a:pPr>
            <a:r>
              <a:rPr lang="zh-CN" altLang="en-US" sz="2800" b="1" dirty="0">
                <a:latin typeface="楷体_GB2312" pitchFamily="49" charset="-122"/>
                <a:ea typeface="楷体_GB2312" pitchFamily="49" charset="-122"/>
              </a:rPr>
              <a:t> 条件选择结构执行时，先计算条件的值，如果条件的值为真，即条件成立，则执行操作步骤</a:t>
            </a:r>
            <a:r>
              <a:rPr lang="en-US" altLang="zh-CN" sz="2800" b="1" dirty="0">
                <a:latin typeface="楷体_GB2312" pitchFamily="49" charset="-122"/>
                <a:ea typeface="楷体_GB2312" pitchFamily="49" charset="-122"/>
              </a:rPr>
              <a:t>A</a:t>
            </a:r>
            <a:r>
              <a:rPr lang="zh-CN" altLang="en-US" sz="2800" b="1" dirty="0">
                <a:latin typeface="楷体_GB2312" pitchFamily="49" charset="-122"/>
                <a:ea typeface="楷体_GB2312" pitchFamily="49" charset="-122"/>
              </a:rPr>
              <a:t>；否则，条件的值为假，即条件不成立，则执行操作步骤</a:t>
            </a:r>
            <a:r>
              <a:rPr lang="en-US" altLang="zh-CN" sz="2800" b="1" dirty="0">
                <a:latin typeface="楷体_GB2312" pitchFamily="49" charset="-122"/>
                <a:ea typeface="楷体_GB2312" pitchFamily="49" charset="-122"/>
              </a:rPr>
              <a:t>B</a:t>
            </a:r>
            <a:r>
              <a:rPr lang="zh-CN" altLang="en-US" sz="2800" b="1" dirty="0">
                <a:latin typeface="楷体_GB2312" pitchFamily="49" charset="-122"/>
                <a:ea typeface="楷体_GB2312" pitchFamily="49" charset="-122"/>
              </a:rPr>
              <a:t>。</a:t>
            </a:r>
            <a:endParaRPr lang="en-US" altLang="zh-CN" sz="2800" b="1" dirty="0">
              <a:latin typeface="楷体_GB2312" pitchFamily="49" charset="-122"/>
              <a:ea typeface="楷体_GB2312" pitchFamily="49" charset="-122"/>
            </a:endParaRPr>
          </a:p>
          <a:p>
            <a:pPr marL="0" indent="0" fontAlgn="auto">
              <a:lnSpc>
                <a:spcPct val="90000"/>
              </a:lnSpc>
              <a:spcAft>
                <a:spcPts val="0"/>
              </a:spcAft>
              <a:buClr>
                <a:schemeClr val="accent3"/>
              </a:buClr>
              <a:buFont typeface="Monotype Sorts" pitchFamily="2" charset="2"/>
              <a:buNone/>
              <a:defRPr/>
            </a:pPr>
            <a:r>
              <a:rPr lang="zh-CN" altLang="en-US" sz="2800" b="1" dirty="0">
                <a:latin typeface="楷体_GB2312" pitchFamily="49" charset="-122"/>
                <a:ea typeface="楷体_GB2312" pitchFamily="49" charset="-122"/>
              </a:rPr>
              <a:t>无论条件为何值，条件选择结构只执行操作步骤</a:t>
            </a:r>
            <a:r>
              <a:rPr lang="en-US" altLang="zh-CN" sz="2800" b="1" dirty="0">
                <a:latin typeface="楷体_GB2312" pitchFamily="49" charset="-122"/>
                <a:ea typeface="楷体_GB2312" pitchFamily="49" charset="-122"/>
              </a:rPr>
              <a:t>A</a:t>
            </a:r>
            <a:r>
              <a:rPr lang="zh-CN" altLang="en-US" sz="2800" b="1" dirty="0">
                <a:latin typeface="楷体_GB2312" pitchFamily="49" charset="-122"/>
                <a:ea typeface="楷体_GB2312" pitchFamily="49" charset="-122"/>
              </a:rPr>
              <a:t>或</a:t>
            </a:r>
            <a:r>
              <a:rPr lang="en-US" altLang="zh-CN" sz="2800" b="1" dirty="0">
                <a:latin typeface="楷体_GB2312" pitchFamily="49" charset="-122"/>
                <a:ea typeface="楷体_GB2312" pitchFamily="49" charset="-122"/>
              </a:rPr>
              <a:t>B</a:t>
            </a:r>
            <a:r>
              <a:rPr lang="zh-CN" altLang="en-US" sz="2800" b="1" dirty="0">
                <a:latin typeface="楷体_GB2312" pitchFamily="49" charset="-122"/>
                <a:ea typeface="楷体_GB2312" pitchFamily="49" charset="-122"/>
              </a:rPr>
              <a:t>中的某一个。</a:t>
            </a:r>
            <a:endParaRPr lang="zh-CN" altLang="en-US" sz="2800" dirty="0">
              <a:latin typeface="楷体_GB2312" pitchFamily="49" charset="-122"/>
              <a:ea typeface="楷体_GB2312" pitchFamily="49" charset="-122"/>
            </a:endParaRPr>
          </a:p>
        </p:txBody>
      </p:sp>
      <p:sp>
        <p:nvSpPr>
          <p:cNvPr id="5" name="灯片编号占位符 5"/>
          <p:cNvSpPr>
            <a:spLocks noGrp="1"/>
          </p:cNvSpPr>
          <p:nvPr>
            <p:ph type="sldNum" sz="quarter" idx="12"/>
          </p:nvPr>
        </p:nvSpPr>
        <p:spPr/>
        <p:txBody>
          <a:bodyPr/>
          <a:lstStyle/>
          <a:p>
            <a:pPr defTabSz="1128713">
              <a:defRPr/>
            </a:pPr>
            <a:fld id="{80ACE4AA-AC88-4734-8489-C5C36AF64439}" type="slidenum">
              <a:rPr lang="zh-CN" altLang="en-US">
                <a:latin typeface="+mn-lt"/>
              </a:rPr>
              <a:pPr defTabSz="1128713">
                <a:defRPr/>
              </a:pPr>
              <a:t>62</a:t>
            </a:fld>
            <a:endParaRPr lang="en-US" altLang="zh-CN">
              <a:latin typeface="+mn-lt"/>
            </a:endParaRPr>
          </a:p>
        </p:txBody>
      </p:sp>
      <p:sp>
        <p:nvSpPr>
          <p:cNvPr id="58373" name="Text Box 8"/>
          <p:cNvSpPr txBox="1">
            <a:spLocks noChangeArrowheads="1"/>
          </p:cNvSpPr>
          <p:nvPr/>
        </p:nvSpPr>
        <p:spPr bwMode="auto">
          <a:xfrm>
            <a:off x="6000760" y="5357826"/>
            <a:ext cx="2646363" cy="584200"/>
          </a:xfrm>
          <a:prstGeom prst="rect">
            <a:avLst/>
          </a:prstGeom>
          <a:noFill/>
          <a:ln w="9525">
            <a:noFill/>
            <a:miter lim="800000"/>
            <a:headEnd/>
            <a:tailEnd/>
          </a:ln>
        </p:spPr>
        <p:txBody>
          <a:bodyPr wrap="none">
            <a:spAutoFit/>
          </a:bodyPr>
          <a:lstStyle/>
          <a:p>
            <a:r>
              <a:rPr lang="zh-CN" altLang="en-US" b="1" dirty="0">
                <a:latin typeface="楷体_GB2312" pitchFamily="49" charset="-122"/>
                <a:ea typeface="楷体_GB2312" pitchFamily="49" charset="-122"/>
              </a:rPr>
              <a:t>条件选择结构</a:t>
            </a:r>
          </a:p>
        </p:txBody>
      </p:sp>
      <p:sp>
        <p:nvSpPr>
          <p:cNvPr id="6" name="Diamond 5"/>
          <p:cNvSpPr/>
          <p:nvPr/>
        </p:nvSpPr>
        <p:spPr>
          <a:xfrm>
            <a:off x="6429388" y="1785926"/>
            <a:ext cx="1857388" cy="928694"/>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条件</a:t>
            </a:r>
          </a:p>
        </p:txBody>
      </p:sp>
      <p:cxnSp>
        <p:nvCxnSpPr>
          <p:cNvPr id="8" name="Straight Arrow Connector 7"/>
          <p:cNvCxnSpPr/>
          <p:nvPr/>
        </p:nvCxnSpPr>
        <p:spPr>
          <a:xfrm rot="5400000">
            <a:off x="7000895" y="1428733"/>
            <a:ext cx="714379" cy="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6" idx="1"/>
          </p:cNvCxnSpPr>
          <p:nvPr/>
        </p:nvCxnSpPr>
        <p:spPr>
          <a:xfrm rot="10800000" flipV="1">
            <a:off x="6429388" y="2250272"/>
            <a:ext cx="1588" cy="964413"/>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6" idx="3"/>
          </p:cNvCxnSpPr>
          <p:nvPr/>
        </p:nvCxnSpPr>
        <p:spPr>
          <a:xfrm>
            <a:off x="8286776" y="2250273"/>
            <a:ext cx="1" cy="964412"/>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21" name="Rectangle 20"/>
          <p:cNvSpPr/>
          <p:nvPr/>
        </p:nvSpPr>
        <p:spPr>
          <a:xfrm>
            <a:off x="5929322" y="3214686"/>
            <a:ext cx="1071570" cy="5715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步骤</a:t>
            </a:r>
            <a:r>
              <a:rPr lang="en-US" altLang="zh-CN" sz="2400" dirty="0"/>
              <a:t>A</a:t>
            </a:r>
            <a:endParaRPr lang="zh-CN" altLang="en-US" sz="2400" dirty="0"/>
          </a:p>
        </p:txBody>
      </p:sp>
      <p:sp>
        <p:nvSpPr>
          <p:cNvPr id="22" name="Rectangle 21"/>
          <p:cNvSpPr/>
          <p:nvPr/>
        </p:nvSpPr>
        <p:spPr>
          <a:xfrm>
            <a:off x="7715272" y="3214686"/>
            <a:ext cx="1071570" cy="5715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步骤</a:t>
            </a:r>
            <a:r>
              <a:rPr lang="en-US" altLang="zh-CN" sz="2400" dirty="0"/>
              <a:t>B</a:t>
            </a:r>
            <a:endParaRPr lang="zh-CN" altLang="en-US" sz="2400" dirty="0"/>
          </a:p>
        </p:txBody>
      </p:sp>
      <p:cxnSp>
        <p:nvCxnSpPr>
          <p:cNvPr id="24" name="Shape 23"/>
          <p:cNvCxnSpPr>
            <a:stCxn id="21" idx="2"/>
            <a:endCxn id="22" idx="2"/>
          </p:cNvCxnSpPr>
          <p:nvPr/>
        </p:nvCxnSpPr>
        <p:spPr>
          <a:xfrm rot="16200000" flipH="1">
            <a:off x="7358082" y="2893215"/>
            <a:ext cx="1588" cy="1785950"/>
          </a:xfrm>
          <a:prstGeom prst="bentConnector3">
            <a:avLst>
              <a:gd name="adj1" fmla="val 26277464"/>
            </a:avLst>
          </a:prstGeom>
          <a:ln w="38100"/>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rot="5400000">
            <a:off x="7000895" y="4572006"/>
            <a:ext cx="714379" cy="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6215074" y="1571612"/>
            <a:ext cx="800219" cy="461665"/>
          </a:xfrm>
          <a:prstGeom prst="rect">
            <a:avLst/>
          </a:prstGeom>
          <a:noFill/>
        </p:spPr>
        <p:txBody>
          <a:bodyPr wrap="none" rtlCol="0">
            <a:spAutoFit/>
          </a:bodyPr>
          <a:lstStyle/>
          <a:p>
            <a:r>
              <a:rPr lang="zh-CN" altLang="en-US" sz="2400" dirty="0">
                <a:latin typeface="楷体_GB2312" pitchFamily="49" charset="-122"/>
                <a:ea typeface="楷体_GB2312" pitchFamily="49" charset="-122"/>
              </a:rPr>
              <a:t>成立</a:t>
            </a:r>
          </a:p>
        </p:txBody>
      </p:sp>
      <p:sp>
        <p:nvSpPr>
          <p:cNvPr id="32" name="TextBox 31"/>
          <p:cNvSpPr txBox="1"/>
          <p:nvPr/>
        </p:nvSpPr>
        <p:spPr>
          <a:xfrm>
            <a:off x="7715272" y="1643050"/>
            <a:ext cx="1107996" cy="461665"/>
          </a:xfrm>
          <a:prstGeom prst="rect">
            <a:avLst/>
          </a:prstGeom>
          <a:noFill/>
        </p:spPr>
        <p:txBody>
          <a:bodyPr wrap="none" rtlCol="0">
            <a:spAutoFit/>
          </a:bodyPr>
          <a:lstStyle/>
          <a:p>
            <a:r>
              <a:rPr lang="zh-CN" altLang="en-US" sz="2400" dirty="0">
                <a:latin typeface="楷体_GB2312" pitchFamily="49" charset="-122"/>
                <a:ea typeface="楷体_GB2312" pitchFamily="49" charset="-122"/>
              </a:rPr>
              <a:t>不成立</a:t>
            </a:r>
          </a:p>
        </p:txBody>
      </p:sp>
    </p:spTree>
  </p:cSld>
  <p:clrMapOvr>
    <a:masterClrMapping/>
  </p:clrMapOvr>
  <p:transition>
    <p:random/>
  </p:transition>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灯片编号占位符 4"/>
          <p:cNvSpPr>
            <a:spLocks noGrp="1"/>
          </p:cNvSpPr>
          <p:nvPr>
            <p:ph type="sldNum" sz="quarter" idx="12"/>
          </p:nvPr>
        </p:nvSpPr>
        <p:spPr/>
        <p:txBody>
          <a:bodyPr/>
          <a:lstStyle/>
          <a:p>
            <a:pPr defTabSz="1128713">
              <a:defRPr/>
            </a:pPr>
            <a:fld id="{9CC8ACFA-3BE6-411B-95D7-87B1118ED1AB}" type="slidenum">
              <a:rPr lang="zh-CN" altLang="en-US">
                <a:latin typeface="+mn-lt"/>
              </a:rPr>
              <a:pPr defTabSz="1128713">
                <a:defRPr/>
              </a:pPr>
              <a:t>63</a:t>
            </a:fld>
            <a:endParaRPr lang="en-US" altLang="zh-CN">
              <a:latin typeface="+mn-lt"/>
            </a:endParaRPr>
          </a:p>
        </p:txBody>
      </p:sp>
      <p:sp>
        <p:nvSpPr>
          <p:cNvPr id="168967" name="Text Box 7"/>
          <p:cNvSpPr txBox="1">
            <a:spLocks noChangeArrowheads="1"/>
          </p:cNvSpPr>
          <p:nvPr/>
        </p:nvSpPr>
        <p:spPr bwMode="auto">
          <a:xfrm>
            <a:off x="179388" y="1558925"/>
            <a:ext cx="7678737" cy="4032250"/>
          </a:xfrm>
          <a:prstGeom prst="rect">
            <a:avLst/>
          </a:prstGeom>
          <a:noFill/>
          <a:ln w="9525">
            <a:noFill/>
            <a:miter lim="800000"/>
            <a:headEnd/>
            <a:tailEnd/>
          </a:ln>
          <a:effectLst/>
        </p:spPr>
        <p:txBody>
          <a:bodyPr>
            <a:spAutoFit/>
          </a:bodyPr>
          <a:lstStyle/>
          <a:p>
            <a:pPr>
              <a:defRPr/>
            </a:pPr>
            <a:r>
              <a:rPr lang="zh-CN" altLang="en-US" dirty="0"/>
              <a:t>    </a:t>
            </a:r>
            <a:r>
              <a:rPr lang="en-US" altLang="zh-CN" b="1" dirty="0">
                <a:latin typeface="楷体_GB2312" pitchFamily="49" charset="-122"/>
                <a:ea typeface="楷体_GB2312" pitchFamily="49" charset="-122"/>
              </a:rPr>
              <a:t>if (</a:t>
            </a:r>
            <a:r>
              <a:rPr lang="zh-CN" altLang="en-US" b="1" dirty="0">
                <a:latin typeface="楷体_GB2312" pitchFamily="49" charset="-122"/>
                <a:ea typeface="楷体_GB2312" pitchFamily="49" charset="-122"/>
              </a:rPr>
              <a:t>条件</a:t>
            </a:r>
            <a:r>
              <a:rPr lang="en-US" altLang="zh-CN" b="1" dirty="0">
                <a:latin typeface="楷体_GB2312" pitchFamily="49" charset="-122"/>
                <a:ea typeface="楷体_GB2312" pitchFamily="49" charset="-122"/>
              </a:rPr>
              <a:t>)</a:t>
            </a:r>
            <a:endParaRPr lang="zh-CN" altLang="en-US" b="1" dirty="0">
              <a:latin typeface="楷体_GB2312" pitchFamily="49" charset="-122"/>
              <a:ea typeface="楷体_GB2312" pitchFamily="49" charset="-122"/>
            </a:endParaRPr>
          </a:p>
          <a:p>
            <a:pPr>
              <a:defRPr/>
            </a:pPr>
            <a:r>
              <a:rPr lang="zh-CN" altLang="en-US" b="1" dirty="0">
                <a:latin typeface="楷体_GB2312" pitchFamily="49" charset="-122"/>
                <a:ea typeface="楷体_GB2312" pitchFamily="49" charset="-122"/>
              </a:rPr>
              <a:t>       操作步骤</a:t>
            </a:r>
            <a:r>
              <a:rPr lang="en-US" altLang="zh-CN" b="1" dirty="0">
                <a:latin typeface="楷体_GB2312" pitchFamily="49" charset="-122"/>
                <a:ea typeface="楷体_GB2312" pitchFamily="49" charset="-122"/>
              </a:rPr>
              <a:t>A;</a:t>
            </a:r>
          </a:p>
          <a:p>
            <a:pPr>
              <a:defRPr/>
            </a:pPr>
            <a:r>
              <a:rPr lang="en-US" altLang="zh-CN" b="1" dirty="0">
                <a:latin typeface="楷体_GB2312" pitchFamily="49" charset="-122"/>
                <a:ea typeface="楷体_GB2312" pitchFamily="49" charset="-122"/>
              </a:rPr>
              <a:t>  else</a:t>
            </a:r>
          </a:p>
          <a:p>
            <a:pPr>
              <a:defRPr/>
            </a:pPr>
            <a:r>
              <a:rPr lang="en-US" altLang="zh-CN" b="1" dirty="0">
                <a:latin typeface="楷体_GB2312" pitchFamily="49" charset="-122"/>
                <a:ea typeface="楷体_GB2312" pitchFamily="49" charset="-122"/>
              </a:rPr>
              <a:t>       </a:t>
            </a:r>
            <a:r>
              <a:rPr lang="zh-CN" altLang="en-US" b="1" dirty="0">
                <a:latin typeface="楷体_GB2312" pitchFamily="49" charset="-122"/>
                <a:ea typeface="楷体_GB2312" pitchFamily="49" charset="-122"/>
              </a:rPr>
              <a:t>操作步骤</a:t>
            </a:r>
            <a:r>
              <a:rPr lang="en-US" altLang="zh-CN" b="1" dirty="0">
                <a:latin typeface="楷体_GB2312" pitchFamily="49" charset="-122"/>
                <a:ea typeface="楷体_GB2312" pitchFamily="49" charset="-122"/>
              </a:rPr>
              <a:t>B;                                            </a:t>
            </a:r>
          </a:p>
          <a:p>
            <a:pPr>
              <a:defRPr/>
            </a:pPr>
            <a:r>
              <a:rPr lang="zh-CN" altLang="en-US" b="1" dirty="0">
                <a:latin typeface="楷体_GB2312" pitchFamily="49" charset="-122"/>
                <a:ea typeface="楷体_GB2312" pitchFamily="49" charset="-122"/>
              </a:rPr>
              <a:t>条件选择结构中的操作步骤称为分支操作，分支操作又可以是任何控制结构，特别当分支操作又是条件选择结构时，就呈现嵌套的条件选择结构。</a:t>
            </a:r>
          </a:p>
        </p:txBody>
      </p:sp>
      <p:sp>
        <p:nvSpPr>
          <p:cNvPr id="59396" name="Text Box 9"/>
          <p:cNvSpPr txBox="1">
            <a:spLocks noChangeArrowheads="1"/>
          </p:cNvSpPr>
          <p:nvPr/>
        </p:nvSpPr>
        <p:spPr bwMode="auto">
          <a:xfrm>
            <a:off x="250825" y="182563"/>
            <a:ext cx="5834063" cy="1570037"/>
          </a:xfrm>
          <a:prstGeom prst="rect">
            <a:avLst/>
          </a:prstGeom>
          <a:noFill/>
          <a:ln w="9525">
            <a:noFill/>
            <a:miter lim="800000"/>
            <a:headEnd/>
            <a:tailEnd/>
          </a:ln>
        </p:spPr>
        <p:txBody>
          <a:bodyPr>
            <a:spAutoFit/>
          </a:bodyPr>
          <a:lstStyle/>
          <a:p>
            <a:pPr eaLnBrk="1" hangingPunct="1">
              <a:spcBef>
                <a:spcPct val="20000"/>
              </a:spcBef>
              <a:buClr>
                <a:schemeClr val="hlink"/>
              </a:buClr>
              <a:buSzPct val="50000"/>
              <a:buFont typeface="Monotype Sorts" charset="2"/>
              <a:buNone/>
            </a:pPr>
            <a:r>
              <a:rPr kumimoji="1" lang="zh-CN" altLang="en-US" b="1">
                <a:latin typeface="楷体_GB2312" pitchFamily="49" charset="-122"/>
                <a:ea typeface="楷体_GB2312" pitchFamily="49" charset="-122"/>
              </a:rPr>
              <a:t>条件选择结构用伪代码描述可写成以下形式：</a:t>
            </a:r>
            <a:r>
              <a:rPr kumimoji="1" lang="zh-CN" altLang="en-US">
                <a:latin typeface="楷体_GB2312" pitchFamily="49" charset="-122"/>
                <a:ea typeface="楷体_GB2312" pitchFamily="49" charset="-122"/>
              </a:rPr>
              <a:t> </a:t>
            </a:r>
          </a:p>
          <a:p>
            <a:endParaRPr lang="zh-CN" altLang="en-US"/>
          </a:p>
        </p:txBody>
      </p:sp>
    </p:spTree>
  </p:cSld>
  <p:clrMapOvr>
    <a:masterClrMapping/>
  </p:clrMapOvr>
  <p:transition>
    <p:random/>
  </p:transition>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1011" name="Rectangle 3"/>
          <p:cNvSpPr>
            <a:spLocks noGrp="1" noChangeArrowheads="1"/>
          </p:cNvSpPr>
          <p:nvPr>
            <p:ph idx="1"/>
          </p:nvPr>
        </p:nvSpPr>
        <p:spPr>
          <a:xfrm>
            <a:off x="323850" y="260350"/>
            <a:ext cx="8362950" cy="6292850"/>
          </a:xfrm>
        </p:spPr>
        <p:txBody>
          <a:bodyPr>
            <a:normAutofit/>
          </a:bodyPr>
          <a:lstStyle/>
          <a:p>
            <a:pPr marL="179388" lvl="1" indent="0" fontAlgn="auto">
              <a:spcAft>
                <a:spcPts val="0"/>
              </a:spcAft>
              <a:buFont typeface="Monotype Sorts" pitchFamily="2" charset="2"/>
              <a:buNone/>
              <a:defRPr/>
            </a:pPr>
            <a:r>
              <a:rPr lang="zh-CN" altLang="en-US" sz="3600" b="1" dirty="0">
                <a:solidFill>
                  <a:srgbClr val="C00000"/>
                </a:solidFill>
                <a:effectLst>
                  <a:outerShdw blurRad="38100" dist="38100" dir="2700000" algn="tl">
                    <a:srgbClr val="000000"/>
                  </a:outerShdw>
                </a:effectLst>
                <a:latin typeface="黑体" pitchFamily="2" charset="-122"/>
                <a:ea typeface="黑体" pitchFamily="2" charset="-122"/>
              </a:rPr>
              <a:t>循环结构（归纳）</a:t>
            </a:r>
          </a:p>
          <a:p>
            <a:pPr marL="179388" lvl="1" indent="0" fontAlgn="auto">
              <a:spcAft>
                <a:spcPts val="0"/>
              </a:spcAft>
              <a:buFont typeface="Monotype Sorts" pitchFamily="2" charset="2"/>
              <a:buNone/>
              <a:defRPr/>
            </a:pPr>
            <a:endParaRPr lang="zh-CN" altLang="en-US" b="1" dirty="0">
              <a:solidFill>
                <a:srgbClr val="0000FF"/>
              </a:solidFill>
              <a:effectLst>
                <a:outerShdw blurRad="38100" dist="38100" dir="2700000" algn="tl">
                  <a:srgbClr val="000000"/>
                </a:outerShdw>
              </a:effectLst>
              <a:latin typeface="楷体_GB2312" pitchFamily="49" charset="-122"/>
              <a:ea typeface="楷体_GB2312" pitchFamily="49" charset="-122"/>
            </a:endParaRPr>
          </a:p>
          <a:p>
            <a:pPr marL="179388" lvl="1" indent="0" fontAlgn="auto">
              <a:spcAft>
                <a:spcPts val="0"/>
              </a:spcAft>
              <a:buFont typeface="Wingdings 2"/>
              <a:buChar char=""/>
              <a:defRPr/>
            </a:pPr>
            <a:r>
              <a:rPr lang="zh-CN" altLang="en-US" sz="3600" b="1" dirty="0">
                <a:latin typeface="楷体_GB2312" pitchFamily="49" charset="-122"/>
                <a:ea typeface="楷体_GB2312" pitchFamily="49" charset="-122"/>
              </a:rPr>
              <a:t>循环结构为描述重复循环操作提供控制手段。</a:t>
            </a:r>
            <a:r>
              <a:rPr lang="en-US" altLang="zh-CN" sz="3600" b="1" dirty="0">
                <a:latin typeface="楷体_GB2312" pitchFamily="49" charset="-122"/>
                <a:ea typeface="楷体_GB2312" pitchFamily="49" charset="-122"/>
              </a:rPr>
              <a:t>C</a:t>
            </a:r>
            <a:r>
              <a:rPr lang="zh-CN" altLang="en-US" sz="3600" b="1" dirty="0">
                <a:latin typeface="楷体_GB2312" pitchFamily="49" charset="-122"/>
                <a:ea typeface="楷体_GB2312" pitchFamily="49" charset="-122"/>
              </a:rPr>
              <a:t>语言最常见的循环结构有：</a:t>
            </a:r>
          </a:p>
          <a:p>
            <a:pPr marL="179388" lvl="1" indent="0" fontAlgn="auto">
              <a:spcAft>
                <a:spcPts val="0"/>
              </a:spcAft>
              <a:buFont typeface="Monotype Sorts" pitchFamily="2" charset="2"/>
              <a:buNone/>
              <a:defRPr/>
            </a:pPr>
            <a:endParaRPr lang="en-US" altLang="zh-CN" b="1" dirty="0">
              <a:solidFill>
                <a:srgbClr val="0000FF"/>
              </a:solidFill>
              <a:effectLst>
                <a:outerShdw blurRad="38100" dist="38100" dir="2700000" algn="tl">
                  <a:srgbClr val="000000"/>
                </a:outerShdw>
              </a:effectLst>
              <a:latin typeface="楷体_GB2312" pitchFamily="49" charset="-122"/>
              <a:ea typeface="楷体_GB2312" pitchFamily="49" charset="-122"/>
            </a:endParaRPr>
          </a:p>
          <a:p>
            <a:pPr marL="453708" lvl="2" indent="0" fontAlgn="auto">
              <a:spcAft>
                <a:spcPts val="0"/>
              </a:spcAft>
              <a:buFont typeface="Wingdings 2"/>
              <a:buChar char=""/>
              <a:defRPr/>
            </a:pPr>
            <a:r>
              <a:rPr lang="en-US" altLang="zh-CN" sz="3300" b="1" dirty="0">
                <a:latin typeface="楷体_GB2312" pitchFamily="49" charset="-122"/>
                <a:ea typeface="楷体_GB2312" pitchFamily="49" charset="-122"/>
              </a:rPr>
              <a:t>while</a:t>
            </a:r>
            <a:r>
              <a:rPr lang="zh-CN" altLang="en-US" sz="3300" b="1" dirty="0">
                <a:latin typeface="楷体_GB2312" pitchFamily="49" charset="-122"/>
                <a:ea typeface="楷体_GB2312" pitchFamily="49" charset="-122"/>
              </a:rPr>
              <a:t>型循环结构</a:t>
            </a:r>
          </a:p>
          <a:p>
            <a:pPr marL="453708" lvl="2" indent="0" fontAlgn="auto">
              <a:spcAft>
                <a:spcPts val="0"/>
              </a:spcAft>
              <a:buFont typeface="Wingdings 2"/>
              <a:buChar char=""/>
              <a:defRPr/>
            </a:pPr>
            <a:endParaRPr lang="en-US" altLang="zh-CN" sz="3300" b="1" dirty="0">
              <a:latin typeface="楷体_GB2312" pitchFamily="49" charset="-122"/>
              <a:ea typeface="楷体_GB2312" pitchFamily="49" charset="-122"/>
            </a:endParaRPr>
          </a:p>
          <a:p>
            <a:pPr marL="453708" lvl="2" indent="0" fontAlgn="auto">
              <a:spcAft>
                <a:spcPts val="0"/>
              </a:spcAft>
              <a:buFont typeface="Wingdings 2"/>
              <a:buChar char=""/>
              <a:defRPr/>
            </a:pPr>
            <a:r>
              <a:rPr lang="en-US" altLang="zh-CN" sz="3300" b="1" dirty="0">
                <a:latin typeface="楷体_GB2312" pitchFamily="49" charset="-122"/>
                <a:ea typeface="楷体_GB2312" pitchFamily="49" charset="-122"/>
              </a:rPr>
              <a:t>do-while</a:t>
            </a:r>
            <a:r>
              <a:rPr lang="zh-CN" altLang="en-US" sz="3300" b="1" dirty="0">
                <a:latin typeface="楷体_GB2312" pitchFamily="49" charset="-122"/>
                <a:ea typeface="楷体_GB2312" pitchFamily="49" charset="-122"/>
              </a:rPr>
              <a:t>型循环结构。</a:t>
            </a:r>
            <a:endParaRPr lang="en-US" altLang="zh-CN" sz="3300" b="1" dirty="0">
              <a:latin typeface="楷体_GB2312" pitchFamily="49" charset="-122"/>
              <a:ea typeface="楷体_GB2312" pitchFamily="49" charset="-122"/>
            </a:endParaRPr>
          </a:p>
          <a:p>
            <a:pPr marL="453708" lvl="2" indent="0" fontAlgn="auto">
              <a:spcAft>
                <a:spcPts val="0"/>
              </a:spcAft>
              <a:buFont typeface="Wingdings 2"/>
              <a:buChar char=""/>
              <a:defRPr/>
            </a:pPr>
            <a:endParaRPr lang="en-US" altLang="zh-CN" sz="3300" b="1" dirty="0">
              <a:latin typeface="楷体_GB2312" pitchFamily="49" charset="-122"/>
              <a:ea typeface="楷体_GB2312" pitchFamily="49" charset="-122"/>
            </a:endParaRPr>
          </a:p>
          <a:p>
            <a:pPr marL="453708" lvl="2" indent="0" fontAlgn="auto">
              <a:spcAft>
                <a:spcPts val="0"/>
              </a:spcAft>
              <a:buFont typeface="Wingdings 2"/>
              <a:buChar char=""/>
              <a:defRPr/>
            </a:pPr>
            <a:r>
              <a:rPr lang="en-US" altLang="zh-CN" sz="3300" b="1" dirty="0">
                <a:latin typeface="楷体_GB2312" pitchFamily="49" charset="-122"/>
                <a:ea typeface="楷体_GB2312" pitchFamily="49" charset="-122"/>
              </a:rPr>
              <a:t>For </a:t>
            </a:r>
            <a:r>
              <a:rPr lang="zh-CN" altLang="en-US" sz="3300" b="1" dirty="0">
                <a:latin typeface="楷体_GB2312" pitchFamily="49" charset="-122"/>
                <a:ea typeface="楷体_GB2312" pitchFamily="49" charset="-122"/>
              </a:rPr>
              <a:t>循环</a:t>
            </a:r>
          </a:p>
        </p:txBody>
      </p:sp>
      <p:sp>
        <p:nvSpPr>
          <p:cNvPr id="5" name="灯片编号占位符 5"/>
          <p:cNvSpPr>
            <a:spLocks noGrp="1"/>
          </p:cNvSpPr>
          <p:nvPr>
            <p:ph type="sldNum" sz="quarter" idx="12"/>
          </p:nvPr>
        </p:nvSpPr>
        <p:spPr/>
        <p:txBody>
          <a:bodyPr/>
          <a:lstStyle/>
          <a:p>
            <a:pPr defTabSz="1128713">
              <a:defRPr/>
            </a:pPr>
            <a:fld id="{8A0E186A-A47E-4BFB-8F75-2F60A0F11EF6}" type="slidenum">
              <a:rPr lang="zh-CN" altLang="en-US">
                <a:latin typeface="+mn-lt"/>
              </a:rPr>
              <a:pPr defTabSz="1128713">
                <a:defRPr/>
              </a:pPr>
              <a:t>64</a:t>
            </a:fld>
            <a:endParaRPr lang="en-US" altLang="zh-CN">
              <a:latin typeface="+mn-lt"/>
            </a:endParaRPr>
          </a:p>
        </p:txBody>
      </p:sp>
    </p:spTree>
  </p:cSld>
  <p:clrMapOvr>
    <a:masterClrMapping/>
  </p:clrMapOvr>
  <p:transition>
    <p:random/>
  </p:transition>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灯片编号占位符 5"/>
          <p:cNvSpPr>
            <a:spLocks noGrp="1"/>
          </p:cNvSpPr>
          <p:nvPr>
            <p:ph type="sldNum" sz="quarter" idx="12"/>
          </p:nvPr>
        </p:nvSpPr>
        <p:spPr/>
        <p:txBody>
          <a:bodyPr/>
          <a:lstStyle/>
          <a:p>
            <a:pPr defTabSz="1128713">
              <a:defRPr/>
            </a:pPr>
            <a:fld id="{90B9A26F-3097-42CA-8DC6-70E37B0C27C7}" type="slidenum">
              <a:rPr lang="zh-CN" altLang="en-US">
                <a:latin typeface="+mn-lt"/>
              </a:rPr>
              <a:pPr defTabSz="1128713">
                <a:defRPr/>
              </a:pPr>
              <a:t>65</a:t>
            </a:fld>
            <a:endParaRPr lang="en-US" altLang="zh-CN">
              <a:latin typeface="+mn-lt"/>
            </a:endParaRPr>
          </a:p>
        </p:txBody>
      </p:sp>
      <p:sp>
        <p:nvSpPr>
          <p:cNvPr id="172041" name="Text Box 9"/>
          <p:cNvSpPr txBox="1">
            <a:spLocks noChangeArrowheads="1"/>
          </p:cNvSpPr>
          <p:nvPr/>
        </p:nvSpPr>
        <p:spPr bwMode="auto">
          <a:xfrm>
            <a:off x="250825" y="1341438"/>
            <a:ext cx="4897438" cy="1066800"/>
          </a:xfrm>
          <a:prstGeom prst="rect">
            <a:avLst/>
          </a:prstGeom>
          <a:noFill/>
          <a:ln w="9525">
            <a:noFill/>
            <a:miter lim="800000"/>
            <a:headEnd/>
            <a:tailEnd/>
          </a:ln>
          <a:effectLst/>
        </p:spPr>
        <p:txBody>
          <a:bodyPr>
            <a:spAutoFit/>
          </a:bodyPr>
          <a:lstStyle/>
          <a:p>
            <a:pPr>
              <a:defRPr/>
            </a:pPr>
            <a:r>
              <a:rPr lang="en-US" altLang="zh-CN" dirty="0">
                <a:effectLst>
                  <a:outerShdw blurRad="38100" dist="38100" dir="2700000" algn="tl">
                    <a:srgbClr val="000000">
                      <a:alpha val="43137"/>
                    </a:srgbClr>
                  </a:outerShdw>
                </a:effectLst>
              </a:rPr>
              <a:t>   </a:t>
            </a:r>
            <a:r>
              <a:rPr lang="en-US" altLang="zh-CN" b="1" dirty="0">
                <a:effectLst>
                  <a:outerShdw blurRad="38100" dist="38100" dir="2700000" algn="tl">
                    <a:srgbClr val="000000">
                      <a:alpha val="43137"/>
                    </a:srgbClr>
                  </a:outerShdw>
                </a:effectLst>
                <a:latin typeface="楷体_GB2312" pitchFamily="49" charset="-122"/>
                <a:ea typeface="楷体_GB2312" pitchFamily="49" charset="-122"/>
              </a:rPr>
              <a:t>while (</a:t>
            </a:r>
            <a:r>
              <a:rPr lang="zh-CN" altLang="en-US" b="1" dirty="0">
                <a:effectLst>
                  <a:outerShdw blurRad="38100" dist="38100" dir="2700000" algn="tl">
                    <a:srgbClr val="000000">
                      <a:alpha val="43137"/>
                    </a:srgbClr>
                  </a:outerShdw>
                </a:effectLst>
                <a:latin typeface="楷体_GB2312" pitchFamily="49" charset="-122"/>
                <a:ea typeface="楷体_GB2312" pitchFamily="49" charset="-122"/>
              </a:rPr>
              <a:t>条件</a:t>
            </a:r>
            <a:r>
              <a:rPr lang="en-US" altLang="zh-CN" b="1" dirty="0">
                <a:effectLst>
                  <a:outerShdw blurRad="38100" dist="38100" dir="2700000" algn="tl">
                    <a:srgbClr val="000000">
                      <a:alpha val="43137"/>
                    </a:srgbClr>
                  </a:outerShdw>
                </a:effectLst>
                <a:latin typeface="楷体_GB2312" pitchFamily="49" charset="-122"/>
                <a:ea typeface="楷体_GB2312" pitchFamily="49" charset="-122"/>
              </a:rPr>
              <a:t>)</a:t>
            </a:r>
          </a:p>
          <a:p>
            <a:pPr>
              <a:defRPr/>
            </a:pPr>
            <a:r>
              <a:rPr lang="en-US" altLang="zh-CN" b="1" dirty="0">
                <a:effectLst>
                  <a:outerShdw blurRad="38100" dist="38100" dir="2700000" algn="tl">
                    <a:srgbClr val="000000">
                      <a:alpha val="43137"/>
                    </a:srgbClr>
                  </a:outerShdw>
                </a:effectLst>
                <a:latin typeface="楷体_GB2312" pitchFamily="49" charset="-122"/>
                <a:ea typeface="楷体_GB2312" pitchFamily="49" charset="-122"/>
              </a:rPr>
              <a:t>       </a:t>
            </a:r>
            <a:r>
              <a:rPr lang="zh-CN" altLang="en-US" b="1" dirty="0">
                <a:effectLst>
                  <a:outerShdw blurRad="38100" dist="38100" dir="2700000" algn="tl">
                    <a:srgbClr val="000000">
                      <a:alpha val="43137"/>
                    </a:srgbClr>
                  </a:outerShdw>
                </a:effectLst>
                <a:latin typeface="楷体_GB2312" pitchFamily="49" charset="-122"/>
                <a:ea typeface="楷体_GB2312" pitchFamily="49" charset="-122"/>
              </a:rPr>
              <a:t>一个操作步骤</a:t>
            </a:r>
            <a:r>
              <a:rPr lang="en-US" altLang="zh-CN" b="1" dirty="0">
                <a:effectLst>
                  <a:outerShdw blurRad="38100" dist="38100" dir="2700000" algn="tl">
                    <a:srgbClr val="000000">
                      <a:alpha val="43137"/>
                    </a:srgbClr>
                  </a:outerShdw>
                </a:effectLst>
                <a:latin typeface="楷体_GB2312" pitchFamily="49" charset="-122"/>
                <a:ea typeface="楷体_GB2312" pitchFamily="49" charset="-122"/>
              </a:rPr>
              <a:t>;</a:t>
            </a:r>
            <a:r>
              <a:rPr lang="en-US" altLang="zh-CN" b="1" dirty="0">
                <a:effectLst>
                  <a:outerShdw blurRad="38100" dist="38100" dir="2700000" algn="tl">
                    <a:srgbClr val="000000">
                      <a:alpha val="43137"/>
                    </a:srgbClr>
                  </a:outerShdw>
                </a:effectLst>
              </a:rPr>
              <a:t> </a:t>
            </a:r>
          </a:p>
        </p:txBody>
      </p:sp>
      <p:sp>
        <p:nvSpPr>
          <p:cNvPr id="61444" name="Text Box 10"/>
          <p:cNvSpPr txBox="1">
            <a:spLocks noChangeArrowheads="1"/>
          </p:cNvSpPr>
          <p:nvPr/>
        </p:nvSpPr>
        <p:spPr bwMode="auto">
          <a:xfrm>
            <a:off x="5567363" y="5065713"/>
            <a:ext cx="3148012" cy="1077912"/>
          </a:xfrm>
          <a:prstGeom prst="rect">
            <a:avLst/>
          </a:prstGeom>
          <a:noFill/>
          <a:ln w="9525">
            <a:noFill/>
            <a:miter lim="800000"/>
            <a:headEnd/>
            <a:tailEnd/>
          </a:ln>
        </p:spPr>
        <p:txBody>
          <a:bodyPr wrap="none">
            <a:spAutoFit/>
          </a:bodyPr>
          <a:lstStyle/>
          <a:p>
            <a:r>
              <a:rPr lang="en-US" altLang="zh-CN"/>
              <a:t>while</a:t>
            </a:r>
            <a:r>
              <a:rPr lang="zh-CN" altLang="en-US"/>
              <a:t>型循环结构</a:t>
            </a:r>
          </a:p>
          <a:p>
            <a:endParaRPr lang="zh-CN" altLang="en-US"/>
          </a:p>
        </p:txBody>
      </p:sp>
      <p:sp>
        <p:nvSpPr>
          <p:cNvPr id="61445" name="Text Box 11"/>
          <p:cNvSpPr txBox="1">
            <a:spLocks noChangeArrowheads="1"/>
          </p:cNvSpPr>
          <p:nvPr/>
        </p:nvSpPr>
        <p:spPr bwMode="auto">
          <a:xfrm>
            <a:off x="250825" y="182563"/>
            <a:ext cx="6121400" cy="1066800"/>
          </a:xfrm>
          <a:prstGeom prst="rect">
            <a:avLst/>
          </a:prstGeom>
          <a:noFill/>
          <a:ln w="9525">
            <a:noFill/>
            <a:miter lim="800000"/>
            <a:headEnd/>
            <a:tailEnd/>
          </a:ln>
        </p:spPr>
        <p:txBody>
          <a:bodyPr>
            <a:spAutoFit/>
          </a:bodyPr>
          <a:lstStyle/>
          <a:p>
            <a:r>
              <a:rPr lang="en-US" altLang="zh-CN" b="1">
                <a:latin typeface="楷体_GB2312" pitchFamily="49" charset="-122"/>
                <a:ea typeface="楷体_GB2312" pitchFamily="49" charset="-122"/>
              </a:rPr>
              <a:t>while</a:t>
            </a:r>
            <a:r>
              <a:rPr lang="zh-CN" altLang="en-US" b="1">
                <a:latin typeface="楷体_GB2312" pitchFamily="49" charset="-122"/>
                <a:ea typeface="楷体_GB2312" pitchFamily="49" charset="-122"/>
              </a:rPr>
              <a:t>型循环结构用伪代码描述可写成以下形式：</a:t>
            </a:r>
          </a:p>
        </p:txBody>
      </p:sp>
      <p:sp>
        <p:nvSpPr>
          <p:cNvPr id="61446" name="Text Box 13"/>
          <p:cNvSpPr txBox="1">
            <a:spLocks noChangeArrowheads="1"/>
          </p:cNvSpPr>
          <p:nvPr/>
        </p:nvSpPr>
        <p:spPr bwMode="auto">
          <a:xfrm>
            <a:off x="0" y="2492375"/>
            <a:ext cx="4932363" cy="4130675"/>
          </a:xfrm>
          <a:prstGeom prst="rect">
            <a:avLst/>
          </a:prstGeom>
          <a:noFill/>
          <a:ln w="9525">
            <a:noFill/>
            <a:miter lim="800000"/>
            <a:headEnd/>
            <a:tailEnd/>
          </a:ln>
        </p:spPr>
        <p:txBody>
          <a:bodyPr>
            <a:spAutoFit/>
          </a:bodyPr>
          <a:lstStyle/>
          <a:p>
            <a:pPr lvl="1" eaLnBrk="1" hangingPunct="1">
              <a:lnSpc>
                <a:spcPct val="90000"/>
              </a:lnSpc>
              <a:spcBef>
                <a:spcPct val="20000"/>
              </a:spcBef>
              <a:buClr>
                <a:schemeClr val="tx2"/>
              </a:buClr>
              <a:buSzPct val="75000"/>
              <a:buFont typeface="Monotype Sorts" charset="2"/>
              <a:buNone/>
            </a:pPr>
            <a:r>
              <a:rPr kumimoji="1" lang="zh-CN" altLang="en-US" b="1">
                <a:ea typeface="楷体_GB2312" pitchFamily="49" charset="-122"/>
              </a:rPr>
              <a:t>执行过程是：每次循环前，先求条件的值，当条件成立（真）时，就执行内含的操作步骤，并接着再次求条件的值，以确定操作步骤是否再次被执行。当条件的值为假，则结束循环操作。</a:t>
            </a:r>
          </a:p>
          <a:p>
            <a:endParaRPr lang="zh-CN" altLang="en-US">
              <a:ea typeface="楷体_GB2312" pitchFamily="49" charset="-122"/>
            </a:endParaRPr>
          </a:p>
        </p:txBody>
      </p:sp>
      <p:pic>
        <p:nvPicPr>
          <p:cNvPr id="61447" name="Picture 8" descr="图1_5"/>
          <p:cNvPicPr>
            <a:picLocks noChangeAspect="1" noChangeArrowheads="1"/>
          </p:cNvPicPr>
          <p:nvPr/>
        </p:nvPicPr>
        <p:blipFill>
          <a:blip r:embed="rId2" cstate="print"/>
          <a:srcRect r="60547" b="63020"/>
          <a:stretch>
            <a:fillRect/>
          </a:stretch>
        </p:blipFill>
        <p:spPr bwMode="auto">
          <a:xfrm>
            <a:off x="4857750" y="1357313"/>
            <a:ext cx="3967163" cy="3643312"/>
          </a:xfrm>
          <a:prstGeom prst="rect">
            <a:avLst/>
          </a:prstGeom>
          <a:noFill/>
          <a:ln w="9525">
            <a:noFill/>
            <a:miter lim="800000"/>
            <a:headEnd/>
            <a:tailEnd/>
          </a:ln>
        </p:spPr>
      </p:pic>
    </p:spTree>
  </p:cSld>
  <p:clrMapOvr>
    <a:masterClrMapping/>
  </p:clrMapOvr>
  <p:transition>
    <p:random/>
  </p:transition>
</p:sld>
</file>

<file path=ppt/slides/slide66.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62466" name="Rectangle 3"/>
          <p:cNvSpPr>
            <a:spLocks noGrp="1" noChangeArrowheads="1"/>
          </p:cNvSpPr>
          <p:nvPr>
            <p:ph type="body" sz="half" idx="1"/>
          </p:nvPr>
        </p:nvSpPr>
        <p:spPr>
          <a:xfrm>
            <a:off x="468313" y="1916113"/>
            <a:ext cx="5322887" cy="5041900"/>
          </a:xfrm>
        </p:spPr>
        <p:txBody>
          <a:bodyPr/>
          <a:lstStyle/>
          <a:p>
            <a:pPr marL="0" indent="0">
              <a:buFont typeface="Monotype Sorts" charset="2"/>
              <a:buNone/>
            </a:pPr>
            <a:r>
              <a:rPr lang="zh-CN" altLang="en-US" sz="3000" b="1">
                <a:latin typeface="楷体_GB2312" pitchFamily="49" charset="-122"/>
                <a:ea typeface="楷体_GB2312" pitchFamily="49" charset="-122"/>
              </a:rPr>
              <a:t>每次循环前，首先执行操作步骤，接着再求条件，当条件成立（真）时，再重复执行操作步骤。如此反复，直到条件的值为假，结束循环。</a:t>
            </a:r>
            <a:r>
              <a:rPr lang="en-US" altLang="zh-CN" sz="3000" b="1">
                <a:latin typeface="楷体_GB2312" pitchFamily="49" charset="-122"/>
                <a:ea typeface="楷体_GB2312" pitchFamily="49" charset="-122"/>
              </a:rPr>
              <a:t>do-while</a:t>
            </a:r>
            <a:r>
              <a:rPr lang="zh-CN" altLang="en-US" sz="3000" b="1">
                <a:latin typeface="楷体_GB2312" pitchFamily="49" charset="-122"/>
                <a:ea typeface="楷体_GB2312" pitchFamily="49" charset="-122"/>
              </a:rPr>
              <a:t>型循环结构用伪代码描述：</a:t>
            </a:r>
          </a:p>
          <a:p>
            <a:pPr marL="0" indent="0">
              <a:buFont typeface="Monotype Sorts" charset="2"/>
              <a:buNone/>
            </a:pPr>
            <a:r>
              <a:rPr lang="zh-CN" altLang="en-US" sz="3000" b="1">
                <a:latin typeface="楷体_GB2312" pitchFamily="49" charset="-122"/>
                <a:ea typeface="楷体_GB2312" pitchFamily="49" charset="-122"/>
              </a:rPr>
              <a:t>   </a:t>
            </a:r>
            <a:r>
              <a:rPr lang="en-US" altLang="zh-CN" sz="3000" b="1">
                <a:latin typeface="楷体_GB2312" pitchFamily="49" charset="-122"/>
                <a:ea typeface="楷体_GB2312" pitchFamily="49" charset="-122"/>
              </a:rPr>
              <a:t>do</a:t>
            </a:r>
          </a:p>
          <a:p>
            <a:pPr marL="0" indent="0">
              <a:buFont typeface="Monotype Sorts" charset="2"/>
              <a:buNone/>
            </a:pPr>
            <a:r>
              <a:rPr lang="en-US" altLang="zh-CN" sz="3000" b="1">
                <a:latin typeface="楷体_GB2312" pitchFamily="49" charset="-122"/>
                <a:ea typeface="楷体_GB2312" pitchFamily="49" charset="-122"/>
              </a:rPr>
              <a:t>     </a:t>
            </a:r>
            <a:r>
              <a:rPr lang="zh-CN" altLang="en-US" sz="3000" b="1">
                <a:latin typeface="楷体_GB2312" pitchFamily="49" charset="-122"/>
                <a:ea typeface="楷体_GB2312" pitchFamily="49" charset="-122"/>
              </a:rPr>
              <a:t>一个操作步骤</a:t>
            </a:r>
            <a:r>
              <a:rPr lang="en-US" altLang="zh-CN" sz="3000" b="1">
                <a:latin typeface="楷体_GB2312" pitchFamily="49" charset="-122"/>
                <a:ea typeface="楷体_GB2312" pitchFamily="49" charset="-122"/>
              </a:rPr>
              <a:t>;</a:t>
            </a:r>
          </a:p>
          <a:p>
            <a:pPr marL="0" indent="0">
              <a:buFont typeface="Monotype Sorts" charset="2"/>
              <a:buNone/>
            </a:pPr>
            <a:r>
              <a:rPr lang="en-US" altLang="zh-CN" sz="3000" b="1">
                <a:latin typeface="楷体_GB2312" pitchFamily="49" charset="-122"/>
                <a:ea typeface="楷体_GB2312" pitchFamily="49" charset="-122"/>
              </a:rPr>
              <a:t>   while (</a:t>
            </a:r>
            <a:r>
              <a:rPr lang="zh-CN" altLang="en-US" sz="3000" b="1">
                <a:latin typeface="楷体_GB2312" pitchFamily="49" charset="-122"/>
                <a:ea typeface="楷体_GB2312" pitchFamily="49" charset="-122"/>
              </a:rPr>
              <a:t>条件</a:t>
            </a:r>
            <a:r>
              <a:rPr lang="en-US" altLang="zh-CN" sz="3000" b="1">
                <a:latin typeface="楷体_GB2312" pitchFamily="49" charset="-122"/>
                <a:ea typeface="楷体_GB2312" pitchFamily="49" charset="-122"/>
              </a:rPr>
              <a:t>)</a:t>
            </a:r>
            <a:r>
              <a:rPr lang="en-US" altLang="zh-CN" sz="4000" b="1">
                <a:solidFill>
                  <a:srgbClr val="C00000"/>
                </a:solidFill>
                <a:latin typeface="楷体_GB2312" pitchFamily="49" charset="-122"/>
                <a:ea typeface="楷体_GB2312" pitchFamily="49" charset="-122"/>
              </a:rPr>
              <a:t>;</a:t>
            </a:r>
            <a:endParaRPr lang="zh-CN" altLang="en-US" sz="3000" b="1">
              <a:solidFill>
                <a:srgbClr val="C00000"/>
              </a:solidFill>
              <a:latin typeface="楷体_GB2312" pitchFamily="49" charset="-122"/>
              <a:ea typeface="楷体_GB2312" pitchFamily="49" charset="-122"/>
            </a:endParaRPr>
          </a:p>
        </p:txBody>
      </p:sp>
      <p:pic>
        <p:nvPicPr>
          <p:cNvPr id="62467" name="Picture 7" descr="图1_6"/>
          <p:cNvPicPr>
            <a:picLocks noGrp="1" noChangeAspect="1" noChangeArrowheads="1"/>
          </p:cNvPicPr>
          <p:nvPr>
            <p:ph sz="half" idx="2"/>
          </p:nvPr>
        </p:nvPicPr>
        <p:blipFill>
          <a:blip r:embed="rId2" cstate="print"/>
          <a:srcRect r="60742" b="57292"/>
          <a:stretch>
            <a:fillRect/>
          </a:stretch>
        </p:blipFill>
        <p:spPr>
          <a:xfrm>
            <a:off x="5635625" y="2143125"/>
            <a:ext cx="3508375" cy="3286125"/>
          </a:xfrm>
          <a:noFill/>
        </p:spPr>
      </p:pic>
      <p:sp>
        <p:nvSpPr>
          <p:cNvPr id="8" name="灯片编号占位符 6"/>
          <p:cNvSpPr>
            <a:spLocks noGrp="1"/>
          </p:cNvSpPr>
          <p:nvPr>
            <p:ph type="sldNum" sz="quarter" idx="12"/>
          </p:nvPr>
        </p:nvSpPr>
        <p:spPr/>
        <p:txBody>
          <a:bodyPr/>
          <a:lstStyle/>
          <a:p>
            <a:pPr defTabSz="1128713">
              <a:defRPr/>
            </a:pPr>
            <a:fld id="{A80FC8CA-F895-4038-91E6-F4332ACFE719}" type="slidenum">
              <a:rPr lang="zh-CN" altLang="en-US">
                <a:latin typeface="+mn-lt"/>
              </a:rPr>
              <a:pPr defTabSz="1128713">
                <a:defRPr/>
              </a:pPr>
              <a:t>66</a:t>
            </a:fld>
            <a:endParaRPr lang="en-US" altLang="zh-CN" dirty="0">
              <a:latin typeface="+mn-lt"/>
            </a:endParaRPr>
          </a:p>
        </p:txBody>
      </p:sp>
      <p:sp>
        <p:nvSpPr>
          <p:cNvPr id="62469" name="Text Box 8"/>
          <p:cNvSpPr txBox="1">
            <a:spLocks noChangeArrowheads="1"/>
          </p:cNvSpPr>
          <p:nvPr/>
        </p:nvSpPr>
        <p:spPr bwMode="auto">
          <a:xfrm>
            <a:off x="6046788" y="5715000"/>
            <a:ext cx="3097212" cy="396875"/>
          </a:xfrm>
          <a:prstGeom prst="rect">
            <a:avLst/>
          </a:prstGeom>
          <a:noFill/>
          <a:ln w="9525">
            <a:noFill/>
            <a:miter lim="800000"/>
            <a:headEnd/>
            <a:tailEnd/>
          </a:ln>
        </p:spPr>
        <p:txBody>
          <a:bodyPr>
            <a:spAutoFit/>
          </a:bodyPr>
          <a:lstStyle/>
          <a:p>
            <a:r>
              <a:rPr lang="en-US" altLang="zh-CN" sz="2000"/>
              <a:t>      do-while</a:t>
            </a:r>
            <a:r>
              <a:rPr lang="zh-CN" altLang="en-US" sz="2000"/>
              <a:t>型循环结构 </a:t>
            </a:r>
          </a:p>
        </p:txBody>
      </p:sp>
      <p:sp>
        <p:nvSpPr>
          <p:cNvPr id="62470" name="Text Box 9"/>
          <p:cNvSpPr txBox="1">
            <a:spLocks noChangeArrowheads="1"/>
          </p:cNvSpPr>
          <p:nvPr/>
        </p:nvSpPr>
        <p:spPr bwMode="auto">
          <a:xfrm>
            <a:off x="323850" y="260350"/>
            <a:ext cx="8569325" cy="1569660"/>
          </a:xfrm>
          <a:prstGeom prst="rect">
            <a:avLst/>
          </a:prstGeom>
          <a:noFill/>
          <a:ln w="9525">
            <a:noFill/>
            <a:miter lim="800000"/>
            <a:headEnd/>
            <a:tailEnd/>
          </a:ln>
        </p:spPr>
        <p:txBody>
          <a:bodyPr>
            <a:spAutoFit/>
          </a:bodyPr>
          <a:lstStyle/>
          <a:p>
            <a:pPr>
              <a:spcBef>
                <a:spcPct val="50000"/>
              </a:spcBef>
            </a:pPr>
            <a:r>
              <a:rPr kumimoji="1" lang="en-US" altLang="zh-CN" b="1" dirty="0">
                <a:solidFill>
                  <a:srgbClr val="000066"/>
                </a:solidFill>
                <a:latin typeface="楷体_GB2312" pitchFamily="49" charset="-122"/>
                <a:ea typeface="楷体_GB2312" pitchFamily="49" charset="-122"/>
              </a:rPr>
              <a:t>do-while</a:t>
            </a:r>
            <a:r>
              <a:rPr kumimoji="1" lang="zh-CN" altLang="en-US" b="1" dirty="0">
                <a:solidFill>
                  <a:srgbClr val="000066"/>
                </a:solidFill>
                <a:latin typeface="楷体_GB2312" pitchFamily="49" charset="-122"/>
                <a:ea typeface="楷体_GB2312" pitchFamily="49" charset="-122"/>
              </a:rPr>
              <a:t>型循环结构由一个条件和一个要重复执行的操作步骤组成，该结构实现如图</a:t>
            </a:r>
            <a:r>
              <a:rPr kumimoji="1" lang="en-US" altLang="zh-CN" b="1" dirty="0">
                <a:solidFill>
                  <a:srgbClr val="000066"/>
                </a:solidFill>
                <a:latin typeface="楷体_GB2312" pitchFamily="49" charset="-122"/>
                <a:ea typeface="楷体_GB2312" pitchFamily="49" charset="-122"/>
              </a:rPr>
              <a:t>1.6</a:t>
            </a:r>
            <a:r>
              <a:rPr kumimoji="1" lang="zh-CN" altLang="en-US" b="1" dirty="0">
                <a:solidFill>
                  <a:srgbClr val="000066"/>
                </a:solidFill>
                <a:latin typeface="楷体_GB2312" pitchFamily="49" charset="-122"/>
                <a:ea typeface="楷体_GB2312" pitchFamily="49" charset="-122"/>
              </a:rPr>
              <a:t>所示的控制。</a:t>
            </a:r>
            <a:r>
              <a:rPr kumimoji="1" lang="en-US" altLang="zh-CN" b="1" dirty="0">
                <a:solidFill>
                  <a:srgbClr val="000066"/>
                </a:solidFill>
                <a:latin typeface="楷体_GB2312" pitchFamily="49" charset="-122"/>
                <a:ea typeface="楷体_GB2312" pitchFamily="49" charset="-122"/>
              </a:rPr>
              <a:t>do-while</a:t>
            </a:r>
            <a:r>
              <a:rPr kumimoji="1" lang="zh-CN" altLang="en-US" b="1" dirty="0">
                <a:solidFill>
                  <a:srgbClr val="000066"/>
                </a:solidFill>
                <a:latin typeface="楷体_GB2312" pitchFamily="49" charset="-122"/>
                <a:ea typeface="楷体_GB2312" pitchFamily="49" charset="-122"/>
              </a:rPr>
              <a:t>型循环结构的执行过程是：</a:t>
            </a:r>
          </a:p>
        </p:txBody>
      </p:sp>
    </p:spTree>
  </p:cSld>
  <p:clrMapOvr>
    <a:masterClrMapping/>
  </p:clrMapOvr>
  <p:transition>
    <p:random/>
  </p:transition>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490" name="Rectangle 3"/>
          <p:cNvSpPr>
            <a:spLocks noGrp="1" noChangeArrowheads="1"/>
          </p:cNvSpPr>
          <p:nvPr>
            <p:ph idx="1"/>
          </p:nvPr>
        </p:nvSpPr>
        <p:spPr>
          <a:xfrm>
            <a:off x="179388" y="928688"/>
            <a:ext cx="8640762" cy="5524500"/>
          </a:xfrm>
        </p:spPr>
        <p:txBody>
          <a:bodyPr/>
          <a:lstStyle/>
          <a:p>
            <a:pPr marL="0" indent="0">
              <a:lnSpc>
                <a:spcPct val="90000"/>
              </a:lnSpc>
              <a:spcAft>
                <a:spcPts val="600"/>
              </a:spcAft>
            </a:pPr>
            <a:r>
              <a:rPr lang="zh-CN" altLang="en-US" sz="3200" b="1" dirty="0">
                <a:latin typeface="楷体_GB2312" pitchFamily="49" charset="-122"/>
                <a:ea typeface="楷体_GB2312" pitchFamily="49" charset="-122"/>
              </a:rPr>
              <a:t> </a:t>
            </a:r>
            <a:r>
              <a:rPr lang="zh-CN" altLang="en-US" sz="3200" b="1" dirty="0">
                <a:solidFill>
                  <a:srgbClr val="C00000"/>
                </a:solidFill>
                <a:latin typeface="楷体_GB2312" pitchFamily="49" charset="-122"/>
                <a:ea typeface="楷体_GB2312" pitchFamily="49" charset="-122"/>
              </a:rPr>
              <a:t>其中操作步骤既可以是简单的操作步骤，也可以是某种控制结构</a:t>
            </a:r>
            <a:r>
              <a:rPr lang="en-US" altLang="zh-CN" sz="3200" b="1" dirty="0">
                <a:solidFill>
                  <a:srgbClr val="C00000"/>
                </a:solidFill>
                <a:latin typeface="楷体_GB2312" pitchFamily="49" charset="-122"/>
                <a:ea typeface="楷体_GB2312" pitchFamily="49" charset="-122"/>
              </a:rPr>
              <a:t>!</a:t>
            </a:r>
            <a:endParaRPr lang="zh-CN" altLang="en-US" sz="3200" b="1" dirty="0">
              <a:solidFill>
                <a:srgbClr val="C00000"/>
              </a:solidFill>
              <a:latin typeface="楷体_GB2312" pitchFamily="49" charset="-122"/>
              <a:ea typeface="楷体_GB2312" pitchFamily="49" charset="-122"/>
            </a:endParaRPr>
          </a:p>
          <a:p>
            <a:pPr marL="0" indent="0">
              <a:lnSpc>
                <a:spcPct val="90000"/>
              </a:lnSpc>
              <a:spcAft>
                <a:spcPts val="600"/>
              </a:spcAft>
            </a:pPr>
            <a:endParaRPr lang="zh-CN" altLang="en-US" sz="3200" b="1" dirty="0">
              <a:latin typeface="楷体_GB2312" pitchFamily="49" charset="-122"/>
              <a:ea typeface="楷体_GB2312" pitchFamily="49" charset="-122"/>
            </a:endParaRPr>
          </a:p>
          <a:p>
            <a:pPr marL="0" indent="0">
              <a:lnSpc>
                <a:spcPct val="90000"/>
              </a:lnSpc>
              <a:spcAft>
                <a:spcPts val="600"/>
              </a:spcAft>
            </a:pPr>
            <a:r>
              <a:rPr lang="zh-CN" altLang="en-US" sz="3200" b="1" dirty="0">
                <a:latin typeface="楷体_GB2312" pitchFamily="49" charset="-122"/>
                <a:ea typeface="楷体_GB2312" pitchFamily="49" charset="-122"/>
              </a:rPr>
              <a:t> 计算理论证明，程序可以由一些简单的操作配合上述三种控制结构的反复应用来描述。</a:t>
            </a:r>
          </a:p>
          <a:p>
            <a:pPr marL="0" indent="0">
              <a:lnSpc>
                <a:spcPct val="90000"/>
              </a:lnSpc>
              <a:spcAft>
                <a:spcPts val="600"/>
              </a:spcAft>
            </a:pPr>
            <a:endParaRPr lang="zh-CN" altLang="en-US" sz="3200" b="1" dirty="0">
              <a:latin typeface="楷体_GB2312" pitchFamily="49" charset="-122"/>
              <a:ea typeface="楷体_GB2312" pitchFamily="49" charset="-122"/>
            </a:endParaRPr>
          </a:p>
          <a:p>
            <a:pPr marL="0" indent="0">
              <a:lnSpc>
                <a:spcPct val="90000"/>
              </a:lnSpc>
              <a:spcAft>
                <a:spcPts val="600"/>
              </a:spcAft>
            </a:pPr>
            <a:r>
              <a:rPr lang="zh-CN" altLang="en-US" sz="3200" b="1" dirty="0">
                <a:latin typeface="楷体_GB2312" pitchFamily="49" charset="-122"/>
                <a:ea typeface="楷体_GB2312" pitchFamily="49" charset="-122"/>
              </a:rPr>
              <a:t> 程序员严格按照前述的规则编写程序，有利于程序的结构性和可读性。</a:t>
            </a:r>
            <a:endParaRPr lang="en-US" altLang="zh-CN" sz="3200" b="1" dirty="0">
              <a:latin typeface="楷体_GB2312" pitchFamily="49" charset="-122"/>
              <a:ea typeface="楷体_GB2312" pitchFamily="49" charset="-122"/>
            </a:endParaRPr>
          </a:p>
          <a:p>
            <a:pPr marL="0" indent="0">
              <a:lnSpc>
                <a:spcPct val="90000"/>
              </a:lnSpc>
              <a:spcAft>
                <a:spcPts val="600"/>
              </a:spcAft>
            </a:pPr>
            <a:endParaRPr lang="en-US" altLang="zh-CN" sz="3200" b="1" dirty="0">
              <a:latin typeface="楷体_GB2312" pitchFamily="49" charset="-122"/>
              <a:ea typeface="楷体_GB2312" pitchFamily="49" charset="-122"/>
            </a:endParaRPr>
          </a:p>
          <a:p>
            <a:pPr marL="0" indent="0">
              <a:lnSpc>
                <a:spcPct val="90000"/>
              </a:lnSpc>
              <a:spcAft>
                <a:spcPts val="600"/>
              </a:spcAft>
              <a:buFont typeface="Wingdings 2" pitchFamily="18" charset="2"/>
              <a:buNone/>
            </a:pPr>
            <a:r>
              <a:rPr lang="zh-CN" altLang="en-US" sz="3200" b="1" dirty="0">
                <a:latin typeface="楷体_GB2312" pitchFamily="49" charset="-122"/>
                <a:ea typeface="楷体_GB2312" pitchFamily="49" charset="-122"/>
              </a:rPr>
              <a:t> </a:t>
            </a:r>
          </a:p>
        </p:txBody>
      </p:sp>
      <p:sp>
        <p:nvSpPr>
          <p:cNvPr id="6" name="灯片编号占位符 5"/>
          <p:cNvSpPr>
            <a:spLocks noGrp="1"/>
          </p:cNvSpPr>
          <p:nvPr>
            <p:ph type="sldNum" sz="quarter" idx="12"/>
          </p:nvPr>
        </p:nvSpPr>
        <p:spPr/>
        <p:txBody>
          <a:bodyPr/>
          <a:lstStyle/>
          <a:p>
            <a:pPr defTabSz="1128713">
              <a:defRPr/>
            </a:pPr>
            <a:fld id="{F873AECA-56CB-48BA-B3CC-8E295068C435}" type="slidenum">
              <a:rPr lang="zh-CN" altLang="en-US">
                <a:latin typeface="+mn-lt"/>
              </a:rPr>
              <a:pPr defTabSz="1128713">
                <a:defRPr/>
              </a:pPr>
              <a:t>67</a:t>
            </a:fld>
            <a:endParaRPr lang="en-US" altLang="zh-CN">
              <a:latin typeface="+mn-lt"/>
            </a:endParaRPr>
          </a:p>
        </p:txBody>
      </p:sp>
      <p:sp>
        <p:nvSpPr>
          <p:cNvPr id="63492" name="AutoShape 5">
            <a:hlinkClick r:id="rId2" action="ppaction://hlinksldjump" highlightClick="1"/>
          </p:cNvPr>
          <p:cNvSpPr>
            <a:spLocks noChangeArrowheads="1"/>
          </p:cNvSpPr>
          <p:nvPr/>
        </p:nvSpPr>
        <p:spPr bwMode="auto">
          <a:xfrm>
            <a:off x="8531225" y="6238875"/>
            <a:ext cx="504825" cy="503238"/>
          </a:xfrm>
          <a:prstGeom prst="actionButtonInformation">
            <a:avLst/>
          </a:prstGeom>
          <a:solidFill>
            <a:schemeClr val="accent1"/>
          </a:solidFill>
          <a:ln w="9525">
            <a:noFill/>
            <a:miter lim="800000"/>
            <a:headEnd/>
            <a:tailEnd/>
          </a:ln>
        </p:spPr>
        <p:txBody>
          <a:bodyPr wrap="none" anchor="ctr"/>
          <a:lstStyle/>
          <a:p>
            <a:endParaRPr lang="zh-CN" altLang="en-US"/>
          </a:p>
        </p:txBody>
      </p:sp>
    </p:spTree>
  </p:cSld>
  <p:clrMapOvr>
    <a:masterClrMapping/>
  </p:clrMapOvr>
  <p:transition>
    <p:random/>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E0366C9B-FE77-4EC9-9533-287A38F6BAE3}"/>
              </a:ext>
            </a:extLst>
          </p:cNvPr>
          <p:cNvSpPr>
            <a:spLocks noGrp="1" noChangeArrowheads="1"/>
          </p:cNvSpPr>
          <p:nvPr>
            <p:ph type="title"/>
          </p:nvPr>
        </p:nvSpPr>
        <p:spPr/>
        <p:txBody>
          <a:bodyPr/>
          <a:lstStyle/>
          <a:p>
            <a:pPr eaLnBrk="1" hangingPunct="1"/>
            <a:r>
              <a:rPr lang="en-US" altLang="zh-CN"/>
              <a:t>Why C?</a:t>
            </a:r>
          </a:p>
        </p:txBody>
      </p:sp>
      <p:sp>
        <p:nvSpPr>
          <p:cNvPr id="82947" name="Rectangle 3">
            <a:extLst>
              <a:ext uri="{FF2B5EF4-FFF2-40B4-BE49-F238E27FC236}">
                <a16:creationId xmlns:a16="http://schemas.microsoft.com/office/drawing/2014/main" id="{54006736-EBDF-45EC-B6A1-1E854E4B3FAF}"/>
              </a:ext>
            </a:extLst>
          </p:cNvPr>
          <p:cNvSpPr>
            <a:spLocks noGrp="1" noChangeArrowheads="1"/>
          </p:cNvSpPr>
          <p:nvPr>
            <p:ph type="body" idx="1"/>
          </p:nvPr>
        </p:nvSpPr>
        <p:spPr>
          <a:xfrm>
            <a:off x="827088" y="2017713"/>
            <a:ext cx="7772400" cy="4114800"/>
          </a:xfrm>
        </p:spPr>
        <p:txBody>
          <a:bodyPr/>
          <a:lstStyle/>
          <a:p>
            <a:pPr eaLnBrk="1" hangingPunct="1">
              <a:lnSpc>
                <a:spcPct val="90000"/>
              </a:lnSpc>
            </a:pPr>
            <a:r>
              <a:rPr lang="en-US" altLang="zh-CN" dirty="0"/>
              <a:t> </a:t>
            </a:r>
            <a:r>
              <a:rPr lang="zh-CN" altLang="en-US" sz="2800" dirty="0"/>
              <a:t>航天领域</a:t>
            </a:r>
          </a:p>
          <a:p>
            <a:pPr lvl="1" eaLnBrk="1" hangingPunct="1">
              <a:lnSpc>
                <a:spcPct val="90000"/>
              </a:lnSpc>
            </a:pPr>
            <a:r>
              <a:rPr lang="zh-CN" altLang="en-US" sz="2800" dirty="0"/>
              <a:t>卫星各类型部件都有自己的电子系统</a:t>
            </a:r>
          </a:p>
          <a:p>
            <a:pPr lvl="1" eaLnBrk="1" hangingPunct="1">
              <a:lnSpc>
                <a:spcPct val="90000"/>
              </a:lnSpc>
            </a:pPr>
            <a:r>
              <a:rPr lang="zh-CN" altLang="en-US" sz="2800" dirty="0"/>
              <a:t>航天器传感系统的陀螺仪也需要电子系统</a:t>
            </a:r>
          </a:p>
          <a:p>
            <a:pPr lvl="1" eaLnBrk="1" hangingPunct="1">
              <a:lnSpc>
                <a:spcPct val="90000"/>
              </a:lnSpc>
            </a:pPr>
            <a:r>
              <a:rPr lang="zh-CN" altLang="en-US" sz="2800" dirty="0"/>
              <a:t>都需要配备各自的控制中心单元</a:t>
            </a:r>
          </a:p>
          <a:p>
            <a:pPr eaLnBrk="1" hangingPunct="1">
              <a:lnSpc>
                <a:spcPct val="90000"/>
              </a:lnSpc>
            </a:pPr>
            <a:r>
              <a:rPr lang="zh-CN" altLang="en-US" sz="2800" dirty="0"/>
              <a:t>电气领域</a:t>
            </a:r>
          </a:p>
          <a:p>
            <a:pPr lvl="1" eaLnBrk="1" hangingPunct="1">
              <a:lnSpc>
                <a:spcPct val="90000"/>
              </a:lnSpc>
            </a:pPr>
            <a:r>
              <a:rPr lang="zh-CN" altLang="en-US" sz="2800" dirty="0"/>
              <a:t>电气领域需要控制系统、电子系统</a:t>
            </a:r>
          </a:p>
          <a:p>
            <a:pPr lvl="1" eaLnBrk="1" hangingPunct="1">
              <a:lnSpc>
                <a:spcPct val="90000"/>
              </a:lnSpc>
            </a:pPr>
            <a:r>
              <a:rPr lang="zh-CN" altLang="en-US" sz="2800" dirty="0"/>
              <a:t>也需要配备控制中心单元</a:t>
            </a:r>
          </a:p>
          <a:p>
            <a:pPr eaLnBrk="1" hangingPunct="1">
              <a:lnSpc>
                <a:spcPct val="90000"/>
              </a:lnSpc>
            </a:pPr>
            <a:r>
              <a:rPr lang="zh-CN" altLang="en-US" sz="2800" dirty="0"/>
              <a:t>传统</a:t>
            </a:r>
            <a:r>
              <a:rPr lang="en-US" altLang="zh-CN" sz="2800" dirty="0"/>
              <a:t>CPU</a:t>
            </a:r>
            <a:r>
              <a:rPr lang="zh-CN" altLang="en-US" sz="2800" dirty="0"/>
              <a:t>的应用 </a:t>
            </a:r>
            <a:r>
              <a:rPr lang="en-US" altLang="zh-CN" sz="2800" dirty="0"/>
              <a:t>8086\80386</a:t>
            </a:r>
            <a:r>
              <a:rPr lang="en-US" altLang="zh-CN" sz="2800" dirty="0">
                <a:latin typeface="Arial" panose="020B0604020202020204" pitchFamily="34" charset="0"/>
              </a:rPr>
              <a:t>——</a:t>
            </a:r>
            <a:r>
              <a:rPr lang="zh-CN" altLang="en-US" sz="2800" dirty="0"/>
              <a:t>汇编</a:t>
            </a:r>
            <a:r>
              <a:rPr lang="en-US" altLang="zh-CN" sz="2800" dirty="0"/>
              <a:t>/C</a:t>
            </a:r>
          </a:p>
          <a:p>
            <a:pPr eaLnBrk="1" hangingPunct="1">
              <a:lnSpc>
                <a:spcPct val="90000"/>
              </a:lnSpc>
            </a:pP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82947">
                                            <p:txEl>
                                              <p:pRg st="0" end="0"/>
                                            </p:txEl>
                                          </p:spTgt>
                                        </p:tgtEl>
                                        <p:attrNameLst>
                                          <p:attrName>style.visibility</p:attrName>
                                        </p:attrNameLst>
                                      </p:cBhvr>
                                      <p:to>
                                        <p:strVal val="visible"/>
                                      </p:to>
                                    </p:set>
                                    <p:anim calcmode="lin" valueType="num">
                                      <p:cBhvr additive="base">
                                        <p:cTn id="7" dur="500" fill="hold"/>
                                        <p:tgtEl>
                                          <p:spTgt spid="8294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8294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82947">
                                            <p:txEl>
                                              <p:pRg st="1" end="1"/>
                                            </p:txEl>
                                          </p:spTgt>
                                        </p:tgtEl>
                                        <p:attrNameLst>
                                          <p:attrName>style.visibility</p:attrName>
                                        </p:attrNameLst>
                                      </p:cBhvr>
                                      <p:to>
                                        <p:strVal val="visible"/>
                                      </p:to>
                                    </p:set>
                                    <p:anim calcmode="lin" valueType="num">
                                      <p:cBhvr additive="base">
                                        <p:cTn id="13" dur="500" fill="hold"/>
                                        <p:tgtEl>
                                          <p:spTgt spid="8294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8294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82947">
                                            <p:txEl>
                                              <p:pRg st="2" end="2"/>
                                            </p:txEl>
                                          </p:spTgt>
                                        </p:tgtEl>
                                        <p:attrNameLst>
                                          <p:attrName>style.visibility</p:attrName>
                                        </p:attrNameLst>
                                      </p:cBhvr>
                                      <p:to>
                                        <p:strVal val="visible"/>
                                      </p:to>
                                    </p:set>
                                    <p:anim calcmode="lin" valueType="num">
                                      <p:cBhvr additive="base">
                                        <p:cTn id="19" dur="500" fill="hold"/>
                                        <p:tgtEl>
                                          <p:spTgt spid="8294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8294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82947">
                                            <p:txEl>
                                              <p:pRg st="3" end="3"/>
                                            </p:txEl>
                                          </p:spTgt>
                                        </p:tgtEl>
                                        <p:attrNameLst>
                                          <p:attrName>style.visibility</p:attrName>
                                        </p:attrNameLst>
                                      </p:cBhvr>
                                      <p:to>
                                        <p:strVal val="visible"/>
                                      </p:to>
                                    </p:set>
                                    <p:anim calcmode="lin" valueType="num">
                                      <p:cBhvr additive="base">
                                        <p:cTn id="25" dur="500" fill="hold"/>
                                        <p:tgtEl>
                                          <p:spTgt spid="8294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8294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82947">
                                            <p:txEl>
                                              <p:pRg st="4" end="4"/>
                                            </p:txEl>
                                          </p:spTgt>
                                        </p:tgtEl>
                                        <p:attrNameLst>
                                          <p:attrName>style.visibility</p:attrName>
                                        </p:attrNameLst>
                                      </p:cBhvr>
                                      <p:to>
                                        <p:strVal val="visible"/>
                                      </p:to>
                                    </p:set>
                                    <p:anim calcmode="lin" valueType="num">
                                      <p:cBhvr additive="base">
                                        <p:cTn id="31" dur="500" fill="hold"/>
                                        <p:tgtEl>
                                          <p:spTgt spid="82947">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8294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82947">
                                            <p:txEl>
                                              <p:pRg st="5" end="5"/>
                                            </p:txEl>
                                          </p:spTgt>
                                        </p:tgtEl>
                                        <p:attrNameLst>
                                          <p:attrName>style.visibility</p:attrName>
                                        </p:attrNameLst>
                                      </p:cBhvr>
                                      <p:to>
                                        <p:strVal val="visible"/>
                                      </p:to>
                                    </p:set>
                                    <p:anim calcmode="lin" valueType="num">
                                      <p:cBhvr additive="base">
                                        <p:cTn id="37" dur="500" fill="hold"/>
                                        <p:tgtEl>
                                          <p:spTgt spid="82947">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82947">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nodeType="clickEffect">
                                  <p:stCondLst>
                                    <p:cond delay="0"/>
                                  </p:stCondLst>
                                  <p:childTnLst>
                                    <p:set>
                                      <p:cBhvr>
                                        <p:cTn id="42" dur="1" fill="hold">
                                          <p:stCondLst>
                                            <p:cond delay="0"/>
                                          </p:stCondLst>
                                        </p:cTn>
                                        <p:tgtEl>
                                          <p:spTgt spid="82947">
                                            <p:txEl>
                                              <p:pRg st="6" end="6"/>
                                            </p:txEl>
                                          </p:spTgt>
                                        </p:tgtEl>
                                        <p:attrNameLst>
                                          <p:attrName>style.visibility</p:attrName>
                                        </p:attrNameLst>
                                      </p:cBhvr>
                                      <p:to>
                                        <p:strVal val="visible"/>
                                      </p:to>
                                    </p:set>
                                    <p:anim calcmode="lin" valueType="num">
                                      <p:cBhvr additive="base">
                                        <p:cTn id="43" dur="500" fill="hold"/>
                                        <p:tgtEl>
                                          <p:spTgt spid="82947">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82947">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nodeType="clickEffect">
                                  <p:stCondLst>
                                    <p:cond delay="0"/>
                                  </p:stCondLst>
                                  <p:childTnLst>
                                    <p:set>
                                      <p:cBhvr>
                                        <p:cTn id="48" dur="1" fill="hold">
                                          <p:stCondLst>
                                            <p:cond delay="0"/>
                                          </p:stCondLst>
                                        </p:cTn>
                                        <p:tgtEl>
                                          <p:spTgt spid="82947">
                                            <p:txEl>
                                              <p:pRg st="7" end="7"/>
                                            </p:txEl>
                                          </p:spTgt>
                                        </p:tgtEl>
                                        <p:attrNameLst>
                                          <p:attrName>style.visibility</p:attrName>
                                        </p:attrNameLst>
                                      </p:cBhvr>
                                      <p:to>
                                        <p:strVal val="visible"/>
                                      </p:to>
                                    </p:set>
                                    <p:anim calcmode="lin" valueType="num">
                                      <p:cBhvr additive="base">
                                        <p:cTn id="49" dur="500" fill="hold"/>
                                        <p:tgtEl>
                                          <p:spTgt spid="82947">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82947">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6E02445C-5F82-47A8-AAEC-176EA3EC806C}"/>
              </a:ext>
            </a:extLst>
          </p:cNvPr>
          <p:cNvSpPr>
            <a:spLocks noGrp="1" noChangeArrowheads="1"/>
          </p:cNvSpPr>
          <p:nvPr>
            <p:ph type="title"/>
          </p:nvPr>
        </p:nvSpPr>
        <p:spPr/>
        <p:txBody>
          <a:bodyPr/>
          <a:lstStyle/>
          <a:p>
            <a:pPr eaLnBrk="1" hangingPunct="1"/>
            <a:r>
              <a:rPr lang="en-US" altLang="zh-CN"/>
              <a:t>C</a:t>
            </a:r>
            <a:r>
              <a:rPr lang="zh-CN" altLang="en-US"/>
              <a:t>语言是基础吗？</a:t>
            </a:r>
          </a:p>
        </p:txBody>
      </p:sp>
      <p:sp>
        <p:nvSpPr>
          <p:cNvPr id="17411" name="Rectangle 3">
            <a:extLst>
              <a:ext uri="{FF2B5EF4-FFF2-40B4-BE49-F238E27FC236}">
                <a16:creationId xmlns:a16="http://schemas.microsoft.com/office/drawing/2014/main" id="{311563BF-F9F5-4D11-8978-25127F47BA6B}"/>
              </a:ext>
            </a:extLst>
          </p:cNvPr>
          <p:cNvSpPr>
            <a:spLocks noGrp="1" noChangeArrowheads="1"/>
          </p:cNvSpPr>
          <p:nvPr>
            <p:ph type="body" idx="1"/>
          </p:nvPr>
        </p:nvSpPr>
        <p:spPr/>
        <p:txBody>
          <a:bodyPr/>
          <a:lstStyle/>
          <a:p>
            <a:pPr eaLnBrk="1" hangingPunct="1"/>
            <a:r>
              <a:rPr lang="en-US" altLang="zh-CN">
                <a:ea typeface="宋体" panose="02010600030101010101" pitchFamily="2" charset="-122"/>
              </a:rPr>
              <a:t>C</a:t>
            </a:r>
            <a:r>
              <a:rPr lang="zh-CN" altLang="en-US">
                <a:ea typeface="宋体" panose="02010600030101010101" pitchFamily="2" charset="-122"/>
              </a:rPr>
              <a:t>语言不是学编程的基础</a:t>
            </a:r>
          </a:p>
          <a:p>
            <a:pPr eaLnBrk="1" hangingPunct="1"/>
            <a:r>
              <a:rPr lang="en-US" altLang="zh-CN">
                <a:ea typeface="宋体" panose="02010600030101010101" pitchFamily="2" charset="-122"/>
              </a:rPr>
              <a:t>C</a:t>
            </a:r>
            <a:r>
              <a:rPr lang="zh-CN" altLang="en-US">
                <a:ea typeface="宋体" panose="02010600030101010101" pitchFamily="2" charset="-122"/>
              </a:rPr>
              <a:t>语言是计算机的基础</a:t>
            </a:r>
          </a:p>
          <a:p>
            <a:pPr lvl="1" eaLnBrk="1" hangingPunct="1"/>
            <a:r>
              <a:rPr lang="zh-CN" altLang="en-US">
                <a:ea typeface="宋体" panose="02010600030101010101" pitchFamily="2" charset="-122"/>
              </a:rPr>
              <a:t>最重要的软件，几乎都是</a:t>
            </a:r>
            <a:r>
              <a:rPr lang="en-US" altLang="zh-CN">
                <a:ea typeface="宋体" panose="02010600030101010101" pitchFamily="2" charset="-122"/>
              </a:rPr>
              <a:t>C</a:t>
            </a:r>
            <a:r>
              <a:rPr lang="zh-CN" altLang="en-US">
                <a:ea typeface="宋体" panose="02010600030101010101" pitchFamily="2" charset="-122"/>
              </a:rPr>
              <a:t>编的</a:t>
            </a:r>
          </a:p>
          <a:p>
            <a:pPr lvl="1" eaLnBrk="1" hangingPunct="1"/>
            <a:r>
              <a:rPr lang="zh-CN" altLang="en-US">
                <a:ea typeface="宋体" panose="02010600030101010101" pitchFamily="2" charset="-122"/>
              </a:rPr>
              <a:t>非</a:t>
            </a:r>
            <a:r>
              <a:rPr lang="en-US" altLang="zh-CN">
                <a:ea typeface="宋体" panose="02010600030101010101" pitchFamily="2" charset="-122"/>
              </a:rPr>
              <a:t>C</a:t>
            </a:r>
            <a:r>
              <a:rPr lang="zh-CN" altLang="en-US">
                <a:ea typeface="宋体" panose="02010600030101010101" pitchFamily="2" charset="-122"/>
              </a:rPr>
              <a:t>的语言，几乎都是直接或间接用</a:t>
            </a:r>
            <a:r>
              <a:rPr lang="en-US" altLang="zh-CN">
                <a:ea typeface="宋体" panose="02010600030101010101" pitchFamily="2" charset="-122"/>
              </a:rPr>
              <a:t>C</a:t>
            </a:r>
            <a:r>
              <a:rPr lang="zh-CN" altLang="en-US">
                <a:ea typeface="宋体" panose="02010600030101010101" pitchFamily="2" charset="-122"/>
              </a:rPr>
              <a:t>开发的，</a:t>
            </a:r>
            <a:r>
              <a:rPr lang="en-US" altLang="zh-CN">
                <a:ea typeface="宋体" panose="02010600030101010101" pitchFamily="2" charset="-122"/>
              </a:rPr>
              <a:t>C++</a:t>
            </a:r>
            <a:r>
              <a:rPr lang="zh-CN" altLang="en-US">
                <a:ea typeface="宋体" panose="02010600030101010101" pitchFamily="2" charset="-122"/>
              </a:rPr>
              <a:t>除外</a:t>
            </a:r>
          </a:p>
        </p:txBody>
      </p:sp>
      <p:sp>
        <p:nvSpPr>
          <p:cNvPr id="17412" name="Rectangle 4">
            <a:extLst>
              <a:ext uri="{FF2B5EF4-FFF2-40B4-BE49-F238E27FC236}">
                <a16:creationId xmlns:a16="http://schemas.microsoft.com/office/drawing/2014/main" id="{6F79E1F8-C664-4062-8EC8-CAD243700455}"/>
              </a:ext>
            </a:extLst>
          </p:cNvPr>
          <p:cNvSpPr>
            <a:spLocks noChangeArrowheads="1"/>
          </p:cNvSpPr>
          <p:nvPr/>
        </p:nvSpPr>
        <p:spPr bwMode="auto">
          <a:xfrm>
            <a:off x="825500" y="5394325"/>
            <a:ext cx="1511300" cy="914400"/>
          </a:xfrm>
          <a:prstGeom prst="rect">
            <a:avLst/>
          </a:prstGeom>
          <a:solidFill>
            <a:schemeClr val="accent1"/>
          </a:solidFill>
          <a:ln w="9525">
            <a:miter lim="800000"/>
            <a:headEnd/>
            <a:tailEnd/>
          </a:ln>
          <a:effectLst/>
          <a:scene3d>
            <a:camera prst="legacyPerspectiveTopLeft">
              <a:rot lat="0" lon="19799991" rev="0"/>
            </a:camera>
            <a:lightRig rig="legacyFlat3" dir="t"/>
          </a:scene3d>
          <a:sp3d extrusionH="887400" prstMaterial="legacyMatte">
            <a:bevelT w="13500" h="13500" prst="angle"/>
            <a:bevelB w="13500" h="13500" prst="angle"/>
            <a:extrusionClr>
              <a:schemeClr val="accent1"/>
            </a:extrusionClr>
            <a:contourClr>
              <a:schemeClr val="accent1"/>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楷体_GB2312" pitchFamily="49" charset="-122"/>
              </a:defRPr>
            </a:lvl9pPr>
          </a:lstStyle>
          <a:p>
            <a:pPr algn="ctr" eaLnBrk="1" hangingPunct="1">
              <a:spcBef>
                <a:spcPct val="0"/>
              </a:spcBef>
              <a:buClrTx/>
              <a:buSzTx/>
              <a:buFontTx/>
              <a:buNone/>
            </a:pPr>
            <a:r>
              <a:rPr lang="en-US" altLang="zh-CN" sz="7200" b="1" i="0">
                <a:latin typeface="Arial" panose="020B0604020202020204" pitchFamily="34" charset="0"/>
                <a:ea typeface="宋体" panose="02010600030101010101" pitchFamily="2" charset="-122"/>
              </a:rPr>
              <a:t>C</a:t>
            </a:r>
          </a:p>
        </p:txBody>
      </p:sp>
      <p:pic>
        <p:nvPicPr>
          <p:cNvPr id="17413" name="Picture 5" descr="J0285750">
            <a:extLst>
              <a:ext uri="{FF2B5EF4-FFF2-40B4-BE49-F238E27FC236}">
                <a16:creationId xmlns:a16="http://schemas.microsoft.com/office/drawing/2014/main" id="{DE71D02E-3D30-4FA5-B5CE-1AA7B4D763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250825" y="4314825"/>
            <a:ext cx="1824038"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709EE725-4F57-42ED-865A-56FF01CDFFF5}"/>
              </a:ext>
            </a:extLst>
          </p:cNvPr>
          <p:cNvSpPr>
            <a:spLocks noGrp="1" noChangeArrowheads="1"/>
          </p:cNvSpPr>
          <p:nvPr>
            <p:ph type="title"/>
          </p:nvPr>
        </p:nvSpPr>
        <p:spPr/>
        <p:txBody>
          <a:bodyPr/>
          <a:lstStyle/>
          <a:p>
            <a:pPr eaLnBrk="1" hangingPunct="1"/>
            <a:r>
              <a:rPr lang="en-US" altLang="zh-CN"/>
              <a:t>C</a:t>
            </a:r>
            <a:r>
              <a:rPr lang="zh-CN" altLang="en-US"/>
              <a:t>适合做什么事情？</a:t>
            </a:r>
          </a:p>
        </p:txBody>
      </p:sp>
      <p:sp>
        <p:nvSpPr>
          <p:cNvPr id="19459" name="Rectangle 3">
            <a:extLst>
              <a:ext uri="{FF2B5EF4-FFF2-40B4-BE49-F238E27FC236}">
                <a16:creationId xmlns:a16="http://schemas.microsoft.com/office/drawing/2014/main" id="{C7538350-20F1-4C4E-B890-7C5EEB90C31B}"/>
              </a:ext>
            </a:extLst>
          </p:cNvPr>
          <p:cNvSpPr>
            <a:spLocks noGrp="1" noChangeArrowheads="1"/>
          </p:cNvSpPr>
          <p:nvPr>
            <p:ph type="body" idx="1"/>
          </p:nvPr>
        </p:nvSpPr>
        <p:spPr>
          <a:xfrm>
            <a:off x="457200" y="1935163"/>
            <a:ext cx="8229600" cy="3726085"/>
          </a:xfrm>
        </p:spPr>
        <p:txBody>
          <a:bodyPr/>
          <a:lstStyle/>
          <a:p>
            <a:pPr eaLnBrk="1" hangingPunct="1">
              <a:lnSpc>
                <a:spcPct val="90000"/>
              </a:lnSpc>
            </a:pPr>
            <a:r>
              <a:rPr lang="en-US" altLang="zh-CN" sz="2800" dirty="0">
                <a:ea typeface="宋体" panose="02010600030101010101" pitchFamily="2" charset="-122"/>
              </a:rPr>
              <a:t>C</a:t>
            </a:r>
            <a:r>
              <a:rPr lang="zh-CN" altLang="en-US" sz="2800" dirty="0">
                <a:ea typeface="宋体" panose="02010600030101010101" pitchFamily="2" charset="-122"/>
              </a:rPr>
              <a:t>什么事情都可以做</a:t>
            </a:r>
          </a:p>
          <a:p>
            <a:pPr eaLnBrk="1" hangingPunct="1">
              <a:lnSpc>
                <a:spcPct val="90000"/>
              </a:lnSpc>
            </a:pPr>
            <a:r>
              <a:rPr lang="zh-CN" altLang="en-US" sz="2800" dirty="0">
                <a:ea typeface="宋体" panose="02010600030101010101" pitchFamily="2" charset="-122"/>
              </a:rPr>
              <a:t>受限环境和底层环境</a:t>
            </a:r>
          </a:p>
          <a:p>
            <a:pPr lvl="1" eaLnBrk="1" hangingPunct="1">
              <a:lnSpc>
                <a:spcPct val="90000"/>
              </a:lnSpc>
            </a:pPr>
            <a:r>
              <a:rPr lang="zh-CN" altLang="en-US" sz="2800" dirty="0">
                <a:ea typeface="宋体" panose="02010600030101010101" pitchFamily="2" charset="-122"/>
              </a:rPr>
              <a:t>对速度和内存消耗有苛刻要求</a:t>
            </a:r>
          </a:p>
          <a:p>
            <a:pPr lvl="1" eaLnBrk="1" hangingPunct="1">
              <a:lnSpc>
                <a:spcPct val="90000"/>
              </a:lnSpc>
            </a:pPr>
            <a:r>
              <a:rPr lang="zh-CN" altLang="en-US" sz="2800" dirty="0">
                <a:ea typeface="宋体" panose="02010600030101010101" pitchFamily="2" charset="-122"/>
              </a:rPr>
              <a:t>需要更直接地与硬件交互</a:t>
            </a:r>
          </a:p>
          <a:p>
            <a:pPr lvl="1" eaLnBrk="1" hangingPunct="1">
              <a:lnSpc>
                <a:spcPct val="90000"/>
              </a:lnSpc>
            </a:pPr>
            <a:r>
              <a:rPr lang="zh-CN" altLang="en-US" sz="2800" dirty="0">
                <a:ea typeface="宋体" panose="02010600030101010101" pitchFamily="2" charset="-122"/>
              </a:rPr>
              <a:t>系统级软件：操作系统等</a:t>
            </a:r>
          </a:p>
          <a:p>
            <a:pPr lvl="1" eaLnBrk="1" hangingPunct="1">
              <a:lnSpc>
                <a:spcPct val="90000"/>
              </a:lnSpc>
            </a:pPr>
            <a:r>
              <a:rPr lang="zh-CN" altLang="en-US" sz="2800" dirty="0">
                <a:ea typeface="宋体" panose="02010600030101010101" pitchFamily="2" charset="-122"/>
              </a:rPr>
              <a:t>嵌入式系统</a:t>
            </a:r>
          </a:p>
          <a:p>
            <a:pPr eaLnBrk="1" hangingPunct="1">
              <a:lnSpc>
                <a:spcPct val="90000"/>
              </a:lnSpc>
            </a:pPr>
            <a:r>
              <a:rPr lang="zh-CN" altLang="en-US" sz="2800" dirty="0">
                <a:ea typeface="宋体" panose="02010600030101010101" pitchFamily="2" charset="-122"/>
              </a:rPr>
              <a:t>不适合做大型、复杂、面向应用的系统</a:t>
            </a:r>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A2E40148-F4A5-4854-8D26-23F598C13780}"/>
              </a:ext>
            </a:extLst>
          </p:cNvPr>
          <p:cNvSpPr>
            <a:spLocks noGrp="1" noChangeArrowheads="1"/>
          </p:cNvSpPr>
          <p:nvPr>
            <p:ph type="title"/>
          </p:nvPr>
        </p:nvSpPr>
        <p:spPr>
          <a:xfrm>
            <a:off x="209797" y="77483"/>
            <a:ext cx="8229600" cy="1143000"/>
          </a:xfrm>
        </p:spPr>
        <p:txBody>
          <a:bodyPr/>
          <a:lstStyle/>
          <a:p>
            <a:pPr eaLnBrk="1" hangingPunct="1"/>
            <a:r>
              <a:rPr lang="zh-CN" altLang="en-US" dirty="0"/>
              <a:t>代码风格</a:t>
            </a:r>
          </a:p>
        </p:txBody>
      </p:sp>
      <p:sp>
        <p:nvSpPr>
          <p:cNvPr id="30723" name="Rectangle 3">
            <a:extLst>
              <a:ext uri="{FF2B5EF4-FFF2-40B4-BE49-F238E27FC236}">
                <a16:creationId xmlns:a16="http://schemas.microsoft.com/office/drawing/2014/main" id="{C0A3FA9E-3929-49EE-B38E-86824D7827A9}"/>
              </a:ext>
            </a:extLst>
          </p:cNvPr>
          <p:cNvSpPr>
            <a:spLocks noGrp="1" noChangeArrowheads="1"/>
          </p:cNvSpPr>
          <p:nvPr>
            <p:ph type="body" idx="1"/>
          </p:nvPr>
        </p:nvSpPr>
        <p:spPr>
          <a:xfrm>
            <a:off x="685800" y="1341438"/>
            <a:ext cx="7772400" cy="5111750"/>
          </a:xfrm>
        </p:spPr>
        <p:txBody>
          <a:bodyPr/>
          <a:lstStyle/>
          <a:p>
            <a:pPr eaLnBrk="1" hangingPunct="1">
              <a:lnSpc>
                <a:spcPct val="75000"/>
              </a:lnSpc>
              <a:buFont typeface="Wingdings" panose="05000000000000000000" pitchFamily="2" charset="2"/>
              <a:buNone/>
            </a:pPr>
            <a:r>
              <a:rPr lang="zh-CN" altLang="zh-CN" sz="2000" dirty="0">
                <a:solidFill>
                  <a:srgbClr val="0000FF"/>
                </a:solidFill>
                <a:latin typeface="Courier New" panose="02070309020205020404" pitchFamily="49" charset="0"/>
                <a:ea typeface="宋体" panose="02010600030101010101" pitchFamily="2" charset="-122"/>
                <a:cs typeface="Times New Roman" panose="02020603050405020304" pitchFamily="18" charset="0"/>
              </a:rPr>
              <a:t>#include</a:t>
            </a:r>
            <a:r>
              <a:rPr lang="zh-CN" altLang="zh-CN" sz="2000" dirty="0">
                <a:latin typeface="Courier New" panose="02070309020205020404" pitchFamily="49" charset="0"/>
                <a:ea typeface="宋体" panose="02010600030101010101" pitchFamily="2" charset="-122"/>
                <a:cs typeface="Times New Roman" panose="02020603050405020304" pitchFamily="18" charset="0"/>
              </a:rPr>
              <a:t> &lt;stdio.h&gt;</a:t>
            </a:r>
            <a:endParaRPr lang="en-US" altLang="zh-CN" sz="2000" dirty="0">
              <a:latin typeface="Courier New" panose="02070309020205020404" pitchFamily="49" charset="0"/>
              <a:ea typeface="宋体" panose="02010600030101010101" pitchFamily="2" charset="-122"/>
              <a:cs typeface="Times New Roman" panose="02020603050405020304" pitchFamily="18" charset="0"/>
            </a:endParaRPr>
          </a:p>
          <a:p>
            <a:pPr eaLnBrk="1" hangingPunct="1">
              <a:lnSpc>
                <a:spcPct val="75000"/>
              </a:lnSpc>
              <a:buFont typeface="Wingdings" panose="05000000000000000000" pitchFamily="2" charset="2"/>
              <a:buNone/>
            </a:pPr>
            <a:r>
              <a:rPr lang="zh-CN" altLang="zh-CN" sz="2000" dirty="0">
                <a:solidFill>
                  <a:srgbClr val="008800"/>
                </a:solidFill>
                <a:latin typeface="Courier New" panose="02070309020205020404" pitchFamily="49" charset="0"/>
                <a:ea typeface="宋体" panose="02010600030101010101" pitchFamily="2" charset="-122"/>
                <a:cs typeface="Times New Roman" panose="02020603050405020304" pitchFamily="18" charset="0"/>
              </a:rPr>
              <a:t>/* 对 fahr = 0, 20, ..., 300 </a:t>
            </a:r>
            <a:endParaRPr lang="en-US" altLang="zh-CN" sz="2000" dirty="0">
              <a:solidFill>
                <a:srgbClr val="008800"/>
              </a:solidFill>
              <a:latin typeface="Courier New" panose="02070309020205020404" pitchFamily="49" charset="0"/>
              <a:ea typeface="宋体" panose="02010600030101010101" pitchFamily="2" charset="-122"/>
              <a:cs typeface="Times New Roman" panose="02020603050405020304" pitchFamily="18" charset="0"/>
            </a:endParaRPr>
          </a:p>
          <a:p>
            <a:pPr eaLnBrk="1" hangingPunct="1">
              <a:lnSpc>
                <a:spcPct val="75000"/>
              </a:lnSpc>
              <a:buFont typeface="Wingdings" panose="05000000000000000000" pitchFamily="2" charset="2"/>
              <a:buNone/>
            </a:pPr>
            <a:r>
              <a:rPr lang="en-US" altLang="zh-CN" sz="2000" dirty="0">
                <a:solidFill>
                  <a:srgbClr val="008800"/>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sz="2000" dirty="0">
                <a:solidFill>
                  <a:srgbClr val="008800"/>
                </a:solidFill>
                <a:latin typeface="Courier New" panose="02070309020205020404" pitchFamily="49" charset="0"/>
                <a:ea typeface="宋体" panose="02010600030101010101" pitchFamily="2" charset="-122"/>
                <a:cs typeface="Times New Roman" panose="02020603050405020304" pitchFamily="18" charset="0"/>
              </a:rPr>
              <a:t>打印华氏温度与摄氏温度对照表 */</a:t>
            </a:r>
            <a:endParaRPr lang="en-US" altLang="zh-CN" sz="2000" dirty="0">
              <a:latin typeface="Courier New" panose="02070309020205020404" pitchFamily="49" charset="0"/>
              <a:ea typeface="宋体" panose="02010600030101010101" pitchFamily="2" charset="-122"/>
              <a:cs typeface="Times New Roman" panose="02020603050405020304" pitchFamily="18" charset="0"/>
            </a:endParaRPr>
          </a:p>
          <a:p>
            <a:pPr eaLnBrk="1" hangingPunct="1">
              <a:lnSpc>
                <a:spcPct val="75000"/>
              </a:lnSpc>
              <a:buFont typeface="Wingdings" panose="05000000000000000000" pitchFamily="2" charset="2"/>
              <a:buNone/>
            </a:pPr>
            <a:r>
              <a:rPr lang="zh-CN" altLang="zh-CN" sz="2000" dirty="0">
                <a:latin typeface="Courier New" panose="02070309020205020404" pitchFamily="49" charset="0"/>
                <a:ea typeface="宋体" panose="02010600030101010101" pitchFamily="2" charset="-122"/>
                <a:cs typeface="Times New Roman" panose="02020603050405020304" pitchFamily="18" charset="0"/>
              </a:rPr>
              <a:t>main()</a:t>
            </a:r>
            <a:endParaRPr lang="en-US" altLang="zh-CN" sz="2000" dirty="0">
              <a:latin typeface="Courier New" panose="02070309020205020404" pitchFamily="49" charset="0"/>
              <a:ea typeface="宋体" panose="02010600030101010101" pitchFamily="2" charset="-122"/>
              <a:cs typeface="Times New Roman" panose="02020603050405020304" pitchFamily="18" charset="0"/>
            </a:endParaRPr>
          </a:p>
          <a:p>
            <a:pPr eaLnBrk="1" hangingPunct="1">
              <a:lnSpc>
                <a:spcPct val="75000"/>
              </a:lnSpc>
              <a:buFont typeface="Wingdings" panose="05000000000000000000" pitchFamily="2" charset="2"/>
              <a:buNone/>
            </a:pPr>
            <a:r>
              <a:rPr lang="zh-CN" altLang="zh-CN" sz="2000" dirty="0">
                <a:latin typeface="Courier New" panose="02070309020205020404" pitchFamily="49" charset="0"/>
                <a:ea typeface="宋体" panose="02010600030101010101" pitchFamily="2" charset="-122"/>
                <a:cs typeface="Times New Roman" panose="02020603050405020304" pitchFamily="18" charset="0"/>
              </a:rPr>
              <a:t>{</a:t>
            </a:r>
            <a:r>
              <a:rPr lang="en-US" altLang="zh-CN" sz="2000" dirty="0">
                <a:solidFill>
                  <a:srgbClr val="0000FF"/>
                </a:solidFill>
                <a:latin typeface="Courier New" panose="02070309020205020404" pitchFamily="49" charset="0"/>
                <a:ea typeface="宋体" panose="02010600030101010101" pitchFamily="2" charset="-122"/>
                <a:cs typeface="Times New Roman" panose="02020603050405020304" pitchFamily="18" charset="0"/>
              </a:rPr>
              <a:t>	</a:t>
            </a:r>
          </a:p>
          <a:p>
            <a:pPr eaLnBrk="1" hangingPunct="1">
              <a:lnSpc>
                <a:spcPct val="75000"/>
              </a:lnSpc>
              <a:buFont typeface="Wingdings" panose="05000000000000000000" pitchFamily="2" charset="2"/>
              <a:buNone/>
            </a:pPr>
            <a:r>
              <a:rPr lang="en-US" altLang="zh-CN" sz="2000" dirty="0">
                <a:solidFill>
                  <a:srgbClr val="0000FF"/>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sz="2000" dirty="0">
                <a:solidFill>
                  <a:srgbClr val="0000FF"/>
                </a:solidFill>
                <a:latin typeface="Courier New" panose="02070309020205020404" pitchFamily="49" charset="0"/>
                <a:ea typeface="宋体" panose="02010600030101010101" pitchFamily="2" charset="-122"/>
                <a:cs typeface="Times New Roman" panose="02020603050405020304" pitchFamily="18" charset="0"/>
              </a:rPr>
              <a:t>int</a:t>
            </a:r>
            <a:r>
              <a:rPr lang="en-US" altLang="zh-CN" sz="2000" dirty="0">
                <a:solidFill>
                  <a:srgbClr val="0000FF"/>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sz="2000" dirty="0">
                <a:latin typeface="Courier New" panose="02070309020205020404" pitchFamily="49" charset="0"/>
                <a:ea typeface="宋体" panose="02010600030101010101" pitchFamily="2" charset="-122"/>
                <a:cs typeface="Times New Roman" panose="02020603050405020304" pitchFamily="18" charset="0"/>
              </a:rPr>
              <a:t>fahr, celsius;</a:t>
            </a:r>
            <a:endParaRPr lang="en-US" altLang="zh-CN" sz="2000" dirty="0">
              <a:latin typeface="Courier New" panose="02070309020205020404" pitchFamily="49" charset="0"/>
              <a:ea typeface="宋体" panose="02010600030101010101" pitchFamily="2" charset="-122"/>
              <a:cs typeface="Times New Roman" panose="02020603050405020304" pitchFamily="18" charset="0"/>
            </a:endParaRPr>
          </a:p>
          <a:p>
            <a:pPr eaLnBrk="1" hangingPunct="1">
              <a:lnSpc>
                <a:spcPct val="75000"/>
              </a:lnSpc>
              <a:buFont typeface="Wingdings" panose="05000000000000000000" pitchFamily="2" charset="2"/>
              <a:buNone/>
            </a:pPr>
            <a:r>
              <a:rPr lang="en-US" altLang="zh-CN" sz="2000" dirty="0">
                <a:solidFill>
                  <a:srgbClr val="0000FF"/>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sz="2000" dirty="0">
                <a:solidFill>
                  <a:srgbClr val="0000FF"/>
                </a:solidFill>
                <a:latin typeface="Courier New" panose="02070309020205020404" pitchFamily="49" charset="0"/>
                <a:ea typeface="宋体" panose="02010600030101010101" pitchFamily="2" charset="-122"/>
                <a:cs typeface="Times New Roman" panose="02020603050405020304" pitchFamily="18" charset="0"/>
              </a:rPr>
              <a:t>int</a:t>
            </a:r>
            <a:r>
              <a:rPr lang="en-US" altLang="zh-CN" sz="2000" dirty="0">
                <a:solidFill>
                  <a:srgbClr val="0000FF"/>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sz="2000" dirty="0">
                <a:latin typeface="Courier New" panose="02070309020205020404" pitchFamily="49" charset="0"/>
                <a:ea typeface="宋体" panose="02010600030101010101" pitchFamily="2" charset="-122"/>
                <a:cs typeface="Times New Roman" panose="02020603050405020304" pitchFamily="18" charset="0"/>
              </a:rPr>
              <a:t>lower, upper, step;</a:t>
            </a:r>
            <a:endParaRPr lang="en-US" altLang="zh-CN" sz="2000" dirty="0">
              <a:latin typeface="Courier New" panose="02070309020205020404" pitchFamily="49" charset="0"/>
              <a:ea typeface="宋体" panose="02010600030101010101" pitchFamily="2" charset="-122"/>
              <a:cs typeface="Times New Roman" panose="02020603050405020304" pitchFamily="18" charset="0"/>
            </a:endParaRPr>
          </a:p>
          <a:p>
            <a:pPr eaLnBrk="1" hangingPunct="1">
              <a:lnSpc>
                <a:spcPct val="75000"/>
              </a:lnSpc>
              <a:buFont typeface="Wingdings" panose="05000000000000000000" pitchFamily="2" charset="2"/>
              <a:buNone/>
            </a:pPr>
            <a:endParaRPr lang="en-US" altLang="zh-CN" sz="2000" dirty="0">
              <a:latin typeface="Courier New" panose="02070309020205020404" pitchFamily="49" charset="0"/>
              <a:ea typeface="宋体" panose="02010600030101010101" pitchFamily="2" charset="-122"/>
              <a:cs typeface="Times New Roman" panose="02020603050405020304" pitchFamily="18" charset="0"/>
            </a:endParaRPr>
          </a:p>
          <a:p>
            <a:pPr eaLnBrk="1" hangingPunct="1">
              <a:lnSpc>
                <a:spcPct val="75000"/>
              </a:lnSpc>
              <a:buFont typeface="Wingdings" panose="05000000000000000000" pitchFamily="2" charset="2"/>
              <a:buNone/>
            </a:pPr>
            <a:r>
              <a:rPr lang="en-US" altLang="zh-CN" sz="2000" dirty="0">
                <a:latin typeface="Courier New" panose="02070309020205020404" pitchFamily="49" charset="0"/>
                <a:ea typeface="宋体" panose="02010600030101010101" pitchFamily="2" charset="-122"/>
                <a:cs typeface="Times New Roman" panose="02020603050405020304" pitchFamily="18" charset="0"/>
              </a:rPr>
              <a:t>    </a:t>
            </a:r>
            <a:r>
              <a:rPr lang="zh-CN" altLang="zh-CN" sz="2000" dirty="0">
                <a:latin typeface="Courier New" panose="02070309020205020404" pitchFamily="49" charset="0"/>
                <a:ea typeface="宋体" panose="02010600030101010101" pitchFamily="2" charset="-122"/>
                <a:cs typeface="Times New Roman" panose="02020603050405020304" pitchFamily="18" charset="0"/>
              </a:rPr>
              <a:t>lower = 0;      </a:t>
            </a:r>
            <a:r>
              <a:rPr lang="zh-CN" altLang="zh-CN" sz="2000" dirty="0">
                <a:solidFill>
                  <a:srgbClr val="008800"/>
                </a:solidFill>
                <a:latin typeface="Courier New" panose="02070309020205020404" pitchFamily="49" charset="0"/>
                <a:ea typeface="宋体" panose="02010600030101010101" pitchFamily="2" charset="-122"/>
                <a:cs typeface="Times New Roman" panose="02020603050405020304" pitchFamily="18" charset="0"/>
              </a:rPr>
              <a:t>/* 温度表的下限 */</a:t>
            </a:r>
            <a:endParaRPr lang="en-US" altLang="zh-CN" sz="2000" dirty="0">
              <a:solidFill>
                <a:srgbClr val="008800"/>
              </a:solidFill>
              <a:latin typeface="Courier New" panose="02070309020205020404" pitchFamily="49" charset="0"/>
              <a:ea typeface="宋体" panose="02010600030101010101" pitchFamily="2" charset="-122"/>
              <a:cs typeface="Times New Roman" panose="02020603050405020304" pitchFamily="18" charset="0"/>
            </a:endParaRPr>
          </a:p>
          <a:p>
            <a:pPr eaLnBrk="1" hangingPunct="1">
              <a:lnSpc>
                <a:spcPct val="75000"/>
              </a:lnSpc>
              <a:buFont typeface="Wingdings" panose="05000000000000000000" pitchFamily="2" charset="2"/>
              <a:buNone/>
            </a:pPr>
            <a:r>
              <a:rPr lang="en-US" altLang="zh-CN" sz="2000" dirty="0">
                <a:latin typeface="Courier New" panose="02070309020205020404" pitchFamily="49" charset="0"/>
                <a:ea typeface="宋体" panose="02010600030101010101" pitchFamily="2" charset="-122"/>
                <a:cs typeface="Times New Roman" panose="02020603050405020304" pitchFamily="18" charset="0"/>
              </a:rPr>
              <a:t>    </a:t>
            </a:r>
            <a:r>
              <a:rPr lang="zh-CN" altLang="zh-CN" sz="2000" dirty="0">
                <a:latin typeface="Courier New" panose="02070309020205020404" pitchFamily="49" charset="0"/>
                <a:ea typeface="宋体" panose="02010600030101010101" pitchFamily="2" charset="-122"/>
                <a:cs typeface="Times New Roman" panose="02020603050405020304" pitchFamily="18" charset="0"/>
              </a:rPr>
              <a:t>upper = 300;  </a:t>
            </a:r>
            <a:r>
              <a:rPr lang="en-US" altLang="zh-CN" sz="2000" dirty="0">
                <a:latin typeface="Courier New" panose="02070309020205020404" pitchFamily="49" charset="0"/>
                <a:ea typeface="宋体" panose="02010600030101010101" pitchFamily="2" charset="-122"/>
                <a:cs typeface="Times New Roman" panose="02020603050405020304" pitchFamily="18" charset="0"/>
              </a:rPr>
              <a:t> </a:t>
            </a:r>
            <a:r>
              <a:rPr lang="zh-CN" altLang="zh-CN" sz="2000" dirty="0">
                <a:latin typeface="Courier New" panose="02070309020205020404" pitchFamily="49" charset="0"/>
                <a:ea typeface="宋体" panose="02010600030101010101" pitchFamily="2" charset="-122"/>
                <a:cs typeface="Times New Roman" panose="02020603050405020304" pitchFamily="18" charset="0"/>
              </a:rPr>
              <a:t> </a:t>
            </a:r>
            <a:r>
              <a:rPr lang="zh-CN" altLang="zh-CN" sz="2000" dirty="0">
                <a:solidFill>
                  <a:srgbClr val="008800"/>
                </a:solidFill>
                <a:latin typeface="Courier New" panose="02070309020205020404" pitchFamily="49" charset="0"/>
                <a:ea typeface="宋体" panose="02010600030101010101" pitchFamily="2" charset="-122"/>
                <a:cs typeface="Times New Roman" panose="02020603050405020304" pitchFamily="18" charset="0"/>
              </a:rPr>
              <a:t>/* 温度表的上限 */</a:t>
            </a:r>
            <a:endParaRPr lang="en-US" altLang="zh-CN" sz="2000" dirty="0">
              <a:solidFill>
                <a:srgbClr val="008800"/>
              </a:solidFill>
              <a:latin typeface="Courier New" panose="02070309020205020404" pitchFamily="49" charset="0"/>
              <a:ea typeface="宋体" panose="02010600030101010101" pitchFamily="2" charset="-122"/>
              <a:cs typeface="Times New Roman" panose="02020603050405020304" pitchFamily="18" charset="0"/>
            </a:endParaRPr>
          </a:p>
          <a:p>
            <a:pPr eaLnBrk="1" hangingPunct="1">
              <a:lnSpc>
                <a:spcPct val="75000"/>
              </a:lnSpc>
              <a:buFont typeface="Wingdings" panose="05000000000000000000" pitchFamily="2" charset="2"/>
              <a:buNone/>
            </a:pPr>
            <a:r>
              <a:rPr lang="en-US" altLang="zh-CN" sz="2000" dirty="0">
                <a:latin typeface="Courier New" panose="02070309020205020404" pitchFamily="49" charset="0"/>
                <a:ea typeface="宋体" panose="02010600030101010101" pitchFamily="2" charset="-122"/>
                <a:cs typeface="Times New Roman" panose="02020603050405020304" pitchFamily="18" charset="0"/>
              </a:rPr>
              <a:t>    </a:t>
            </a:r>
            <a:r>
              <a:rPr lang="zh-CN" altLang="zh-CN" sz="2000" dirty="0">
                <a:latin typeface="Courier New" panose="02070309020205020404" pitchFamily="49" charset="0"/>
                <a:ea typeface="宋体" panose="02010600030101010101" pitchFamily="2" charset="-122"/>
                <a:cs typeface="Times New Roman" panose="02020603050405020304" pitchFamily="18" charset="0"/>
              </a:rPr>
              <a:t>step  = 20;     </a:t>
            </a:r>
            <a:r>
              <a:rPr lang="zh-CN" altLang="zh-CN" sz="2000" dirty="0">
                <a:solidFill>
                  <a:srgbClr val="008800"/>
                </a:solidFill>
                <a:latin typeface="Courier New" panose="02070309020205020404" pitchFamily="49" charset="0"/>
                <a:ea typeface="宋体" panose="02010600030101010101" pitchFamily="2" charset="-122"/>
                <a:cs typeface="Times New Roman" panose="02020603050405020304" pitchFamily="18" charset="0"/>
              </a:rPr>
              <a:t>/* 步长 */</a:t>
            </a:r>
            <a:endParaRPr lang="en-US" altLang="zh-CN" sz="2000" dirty="0">
              <a:solidFill>
                <a:srgbClr val="008800"/>
              </a:solidFill>
              <a:latin typeface="Courier New" panose="02070309020205020404" pitchFamily="49" charset="0"/>
              <a:ea typeface="宋体" panose="02010600030101010101" pitchFamily="2" charset="-122"/>
              <a:cs typeface="Times New Roman" panose="02020603050405020304" pitchFamily="18" charset="0"/>
            </a:endParaRPr>
          </a:p>
          <a:p>
            <a:pPr eaLnBrk="1" hangingPunct="1">
              <a:lnSpc>
                <a:spcPct val="75000"/>
              </a:lnSpc>
              <a:buFont typeface="Wingdings" panose="05000000000000000000" pitchFamily="2" charset="2"/>
              <a:buNone/>
            </a:pPr>
            <a:r>
              <a:rPr lang="en-US" altLang="zh-CN" sz="2000" dirty="0">
                <a:latin typeface="Courier New" panose="02070309020205020404" pitchFamily="49" charset="0"/>
                <a:ea typeface="宋体" panose="02010600030101010101" pitchFamily="2" charset="-122"/>
                <a:cs typeface="Times New Roman" panose="02020603050405020304" pitchFamily="18" charset="0"/>
              </a:rPr>
              <a:t>    </a:t>
            </a:r>
            <a:r>
              <a:rPr lang="zh-CN" altLang="zh-CN" sz="2000" dirty="0">
                <a:latin typeface="Courier New" panose="02070309020205020404" pitchFamily="49" charset="0"/>
                <a:ea typeface="宋体" panose="02010600030101010101" pitchFamily="2" charset="-122"/>
                <a:cs typeface="Times New Roman" panose="02020603050405020304" pitchFamily="18" charset="0"/>
              </a:rPr>
              <a:t>fahr</a:t>
            </a:r>
            <a:r>
              <a:rPr lang="en-US" altLang="zh-CN" sz="2000" dirty="0">
                <a:latin typeface="Courier New" panose="02070309020205020404" pitchFamily="49" charset="0"/>
                <a:ea typeface="宋体" panose="02010600030101010101" pitchFamily="2" charset="-122"/>
                <a:cs typeface="Times New Roman" panose="02020603050405020304" pitchFamily="18" charset="0"/>
              </a:rPr>
              <a:t> </a:t>
            </a:r>
            <a:r>
              <a:rPr lang="zh-CN" altLang="zh-CN" sz="2000" dirty="0">
                <a:latin typeface="Courier New" panose="02070309020205020404" pitchFamily="49" charset="0"/>
                <a:ea typeface="宋体" panose="02010600030101010101" pitchFamily="2" charset="-122"/>
                <a:cs typeface="Times New Roman" panose="02020603050405020304" pitchFamily="18" charset="0"/>
              </a:rPr>
              <a:t> = lower;</a:t>
            </a:r>
            <a:endParaRPr lang="en-US" altLang="zh-CN" sz="2000" dirty="0">
              <a:latin typeface="Courier New" panose="02070309020205020404" pitchFamily="49" charset="0"/>
              <a:ea typeface="宋体" panose="02010600030101010101" pitchFamily="2" charset="-122"/>
              <a:cs typeface="Times New Roman" panose="02020603050405020304" pitchFamily="18" charset="0"/>
            </a:endParaRPr>
          </a:p>
          <a:p>
            <a:pPr eaLnBrk="1" hangingPunct="1">
              <a:lnSpc>
                <a:spcPct val="75000"/>
              </a:lnSpc>
              <a:buFont typeface="Wingdings" panose="05000000000000000000" pitchFamily="2" charset="2"/>
              <a:buNone/>
            </a:pPr>
            <a:endParaRPr lang="en-US" altLang="zh-CN" sz="2000" dirty="0">
              <a:latin typeface="Courier New" panose="02070309020205020404" pitchFamily="49" charset="0"/>
              <a:ea typeface="宋体" panose="02010600030101010101" pitchFamily="2" charset="-122"/>
              <a:cs typeface="Times New Roman" panose="02020603050405020304" pitchFamily="18" charset="0"/>
            </a:endParaRPr>
          </a:p>
          <a:p>
            <a:pPr eaLnBrk="1" hangingPunct="1">
              <a:lnSpc>
                <a:spcPct val="75000"/>
              </a:lnSpc>
              <a:buFont typeface="Wingdings" panose="05000000000000000000" pitchFamily="2" charset="2"/>
              <a:buNone/>
            </a:pPr>
            <a:r>
              <a:rPr lang="en-US" altLang="zh-CN" sz="2000" dirty="0">
                <a:solidFill>
                  <a:srgbClr val="0000FF"/>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sz="2000" dirty="0">
                <a:solidFill>
                  <a:srgbClr val="0000FF"/>
                </a:solidFill>
                <a:latin typeface="Courier New" panose="02070309020205020404" pitchFamily="49" charset="0"/>
                <a:ea typeface="宋体" panose="02010600030101010101" pitchFamily="2" charset="-122"/>
                <a:cs typeface="Times New Roman" panose="02020603050405020304" pitchFamily="18" charset="0"/>
              </a:rPr>
              <a:t>while</a:t>
            </a:r>
            <a:r>
              <a:rPr lang="zh-CN" altLang="zh-CN" sz="2000" dirty="0">
                <a:latin typeface="Courier New" panose="02070309020205020404" pitchFamily="49" charset="0"/>
                <a:ea typeface="宋体" panose="02010600030101010101" pitchFamily="2" charset="-122"/>
                <a:cs typeface="Times New Roman" panose="02020603050405020304" pitchFamily="18" charset="0"/>
              </a:rPr>
              <a:t> (fahr &lt;= upper) {</a:t>
            </a:r>
            <a:endParaRPr lang="en-US" altLang="zh-CN" sz="2000" dirty="0">
              <a:latin typeface="Courier New" panose="02070309020205020404" pitchFamily="49" charset="0"/>
              <a:ea typeface="宋体" panose="02010600030101010101" pitchFamily="2" charset="-122"/>
              <a:cs typeface="Times New Roman" panose="02020603050405020304" pitchFamily="18" charset="0"/>
            </a:endParaRPr>
          </a:p>
          <a:p>
            <a:pPr eaLnBrk="1" hangingPunct="1">
              <a:lnSpc>
                <a:spcPct val="75000"/>
              </a:lnSpc>
              <a:buFont typeface="Wingdings" panose="05000000000000000000" pitchFamily="2" charset="2"/>
              <a:buNone/>
            </a:pPr>
            <a:r>
              <a:rPr lang="en-US" altLang="zh-CN" sz="2000" dirty="0">
                <a:latin typeface="Courier New" panose="02070309020205020404" pitchFamily="49" charset="0"/>
                <a:ea typeface="宋体" panose="02010600030101010101" pitchFamily="2" charset="-122"/>
                <a:cs typeface="Times New Roman" panose="02020603050405020304" pitchFamily="18" charset="0"/>
              </a:rPr>
              <a:t>        </a:t>
            </a:r>
            <a:r>
              <a:rPr lang="zh-CN" altLang="zh-CN" sz="2000" dirty="0">
                <a:latin typeface="Courier New" panose="02070309020205020404" pitchFamily="49" charset="0"/>
                <a:ea typeface="宋体" panose="02010600030101010101" pitchFamily="2" charset="-122"/>
                <a:cs typeface="Times New Roman" panose="02020603050405020304" pitchFamily="18" charset="0"/>
              </a:rPr>
              <a:t>celsius = 5 * (fahr-32) / 9;</a:t>
            </a:r>
            <a:endParaRPr lang="en-US" altLang="zh-CN" sz="2000" dirty="0">
              <a:latin typeface="Courier New" panose="02070309020205020404" pitchFamily="49" charset="0"/>
              <a:ea typeface="宋体" panose="02010600030101010101" pitchFamily="2" charset="-122"/>
              <a:cs typeface="Times New Roman" panose="02020603050405020304" pitchFamily="18" charset="0"/>
            </a:endParaRPr>
          </a:p>
          <a:p>
            <a:pPr eaLnBrk="1" hangingPunct="1">
              <a:lnSpc>
                <a:spcPct val="75000"/>
              </a:lnSpc>
              <a:buFont typeface="Wingdings" panose="05000000000000000000" pitchFamily="2" charset="2"/>
              <a:buNone/>
            </a:pPr>
            <a:r>
              <a:rPr lang="en-US" altLang="zh-CN" sz="2000" dirty="0">
                <a:latin typeface="Courier New" panose="02070309020205020404" pitchFamily="49" charset="0"/>
                <a:ea typeface="宋体" panose="02010600030101010101" pitchFamily="2" charset="-122"/>
                <a:cs typeface="Times New Roman" panose="02020603050405020304" pitchFamily="18" charset="0"/>
              </a:rPr>
              <a:t>        </a:t>
            </a:r>
            <a:r>
              <a:rPr lang="zh-CN" altLang="zh-CN" sz="2000" dirty="0">
                <a:latin typeface="Courier New" panose="02070309020205020404" pitchFamily="49" charset="0"/>
                <a:ea typeface="宋体" panose="02010600030101010101" pitchFamily="2" charset="-122"/>
                <a:cs typeface="Times New Roman" panose="02020603050405020304" pitchFamily="18" charset="0"/>
              </a:rPr>
              <a:t>printf(</a:t>
            </a:r>
            <a:r>
              <a:rPr lang="en-US" altLang="zh-CN" sz="2000" dirty="0">
                <a:latin typeface="Courier New" panose="02070309020205020404" pitchFamily="49" charset="0"/>
                <a:ea typeface="宋体" panose="02010600030101010101" pitchFamily="2" charset="-122"/>
                <a:cs typeface="Times New Roman" panose="02020603050405020304" pitchFamily="18" charset="0"/>
              </a:rPr>
              <a:t>"</a:t>
            </a:r>
            <a:r>
              <a:rPr lang="zh-CN" altLang="zh-CN" sz="2000" dirty="0">
                <a:latin typeface="Courier New" panose="02070309020205020404" pitchFamily="49" charset="0"/>
                <a:ea typeface="宋体" panose="02010600030101010101" pitchFamily="2" charset="-122"/>
                <a:cs typeface="Times New Roman" panose="02020603050405020304" pitchFamily="18" charset="0"/>
              </a:rPr>
              <a:t>%d\t%d\n</a:t>
            </a:r>
            <a:r>
              <a:rPr lang="en-US" altLang="zh-CN" sz="2000" dirty="0">
                <a:latin typeface="Courier New" panose="02070309020205020404" pitchFamily="49" charset="0"/>
                <a:ea typeface="宋体" panose="02010600030101010101" pitchFamily="2" charset="-122"/>
                <a:cs typeface="Times New Roman" panose="02020603050405020304" pitchFamily="18" charset="0"/>
              </a:rPr>
              <a:t>"</a:t>
            </a:r>
            <a:r>
              <a:rPr lang="zh-CN" altLang="zh-CN" sz="2000" dirty="0">
                <a:latin typeface="Courier New" panose="02070309020205020404" pitchFamily="49" charset="0"/>
                <a:ea typeface="宋体" panose="02010600030101010101" pitchFamily="2" charset="-122"/>
                <a:cs typeface="Times New Roman" panose="02020603050405020304" pitchFamily="18" charset="0"/>
              </a:rPr>
              <a:t>, fahr, celsius);</a:t>
            </a:r>
            <a:endParaRPr lang="en-US" altLang="zh-CN" sz="2000" dirty="0">
              <a:latin typeface="Courier New" panose="02070309020205020404" pitchFamily="49" charset="0"/>
              <a:ea typeface="宋体" panose="02010600030101010101" pitchFamily="2" charset="-122"/>
              <a:cs typeface="Times New Roman" panose="02020603050405020304" pitchFamily="18" charset="0"/>
            </a:endParaRPr>
          </a:p>
          <a:p>
            <a:pPr eaLnBrk="1" hangingPunct="1">
              <a:lnSpc>
                <a:spcPct val="75000"/>
              </a:lnSpc>
              <a:buFont typeface="Wingdings" panose="05000000000000000000" pitchFamily="2" charset="2"/>
              <a:buNone/>
            </a:pPr>
            <a:r>
              <a:rPr lang="en-US" altLang="zh-CN" sz="2000" dirty="0">
                <a:latin typeface="Courier New" panose="02070309020205020404" pitchFamily="49" charset="0"/>
                <a:ea typeface="宋体" panose="02010600030101010101" pitchFamily="2" charset="-122"/>
                <a:cs typeface="Times New Roman" panose="02020603050405020304" pitchFamily="18" charset="0"/>
              </a:rPr>
              <a:t>        </a:t>
            </a:r>
            <a:r>
              <a:rPr lang="zh-CN" altLang="zh-CN" sz="2000" dirty="0">
                <a:latin typeface="Courier New" panose="02070309020205020404" pitchFamily="49" charset="0"/>
                <a:ea typeface="宋体" panose="02010600030101010101" pitchFamily="2" charset="-122"/>
                <a:cs typeface="Times New Roman" panose="02020603050405020304" pitchFamily="18" charset="0"/>
              </a:rPr>
              <a:t>fahr = fahr + step;</a:t>
            </a:r>
            <a:endParaRPr lang="en-US" altLang="zh-CN" sz="2000" dirty="0">
              <a:latin typeface="Courier New" panose="02070309020205020404" pitchFamily="49" charset="0"/>
              <a:ea typeface="宋体" panose="02010600030101010101" pitchFamily="2" charset="-122"/>
              <a:cs typeface="Times New Roman" panose="02020603050405020304" pitchFamily="18" charset="0"/>
            </a:endParaRPr>
          </a:p>
          <a:p>
            <a:pPr eaLnBrk="1" hangingPunct="1">
              <a:lnSpc>
                <a:spcPct val="75000"/>
              </a:lnSpc>
              <a:buFont typeface="Wingdings" panose="05000000000000000000" pitchFamily="2" charset="2"/>
              <a:buNone/>
            </a:pPr>
            <a:r>
              <a:rPr lang="en-US" altLang="zh-CN" sz="2000" dirty="0">
                <a:latin typeface="Courier New" panose="02070309020205020404" pitchFamily="49" charset="0"/>
                <a:ea typeface="宋体" panose="02010600030101010101" pitchFamily="2" charset="-122"/>
                <a:cs typeface="Times New Roman" panose="02020603050405020304" pitchFamily="18" charset="0"/>
              </a:rPr>
              <a:t>    </a:t>
            </a:r>
            <a:r>
              <a:rPr lang="zh-CN" altLang="zh-CN" sz="2000" dirty="0">
                <a:latin typeface="Courier New" panose="02070309020205020404" pitchFamily="49" charset="0"/>
                <a:ea typeface="宋体" panose="02010600030101010101" pitchFamily="2" charset="-122"/>
                <a:cs typeface="Times New Roman" panose="02020603050405020304" pitchFamily="18" charset="0"/>
              </a:rPr>
              <a:t>}</a:t>
            </a:r>
            <a:endParaRPr lang="en-US" altLang="zh-CN" sz="2000" dirty="0">
              <a:latin typeface="Courier New" panose="02070309020205020404" pitchFamily="49" charset="0"/>
              <a:ea typeface="宋体" panose="02010600030101010101" pitchFamily="2" charset="-122"/>
              <a:cs typeface="Times New Roman" panose="02020603050405020304" pitchFamily="18" charset="0"/>
            </a:endParaRPr>
          </a:p>
          <a:p>
            <a:pPr eaLnBrk="1" hangingPunct="1">
              <a:lnSpc>
                <a:spcPct val="75000"/>
              </a:lnSpc>
              <a:buFont typeface="Wingdings" panose="05000000000000000000" pitchFamily="2" charset="2"/>
              <a:buNone/>
            </a:pPr>
            <a:r>
              <a:rPr lang="zh-CN" altLang="zh-CN" sz="2000" dirty="0">
                <a:latin typeface="Courier New" panose="02070309020205020404" pitchFamily="49" charset="0"/>
                <a:ea typeface="宋体" panose="02010600030101010101" pitchFamily="2" charset="-122"/>
                <a:cs typeface="Times New Roman" panose="02020603050405020304" pitchFamily="18" charset="0"/>
              </a:rPr>
              <a:t>}</a:t>
            </a:r>
            <a:endParaRPr lang="en-US" altLang="zh-CN" sz="2000" dirty="0">
              <a:latin typeface="Courier New" panose="02070309020205020404" pitchFamily="49" charset="0"/>
              <a:ea typeface="宋体" panose="02010600030101010101" pitchFamily="2" charset="-122"/>
              <a:cs typeface="Times New Roman" panose="02020603050405020304" pitchFamily="18" charset="0"/>
            </a:endParaRPr>
          </a:p>
        </p:txBody>
      </p:sp>
      <p:sp>
        <p:nvSpPr>
          <p:cNvPr id="78852" name="Rectangle 4">
            <a:extLst>
              <a:ext uri="{FF2B5EF4-FFF2-40B4-BE49-F238E27FC236}">
                <a16:creationId xmlns:a16="http://schemas.microsoft.com/office/drawing/2014/main" id="{0852D56A-D9F1-42B0-B6C8-170AF56388A4}"/>
              </a:ext>
            </a:extLst>
          </p:cNvPr>
          <p:cNvSpPr>
            <a:spLocks noChangeArrowheads="1"/>
          </p:cNvSpPr>
          <p:nvPr/>
        </p:nvSpPr>
        <p:spPr bwMode="auto">
          <a:xfrm>
            <a:off x="755650" y="2852738"/>
            <a:ext cx="563563" cy="3744912"/>
          </a:xfrm>
          <a:prstGeom prst="rect">
            <a:avLst/>
          </a:prstGeom>
          <a:noFill/>
          <a:ln w="28575">
            <a:solidFill>
              <a:srgbClr val="FF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zh-CN" sz="2400" i="0">
              <a:effectLst>
                <a:outerShdw blurRad="38100" dist="38100" dir="2700000" algn="tl">
                  <a:srgbClr val="C0C0C0"/>
                </a:outerShdw>
              </a:effectLst>
              <a:latin typeface="Times New Roman" pitchFamily="18" charset="0"/>
              <a:ea typeface="宋体" charset="-122"/>
            </a:endParaRPr>
          </a:p>
        </p:txBody>
      </p:sp>
      <p:sp>
        <p:nvSpPr>
          <p:cNvPr id="78853" name="Rectangle 5">
            <a:extLst>
              <a:ext uri="{FF2B5EF4-FFF2-40B4-BE49-F238E27FC236}">
                <a16:creationId xmlns:a16="http://schemas.microsoft.com/office/drawing/2014/main" id="{E747A411-DE07-4BCF-A121-03ED8CCBE37D}"/>
              </a:ext>
            </a:extLst>
          </p:cNvPr>
          <p:cNvSpPr>
            <a:spLocks noChangeArrowheads="1"/>
          </p:cNvSpPr>
          <p:nvPr/>
        </p:nvSpPr>
        <p:spPr bwMode="auto">
          <a:xfrm>
            <a:off x="1331913" y="5445125"/>
            <a:ext cx="503237" cy="792163"/>
          </a:xfrm>
          <a:prstGeom prst="rect">
            <a:avLst/>
          </a:prstGeom>
          <a:noFill/>
          <a:ln w="28575">
            <a:solidFill>
              <a:srgbClr val="FF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zh-CN" sz="2400" i="0">
              <a:effectLst>
                <a:outerShdw blurRad="38100" dist="38100" dir="2700000" algn="tl">
                  <a:srgbClr val="C0C0C0"/>
                </a:outerShdw>
              </a:effectLst>
              <a:latin typeface="Times New Roman" pitchFamily="18" charset="0"/>
              <a:ea typeface="宋体" charset="-122"/>
            </a:endParaRPr>
          </a:p>
        </p:txBody>
      </p:sp>
      <p:sp>
        <p:nvSpPr>
          <p:cNvPr id="78854" name="Rectangle 6">
            <a:extLst>
              <a:ext uri="{FF2B5EF4-FFF2-40B4-BE49-F238E27FC236}">
                <a16:creationId xmlns:a16="http://schemas.microsoft.com/office/drawing/2014/main" id="{3E062A8E-5556-420E-A485-97E0C6FC6B81}"/>
              </a:ext>
            </a:extLst>
          </p:cNvPr>
          <p:cNvSpPr>
            <a:spLocks noChangeArrowheads="1"/>
          </p:cNvSpPr>
          <p:nvPr/>
        </p:nvSpPr>
        <p:spPr bwMode="auto">
          <a:xfrm>
            <a:off x="828675" y="1628775"/>
            <a:ext cx="4103688" cy="576263"/>
          </a:xfrm>
          <a:prstGeom prst="rect">
            <a:avLst/>
          </a:prstGeom>
          <a:noFill/>
          <a:ln w="28575">
            <a:solidFill>
              <a:srgbClr val="FF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zh-CN" sz="2400" i="0">
              <a:effectLst>
                <a:outerShdw blurRad="38100" dist="38100" dir="2700000" algn="tl">
                  <a:srgbClr val="C0C0C0"/>
                </a:outerShdw>
              </a:effectLst>
              <a:latin typeface="Times New Roman" pitchFamily="18" charset="0"/>
              <a:ea typeface="宋体" charset="-122"/>
            </a:endParaRPr>
          </a:p>
        </p:txBody>
      </p:sp>
      <p:sp>
        <p:nvSpPr>
          <p:cNvPr id="78855" name="Rectangle 7">
            <a:extLst>
              <a:ext uri="{FF2B5EF4-FFF2-40B4-BE49-F238E27FC236}">
                <a16:creationId xmlns:a16="http://schemas.microsoft.com/office/drawing/2014/main" id="{3C1BDF92-044E-4EB2-A74A-6D4F4CEC4188}"/>
              </a:ext>
            </a:extLst>
          </p:cNvPr>
          <p:cNvSpPr>
            <a:spLocks noChangeArrowheads="1"/>
          </p:cNvSpPr>
          <p:nvPr/>
        </p:nvSpPr>
        <p:spPr bwMode="auto">
          <a:xfrm>
            <a:off x="3779838" y="3644900"/>
            <a:ext cx="2447925" cy="792163"/>
          </a:xfrm>
          <a:prstGeom prst="rect">
            <a:avLst/>
          </a:prstGeom>
          <a:noFill/>
          <a:ln w="28575">
            <a:solidFill>
              <a:srgbClr val="FF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zh-CN" sz="2400" i="0">
              <a:effectLst>
                <a:outerShdw blurRad="38100" dist="38100" dir="2700000" algn="tl">
                  <a:srgbClr val="C0C0C0"/>
                </a:outerShdw>
              </a:effectLst>
              <a:latin typeface="Times New Roman" pitchFamily="18" charset="0"/>
              <a:ea typeface="宋体" charset="-122"/>
            </a:endParaRPr>
          </a:p>
        </p:txBody>
      </p:sp>
      <p:sp>
        <p:nvSpPr>
          <p:cNvPr id="78856" name="Rectangle 8">
            <a:extLst>
              <a:ext uri="{FF2B5EF4-FFF2-40B4-BE49-F238E27FC236}">
                <a16:creationId xmlns:a16="http://schemas.microsoft.com/office/drawing/2014/main" id="{F9C51E09-E8EF-43F2-9CD1-F03DF15492B0}"/>
              </a:ext>
            </a:extLst>
          </p:cNvPr>
          <p:cNvSpPr>
            <a:spLocks noChangeArrowheads="1"/>
          </p:cNvSpPr>
          <p:nvPr/>
        </p:nvSpPr>
        <p:spPr bwMode="auto">
          <a:xfrm>
            <a:off x="1331913" y="3357563"/>
            <a:ext cx="5545137" cy="287337"/>
          </a:xfrm>
          <a:prstGeom prst="rect">
            <a:avLst/>
          </a:prstGeom>
          <a:noFill/>
          <a:ln w="28575">
            <a:solidFill>
              <a:srgbClr val="FF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zh-CN" sz="2400" i="0">
              <a:effectLst>
                <a:outerShdw blurRad="38100" dist="38100" dir="2700000" algn="tl">
                  <a:srgbClr val="C0C0C0"/>
                </a:outerShdw>
              </a:effectLst>
              <a:latin typeface="Times New Roman" pitchFamily="18" charset="0"/>
              <a:ea typeface="宋体" charset="-122"/>
            </a:endParaRPr>
          </a:p>
        </p:txBody>
      </p:sp>
      <p:sp>
        <p:nvSpPr>
          <p:cNvPr id="78857" name="Rectangle 9">
            <a:extLst>
              <a:ext uri="{FF2B5EF4-FFF2-40B4-BE49-F238E27FC236}">
                <a16:creationId xmlns:a16="http://schemas.microsoft.com/office/drawing/2014/main" id="{DA2D89D6-3B27-4B17-AD96-4FB19A2EC166}"/>
              </a:ext>
            </a:extLst>
          </p:cNvPr>
          <p:cNvSpPr>
            <a:spLocks noChangeArrowheads="1"/>
          </p:cNvSpPr>
          <p:nvPr/>
        </p:nvSpPr>
        <p:spPr bwMode="auto">
          <a:xfrm>
            <a:off x="1331913" y="4795838"/>
            <a:ext cx="5545137" cy="288925"/>
          </a:xfrm>
          <a:prstGeom prst="rect">
            <a:avLst/>
          </a:prstGeom>
          <a:noFill/>
          <a:ln w="28575">
            <a:solidFill>
              <a:srgbClr val="FF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zh-CN" sz="2400" i="0">
              <a:effectLst>
                <a:outerShdw blurRad="38100" dist="38100" dir="2700000" algn="tl">
                  <a:srgbClr val="C0C0C0"/>
                </a:outerShdw>
              </a:effectLst>
              <a:latin typeface="Times New Roman" pitchFamily="18" charset="0"/>
              <a:ea typeface="宋体" charset="-122"/>
            </a:endParaRPr>
          </a:p>
        </p:txBody>
      </p:sp>
      <p:sp>
        <p:nvSpPr>
          <p:cNvPr id="78858" name="Rectangle 10">
            <a:extLst>
              <a:ext uri="{FF2B5EF4-FFF2-40B4-BE49-F238E27FC236}">
                <a16:creationId xmlns:a16="http://schemas.microsoft.com/office/drawing/2014/main" id="{2D318EAB-E66C-4219-809F-22739ECD10D9}"/>
              </a:ext>
            </a:extLst>
          </p:cNvPr>
          <p:cNvSpPr>
            <a:spLocks noChangeArrowheads="1"/>
          </p:cNvSpPr>
          <p:nvPr/>
        </p:nvSpPr>
        <p:spPr bwMode="auto">
          <a:xfrm>
            <a:off x="2087563" y="2781300"/>
            <a:ext cx="2268537" cy="287338"/>
          </a:xfrm>
          <a:prstGeom prst="rect">
            <a:avLst/>
          </a:prstGeom>
          <a:noFill/>
          <a:ln w="28575">
            <a:solidFill>
              <a:srgbClr val="FF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zh-CN" sz="2400" i="0">
              <a:effectLst>
                <a:outerShdw blurRad="38100" dist="38100" dir="2700000" algn="tl">
                  <a:srgbClr val="C0C0C0"/>
                </a:outerShdw>
              </a:effectLst>
              <a:latin typeface="Times New Roman" pitchFamily="18" charset="0"/>
              <a:ea typeface="宋体" charset="-122"/>
            </a:endParaRPr>
          </a:p>
        </p:txBody>
      </p:sp>
      <p:sp>
        <p:nvSpPr>
          <p:cNvPr id="78859" name="Text Box 11">
            <a:extLst>
              <a:ext uri="{FF2B5EF4-FFF2-40B4-BE49-F238E27FC236}">
                <a16:creationId xmlns:a16="http://schemas.microsoft.com/office/drawing/2014/main" id="{6D7EA50B-0AFE-420E-97E0-9A67EEAAC5B1}"/>
              </a:ext>
            </a:extLst>
          </p:cNvPr>
          <p:cNvSpPr txBox="1">
            <a:spLocks noChangeArrowheads="1"/>
          </p:cNvSpPr>
          <p:nvPr/>
        </p:nvSpPr>
        <p:spPr bwMode="auto">
          <a:xfrm>
            <a:off x="8172450" y="5926138"/>
            <a:ext cx="6842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2000" b="1" i="0">
                <a:effectLst>
                  <a:outerShdw blurRad="38100" dist="38100" dir="2700000" algn="tl">
                    <a:srgbClr val="C0C0C0"/>
                  </a:outerShdw>
                </a:effectLst>
                <a:latin typeface="Times New Roman" pitchFamily="18" charset="0"/>
                <a:ea typeface="宋体" charset="-122"/>
              </a:rPr>
              <a:t>fc1.c</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288" fill="hold" grpId="0" nodeType="clickEffect">
                                  <p:stCondLst>
                                    <p:cond delay="0"/>
                                  </p:stCondLst>
                                  <p:childTnLst>
                                    <p:set>
                                      <p:cBhvr>
                                        <p:cTn id="6" dur="1" fill="hold">
                                          <p:stCondLst>
                                            <p:cond delay="0"/>
                                          </p:stCondLst>
                                        </p:cTn>
                                        <p:tgtEl>
                                          <p:spTgt spid="78854"/>
                                        </p:tgtEl>
                                        <p:attrNameLst>
                                          <p:attrName>style.visibility</p:attrName>
                                        </p:attrNameLst>
                                      </p:cBhvr>
                                      <p:to>
                                        <p:strVal val="visible"/>
                                      </p:to>
                                    </p:set>
                                    <p:anim calcmode="lin" valueType="num">
                                      <p:cBhvr>
                                        <p:cTn id="7" dur="500" fill="hold"/>
                                        <p:tgtEl>
                                          <p:spTgt spid="78854"/>
                                        </p:tgtEl>
                                        <p:attrNameLst>
                                          <p:attrName>ppt_w</p:attrName>
                                        </p:attrNameLst>
                                      </p:cBhvr>
                                      <p:tavLst>
                                        <p:tav tm="0">
                                          <p:val>
                                            <p:strVal val="4/3*#ppt_w"/>
                                          </p:val>
                                        </p:tav>
                                        <p:tav tm="100000">
                                          <p:val>
                                            <p:strVal val="#ppt_w"/>
                                          </p:val>
                                        </p:tav>
                                      </p:tavLst>
                                    </p:anim>
                                    <p:anim calcmode="lin" valueType="num">
                                      <p:cBhvr>
                                        <p:cTn id="8" dur="500" fill="hold"/>
                                        <p:tgtEl>
                                          <p:spTgt spid="78854"/>
                                        </p:tgtEl>
                                        <p:attrNameLst>
                                          <p:attrName>ppt_h</p:attrName>
                                        </p:attrNameLst>
                                      </p:cBhvr>
                                      <p:tavLst>
                                        <p:tav tm="0">
                                          <p:val>
                                            <p:strVal val="4/3*#ppt_h"/>
                                          </p:val>
                                        </p:tav>
                                        <p:tav tm="100000">
                                          <p:val>
                                            <p:strVal val="#ppt_h"/>
                                          </p:val>
                                        </p:tav>
                                      </p:tavLst>
                                    </p:anim>
                                  </p:childTnLst>
                                </p:cTn>
                              </p:par>
                              <p:par>
                                <p:cTn id="9" presetID="23" presetClass="entr" presetSubtype="288" fill="hold" grpId="0" nodeType="withEffect">
                                  <p:stCondLst>
                                    <p:cond delay="0"/>
                                  </p:stCondLst>
                                  <p:childTnLst>
                                    <p:set>
                                      <p:cBhvr>
                                        <p:cTn id="10" dur="1" fill="hold">
                                          <p:stCondLst>
                                            <p:cond delay="0"/>
                                          </p:stCondLst>
                                        </p:cTn>
                                        <p:tgtEl>
                                          <p:spTgt spid="78855"/>
                                        </p:tgtEl>
                                        <p:attrNameLst>
                                          <p:attrName>style.visibility</p:attrName>
                                        </p:attrNameLst>
                                      </p:cBhvr>
                                      <p:to>
                                        <p:strVal val="visible"/>
                                      </p:to>
                                    </p:set>
                                    <p:anim calcmode="lin" valueType="num">
                                      <p:cBhvr>
                                        <p:cTn id="11" dur="500" fill="hold"/>
                                        <p:tgtEl>
                                          <p:spTgt spid="78855"/>
                                        </p:tgtEl>
                                        <p:attrNameLst>
                                          <p:attrName>ppt_w</p:attrName>
                                        </p:attrNameLst>
                                      </p:cBhvr>
                                      <p:tavLst>
                                        <p:tav tm="0">
                                          <p:val>
                                            <p:strVal val="4/3*#ppt_w"/>
                                          </p:val>
                                        </p:tav>
                                        <p:tav tm="100000">
                                          <p:val>
                                            <p:strVal val="#ppt_w"/>
                                          </p:val>
                                        </p:tav>
                                      </p:tavLst>
                                    </p:anim>
                                    <p:anim calcmode="lin" valueType="num">
                                      <p:cBhvr>
                                        <p:cTn id="12" dur="500" fill="hold"/>
                                        <p:tgtEl>
                                          <p:spTgt spid="78855"/>
                                        </p:tgtEl>
                                        <p:attrNameLst>
                                          <p:attrName>ppt_h</p:attrName>
                                        </p:attrNameLst>
                                      </p:cBhvr>
                                      <p:tavLst>
                                        <p:tav tm="0">
                                          <p:val>
                                            <p:strVal val="4/3*#ppt_h"/>
                                          </p:val>
                                        </p:tav>
                                        <p:tav tm="100000">
                                          <p:val>
                                            <p:strVal val="#ppt_h"/>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xit" presetSubtype="0" fill="hold" grpId="1" nodeType="clickEffect">
                                  <p:stCondLst>
                                    <p:cond delay="0"/>
                                  </p:stCondLst>
                                  <p:childTnLst>
                                    <p:animEffect transition="out" filter="fade">
                                      <p:cBhvr>
                                        <p:cTn id="16" dur="500"/>
                                        <p:tgtEl>
                                          <p:spTgt spid="78854"/>
                                        </p:tgtEl>
                                      </p:cBhvr>
                                    </p:animEffect>
                                    <p:set>
                                      <p:cBhvr>
                                        <p:cTn id="17" dur="1" fill="hold">
                                          <p:stCondLst>
                                            <p:cond delay="499"/>
                                          </p:stCondLst>
                                        </p:cTn>
                                        <p:tgtEl>
                                          <p:spTgt spid="78854"/>
                                        </p:tgtEl>
                                        <p:attrNameLst>
                                          <p:attrName>style.visibility</p:attrName>
                                        </p:attrNameLst>
                                      </p:cBhvr>
                                      <p:to>
                                        <p:strVal val="hidden"/>
                                      </p:to>
                                    </p:set>
                                  </p:childTnLst>
                                </p:cTn>
                              </p:par>
                              <p:par>
                                <p:cTn id="18" presetID="10" presetClass="exit" presetSubtype="0" fill="hold" grpId="1" nodeType="withEffect">
                                  <p:stCondLst>
                                    <p:cond delay="0"/>
                                  </p:stCondLst>
                                  <p:childTnLst>
                                    <p:animEffect transition="out" filter="fade">
                                      <p:cBhvr>
                                        <p:cTn id="19" dur="500"/>
                                        <p:tgtEl>
                                          <p:spTgt spid="78855"/>
                                        </p:tgtEl>
                                      </p:cBhvr>
                                    </p:animEffect>
                                    <p:set>
                                      <p:cBhvr>
                                        <p:cTn id="20" dur="1" fill="hold">
                                          <p:stCondLst>
                                            <p:cond delay="499"/>
                                          </p:stCondLst>
                                        </p:cTn>
                                        <p:tgtEl>
                                          <p:spTgt spid="78855"/>
                                        </p:tgtEl>
                                        <p:attrNameLst>
                                          <p:attrName>style.visibility</p:attrName>
                                        </p:attrNameLst>
                                      </p:cBhvr>
                                      <p:to>
                                        <p:strVal val="hidden"/>
                                      </p:to>
                                    </p:set>
                                  </p:childTnLst>
                                </p:cTn>
                              </p:par>
                              <p:par>
                                <p:cTn id="21" presetID="23" presetClass="entr" presetSubtype="288" fill="hold" grpId="0" nodeType="withEffect">
                                  <p:stCondLst>
                                    <p:cond delay="0"/>
                                  </p:stCondLst>
                                  <p:childTnLst>
                                    <p:set>
                                      <p:cBhvr>
                                        <p:cTn id="22" dur="1" fill="hold">
                                          <p:stCondLst>
                                            <p:cond delay="0"/>
                                          </p:stCondLst>
                                        </p:cTn>
                                        <p:tgtEl>
                                          <p:spTgt spid="78852"/>
                                        </p:tgtEl>
                                        <p:attrNameLst>
                                          <p:attrName>style.visibility</p:attrName>
                                        </p:attrNameLst>
                                      </p:cBhvr>
                                      <p:to>
                                        <p:strVal val="visible"/>
                                      </p:to>
                                    </p:set>
                                    <p:anim calcmode="lin" valueType="num">
                                      <p:cBhvr>
                                        <p:cTn id="23" dur="500" fill="hold"/>
                                        <p:tgtEl>
                                          <p:spTgt spid="78852"/>
                                        </p:tgtEl>
                                        <p:attrNameLst>
                                          <p:attrName>ppt_w</p:attrName>
                                        </p:attrNameLst>
                                      </p:cBhvr>
                                      <p:tavLst>
                                        <p:tav tm="0">
                                          <p:val>
                                            <p:strVal val="4/3*#ppt_w"/>
                                          </p:val>
                                        </p:tav>
                                        <p:tav tm="100000">
                                          <p:val>
                                            <p:strVal val="#ppt_w"/>
                                          </p:val>
                                        </p:tav>
                                      </p:tavLst>
                                    </p:anim>
                                    <p:anim calcmode="lin" valueType="num">
                                      <p:cBhvr>
                                        <p:cTn id="24" dur="500" fill="hold"/>
                                        <p:tgtEl>
                                          <p:spTgt spid="78852"/>
                                        </p:tgtEl>
                                        <p:attrNameLst>
                                          <p:attrName>ppt_h</p:attrName>
                                        </p:attrNameLst>
                                      </p:cBhvr>
                                      <p:tavLst>
                                        <p:tav tm="0">
                                          <p:val>
                                            <p:strVal val="4/3*#ppt_h"/>
                                          </p:val>
                                        </p:tav>
                                        <p:tav tm="100000">
                                          <p:val>
                                            <p:strVal val="#ppt_h"/>
                                          </p:val>
                                        </p:tav>
                                      </p:tavLst>
                                    </p:anim>
                                  </p:childTnLst>
                                </p:cTn>
                              </p:par>
                              <p:par>
                                <p:cTn id="25" presetID="23" presetClass="entr" presetSubtype="288" fill="hold" grpId="0" nodeType="withEffect">
                                  <p:stCondLst>
                                    <p:cond delay="0"/>
                                  </p:stCondLst>
                                  <p:childTnLst>
                                    <p:set>
                                      <p:cBhvr>
                                        <p:cTn id="26" dur="1" fill="hold">
                                          <p:stCondLst>
                                            <p:cond delay="0"/>
                                          </p:stCondLst>
                                        </p:cTn>
                                        <p:tgtEl>
                                          <p:spTgt spid="78853"/>
                                        </p:tgtEl>
                                        <p:attrNameLst>
                                          <p:attrName>style.visibility</p:attrName>
                                        </p:attrNameLst>
                                      </p:cBhvr>
                                      <p:to>
                                        <p:strVal val="visible"/>
                                      </p:to>
                                    </p:set>
                                    <p:anim calcmode="lin" valueType="num">
                                      <p:cBhvr>
                                        <p:cTn id="27" dur="500" fill="hold"/>
                                        <p:tgtEl>
                                          <p:spTgt spid="78853"/>
                                        </p:tgtEl>
                                        <p:attrNameLst>
                                          <p:attrName>ppt_w</p:attrName>
                                        </p:attrNameLst>
                                      </p:cBhvr>
                                      <p:tavLst>
                                        <p:tav tm="0">
                                          <p:val>
                                            <p:strVal val="4/3*#ppt_w"/>
                                          </p:val>
                                        </p:tav>
                                        <p:tav tm="100000">
                                          <p:val>
                                            <p:strVal val="#ppt_w"/>
                                          </p:val>
                                        </p:tav>
                                      </p:tavLst>
                                    </p:anim>
                                    <p:anim calcmode="lin" valueType="num">
                                      <p:cBhvr>
                                        <p:cTn id="28" dur="500" fill="hold"/>
                                        <p:tgtEl>
                                          <p:spTgt spid="78853"/>
                                        </p:tgtEl>
                                        <p:attrNameLst>
                                          <p:attrName>ppt_h</p:attrName>
                                        </p:attrNameLst>
                                      </p:cBhvr>
                                      <p:tavLst>
                                        <p:tav tm="0">
                                          <p:val>
                                            <p:strVal val="4/3*#ppt_h"/>
                                          </p:val>
                                        </p:tav>
                                        <p:tav tm="100000">
                                          <p:val>
                                            <p:strVal val="#ppt_h"/>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10" presetClass="exit" presetSubtype="0" fill="hold" grpId="1" nodeType="clickEffect">
                                  <p:stCondLst>
                                    <p:cond delay="0"/>
                                  </p:stCondLst>
                                  <p:childTnLst>
                                    <p:animEffect transition="out" filter="fade">
                                      <p:cBhvr>
                                        <p:cTn id="32" dur="500"/>
                                        <p:tgtEl>
                                          <p:spTgt spid="78852"/>
                                        </p:tgtEl>
                                      </p:cBhvr>
                                    </p:animEffect>
                                    <p:set>
                                      <p:cBhvr>
                                        <p:cTn id="33" dur="1" fill="hold">
                                          <p:stCondLst>
                                            <p:cond delay="499"/>
                                          </p:stCondLst>
                                        </p:cTn>
                                        <p:tgtEl>
                                          <p:spTgt spid="78852"/>
                                        </p:tgtEl>
                                        <p:attrNameLst>
                                          <p:attrName>style.visibility</p:attrName>
                                        </p:attrNameLst>
                                      </p:cBhvr>
                                      <p:to>
                                        <p:strVal val="hidden"/>
                                      </p:to>
                                    </p:set>
                                  </p:childTnLst>
                                </p:cTn>
                              </p:par>
                              <p:par>
                                <p:cTn id="34" presetID="10" presetClass="exit" presetSubtype="0" fill="hold" grpId="1" nodeType="withEffect">
                                  <p:stCondLst>
                                    <p:cond delay="0"/>
                                  </p:stCondLst>
                                  <p:childTnLst>
                                    <p:animEffect transition="out" filter="fade">
                                      <p:cBhvr>
                                        <p:cTn id="35" dur="500"/>
                                        <p:tgtEl>
                                          <p:spTgt spid="78853"/>
                                        </p:tgtEl>
                                      </p:cBhvr>
                                    </p:animEffect>
                                    <p:set>
                                      <p:cBhvr>
                                        <p:cTn id="36" dur="1" fill="hold">
                                          <p:stCondLst>
                                            <p:cond delay="499"/>
                                          </p:stCondLst>
                                        </p:cTn>
                                        <p:tgtEl>
                                          <p:spTgt spid="78853"/>
                                        </p:tgtEl>
                                        <p:attrNameLst>
                                          <p:attrName>style.visibility</p:attrName>
                                        </p:attrNameLst>
                                      </p:cBhvr>
                                      <p:to>
                                        <p:strVal val="hidden"/>
                                      </p:to>
                                    </p:set>
                                  </p:childTnLst>
                                </p:cTn>
                              </p:par>
                              <p:par>
                                <p:cTn id="37" presetID="23" presetClass="entr" presetSubtype="288" fill="hold" grpId="0" nodeType="withEffect">
                                  <p:stCondLst>
                                    <p:cond delay="0"/>
                                  </p:stCondLst>
                                  <p:childTnLst>
                                    <p:set>
                                      <p:cBhvr>
                                        <p:cTn id="38" dur="1" fill="hold">
                                          <p:stCondLst>
                                            <p:cond delay="0"/>
                                          </p:stCondLst>
                                        </p:cTn>
                                        <p:tgtEl>
                                          <p:spTgt spid="78856"/>
                                        </p:tgtEl>
                                        <p:attrNameLst>
                                          <p:attrName>style.visibility</p:attrName>
                                        </p:attrNameLst>
                                      </p:cBhvr>
                                      <p:to>
                                        <p:strVal val="visible"/>
                                      </p:to>
                                    </p:set>
                                    <p:anim calcmode="lin" valueType="num">
                                      <p:cBhvr>
                                        <p:cTn id="39" dur="500" fill="hold"/>
                                        <p:tgtEl>
                                          <p:spTgt spid="78856"/>
                                        </p:tgtEl>
                                        <p:attrNameLst>
                                          <p:attrName>ppt_w</p:attrName>
                                        </p:attrNameLst>
                                      </p:cBhvr>
                                      <p:tavLst>
                                        <p:tav tm="0">
                                          <p:val>
                                            <p:strVal val="4/3*#ppt_w"/>
                                          </p:val>
                                        </p:tav>
                                        <p:tav tm="100000">
                                          <p:val>
                                            <p:strVal val="#ppt_w"/>
                                          </p:val>
                                        </p:tav>
                                      </p:tavLst>
                                    </p:anim>
                                    <p:anim calcmode="lin" valueType="num">
                                      <p:cBhvr>
                                        <p:cTn id="40" dur="500" fill="hold"/>
                                        <p:tgtEl>
                                          <p:spTgt spid="78856"/>
                                        </p:tgtEl>
                                        <p:attrNameLst>
                                          <p:attrName>ppt_h</p:attrName>
                                        </p:attrNameLst>
                                      </p:cBhvr>
                                      <p:tavLst>
                                        <p:tav tm="0">
                                          <p:val>
                                            <p:strVal val="4/3*#ppt_h"/>
                                          </p:val>
                                        </p:tav>
                                        <p:tav tm="100000">
                                          <p:val>
                                            <p:strVal val="#ppt_h"/>
                                          </p:val>
                                        </p:tav>
                                      </p:tavLst>
                                    </p:anim>
                                  </p:childTnLst>
                                </p:cTn>
                              </p:par>
                              <p:par>
                                <p:cTn id="41" presetID="23" presetClass="entr" presetSubtype="288" fill="hold" grpId="0" nodeType="withEffect">
                                  <p:stCondLst>
                                    <p:cond delay="0"/>
                                  </p:stCondLst>
                                  <p:childTnLst>
                                    <p:set>
                                      <p:cBhvr>
                                        <p:cTn id="42" dur="1" fill="hold">
                                          <p:stCondLst>
                                            <p:cond delay="0"/>
                                          </p:stCondLst>
                                        </p:cTn>
                                        <p:tgtEl>
                                          <p:spTgt spid="78857"/>
                                        </p:tgtEl>
                                        <p:attrNameLst>
                                          <p:attrName>style.visibility</p:attrName>
                                        </p:attrNameLst>
                                      </p:cBhvr>
                                      <p:to>
                                        <p:strVal val="visible"/>
                                      </p:to>
                                    </p:set>
                                    <p:anim calcmode="lin" valueType="num">
                                      <p:cBhvr>
                                        <p:cTn id="43" dur="500" fill="hold"/>
                                        <p:tgtEl>
                                          <p:spTgt spid="78857"/>
                                        </p:tgtEl>
                                        <p:attrNameLst>
                                          <p:attrName>ppt_w</p:attrName>
                                        </p:attrNameLst>
                                      </p:cBhvr>
                                      <p:tavLst>
                                        <p:tav tm="0">
                                          <p:val>
                                            <p:strVal val="4/3*#ppt_w"/>
                                          </p:val>
                                        </p:tav>
                                        <p:tav tm="100000">
                                          <p:val>
                                            <p:strVal val="#ppt_w"/>
                                          </p:val>
                                        </p:tav>
                                      </p:tavLst>
                                    </p:anim>
                                    <p:anim calcmode="lin" valueType="num">
                                      <p:cBhvr>
                                        <p:cTn id="44" dur="500" fill="hold"/>
                                        <p:tgtEl>
                                          <p:spTgt spid="78857"/>
                                        </p:tgtEl>
                                        <p:attrNameLst>
                                          <p:attrName>ppt_h</p:attrName>
                                        </p:attrNameLst>
                                      </p:cBhvr>
                                      <p:tavLst>
                                        <p:tav tm="0">
                                          <p:val>
                                            <p:strVal val="4/3*#ppt_h"/>
                                          </p:val>
                                        </p:tav>
                                        <p:tav tm="100000">
                                          <p:val>
                                            <p:strVal val="#ppt_h"/>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10" presetClass="exit" presetSubtype="0" fill="hold" grpId="1" nodeType="clickEffect">
                                  <p:stCondLst>
                                    <p:cond delay="0"/>
                                  </p:stCondLst>
                                  <p:childTnLst>
                                    <p:animEffect transition="out" filter="fade">
                                      <p:cBhvr>
                                        <p:cTn id="48" dur="500"/>
                                        <p:tgtEl>
                                          <p:spTgt spid="78856"/>
                                        </p:tgtEl>
                                      </p:cBhvr>
                                    </p:animEffect>
                                    <p:set>
                                      <p:cBhvr>
                                        <p:cTn id="49" dur="1" fill="hold">
                                          <p:stCondLst>
                                            <p:cond delay="499"/>
                                          </p:stCondLst>
                                        </p:cTn>
                                        <p:tgtEl>
                                          <p:spTgt spid="78856"/>
                                        </p:tgtEl>
                                        <p:attrNameLst>
                                          <p:attrName>style.visibility</p:attrName>
                                        </p:attrNameLst>
                                      </p:cBhvr>
                                      <p:to>
                                        <p:strVal val="hidden"/>
                                      </p:to>
                                    </p:set>
                                  </p:childTnLst>
                                </p:cTn>
                              </p:par>
                              <p:par>
                                <p:cTn id="50" presetID="10" presetClass="exit" presetSubtype="0" fill="hold" grpId="1" nodeType="withEffect">
                                  <p:stCondLst>
                                    <p:cond delay="0"/>
                                  </p:stCondLst>
                                  <p:childTnLst>
                                    <p:animEffect transition="out" filter="fade">
                                      <p:cBhvr>
                                        <p:cTn id="51" dur="500"/>
                                        <p:tgtEl>
                                          <p:spTgt spid="78857"/>
                                        </p:tgtEl>
                                      </p:cBhvr>
                                    </p:animEffect>
                                    <p:set>
                                      <p:cBhvr>
                                        <p:cTn id="52" dur="1" fill="hold">
                                          <p:stCondLst>
                                            <p:cond delay="499"/>
                                          </p:stCondLst>
                                        </p:cTn>
                                        <p:tgtEl>
                                          <p:spTgt spid="78857"/>
                                        </p:tgtEl>
                                        <p:attrNameLst>
                                          <p:attrName>style.visibility</p:attrName>
                                        </p:attrNameLst>
                                      </p:cBhvr>
                                      <p:to>
                                        <p:strVal val="hidden"/>
                                      </p:to>
                                    </p:set>
                                  </p:childTnLst>
                                </p:cTn>
                              </p:par>
                              <p:par>
                                <p:cTn id="53" presetID="23" presetClass="entr" presetSubtype="288" fill="hold" grpId="0" nodeType="withEffect">
                                  <p:stCondLst>
                                    <p:cond delay="0"/>
                                  </p:stCondLst>
                                  <p:childTnLst>
                                    <p:set>
                                      <p:cBhvr>
                                        <p:cTn id="54" dur="1" fill="hold">
                                          <p:stCondLst>
                                            <p:cond delay="0"/>
                                          </p:stCondLst>
                                        </p:cTn>
                                        <p:tgtEl>
                                          <p:spTgt spid="78858"/>
                                        </p:tgtEl>
                                        <p:attrNameLst>
                                          <p:attrName>style.visibility</p:attrName>
                                        </p:attrNameLst>
                                      </p:cBhvr>
                                      <p:to>
                                        <p:strVal val="visible"/>
                                      </p:to>
                                    </p:set>
                                    <p:anim calcmode="lin" valueType="num">
                                      <p:cBhvr>
                                        <p:cTn id="55" dur="500" fill="hold"/>
                                        <p:tgtEl>
                                          <p:spTgt spid="78858"/>
                                        </p:tgtEl>
                                        <p:attrNameLst>
                                          <p:attrName>ppt_w</p:attrName>
                                        </p:attrNameLst>
                                      </p:cBhvr>
                                      <p:tavLst>
                                        <p:tav tm="0">
                                          <p:val>
                                            <p:strVal val="4/3*#ppt_w"/>
                                          </p:val>
                                        </p:tav>
                                        <p:tav tm="100000">
                                          <p:val>
                                            <p:strVal val="#ppt_w"/>
                                          </p:val>
                                        </p:tav>
                                      </p:tavLst>
                                    </p:anim>
                                    <p:anim calcmode="lin" valueType="num">
                                      <p:cBhvr>
                                        <p:cTn id="56" dur="500" fill="hold"/>
                                        <p:tgtEl>
                                          <p:spTgt spid="78858"/>
                                        </p:tgtEl>
                                        <p:attrNameLst>
                                          <p:attrName>ppt_h</p:attrName>
                                        </p:attrNameLst>
                                      </p:cBhvr>
                                      <p:tavLst>
                                        <p:tav tm="0">
                                          <p:val>
                                            <p:strVal val="4/3*#ppt_h"/>
                                          </p:val>
                                        </p:tav>
                                        <p:tav tm="100000">
                                          <p:val>
                                            <p:strVal val="#ppt_h"/>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10" presetClass="exit" presetSubtype="0" fill="hold" grpId="1" nodeType="clickEffect">
                                  <p:stCondLst>
                                    <p:cond delay="0"/>
                                  </p:stCondLst>
                                  <p:childTnLst>
                                    <p:animEffect transition="out" filter="fade">
                                      <p:cBhvr>
                                        <p:cTn id="60" dur="500"/>
                                        <p:tgtEl>
                                          <p:spTgt spid="78858"/>
                                        </p:tgtEl>
                                      </p:cBhvr>
                                    </p:animEffect>
                                    <p:set>
                                      <p:cBhvr>
                                        <p:cTn id="61" dur="1" fill="hold">
                                          <p:stCondLst>
                                            <p:cond delay="499"/>
                                          </p:stCondLst>
                                        </p:cTn>
                                        <p:tgtEl>
                                          <p:spTgt spid="7885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2" grpId="0" animBg="1"/>
      <p:bldP spid="78852" grpId="1" animBg="1"/>
      <p:bldP spid="78853" grpId="0" animBg="1"/>
      <p:bldP spid="78853" grpId="1" animBg="1"/>
      <p:bldP spid="78854" grpId="0" animBg="1"/>
      <p:bldP spid="78854" grpId="1" animBg="1"/>
      <p:bldP spid="78855" grpId="0" animBg="1"/>
      <p:bldP spid="78855" grpId="1" animBg="1"/>
      <p:bldP spid="78856" grpId="0" animBg="1"/>
      <p:bldP spid="78856" grpId="1" animBg="1"/>
      <p:bldP spid="78857" grpId="0" animBg="1"/>
      <p:bldP spid="78857" grpId="1" animBg="1"/>
      <p:bldP spid="78858" grpId="0" animBg="1"/>
      <p:bldP spid="78858" grpId="1" animBg="1"/>
    </p:bldLst>
  </p:timing>
</p:sld>
</file>

<file path=ppt/slides/slide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0162" name="Rectangle 2"/>
          <p:cNvSpPr>
            <a:spLocks noGrp="1" noChangeArrowheads="1"/>
          </p:cNvSpPr>
          <p:nvPr>
            <p:ph type="title"/>
          </p:nvPr>
        </p:nvSpPr>
        <p:spPr>
          <a:xfrm>
            <a:off x="381000" y="304800"/>
            <a:ext cx="8458200" cy="762000"/>
          </a:xfrm>
        </p:spPr>
        <p:txBody>
          <a:bodyPr>
            <a:normAutofit fontScale="90000"/>
          </a:bodyPr>
          <a:lstStyle/>
          <a:p>
            <a:pPr fontAlgn="auto">
              <a:spcAft>
                <a:spcPts val="0"/>
              </a:spcAft>
              <a:defRPr/>
            </a:pPr>
            <a:r>
              <a:rPr lang="zh-CN" altLang="en-US" sz="4400" dirty="0">
                <a:solidFill>
                  <a:srgbClr val="C00000"/>
                </a:solidFill>
                <a:latin typeface="黑体" pitchFamily="2" charset="-122"/>
                <a:ea typeface="黑体" pitchFamily="2" charset="-122"/>
              </a:rPr>
              <a:t>1.</a:t>
            </a:r>
            <a:r>
              <a:rPr lang="en-US" altLang="zh-CN" sz="4400" dirty="0">
                <a:solidFill>
                  <a:srgbClr val="C00000"/>
                </a:solidFill>
                <a:latin typeface="黑体" pitchFamily="2" charset="-122"/>
                <a:ea typeface="黑体" pitchFamily="2" charset="-122"/>
              </a:rPr>
              <a:t>2  </a:t>
            </a:r>
            <a:r>
              <a:rPr lang="en-US" altLang="zh-CN" dirty="0">
                <a:solidFill>
                  <a:srgbClr val="C00000"/>
                </a:solidFill>
                <a:latin typeface="黑体" pitchFamily="2" charset="-122"/>
                <a:ea typeface="黑体" pitchFamily="2" charset="-122"/>
              </a:rPr>
              <a:t>C</a:t>
            </a:r>
            <a:r>
              <a:rPr lang="zh-CN" altLang="en-US" dirty="0">
                <a:solidFill>
                  <a:srgbClr val="C00000"/>
                </a:solidFill>
                <a:latin typeface="黑体" pitchFamily="2" charset="-122"/>
                <a:ea typeface="黑体" pitchFamily="2" charset="-122"/>
              </a:rPr>
              <a:t>语言的历史和特点 </a:t>
            </a:r>
          </a:p>
        </p:txBody>
      </p:sp>
      <p:sp>
        <p:nvSpPr>
          <p:cNvPr id="220163" name="Rectangle 3"/>
          <p:cNvSpPr>
            <a:spLocks noGrp="1" noChangeArrowheads="1"/>
          </p:cNvSpPr>
          <p:nvPr>
            <p:ph idx="1"/>
          </p:nvPr>
        </p:nvSpPr>
        <p:spPr>
          <a:xfrm>
            <a:off x="250825" y="1196975"/>
            <a:ext cx="8515350" cy="5153025"/>
          </a:xfrm>
        </p:spPr>
        <p:txBody>
          <a:bodyPr>
            <a:normAutofit/>
          </a:bodyPr>
          <a:lstStyle/>
          <a:p>
            <a:pPr marL="0" indent="0" algn="just" fontAlgn="auto">
              <a:spcAft>
                <a:spcPts val="0"/>
              </a:spcAft>
              <a:buClr>
                <a:schemeClr val="accent3"/>
              </a:buClr>
              <a:buFont typeface="Monotype Sorts" pitchFamily="2" charset="2"/>
              <a:buNone/>
              <a:defRPr/>
            </a:pPr>
            <a:r>
              <a:rPr lang="en-US" altLang="zh-CN" sz="4000" b="1" dirty="0">
                <a:latin typeface="楷体_GB2312" pitchFamily="49" charset="-122"/>
                <a:ea typeface="楷体_GB2312" pitchFamily="49" charset="-122"/>
              </a:rPr>
              <a:t>C</a:t>
            </a:r>
            <a:r>
              <a:rPr lang="zh-CN" altLang="en-US" sz="4000" b="1" dirty="0">
                <a:latin typeface="楷体_GB2312" pitchFamily="49" charset="-122"/>
                <a:ea typeface="楷体_GB2312" pitchFamily="49" charset="-122"/>
              </a:rPr>
              <a:t>语言的起源</a:t>
            </a:r>
            <a:endParaRPr lang="en-US" altLang="zh-CN" sz="4000" b="1" dirty="0">
              <a:latin typeface="楷体_GB2312" pitchFamily="49" charset="-122"/>
              <a:ea typeface="楷体_GB2312" pitchFamily="49" charset="-122"/>
            </a:endParaRPr>
          </a:p>
          <a:p>
            <a:pPr marL="0" indent="0" algn="just" fontAlgn="auto">
              <a:spcAft>
                <a:spcPts val="0"/>
              </a:spcAft>
              <a:buClr>
                <a:schemeClr val="accent3"/>
              </a:buClr>
              <a:defRPr/>
            </a:pPr>
            <a:r>
              <a:rPr lang="en-US" altLang="zh-CN" sz="3200" b="1" dirty="0">
                <a:latin typeface="楷体_GB2312" pitchFamily="49" charset="-122"/>
                <a:ea typeface="楷体_GB2312" pitchFamily="49" charset="-122"/>
              </a:rPr>
              <a:t> 1963</a:t>
            </a:r>
            <a:r>
              <a:rPr lang="zh-CN" altLang="en-US" sz="3200" b="1" dirty="0">
                <a:latin typeface="楷体_GB2312" pitchFamily="49" charset="-122"/>
                <a:ea typeface="楷体_GB2312" pitchFamily="49" charset="-122"/>
              </a:rPr>
              <a:t>年剑桥大学推出</a:t>
            </a:r>
            <a:r>
              <a:rPr lang="en-US" altLang="zh-CN" sz="3200" b="1" dirty="0">
                <a:latin typeface="楷体_GB2312" pitchFamily="49" charset="-122"/>
                <a:ea typeface="楷体_GB2312" pitchFamily="49" charset="-122"/>
              </a:rPr>
              <a:t>CPL</a:t>
            </a:r>
            <a:r>
              <a:rPr lang="zh-CN" altLang="en-US" sz="3200" b="1" dirty="0">
                <a:latin typeface="楷体_GB2312" pitchFamily="49" charset="-122"/>
                <a:ea typeface="楷体_GB2312" pitchFamily="49" charset="-122"/>
              </a:rPr>
              <a:t>语言（</a:t>
            </a:r>
            <a:r>
              <a:rPr lang="en-US" altLang="zh-CN" sz="3200" b="1" dirty="0">
                <a:latin typeface="楷体_GB2312" pitchFamily="49" charset="-122"/>
                <a:ea typeface="楷体_GB2312" pitchFamily="49" charset="-122"/>
              </a:rPr>
              <a:t>Combined Programming Language</a:t>
            </a:r>
            <a:r>
              <a:rPr lang="zh-CN" altLang="en-US" sz="3200" b="1" dirty="0">
                <a:latin typeface="楷体_GB2312" pitchFamily="49" charset="-122"/>
                <a:ea typeface="楷体_GB2312" pitchFamily="49" charset="-122"/>
              </a:rPr>
              <a:t>）</a:t>
            </a:r>
            <a:endParaRPr lang="en-US" altLang="zh-CN" sz="3200" b="1" dirty="0">
              <a:latin typeface="楷体_GB2312" pitchFamily="49" charset="-122"/>
              <a:ea typeface="楷体_GB2312" pitchFamily="49" charset="-122"/>
            </a:endParaRPr>
          </a:p>
          <a:p>
            <a:pPr marL="0" indent="0" algn="just" fontAlgn="auto">
              <a:spcAft>
                <a:spcPts val="0"/>
              </a:spcAft>
              <a:buClr>
                <a:schemeClr val="accent3"/>
              </a:buClr>
              <a:defRPr/>
            </a:pPr>
            <a:r>
              <a:rPr lang="en-US" altLang="zh-CN" sz="3200" b="1" dirty="0">
                <a:latin typeface="楷体_GB2312" pitchFamily="49" charset="-122"/>
                <a:ea typeface="楷体_GB2312" pitchFamily="49" charset="-122"/>
              </a:rPr>
              <a:t> 1967</a:t>
            </a:r>
            <a:r>
              <a:rPr lang="zh-CN" altLang="en-US" sz="3200" b="1" dirty="0">
                <a:latin typeface="楷体_GB2312" pitchFamily="49" charset="-122"/>
                <a:ea typeface="楷体_GB2312" pitchFamily="49" charset="-122"/>
              </a:rPr>
              <a:t>年推出简化版</a:t>
            </a:r>
            <a:r>
              <a:rPr lang="en-US" altLang="zh-CN" sz="3200" b="1" dirty="0">
                <a:latin typeface="楷体_GB2312" pitchFamily="49" charset="-122"/>
                <a:ea typeface="楷体_GB2312" pitchFamily="49" charset="-122"/>
              </a:rPr>
              <a:t>BCPL</a:t>
            </a:r>
            <a:r>
              <a:rPr lang="zh-CN" altLang="en-US" sz="3200" b="1" dirty="0">
                <a:latin typeface="楷体_GB2312" pitchFamily="49" charset="-122"/>
                <a:ea typeface="楷体_GB2312" pitchFamily="49" charset="-122"/>
              </a:rPr>
              <a:t>语言（</a:t>
            </a:r>
            <a:r>
              <a:rPr lang="en-US" altLang="zh-CN" sz="3200" b="1" dirty="0">
                <a:latin typeface="楷体_GB2312" pitchFamily="49" charset="-122"/>
                <a:ea typeface="楷体_GB2312" pitchFamily="49" charset="-122"/>
              </a:rPr>
              <a:t>Basic CPL </a:t>
            </a:r>
            <a:r>
              <a:rPr lang="zh-CN" altLang="en-US" sz="3200" b="1" dirty="0">
                <a:latin typeface="楷体_GB2312" pitchFamily="49" charset="-122"/>
                <a:ea typeface="楷体_GB2312" pitchFamily="49" charset="-122"/>
              </a:rPr>
              <a:t>）</a:t>
            </a:r>
            <a:endParaRPr lang="en-US" altLang="zh-CN" sz="3200" b="1" dirty="0">
              <a:latin typeface="楷体_GB2312" pitchFamily="49" charset="-122"/>
              <a:ea typeface="楷体_GB2312" pitchFamily="49" charset="-122"/>
            </a:endParaRPr>
          </a:p>
          <a:p>
            <a:pPr marL="0" indent="0" algn="just" fontAlgn="auto">
              <a:spcAft>
                <a:spcPts val="0"/>
              </a:spcAft>
              <a:buClr>
                <a:schemeClr val="accent3"/>
              </a:buClr>
              <a:defRPr/>
            </a:pPr>
            <a:r>
              <a:rPr lang="en-US" altLang="zh-CN" sz="3200" b="1" dirty="0">
                <a:latin typeface="楷体_GB2312" pitchFamily="49" charset="-122"/>
                <a:ea typeface="楷体_GB2312" pitchFamily="49" charset="-122"/>
              </a:rPr>
              <a:t> 1970</a:t>
            </a:r>
            <a:r>
              <a:rPr lang="zh-CN" altLang="en-US" sz="3200" b="1" dirty="0">
                <a:latin typeface="楷体_GB2312" pitchFamily="49" charset="-122"/>
                <a:ea typeface="楷体_GB2312" pitchFamily="49" charset="-122"/>
              </a:rPr>
              <a:t>年贝尔实验室进一步简化，取名为</a:t>
            </a:r>
            <a:r>
              <a:rPr lang="en-US" altLang="zh-CN" sz="3200" b="1" dirty="0">
                <a:highlight>
                  <a:srgbClr val="FFFF00"/>
                </a:highlight>
                <a:latin typeface="楷体_GB2312" pitchFamily="49" charset="-122"/>
                <a:ea typeface="楷体_GB2312" pitchFamily="49" charset="-122"/>
              </a:rPr>
              <a:t>B</a:t>
            </a:r>
            <a:r>
              <a:rPr lang="zh-CN" altLang="en-US" sz="3200" b="1" dirty="0">
                <a:highlight>
                  <a:srgbClr val="FFFF00"/>
                </a:highlight>
                <a:latin typeface="楷体_GB2312" pitchFamily="49" charset="-122"/>
                <a:ea typeface="楷体_GB2312" pitchFamily="49" charset="-122"/>
              </a:rPr>
              <a:t>语言</a:t>
            </a:r>
            <a:r>
              <a:rPr lang="zh-CN" altLang="en-US" sz="3200" b="1" dirty="0">
                <a:latin typeface="楷体_GB2312" pitchFamily="49" charset="-122"/>
                <a:ea typeface="楷体_GB2312" pitchFamily="49" charset="-122"/>
              </a:rPr>
              <a:t>（取</a:t>
            </a:r>
            <a:r>
              <a:rPr lang="en-US" altLang="zh-CN" sz="3200" b="1" dirty="0">
                <a:latin typeface="楷体_GB2312" pitchFamily="49" charset="-122"/>
                <a:ea typeface="楷体_GB2312" pitchFamily="49" charset="-122"/>
              </a:rPr>
              <a:t>BCPL</a:t>
            </a:r>
            <a:r>
              <a:rPr lang="zh-CN" altLang="en-US" sz="3200" b="1" dirty="0">
                <a:latin typeface="楷体_GB2312" pitchFamily="49" charset="-122"/>
                <a:ea typeface="楷体_GB2312" pitchFamily="49" charset="-122"/>
              </a:rPr>
              <a:t>的第</a:t>
            </a:r>
            <a:r>
              <a:rPr lang="en-US" altLang="zh-CN" sz="3200" b="1" dirty="0">
                <a:latin typeface="楷体_GB2312" pitchFamily="49" charset="-122"/>
                <a:ea typeface="楷体_GB2312" pitchFamily="49" charset="-122"/>
              </a:rPr>
              <a:t>1</a:t>
            </a:r>
            <a:r>
              <a:rPr lang="zh-CN" altLang="en-US" sz="3200" b="1" dirty="0">
                <a:latin typeface="楷体_GB2312" pitchFamily="49" charset="-122"/>
                <a:ea typeface="楷体_GB2312" pitchFamily="49" charset="-122"/>
              </a:rPr>
              <a:t>个字母）并用</a:t>
            </a:r>
            <a:r>
              <a:rPr lang="en-US" altLang="zh-CN" sz="3200" b="1" dirty="0">
                <a:latin typeface="楷体_GB2312" pitchFamily="49" charset="-122"/>
                <a:ea typeface="楷体_GB2312" pitchFamily="49" charset="-122"/>
              </a:rPr>
              <a:t>B</a:t>
            </a:r>
            <a:r>
              <a:rPr lang="zh-CN" altLang="en-US" sz="3200" b="1" dirty="0">
                <a:latin typeface="楷体_GB2312" pitchFamily="49" charset="-122"/>
                <a:ea typeface="楷体_GB2312" pitchFamily="49" charset="-122"/>
              </a:rPr>
              <a:t>语言编写了</a:t>
            </a:r>
            <a:r>
              <a:rPr lang="en-US" altLang="zh-CN" sz="3200" b="1" dirty="0">
                <a:latin typeface="楷体_GB2312" pitchFamily="49" charset="-122"/>
                <a:ea typeface="楷体_GB2312" pitchFamily="49" charset="-122"/>
              </a:rPr>
              <a:t>UNIX</a:t>
            </a:r>
            <a:r>
              <a:rPr lang="zh-CN" altLang="en-US" sz="3200" b="1" dirty="0">
                <a:latin typeface="楷体_GB2312" pitchFamily="49" charset="-122"/>
                <a:ea typeface="楷体_GB2312" pitchFamily="49" charset="-122"/>
              </a:rPr>
              <a:t>操作系统</a:t>
            </a:r>
            <a:endParaRPr lang="en-US" altLang="zh-CN" sz="3200" b="1" dirty="0">
              <a:latin typeface="楷体_GB2312" pitchFamily="49" charset="-122"/>
              <a:ea typeface="楷体_GB2312" pitchFamily="49" charset="-122"/>
            </a:endParaRPr>
          </a:p>
          <a:p>
            <a:pPr marL="0" indent="0" algn="just" fontAlgn="auto">
              <a:spcAft>
                <a:spcPts val="0"/>
              </a:spcAft>
              <a:buClr>
                <a:schemeClr val="accent3"/>
              </a:buClr>
              <a:defRPr/>
            </a:pPr>
            <a:r>
              <a:rPr lang="en-US" altLang="zh-CN" sz="3200" b="1" dirty="0">
                <a:latin typeface="楷体_GB2312" pitchFamily="49" charset="-122"/>
                <a:ea typeface="楷体_GB2312" pitchFamily="49" charset="-122"/>
              </a:rPr>
              <a:t> 1972</a:t>
            </a:r>
            <a:r>
              <a:rPr lang="zh-CN" altLang="en-US" sz="3200" b="1" dirty="0">
                <a:latin typeface="楷体_GB2312" pitchFamily="49" charset="-122"/>
                <a:ea typeface="楷体_GB2312" pitchFamily="49" charset="-122"/>
              </a:rPr>
              <a:t>年贝尔实验室在</a:t>
            </a:r>
            <a:r>
              <a:rPr lang="en-US" altLang="zh-CN" sz="3200" b="1" dirty="0">
                <a:latin typeface="楷体_GB2312" pitchFamily="49" charset="-122"/>
                <a:ea typeface="楷体_GB2312" pitchFamily="49" charset="-122"/>
              </a:rPr>
              <a:t>B</a:t>
            </a:r>
            <a:r>
              <a:rPr lang="zh-CN" altLang="en-US" sz="3200" b="1" dirty="0">
                <a:latin typeface="楷体_GB2312" pitchFamily="49" charset="-122"/>
                <a:ea typeface="楷体_GB2312" pitchFamily="49" charset="-122"/>
              </a:rPr>
              <a:t>语言基础上设计出</a:t>
            </a:r>
            <a:r>
              <a:rPr lang="en-US" altLang="zh-CN" sz="3200" b="1" dirty="0">
                <a:highlight>
                  <a:srgbClr val="FFFF00"/>
                </a:highlight>
                <a:latin typeface="楷体_GB2312" pitchFamily="49" charset="-122"/>
                <a:ea typeface="楷体_GB2312" pitchFamily="49" charset="-122"/>
              </a:rPr>
              <a:t>C</a:t>
            </a:r>
            <a:r>
              <a:rPr lang="zh-CN" altLang="en-US" sz="3200" b="1" dirty="0">
                <a:highlight>
                  <a:srgbClr val="FFFF00"/>
                </a:highlight>
                <a:latin typeface="楷体_GB2312" pitchFamily="49" charset="-122"/>
                <a:ea typeface="楷体_GB2312" pitchFamily="49" charset="-122"/>
              </a:rPr>
              <a:t>语言</a:t>
            </a:r>
            <a:r>
              <a:rPr lang="zh-CN" altLang="en-US" sz="3200" b="1" dirty="0">
                <a:latin typeface="楷体_GB2312" pitchFamily="49" charset="-122"/>
                <a:ea typeface="楷体_GB2312" pitchFamily="49" charset="-122"/>
              </a:rPr>
              <a:t>（取</a:t>
            </a:r>
            <a:r>
              <a:rPr lang="en-US" altLang="zh-CN" sz="3200" b="1" dirty="0">
                <a:latin typeface="楷体_GB2312" pitchFamily="49" charset="-122"/>
                <a:ea typeface="楷体_GB2312" pitchFamily="49" charset="-122"/>
              </a:rPr>
              <a:t>BCPL</a:t>
            </a:r>
            <a:r>
              <a:rPr lang="zh-CN" altLang="en-US" sz="3200" b="1" dirty="0">
                <a:latin typeface="楷体_GB2312" pitchFamily="49" charset="-122"/>
                <a:ea typeface="楷体_GB2312" pitchFamily="49" charset="-122"/>
              </a:rPr>
              <a:t>的第</a:t>
            </a:r>
            <a:r>
              <a:rPr lang="en-US" altLang="zh-CN" sz="3200" b="1" dirty="0">
                <a:latin typeface="楷体_GB2312" pitchFamily="49" charset="-122"/>
                <a:ea typeface="楷体_GB2312" pitchFamily="49" charset="-122"/>
              </a:rPr>
              <a:t>2</a:t>
            </a:r>
            <a:r>
              <a:rPr lang="zh-CN" altLang="en-US" sz="3200" b="1" dirty="0">
                <a:latin typeface="楷体_GB2312" pitchFamily="49" charset="-122"/>
                <a:ea typeface="楷体_GB2312" pitchFamily="49" charset="-122"/>
              </a:rPr>
              <a:t>个字母） </a:t>
            </a:r>
          </a:p>
        </p:txBody>
      </p:sp>
      <p:sp>
        <p:nvSpPr>
          <p:cNvPr id="6" name="灯片编号占位符 5"/>
          <p:cNvSpPr>
            <a:spLocks noGrp="1"/>
          </p:cNvSpPr>
          <p:nvPr>
            <p:ph type="sldNum" sz="quarter" idx="12"/>
          </p:nvPr>
        </p:nvSpPr>
        <p:spPr/>
        <p:txBody>
          <a:bodyPr/>
          <a:lstStyle/>
          <a:p>
            <a:pPr defTabSz="1128713">
              <a:defRPr/>
            </a:pPr>
            <a:fld id="{4D50CE83-487F-4922-802D-C22526A53C8B}" type="slidenum">
              <a:rPr lang="zh-CN" altLang="en-US">
                <a:latin typeface="+mn-lt"/>
              </a:rPr>
              <a:pPr defTabSz="1128713">
                <a:defRPr/>
              </a:pPr>
              <a:t>72</a:t>
            </a:fld>
            <a:endParaRPr lang="en-US" altLang="zh-CN">
              <a:latin typeface="+mn-lt"/>
            </a:endParaRPr>
          </a:p>
        </p:txBody>
      </p:sp>
    </p:spTree>
  </p:cSld>
  <p:clrMapOvr>
    <a:masterClrMapping/>
  </p:clrMapOvr>
  <p:transition>
    <p:random/>
  </p:transition>
</p:sld>
</file>

<file path=ppt/slides/slide7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a:xfrm>
            <a:off x="381000" y="304800"/>
            <a:ext cx="8458200" cy="762000"/>
          </a:xfrm>
        </p:spPr>
        <p:txBody>
          <a:bodyPr/>
          <a:lstStyle/>
          <a:p>
            <a:r>
              <a:rPr lang="en-US" altLang="zh-CN" sz="4400">
                <a:solidFill>
                  <a:schemeClr val="tx1"/>
                </a:solidFill>
                <a:latin typeface="黑体" pitchFamily="2" charset="-122"/>
                <a:ea typeface="黑体" pitchFamily="2" charset="-122"/>
              </a:rPr>
              <a:t>C </a:t>
            </a:r>
            <a:r>
              <a:rPr lang="zh-CN" altLang="en-US" sz="4400">
                <a:solidFill>
                  <a:schemeClr val="tx1"/>
                </a:solidFill>
                <a:latin typeface="黑体" pitchFamily="2" charset="-122"/>
                <a:ea typeface="黑体" pitchFamily="2" charset="-122"/>
              </a:rPr>
              <a:t>语言的特点</a:t>
            </a:r>
          </a:p>
        </p:txBody>
      </p:sp>
      <p:sp>
        <p:nvSpPr>
          <p:cNvPr id="250883" name="Rectangle 3"/>
          <p:cNvSpPr>
            <a:spLocks noGrp="1" noChangeArrowheads="1"/>
          </p:cNvSpPr>
          <p:nvPr>
            <p:ph idx="1"/>
          </p:nvPr>
        </p:nvSpPr>
        <p:spPr>
          <a:xfrm>
            <a:off x="304800" y="1371600"/>
            <a:ext cx="8839200" cy="5153025"/>
          </a:xfrm>
        </p:spPr>
        <p:txBody>
          <a:bodyPr>
            <a:normAutofit/>
          </a:bodyPr>
          <a:lstStyle/>
          <a:p>
            <a:pPr marL="274320" indent="-274320" fontAlgn="auto">
              <a:spcAft>
                <a:spcPts val="0"/>
              </a:spcAft>
              <a:buClr>
                <a:schemeClr val="accent3"/>
              </a:buClr>
              <a:buFont typeface="Wingdings 2"/>
              <a:buChar char=""/>
              <a:defRPr/>
            </a:pPr>
            <a:r>
              <a:rPr lang="en-US" altLang="zh-CN" sz="3600" dirty="0">
                <a:latin typeface="楷体_GB2312" pitchFamily="49" charset="-122"/>
                <a:ea typeface="楷体_GB2312" pitchFamily="49" charset="-122"/>
              </a:rPr>
              <a:t> </a:t>
            </a:r>
            <a:r>
              <a:rPr lang="zh-CN" altLang="en-US" sz="3600" dirty="0">
                <a:latin typeface="楷体_GB2312" pitchFamily="49" charset="-122"/>
                <a:ea typeface="楷体_GB2312" pitchFamily="49" charset="-122"/>
              </a:rPr>
              <a:t>语言表达能力强</a:t>
            </a:r>
          </a:p>
          <a:p>
            <a:pPr marL="274320" indent="-274320" fontAlgn="auto">
              <a:spcAft>
                <a:spcPts val="0"/>
              </a:spcAft>
              <a:buClr>
                <a:schemeClr val="accent3"/>
              </a:buClr>
              <a:buFont typeface="Wingdings 2"/>
              <a:buChar char=""/>
              <a:defRPr/>
            </a:pPr>
            <a:r>
              <a:rPr lang="en-US" altLang="zh-CN" sz="3600" dirty="0">
                <a:latin typeface="楷体_GB2312" pitchFamily="49" charset="-122"/>
                <a:ea typeface="楷体_GB2312" pitchFamily="49" charset="-122"/>
              </a:rPr>
              <a:t> </a:t>
            </a:r>
            <a:r>
              <a:rPr lang="zh-CN" altLang="en-US" sz="3600" dirty="0">
                <a:latin typeface="楷体_GB2312" pitchFamily="49" charset="-122"/>
                <a:ea typeface="楷体_GB2312" pitchFamily="49" charset="-122"/>
              </a:rPr>
              <a:t>具有数据类型构造能力和结构化的程序控制结构</a:t>
            </a:r>
            <a:endParaRPr lang="en-US" altLang="zh-CN" sz="3600" dirty="0">
              <a:latin typeface="楷体_GB2312" pitchFamily="49" charset="-122"/>
              <a:ea typeface="楷体_GB2312" pitchFamily="49" charset="-122"/>
            </a:endParaRPr>
          </a:p>
          <a:p>
            <a:pPr marL="274320" indent="-274320" fontAlgn="auto">
              <a:spcAft>
                <a:spcPts val="0"/>
              </a:spcAft>
              <a:buClr>
                <a:schemeClr val="accent3"/>
              </a:buClr>
              <a:buFont typeface="Wingdings 2"/>
              <a:buChar char=""/>
              <a:defRPr/>
            </a:pPr>
            <a:r>
              <a:rPr lang="en-US" altLang="zh-CN" sz="3600" dirty="0">
                <a:latin typeface="楷体_GB2312" pitchFamily="49" charset="-122"/>
                <a:ea typeface="楷体_GB2312" pitchFamily="49" charset="-122"/>
              </a:rPr>
              <a:t> </a:t>
            </a:r>
            <a:r>
              <a:rPr lang="zh-CN" altLang="en-US" sz="3600" dirty="0">
                <a:latin typeface="楷体_GB2312" pitchFamily="49" charset="-122"/>
                <a:ea typeface="楷体_GB2312" pitchFamily="49" charset="-122"/>
              </a:rPr>
              <a:t>语言简洁、紧凑、使用方便灵活</a:t>
            </a:r>
          </a:p>
          <a:p>
            <a:pPr marL="274320" indent="-274320" fontAlgn="auto">
              <a:spcAft>
                <a:spcPts val="0"/>
              </a:spcAft>
              <a:buClr>
                <a:schemeClr val="accent3"/>
              </a:buClr>
              <a:buFont typeface="Wingdings 2"/>
              <a:buChar char=""/>
              <a:defRPr/>
            </a:pPr>
            <a:r>
              <a:rPr lang="en-US" altLang="zh-CN" sz="3600" dirty="0">
                <a:latin typeface="楷体_GB2312" pitchFamily="49" charset="-122"/>
                <a:ea typeface="楷体_GB2312" pitchFamily="49" charset="-122"/>
              </a:rPr>
              <a:t> </a:t>
            </a:r>
            <a:r>
              <a:rPr lang="zh-CN" altLang="en-US" sz="3600" dirty="0">
                <a:latin typeface="楷体_GB2312" pitchFamily="49" charset="-122"/>
                <a:ea typeface="楷体_GB2312" pitchFamily="49" charset="-122"/>
              </a:rPr>
              <a:t>能使编译程序产生执行效率较高的代码</a:t>
            </a:r>
          </a:p>
          <a:p>
            <a:pPr marL="274320" indent="-274320" fontAlgn="auto">
              <a:spcAft>
                <a:spcPts val="0"/>
              </a:spcAft>
              <a:buClr>
                <a:schemeClr val="accent3"/>
              </a:buClr>
              <a:buFont typeface="Wingdings 2"/>
              <a:buChar char=""/>
              <a:defRPr/>
            </a:pPr>
            <a:r>
              <a:rPr lang="en-US" altLang="zh-CN" sz="3600" dirty="0">
                <a:latin typeface="楷体_GB2312" pitchFamily="49" charset="-122"/>
                <a:ea typeface="楷体_GB2312" pitchFamily="49" charset="-122"/>
              </a:rPr>
              <a:t> </a:t>
            </a:r>
            <a:r>
              <a:rPr lang="zh-CN" altLang="en-US" sz="3600" dirty="0">
                <a:latin typeface="楷体_GB2312" pitchFamily="49" charset="-122"/>
                <a:ea typeface="楷体_GB2312" pitchFamily="49" charset="-122"/>
              </a:rPr>
              <a:t>用</a:t>
            </a:r>
            <a:r>
              <a:rPr lang="en-US" sz="3600" dirty="0">
                <a:latin typeface="楷体_GB2312" pitchFamily="49" charset="-122"/>
                <a:ea typeface="楷体_GB2312" pitchFamily="49" charset="-122"/>
              </a:rPr>
              <a:t>C</a:t>
            </a:r>
            <a:r>
              <a:rPr lang="zh-CN" altLang="en-US" sz="3600" dirty="0">
                <a:latin typeface="楷体_GB2312" pitchFamily="49" charset="-122"/>
                <a:ea typeface="楷体_GB2312" pitchFamily="49" charset="-122"/>
              </a:rPr>
              <a:t>语言可编写移植性较好的程序</a:t>
            </a:r>
            <a:endParaRPr lang="en-US" altLang="zh-CN" sz="3600" dirty="0">
              <a:latin typeface="楷体_GB2312" pitchFamily="49" charset="-122"/>
              <a:ea typeface="楷体_GB2312" pitchFamily="49" charset="-122"/>
            </a:endParaRPr>
          </a:p>
          <a:p>
            <a:pPr marL="274320" indent="-274320" fontAlgn="auto">
              <a:spcAft>
                <a:spcPts val="0"/>
              </a:spcAft>
              <a:buClr>
                <a:schemeClr val="accent3"/>
              </a:buClr>
              <a:buFont typeface="Wingdings 2"/>
              <a:buChar char=""/>
              <a:defRPr/>
            </a:pPr>
            <a:r>
              <a:rPr lang="en-US" altLang="zh-CN" sz="3600" dirty="0">
                <a:latin typeface="楷体_GB2312" pitchFamily="49" charset="-122"/>
                <a:ea typeface="楷体_GB2312" pitchFamily="49" charset="-122"/>
              </a:rPr>
              <a:t> </a:t>
            </a:r>
            <a:r>
              <a:rPr lang="zh-CN" altLang="en-US" sz="3600" dirty="0">
                <a:latin typeface="楷体_GB2312" pitchFamily="49" charset="-122"/>
                <a:ea typeface="楷体_GB2312" pitchFamily="49" charset="-122"/>
              </a:rPr>
              <a:t>语法检查不太严格，灵活度高</a:t>
            </a:r>
            <a:endParaRPr lang="en-US" altLang="zh-CN" sz="3600" dirty="0">
              <a:latin typeface="楷体_GB2312" pitchFamily="49" charset="-122"/>
              <a:ea typeface="楷体_GB2312" pitchFamily="49" charset="-122"/>
            </a:endParaRPr>
          </a:p>
          <a:p>
            <a:pPr marL="274320" indent="-274320" fontAlgn="auto">
              <a:spcAft>
                <a:spcPts val="0"/>
              </a:spcAft>
              <a:buClr>
                <a:schemeClr val="accent3"/>
              </a:buClr>
              <a:buFont typeface="Wingdings 2"/>
              <a:buChar char=""/>
              <a:defRPr/>
            </a:pPr>
            <a:r>
              <a:rPr lang="en-US" altLang="zh-CN" sz="3600" dirty="0">
                <a:latin typeface="楷体_GB2312" pitchFamily="49" charset="-122"/>
                <a:ea typeface="楷体_GB2312" pitchFamily="49" charset="-122"/>
              </a:rPr>
              <a:t> </a:t>
            </a:r>
            <a:r>
              <a:rPr lang="zh-CN" altLang="en-US" sz="3600">
                <a:latin typeface="楷体_GB2312" pitchFamily="49" charset="-122"/>
                <a:ea typeface="楷体_GB2312" pitchFamily="49" charset="-122"/>
              </a:rPr>
              <a:t>可以实现汇编语言的大部分功能</a:t>
            </a:r>
            <a:endParaRPr lang="zh-CN" altLang="en-US" sz="3600" dirty="0">
              <a:latin typeface="楷体_GB2312" pitchFamily="49" charset="-122"/>
              <a:ea typeface="楷体_GB2312" pitchFamily="49" charset="-122"/>
            </a:endParaRPr>
          </a:p>
          <a:p>
            <a:pPr marL="666750" indent="-666750" algn="just" fontAlgn="auto">
              <a:lnSpc>
                <a:spcPct val="90000"/>
              </a:lnSpc>
              <a:spcAft>
                <a:spcPts val="0"/>
              </a:spcAft>
              <a:buClr>
                <a:schemeClr val="accent3"/>
              </a:buClr>
              <a:buFont typeface="Monotype Sorts" pitchFamily="2" charset="2"/>
              <a:buNone/>
              <a:defRPr/>
            </a:pPr>
            <a:endParaRPr lang="zh-CN" altLang="en-US" sz="3600" dirty="0"/>
          </a:p>
        </p:txBody>
      </p:sp>
      <p:sp>
        <p:nvSpPr>
          <p:cNvPr id="6" name="灯片编号占位符 5"/>
          <p:cNvSpPr>
            <a:spLocks noGrp="1"/>
          </p:cNvSpPr>
          <p:nvPr>
            <p:ph type="sldNum" sz="quarter" idx="12"/>
          </p:nvPr>
        </p:nvSpPr>
        <p:spPr/>
        <p:txBody>
          <a:bodyPr/>
          <a:lstStyle/>
          <a:p>
            <a:pPr defTabSz="1128713">
              <a:defRPr/>
            </a:pPr>
            <a:fld id="{46758AE5-D486-4A2D-9218-F5D283ABE192}" type="slidenum">
              <a:rPr lang="zh-CN" altLang="en-US">
                <a:latin typeface="+mn-lt"/>
              </a:rPr>
              <a:pPr defTabSz="1128713">
                <a:defRPr/>
              </a:pPr>
              <a:t>73</a:t>
            </a:fld>
            <a:endParaRPr lang="en-US" altLang="zh-CN">
              <a:latin typeface="+mn-lt"/>
            </a:endParaRPr>
          </a:p>
        </p:txBody>
      </p:sp>
      <p:sp>
        <p:nvSpPr>
          <p:cNvPr id="65541" name="AutoShape 5">
            <a:hlinkClick r:id="rId2" action="ppaction://hlinksldjump" highlightClick="1"/>
          </p:cNvPr>
          <p:cNvSpPr>
            <a:spLocks noChangeArrowheads="1"/>
          </p:cNvSpPr>
          <p:nvPr/>
        </p:nvSpPr>
        <p:spPr bwMode="auto">
          <a:xfrm>
            <a:off x="7929563" y="6164263"/>
            <a:ext cx="431800" cy="504825"/>
          </a:xfrm>
          <a:prstGeom prst="actionButtonInformation">
            <a:avLst/>
          </a:prstGeom>
          <a:solidFill>
            <a:schemeClr val="accent1"/>
          </a:solidFill>
          <a:ln w="9525">
            <a:noFill/>
            <a:miter lim="800000"/>
            <a:headEnd/>
            <a:tailEnd/>
          </a:ln>
        </p:spPr>
        <p:txBody>
          <a:bodyPr wrap="none" anchor="ctr"/>
          <a:lstStyle/>
          <a:p>
            <a:endParaRPr lang="zh-CN" altLang="en-US"/>
          </a:p>
        </p:txBody>
      </p:sp>
    </p:spTree>
  </p:cSld>
  <p:clrMapOvr>
    <a:masterClrMapping/>
  </p:clrMapOvr>
  <p:transition>
    <p:random/>
  </p:transition>
</p:sld>
</file>

<file path=ppt/slides/slide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BC3E96BE-64D3-4AA6-AAF3-86CCA4BBA617}"/>
              </a:ext>
            </a:extLst>
          </p:cNvPr>
          <p:cNvSpPr>
            <a:spLocks noGrp="1" noChangeArrowheads="1"/>
          </p:cNvSpPr>
          <p:nvPr>
            <p:ph type="title"/>
          </p:nvPr>
        </p:nvSpPr>
        <p:spPr>
          <a:xfrm>
            <a:off x="1150938" y="555625"/>
            <a:ext cx="7793037" cy="779463"/>
          </a:xfrm>
        </p:spPr>
        <p:txBody>
          <a:bodyPr/>
          <a:lstStyle/>
          <a:p>
            <a:pPr eaLnBrk="1" hangingPunct="1"/>
            <a:r>
              <a:rPr lang="en-US" altLang="zh-CN"/>
              <a:t>C</a:t>
            </a:r>
            <a:r>
              <a:rPr lang="zh-CN" altLang="en-US"/>
              <a:t>语言掌故</a:t>
            </a:r>
          </a:p>
        </p:txBody>
      </p:sp>
      <p:sp>
        <p:nvSpPr>
          <p:cNvPr id="105475" name="Rectangle 3">
            <a:extLst>
              <a:ext uri="{FF2B5EF4-FFF2-40B4-BE49-F238E27FC236}">
                <a16:creationId xmlns:a16="http://schemas.microsoft.com/office/drawing/2014/main" id="{9F03C51D-FBE2-409E-94F3-E067CE157B5B}"/>
              </a:ext>
            </a:extLst>
          </p:cNvPr>
          <p:cNvSpPr>
            <a:spLocks noGrp="1" noChangeArrowheads="1"/>
          </p:cNvSpPr>
          <p:nvPr>
            <p:ph type="body" idx="1"/>
          </p:nvPr>
        </p:nvSpPr>
        <p:spPr/>
        <p:txBody>
          <a:bodyPr/>
          <a:lstStyle/>
          <a:p>
            <a:pPr eaLnBrk="1" hangingPunct="1"/>
            <a:r>
              <a:rPr lang="en-US" altLang="zh-CN"/>
              <a:t>1972 </a:t>
            </a:r>
            <a:r>
              <a:rPr lang="zh-CN" altLang="en-US"/>
              <a:t>由</a:t>
            </a:r>
            <a:r>
              <a:rPr lang="en-US" altLang="zh-CN"/>
              <a:t>Dennis Ritchie</a:t>
            </a:r>
            <a:r>
              <a:rPr lang="zh-CN" altLang="en-US"/>
              <a:t>发明</a:t>
            </a:r>
            <a:r>
              <a:rPr lang="en-US" altLang="zh-CN"/>
              <a:t>(Bell Labs)</a:t>
            </a:r>
          </a:p>
          <a:p>
            <a:pPr eaLnBrk="1" hangingPunct="1"/>
            <a:r>
              <a:rPr lang="zh-CN" altLang="en-US"/>
              <a:t>最初用于编写</a:t>
            </a:r>
            <a:r>
              <a:rPr lang="en-US" altLang="zh-CN"/>
              <a:t>UNIX</a:t>
            </a:r>
            <a:r>
              <a:rPr lang="zh-CN" altLang="en-US"/>
              <a:t>操作系统</a:t>
            </a:r>
          </a:p>
          <a:p>
            <a:pPr eaLnBrk="1" hangingPunct="1"/>
            <a:r>
              <a:rPr lang="zh-CN" altLang="en-US"/>
              <a:t>一般认为是一种高级语言</a:t>
            </a:r>
          </a:p>
          <a:p>
            <a:pPr eaLnBrk="1" hangingPunct="1"/>
            <a:r>
              <a:rPr lang="zh-CN" altLang="en-US"/>
              <a:t>具有很多低级语言的特点</a:t>
            </a:r>
          </a:p>
          <a:p>
            <a:pPr eaLnBrk="1" hangingPunct="1"/>
            <a:r>
              <a:rPr lang="zh-CN" altLang="en-US"/>
              <a:t>编译后的代码效率高</a:t>
            </a:r>
          </a:p>
        </p:txBody>
      </p:sp>
    </p:spTree>
  </p:cSld>
  <p:clrMapOvr>
    <a:masterClrMapping/>
  </p:clrMapOvr>
  <p:transition spd="med">
    <p:wipe dir="r"/>
    <p:sndAc>
      <p:end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5475">
                                            <p:txEl>
                                              <p:pRg st="0" end="0"/>
                                            </p:txEl>
                                          </p:spTgt>
                                        </p:tgtEl>
                                        <p:attrNameLst>
                                          <p:attrName>style.visibility</p:attrName>
                                        </p:attrNameLst>
                                      </p:cBhvr>
                                      <p:to>
                                        <p:strVal val="visible"/>
                                      </p:to>
                                    </p:set>
                                    <p:anim calcmode="lin" valueType="num">
                                      <p:cBhvr additive="base">
                                        <p:cTn id="7" dur="500" fill="hold"/>
                                        <p:tgtEl>
                                          <p:spTgt spid="10547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5475">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5475">
                                            <p:txEl>
                                              <p:pRg st="1" end="1"/>
                                            </p:txEl>
                                          </p:spTgt>
                                        </p:tgtEl>
                                        <p:attrNameLst>
                                          <p:attrName>style.visibility</p:attrName>
                                        </p:attrNameLst>
                                      </p:cBhvr>
                                      <p:to>
                                        <p:strVal val="visible"/>
                                      </p:to>
                                    </p:set>
                                    <p:anim calcmode="lin" valueType="num">
                                      <p:cBhvr additive="base">
                                        <p:cTn id="13" dur="500" fill="hold"/>
                                        <p:tgtEl>
                                          <p:spTgt spid="10547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5475">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whoosh.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5475">
                                            <p:txEl>
                                              <p:pRg st="2" end="2"/>
                                            </p:txEl>
                                          </p:spTgt>
                                        </p:tgtEl>
                                        <p:attrNameLst>
                                          <p:attrName>style.visibility</p:attrName>
                                        </p:attrNameLst>
                                      </p:cBhvr>
                                      <p:to>
                                        <p:strVal val="visible"/>
                                      </p:to>
                                    </p:set>
                                    <p:anim calcmode="lin" valueType="num">
                                      <p:cBhvr additive="base">
                                        <p:cTn id="19" dur="500" fill="hold"/>
                                        <p:tgtEl>
                                          <p:spTgt spid="10547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5475">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whoosh.wav"/>
                                        </p:tgtEl>
                                      </p:cMediaNode>
                                    </p:audio>
                                  </p:sub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5475">
                                            <p:txEl>
                                              <p:pRg st="3" end="3"/>
                                            </p:txEl>
                                          </p:spTgt>
                                        </p:tgtEl>
                                        <p:attrNameLst>
                                          <p:attrName>style.visibility</p:attrName>
                                        </p:attrNameLst>
                                      </p:cBhvr>
                                      <p:to>
                                        <p:strVal val="visible"/>
                                      </p:to>
                                    </p:set>
                                    <p:anim calcmode="lin" valueType="num">
                                      <p:cBhvr additive="base">
                                        <p:cTn id="25" dur="500" fill="hold"/>
                                        <p:tgtEl>
                                          <p:spTgt spid="10547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5475">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whoosh.wav"/>
                                        </p:tgtEl>
                                      </p:cMediaNode>
                                    </p:audio>
                                  </p:sub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5475">
                                            <p:txEl>
                                              <p:pRg st="4" end="4"/>
                                            </p:txEl>
                                          </p:spTgt>
                                        </p:tgtEl>
                                        <p:attrNameLst>
                                          <p:attrName>style.visibility</p:attrName>
                                        </p:attrNameLst>
                                      </p:cBhvr>
                                      <p:to>
                                        <p:strVal val="visible"/>
                                      </p:to>
                                    </p:set>
                                    <p:anim calcmode="lin" valueType="num">
                                      <p:cBhvr additive="base">
                                        <p:cTn id="31" dur="500" fill="hold"/>
                                        <p:tgtEl>
                                          <p:spTgt spid="105475">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05475">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75" grpId="0" build="p" autoUpdateAnimBg="0"/>
    </p:bldLst>
  </p:timing>
</p:sld>
</file>

<file path=ppt/slides/slide7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9858" name="Rectangle 2"/>
          <p:cNvSpPr>
            <a:spLocks noGrp="1" noChangeArrowheads="1"/>
          </p:cNvSpPr>
          <p:nvPr>
            <p:ph type="title"/>
          </p:nvPr>
        </p:nvSpPr>
        <p:spPr>
          <a:xfrm>
            <a:off x="381000" y="304800"/>
            <a:ext cx="8458200" cy="762000"/>
          </a:xfrm>
        </p:spPr>
        <p:txBody>
          <a:bodyPr>
            <a:normAutofit fontScale="90000"/>
          </a:bodyPr>
          <a:lstStyle/>
          <a:p>
            <a:pPr fontAlgn="auto">
              <a:spcAft>
                <a:spcPts val="0"/>
              </a:spcAft>
              <a:defRPr/>
            </a:pPr>
            <a:r>
              <a:rPr lang="en-US" altLang="zh-CN" dirty="0">
                <a:solidFill>
                  <a:srgbClr val="C00000"/>
                </a:solidFill>
                <a:latin typeface="黑体" pitchFamily="2" charset="-122"/>
                <a:ea typeface="黑体" pitchFamily="2" charset="-122"/>
              </a:rPr>
              <a:t>1.3 </a:t>
            </a:r>
            <a:r>
              <a:rPr lang="zh-CN" altLang="en-US" dirty="0">
                <a:solidFill>
                  <a:srgbClr val="C00000"/>
                </a:solidFill>
                <a:latin typeface="黑体" pitchFamily="2" charset="-122"/>
                <a:ea typeface="黑体" pitchFamily="2" charset="-122"/>
              </a:rPr>
              <a:t>几个简单的</a:t>
            </a:r>
            <a:r>
              <a:rPr lang="en-US" altLang="zh-CN" dirty="0">
                <a:solidFill>
                  <a:srgbClr val="C00000"/>
                </a:solidFill>
                <a:latin typeface="黑体" pitchFamily="2" charset="-122"/>
                <a:ea typeface="黑体" pitchFamily="2" charset="-122"/>
              </a:rPr>
              <a:t>C</a:t>
            </a:r>
            <a:r>
              <a:rPr lang="zh-CN" altLang="en-US" dirty="0">
                <a:solidFill>
                  <a:srgbClr val="C00000"/>
                </a:solidFill>
                <a:latin typeface="黑体" pitchFamily="2" charset="-122"/>
                <a:ea typeface="黑体" pitchFamily="2" charset="-122"/>
              </a:rPr>
              <a:t>程序 </a:t>
            </a:r>
          </a:p>
        </p:txBody>
      </p:sp>
      <p:sp>
        <p:nvSpPr>
          <p:cNvPr id="249859" name="Rectangle 3"/>
          <p:cNvSpPr>
            <a:spLocks noGrp="1" noChangeArrowheads="1"/>
          </p:cNvSpPr>
          <p:nvPr>
            <p:ph idx="1"/>
          </p:nvPr>
        </p:nvSpPr>
        <p:spPr>
          <a:xfrm>
            <a:off x="304800" y="1371600"/>
            <a:ext cx="8382000" cy="5153025"/>
          </a:xfrm>
        </p:spPr>
        <p:txBody>
          <a:bodyPr>
            <a:normAutofit/>
          </a:bodyPr>
          <a:lstStyle/>
          <a:p>
            <a:pPr marL="274320" indent="-274320" algn="just" fontAlgn="auto">
              <a:spcAft>
                <a:spcPts val="0"/>
              </a:spcAft>
              <a:buClr>
                <a:schemeClr val="accent3"/>
              </a:buClr>
              <a:buFont typeface="Monotype Sorts" pitchFamily="2" charset="2"/>
              <a:buNone/>
              <a:defRPr/>
            </a:pPr>
            <a:r>
              <a:rPr lang="zh-CN" altLang="en-US" sz="3600" b="1" dirty="0">
                <a:effectLst>
                  <a:outerShdw blurRad="38100" dist="38100" dir="2700000" algn="tl">
                    <a:srgbClr val="000000"/>
                  </a:outerShdw>
                </a:effectLst>
                <a:latin typeface="楷体_GB2312" pitchFamily="49" charset="-122"/>
                <a:ea typeface="楷体_GB2312" pitchFamily="49" charset="-122"/>
              </a:rPr>
              <a:t>一个只输出一行信息的Ｃ程序 </a:t>
            </a:r>
          </a:p>
          <a:p>
            <a:pPr marL="274320" indent="-274320" algn="just" fontAlgn="auto">
              <a:spcAft>
                <a:spcPts val="0"/>
              </a:spcAft>
              <a:buClr>
                <a:schemeClr val="accent3"/>
              </a:buClr>
              <a:buFont typeface="Monotype Sorts" pitchFamily="2" charset="2"/>
              <a:buNone/>
              <a:defRPr/>
            </a:pPr>
            <a:r>
              <a:rPr lang="zh-CN" altLang="en-US" sz="3600" b="1" dirty="0">
                <a:latin typeface="黑体" pitchFamily="2" charset="-122"/>
                <a:ea typeface="黑体" pitchFamily="2" charset="-122"/>
              </a:rPr>
              <a:t>#</a:t>
            </a:r>
            <a:r>
              <a:rPr lang="en-US" altLang="zh-CN" sz="3600" b="1" dirty="0">
                <a:latin typeface="黑体" pitchFamily="2" charset="-122"/>
                <a:ea typeface="黑体" pitchFamily="2" charset="-122"/>
              </a:rPr>
              <a:t>include  &lt;</a:t>
            </a:r>
            <a:r>
              <a:rPr lang="en-US" altLang="zh-CN" sz="3600" b="1" dirty="0" err="1">
                <a:latin typeface="黑体" pitchFamily="2" charset="-122"/>
                <a:ea typeface="黑体" pitchFamily="2" charset="-122"/>
              </a:rPr>
              <a:t>stdio.h</a:t>
            </a:r>
            <a:r>
              <a:rPr lang="en-US" altLang="zh-CN" sz="3600" b="1" dirty="0">
                <a:latin typeface="黑体" pitchFamily="2" charset="-122"/>
                <a:ea typeface="黑体" pitchFamily="2" charset="-122"/>
              </a:rPr>
              <a:t>&gt;</a:t>
            </a:r>
          </a:p>
          <a:p>
            <a:pPr marL="274320" indent="-274320" algn="just" fontAlgn="auto">
              <a:spcAft>
                <a:spcPts val="0"/>
              </a:spcAft>
              <a:buClr>
                <a:schemeClr val="accent3"/>
              </a:buClr>
              <a:buFont typeface="Monotype Sorts" pitchFamily="2" charset="2"/>
              <a:buNone/>
              <a:defRPr/>
            </a:pPr>
            <a:r>
              <a:rPr lang="en-US" altLang="zh-CN" sz="3600" b="1" dirty="0">
                <a:latin typeface="黑体" pitchFamily="2" charset="-122"/>
                <a:ea typeface="黑体" pitchFamily="2" charset="-122"/>
              </a:rPr>
              <a:t>void main( )      /* </a:t>
            </a:r>
            <a:r>
              <a:rPr lang="zh-CN" altLang="en-US" sz="3600" b="1" dirty="0">
                <a:latin typeface="黑体" pitchFamily="2" charset="-122"/>
                <a:ea typeface="黑体" pitchFamily="2" charset="-122"/>
              </a:rPr>
              <a:t>主函数 */</a:t>
            </a:r>
          </a:p>
          <a:p>
            <a:pPr marL="274320" indent="-274320" algn="just" fontAlgn="auto">
              <a:spcAft>
                <a:spcPts val="0"/>
              </a:spcAft>
              <a:buClr>
                <a:schemeClr val="accent3"/>
              </a:buClr>
              <a:buFont typeface="Monotype Sorts" pitchFamily="2" charset="2"/>
              <a:buNone/>
              <a:defRPr/>
            </a:pPr>
            <a:r>
              <a:rPr lang="zh-CN" altLang="en-US" sz="3600" b="1" dirty="0">
                <a:latin typeface="黑体" pitchFamily="2" charset="-122"/>
                <a:ea typeface="黑体" pitchFamily="2" charset="-122"/>
              </a:rPr>
              <a:t>{</a:t>
            </a:r>
          </a:p>
          <a:p>
            <a:pPr marL="274320" indent="-274320" algn="just" fontAlgn="auto">
              <a:spcAft>
                <a:spcPts val="0"/>
              </a:spcAft>
              <a:buClr>
                <a:schemeClr val="accent3"/>
              </a:buClr>
              <a:buFont typeface="Monotype Sorts" pitchFamily="2" charset="2"/>
              <a:buNone/>
              <a:defRPr/>
            </a:pPr>
            <a:r>
              <a:rPr lang="zh-CN" altLang="en-US" sz="3600" b="1" dirty="0">
                <a:latin typeface="黑体" pitchFamily="2" charset="-122"/>
                <a:ea typeface="黑体" pitchFamily="2" charset="-122"/>
              </a:rPr>
              <a:t> </a:t>
            </a:r>
            <a:r>
              <a:rPr lang="en-US" altLang="zh-CN" sz="3600" b="1" dirty="0" err="1">
                <a:latin typeface="黑体" pitchFamily="2" charset="-122"/>
                <a:ea typeface="黑体" pitchFamily="2" charset="-122"/>
              </a:rPr>
              <a:t>printf</a:t>
            </a:r>
            <a:r>
              <a:rPr lang="en-US" altLang="zh-CN" sz="3600" b="1" dirty="0">
                <a:latin typeface="黑体" pitchFamily="2" charset="-122"/>
                <a:ea typeface="黑体" pitchFamily="2" charset="-122"/>
              </a:rPr>
              <a:t>("This book is &lt;Programming with C languages&gt;.\n");</a:t>
            </a:r>
          </a:p>
          <a:p>
            <a:pPr marL="274320" indent="-274320" algn="just" fontAlgn="auto">
              <a:spcAft>
                <a:spcPts val="0"/>
              </a:spcAft>
              <a:buClr>
                <a:schemeClr val="accent3"/>
              </a:buClr>
              <a:buFont typeface="Monotype Sorts" pitchFamily="2" charset="2"/>
              <a:buNone/>
              <a:defRPr/>
            </a:pPr>
            <a:r>
              <a:rPr lang="en-US" altLang="zh-CN" sz="3600" b="1" dirty="0">
                <a:latin typeface="黑体" pitchFamily="2" charset="-122"/>
                <a:ea typeface="黑体" pitchFamily="2" charset="-122"/>
              </a:rPr>
              <a:t>}</a:t>
            </a:r>
          </a:p>
        </p:txBody>
      </p:sp>
      <p:sp>
        <p:nvSpPr>
          <p:cNvPr id="6" name="灯片编号占位符 5"/>
          <p:cNvSpPr>
            <a:spLocks noGrp="1"/>
          </p:cNvSpPr>
          <p:nvPr>
            <p:ph type="sldNum" sz="quarter" idx="12"/>
          </p:nvPr>
        </p:nvSpPr>
        <p:spPr/>
        <p:txBody>
          <a:bodyPr/>
          <a:lstStyle/>
          <a:p>
            <a:pPr defTabSz="1128713">
              <a:defRPr/>
            </a:pPr>
            <a:fld id="{267124D2-4253-4977-A384-FCEB0980096E}" type="slidenum">
              <a:rPr lang="zh-CN" altLang="en-US">
                <a:latin typeface="+mn-lt"/>
              </a:rPr>
              <a:pPr defTabSz="1128713">
                <a:defRPr/>
              </a:pPr>
              <a:t>75</a:t>
            </a:fld>
            <a:endParaRPr lang="en-US" altLang="zh-CN">
              <a:latin typeface="+mn-lt"/>
            </a:endParaRPr>
          </a:p>
        </p:txBody>
      </p:sp>
    </p:spTree>
  </p:cSld>
  <p:clrMapOvr>
    <a:masterClrMapping/>
  </p:clrMapOvr>
  <p:transition>
    <p:random/>
  </p:transition>
</p:sld>
</file>

<file path=ppt/slides/slide7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586" name="Rectangle 1026"/>
          <p:cNvSpPr>
            <a:spLocks noGrp="1" noChangeArrowheads="1"/>
          </p:cNvSpPr>
          <p:nvPr>
            <p:ph type="title"/>
          </p:nvPr>
        </p:nvSpPr>
        <p:spPr>
          <a:xfrm>
            <a:off x="381000" y="304800"/>
            <a:ext cx="8458200" cy="762000"/>
          </a:xfrm>
        </p:spPr>
        <p:txBody>
          <a:bodyPr/>
          <a:lstStyle/>
          <a:p>
            <a:r>
              <a:rPr lang="en-US" altLang="zh-CN" sz="4400" dirty="0">
                <a:solidFill>
                  <a:srgbClr val="FF0000"/>
                </a:solidFill>
                <a:latin typeface="Times New Roman" pitchFamily="18" charset="0"/>
              </a:rPr>
              <a:t>C </a:t>
            </a:r>
            <a:r>
              <a:rPr lang="zh-CN" altLang="en-US" sz="4400" dirty="0">
                <a:solidFill>
                  <a:srgbClr val="FF0000"/>
                </a:solidFill>
                <a:latin typeface="楷体_GB2312" pitchFamily="49" charset="-122"/>
              </a:rPr>
              <a:t>程序有以下几个特点</a:t>
            </a:r>
          </a:p>
        </p:txBody>
      </p:sp>
      <p:sp>
        <p:nvSpPr>
          <p:cNvPr id="221187" name="Rectangle 1027"/>
          <p:cNvSpPr>
            <a:spLocks noGrp="1" noChangeArrowheads="1"/>
          </p:cNvSpPr>
          <p:nvPr>
            <p:ph idx="1"/>
          </p:nvPr>
        </p:nvSpPr>
        <p:spPr>
          <a:xfrm>
            <a:off x="395288" y="1196975"/>
            <a:ext cx="8382000" cy="5257800"/>
          </a:xfrm>
        </p:spPr>
        <p:txBody>
          <a:bodyPr>
            <a:normAutofit lnSpcReduction="10000"/>
          </a:bodyPr>
          <a:lstStyle/>
          <a:p>
            <a:pPr marL="274320" indent="-274320" fontAlgn="auto">
              <a:spcAft>
                <a:spcPts val="0"/>
              </a:spcAft>
              <a:buClr>
                <a:schemeClr val="accent3"/>
              </a:buClr>
              <a:buSzPct val="85000"/>
              <a:buFont typeface="Wingdings 2"/>
              <a:buChar char=""/>
              <a:defRPr/>
            </a:pPr>
            <a:r>
              <a:rPr lang="zh-CN" altLang="en-US" sz="4000" b="1" dirty="0">
                <a:latin typeface="楷体_GB2312" pitchFamily="49" charset="-122"/>
                <a:ea typeface="楷体_GB2312" pitchFamily="49" charset="-122"/>
              </a:rPr>
              <a:t>任何可执行的Ｃ程序都有一个名为 </a:t>
            </a:r>
            <a:r>
              <a:rPr lang="en-US" altLang="zh-CN" sz="4000" b="1" dirty="0">
                <a:latin typeface="楷体_GB2312" pitchFamily="49" charset="-122"/>
                <a:ea typeface="楷体_GB2312" pitchFamily="49" charset="-122"/>
              </a:rPr>
              <a:t>main </a:t>
            </a:r>
            <a:r>
              <a:rPr lang="zh-CN" altLang="en-US" sz="4000" b="1" dirty="0">
                <a:latin typeface="楷体_GB2312" pitchFamily="49" charset="-122"/>
                <a:ea typeface="楷体_GB2312" pitchFamily="49" charset="-122"/>
              </a:rPr>
              <a:t>的主函数（</a:t>
            </a:r>
            <a:r>
              <a:rPr lang="en-US" altLang="zh-CN" sz="3500" b="1" dirty="0">
                <a:solidFill>
                  <a:schemeClr val="tx2"/>
                </a:solidFill>
                <a:latin typeface="楷体_GB2312" pitchFamily="49" charset="-122"/>
                <a:ea typeface="楷体_GB2312" pitchFamily="49" charset="-122"/>
              </a:rPr>
              <a:t>C</a:t>
            </a:r>
            <a:r>
              <a:rPr lang="zh-CN" altLang="en-US" sz="3500" b="1" dirty="0">
                <a:solidFill>
                  <a:schemeClr val="tx2"/>
                </a:solidFill>
                <a:latin typeface="楷体_GB2312" pitchFamily="49" charset="-122"/>
                <a:ea typeface="楷体_GB2312" pitchFamily="49" charset="-122"/>
              </a:rPr>
              <a:t>程序一般由多个函数组成，但是只能有</a:t>
            </a:r>
            <a:r>
              <a:rPr lang="zh-CN" altLang="en-US" sz="3500" b="1" dirty="0">
                <a:solidFill>
                  <a:schemeClr val="tx2"/>
                </a:solidFill>
                <a:highlight>
                  <a:srgbClr val="FFFF00"/>
                </a:highlight>
                <a:latin typeface="楷体_GB2312" pitchFamily="49" charset="-122"/>
                <a:ea typeface="楷体_GB2312" pitchFamily="49" charset="-122"/>
              </a:rPr>
              <a:t>一个</a:t>
            </a:r>
            <a:r>
              <a:rPr lang="en-US" altLang="zh-CN" sz="3500" b="1" dirty="0">
                <a:solidFill>
                  <a:schemeClr val="tx2"/>
                </a:solidFill>
                <a:highlight>
                  <a:srgbClr val="FFFF00"/>
                </a:highlight>
                <a:latin typeface="楷体_GB2312" pitchFamily="49" charset="-122"/>
                <a:ea typeface="楷体_GB2312" pitchFamily="49" charset="-122"/>
              </a:rPr>
              <a:t>main</a:t>
            </a:r>
            <a:r>
              <a:rPr lang="zh-CN" altLang="en-US" sz="3500" b="1" dirty="0">
                <a:solidFill>
                  <a:schemeClr val="tx2"/>
                </a:solidFill>
                <a:highlight>
                  <a:srgbClr val="FFFF00"/>
                </a:highlight>
                <a:latin typeface="楷体_GB2312" pitchFamily="49" charset="-122"/>
                <a:ea typeface="楷体_GB2312" pitchFamily="49" charset="-122"/>
              </a:rPr>
              <a:t>函数</a:t>
            </a:r>
            <a:r>
              <a:rPr lang="zh-CN" altLang="en-US" sz="3500" b="1" dirty="0">
                <a:solidFill>
                  <a:schemeClr val="tx2"/>
                </a:solidFill>
                <a:latin typeface="楷体_GB2312" pitchFamily="49" charset="-122"/>
                <a:ea typeface="楷体_GB2312" pitchFamily="49" charset="-122"/>
              </a:rPr>
              <a:t>，不论</a:t>
            </a:r>
            <a:r>
              <a:rPr lang="en-US" altLang="zh-CN" sz="3500" b="1" dirty="0">
                <a:solidFill>
                  <a:schemeClr val="tx2"/>
                </a:solidFill>
                <a:latin typeface="楷体_GB2312" pitchFamily="49" charset="-122"/>
                <a:ea typeface="楷体_GB2312" pitchFamily="49" charset="-122"/>
              </a:rPr>
              <a:t>main</a:t>
            </a:r>
            <a:r>
              <a:rPr lang="zh-CN" altLang="en-US" sz="3500" b="1" dirty="0">
                <a:solidFill>
                  <a:schemeClr val="tx2"/>
                </a:solidFill>
                <a:latin typeface="楷体_GB2312" pitchFamily="49" charset="-122"/>
                <a:ea typeface="楷体_GB2312" pitchFamily="49" charset="-122"/>
              </a:rPr>
              <a:t>的位置如何，程序首先从</a:t>
            </a:r>
            <a:r>
              <a:rPr lang="en-US" altLang="zh-CN" sz="3500" b="1" dirty="0">
                <a:solidFill>
                  <a:schemeClr val="tx2"/>
                </a:solidFill>
                <a:latin typeface="楷体_GB2312" pitchFamily="49" charset="-122"/>
                <a:ea typeface="楷体_GB2312" pitchFamily="49" charset="-122"/>
              </a:rPr>
              <a:t>main</a:t>
            </a:r>
            <a:r>
              <a:rPr lang="zh-CN" altLang="en-US" sz="3500" b="1" dirty="0">
                <a:solidFill>
                  <a:schemeClr val="tx2"/>
                </a:solidFill>
                <a:latin typeface="楷体_GB2312" pitchFamily="49" charset="-122"/>
                <a:ea typeface="楷体_GB2312" pitchFamily="49" charset="-122"/>
              </a:rPr>
              <a:t>函数开始执行</a:t>
            </a:r>
            <a:r>
              <a:rPr lang="zh-CN" altLang="en-US" sz="4000" b="1" dirty="0">
                <a:latin typeface="楷体_GB2312" pitchFamily="49" charset="-122"/>
                <a:ea typeface="楷体_GB2312" pitchFamily="49" charset="-122"/>
              </a:rPr>
              <a:t>）。</a:t>
            </a:r>
          </a:p>
          <a:p>
            <a:pPr marL="274320" indent="-274320" algn="just" fontAlgn="auto">
              <a:spcAft>
                <a:spcPts val="0"/>
              </a:spcAft>
              <a:buClr>
                <a:schemeClr val="accent3"/>
              </a:buClr>
              <a:buSzPct val="85000"/>
              <a:buFont typeface="Wingdings 2"/>
              <a:buChar char=""/>
              <a:defRPr/>
            </a:pPr>
            <a:r>
              <a:rPr lang="zh-CN" altLang="en-US" sz="4000" b="1" dirty="0">
                <a:latin typeface="楷体_GB2312" pitchFamily="49" charset="-122"/>
                <a:ea typeface="楷体_GB2312" pitchFamily="49" charset="-122"/>
              </a:rPr>
              <a:t>在函数名之后要有一对圆括号。</a:t>
            </a:r>
          </a:p>
          <a:p>
            <a:pPr marL="274320" indent="-274320" algn="just" fontAlgn="auto">
              <a:spcAft>
                <a:spcPts val="0"/>
              </a:spcAft>
              <a:buClr>
                <a:schemeClr val="accent3"/>
              </a:buClr>
              <a:buSzPct val="85000"/>
              <a:buFont typeface="Wingdings 2"/>
              <a:buChar char=""/>
              <a:defRPr/>
            </a:pPr>
            <a:r>
              <a:rPr lang="zh-CN" altLang="en-US" sz="4000" b="1" dirty="0">
                <a:latin typeface="楷体_GB2312" pitchFamily="49" charset="-122"/>
                <a:ea typeface="楷体_GB2312" pitchFamily="49" charset="-122"/>
              </a:rPr>
              <a:t>函数体用花括号</a:t>
            </a:r>
            <a:r>
              <a:rPr lang="zh-CN" altLang="en-US" sz="4000" b="1" dirty="0">
                <a:latin typeface="Times New Roman"/>
                <a:ea typeface="楷体_GB2312" pitchFamily="49" charset="-122"/>
              </a:rPr>
              <a:t>“</a:t>
            </a:r>
            <a:r>
              <a:rPr lang="zh-CN" altLang="en-US" sz="4000" b="1" dirty="0">
                <a:latin typeface="楷体_GB2312" pitchFamily="49" charset="-122"/>
                <a:ea typeface="楷体_GB2312" pitchFamily="49" charset="-122"/>
              </a:rPr>
              <a:t>{ }</a:t>
            </a:r>
            <a:r>
              <a:rPr lang="zh-CN" altLang="en-US" sz="4000" b="1" dirty="0">
                <a:latin typeface="Times New Roman"/>
                <a:ea typeface="楷体_GB2312" pitchFamily="49" charset="-122"/>
              </a:rPr>
              <a:t>”</a:t>
            </a:r>
            <a:r>
              <a:rPr lang="zh-CN" altLang="en-US" sz="4000" b="1" dirty="0">
                <a:latin typeface="楷体_GB2312" pitchFamily="49" charset="-122"/>
                <a:ea typeface="楷体_GB2312" pitchFamily="49" charset="-122"/>
              </a:rPr>
              <a:t> 括住。花括号可以用来括起任何一组Ｃ代码，从而构成复合语句或分程序。</a:t>
            </a:r>
            <a:endParaRPr lang="zh-CN" altLang="zh-CN" sz="4000" dirty="0">
              <a:latin typeface="Times New Roman" pitchFamily="18" charset="0"/>
            </a:endParaRPr>
          </a:p>
        </p:txBody>
      </p:sp>
      <p:sp>
        <p:nvSpPr>
          <p:cNvPr id="6" name="灯片编号占位符 5"/>
          <p:cNvSpPr>
            <a:spLocks noGrp="1"/>
          </p:cNvSpPr>
          <p:nvPr>
            <p:ph type="sldNum" sz="quarter" idx="12"/>
          </p:nvPr>
        </p:nvSpPr>
        <p:spPr/>
        <p:txBody>
          <a:bodyPr/>
          <a:lstStyle/>
          <a:p>
            <a:pPr defTabSz="1128713">
              <a:defRPr/>
            </a:pPr>
            <a:fld id="{A0E20C10-F00F-4F38-B322-3AD3CC7869AE}" type="slidenum">
              <a:rPr lang="zh-CN" altLang="en-US">
                <a:latin typeface="+mn-lt"/>
              </a:rPr>
              <a:pPr defTabSz="1128713">
                <a:defRPr/>
              </a:pPr>
              <a:t>76</a:t>
            </a:fld>
            <a:endParaRPr lang="en-US" altLang="zh-CN">
              <a:latin typeface="+mn-lt"/>
            </a:endParaRPr>
          </a:p>
        </p:txBody>
      </p:sp>
    </p:spTree>
  </p:cSld>
  <p:clrMapOvr>
    <a:masterClrMapping/>
  </p:clrMapOvr>
  <p:transition>
    <p:random/>
  </p:transition>
</p:sld>
</file>

<file path=ppt/slides/slide7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610" name="Rectangle 3"/>
          <p:cNvSpPr>
            <a:spLocks noGrp="1" noChangeArrowheads="1"/>
          </p:cNvSpPr>
          <p:nvPr>
            <p:ph idx="1"/>
          </p:nvPr>
        </p:nvSpPr>
        <p:spPr>
          <a:xfrm>
            <a:off x="251520" y="836712"/>
            <a:ext cx="8382000" cy="5257800"/>
          </a:xfrm>
        </p:spPr>
        <p:txBody>
          <a:bodyPr/>
          <a:lstStyle/>
          <a:p>
            <a:pPr>
              <a:buSzPct val="80000"/>
            </a:pPr>
            <a:r>
              <a:rPr lang="zh-CN" altLang="en-US" sz="4000" b="1" dirty="0">
                <a:latin typeface="楷体_GB2312" pitchFamily="49" charset="-122"/>
                <a:ea typeface="楷体_GB2312" pitchFamily="49" charset="-122"/>
              </a:rPr>
              <a:t>简单Ｃ语句之后有一个分号</a:t>
            </a:r>
            <a:r>
              <a:rPr lang="zh-CN" altLang="en-US" sz="4000" b="1" dirty="0">
                <a:latin typeface="Times New Roman" pitchFamily="18" charset="0"/>
                <a:ea typeface="楷体_GB2312" pitchFamily="49" charset="-122"/>
              </a:rPr>
              <a:t>“</a:t>
            </a:r>
            <a:r>
              <a:rPr lang="zh-CN" altLang="en-US" sz="4000" b="1" dirty="0">
                <a:latin typeface="楷体_GB2312" pitchFamily="49" charset="-122"/>
                <a:ea typeface="楷体_GB2312" pitchFamily="49" charset="-122"/>
              </a:rPr>
              <a:t>;</a:t>
            </a:r>
            <a:r>
              <a:rPr lang="zh-CN" altLang="en-US" sz="4000" b="1" dirty="0">
                <a:latin typeface="Times New Roman" pitchFamily="18" charset="0"/>
                <a:ea typeface="楷体_GB2312" pitchFamily="49" charset="-122"/>
              </a:rPr>
              <a:t>”</a:t>
            </a:r>
            <a:r>
              <a:rPr lang="zh-CN" altLang="en-US" sz="4000" b="1" dirty="0">
                <a:latin typeface="楷体_GB2312" pitchFamily="49" charset="-122"/>
                <a:ea typeface="楷体_GB2312" pitchFamily="49" charset="-122"/>
              </a:rPr>
              <a:t>。</a:t>
            </a:r>
          </a:p>
          <a:p>
            <a:pPr algn="just">
              <a:buSzPct val="80000"/>
            </a:pPr>
            <a:r>
              <a:rPr lang="zh-CN" altLang="en-US" sz="4000" b="1" dirty="0">
                <a:latin typeface="楷体_GB2312" pitchFamily="49" charset="-122"/>
                <a:ea typeface="楷体_GB2312" pitchFamily="49" charset="-122"/>
              </a:rPr>
              <a:t>程序中的</a:t>
            </a:r>
            <a:r>
              <a:rPr lang="zh-CN" altLang="en-US" sz="4000" b="1" dirty="0">
                <a:latin typeface="Times New Roman" pitchFamily="18" charset="0"/>
                <a:ea typeface="楷体_GB2312" pitchFamily="49" charset="-122"/>
              </a:rPr>
              <a:t>“</a:t>
            </a:r>
            <a:r>
              <a:rPr lang="zh-CN" altLang="en-US" sz="4000" b="1" dirty="0">
                <a:latin typeface="楷体_GB2312" pitchFamily="49" charset="-122"/>
                <a:ea typeface="楷体_GB2312" pitchFamily="49" charset="-122"/>
              </a:rPr>
              <a:t>/* </a:t>
            </a:r>
            <a:r>
              <a:rPr lang="zh-CN" altLang="en-US" sz="4000" b="1" dirty="0">
                <a:latin typeface="Times New Roman" pitchFamily="18" charset="0"/>
                <a:ea typeface="楷体_GB2312" pitchFamily="49" charset="-122"/>
              </a:rPr>
              <a:t>…</a:t>
            </a:r>
            <a:r>
              <a:rPr lang="zh-CN" altLang="en-US" sz="4000" b="1" dirty="0">
                <a:latin typeface="楷体_GB2312" pitchFamily="49" charset="-122"/>
                <a:ea typeface="楷体_GB2312" pitchFamily="49" charset="-122"/>
              </a:rPr>
              <a:t> */</a:t>
            </a:r>
            <a:r>
              <a:rPr lang="zh-CN" altLang="en-US" sz="4000" b="1" dirty="0">
                <a:latin typeface="Times New Roman" pitchFamily="18" charset="0"/>
                <a:ea typeface="楷体_GB2312" pitchFamily="49" charset="-122"/>
              </a:rPr>
              <a:t>”</a:t>
            </a:r>
            <a:r>
              <a:rPr lang="zh-CN" altLang="en-US" sz="4000" b="1" dirty="0">
                <a:latin typeface="楷体_GB2312" pitchFamily="49" charset="-122"/>
                <a:ea typeface="楷体_GB2312" pitchFamily="49" charset="-122"/>
              </a:rPr>
              <a:t>表示程序的注释部分。注释便于人阅读程序，对程序编译和运行都没有作用。</a:t>
            </a:r>
            <a:endParaRPr lang="en-US" altLang="zh-CN" sz="4000" b="1" dirty="0">
              <a:latin typeface="楷体_GB2312" pitchFamily="49" charset="-122"/>
              <a:ea typeface="楷体_GB2312" pitchFamily="49" charset="-122"/>
            </a:endParaRPr>
          </a:p>
          <a:p>
            <a:pPr algn="just">
              <a:buSzPct val="80000"/>
            </a:pPr>
            <a:r>
              <a:rPr lang="en-US" altLang="zh-CN" sz="4000" b="1" dirty="0">
                <a:latin typeface="楷体_GB2312" pitchFamily="49" charset="-122"/>
                <a:ea typeface="楷体_GB2312" pitchFamily="49" charset="-122"/>
              </a:rPr>
              <a:t>C</a:t>
            </a:r>
            <a:r>
              <a:rPr lang="zh-CN" altLang="en-US" sz="4000" b="1" dirty="0">
                <a:latin typeface="楷体_GB2312" pitchFamily="49" charset="-122"/>
                <a:ea typeface="楷体_GB2312" pitchFamily="49" charset="-122"/>
              </a:rPr>
              <a:t>程序中无论函数或变量、常量都必须先定义后使用。</a:t>
            </a:r>
          </a:p>
          <a:p>
            <a:pPr algn="just">
              <a:buSzPct val="80000"/>
            </a:pPr>
            <a:r>
              <a:rPr lang="zh-CN" altLang="en-US" sz="4000" b="1" dirty="0">
                <a:latin typeface="楷体_GB2312" pitchFamily="49" charset="-122"/>
                <a:ea typeface="楷体_GB2312" pitchFamily="49" charset="-122"/>
              </a:rPr>
              <a:t>#</a:t>
            </a:r>
            <a:r>
              <a:rPr lang="en-US" altLang="zh-CN" sz="4000" b="1" dirty="0">
                <a:latin typeface="楷体_GB2312" pitchFamily="49" charset="-122"/>
                <a:ea typeface="楷体_GB2312" pitchFamily="49" charset="-122"/>
              </a:rPr>
              <a:t>include  &lt;</a:t>
            </a:r>
            <a:r>
              <a:rPr lang="en-US" altLang="zh-CN" sz="4000" b="1" dirty="0" err="1">
                <a:latin typeface="楷体_GB2312" pitchFamily="49" charset="-122"/>
                <a:ea typeface="楷体_GB2312" pitchFamily="49" charset="-122"/>
              </a:rPr>
              <a:t>stdio.h</a:t>
            </a:r>
            <a:r>
              <a:rPr lang="en-US" altLang="zh-CN" sz="4000" b="1" dirty="0">
                <a:latin typeface="楷体_GB2312" pitchFamily="49" charset="-122"/>
                <a:ea typeface="楷体_GB2312" pitchFamily="49" charset="-122"/>
              </a:rPr>
              <a:t>&gt;</a:t>
            </a:r>
            <a:r>
              <a:rPr lang="zh-CN" altLang="en-US" sz="4000" b="1" dirty="0">
                <a:latin typeface="楷体_GB2312" pitchFamily="49" charset="-122"/>
                <a:ea typeface="楷体_GB2312" pitchFamily="49" charset="-122"/>
              </a:rPr>
              <a:t>是编译预处理命令行，指明有关输入和输出标准函数也将是程序的一部分。</a:t>
            </a:r>
            <a:endParaRPr lang="zh-CN" altLang="zh-CN" dirty="0">
              <a:latin typeface="Times New Roman" pitchFamily="18" charset="0"/>
            </a:endParaRPr>
          </a:p>
        </p:txBody>
      </p:sp>
      <p:sp>
        <p:nvSpPr>
          <p:cNvPr id="6" name="灯片编号占位符 5"/>
          <p:cNvSpPr>
            <a:spLocks noGrp="1"/>
          </p:cNvSpPr>
          <p:nvPr>
            <p:ph type="sldNum" sz="quarter" idx="12"/>
          </p:nvPr>
        </p:nvSpPr>
        <p:spPr/>
        <p:txBody>
          <a:bodyPr/>
          <a:lstStyle/>
          <a:p>
            <a:pPr defTabSz="1128713">
              <a:defRPr/>
            </a:pPr>
            <a:fld id="{358B30D9-3634-48CD-BC02-E2E6994CA268}" type="slidenum">
              <a:rPr lang="zh-CN" altLang="en-US">
                <a:latin typeface="+mn-lt"/>
              </a:rPr>
              <a:pPr defTabSz="1128713">
                <a:defRPr/>
              </a:pPr>
              <a:t>77</a:t>
            </a:fld>
            <a:endParaRPr lang="en-US" altLang="zh-CN">
              <a:latin typeface="+mn-lt"/>
            </a:endParaRPr>
          </a:p>
        </p:txBody>
      </p:sp>
    </p:spTree>
  </p:cSld>
  <p:clrMapOvr>
    <a:masterClrMapping/>
  </p:clrMapOvr>
  <p:transition>
    <p:random/>
  </p:transition>
</p:sld>
</file>

<file path=ppt/slides/slide7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3235" name="Rectangle 3"/>
          <p:cNvSpPr>
            <a:spLocks noGrp="1" noChangeArrowheads="1"/>
          </p:cNvSpPr>
          <p:nvPr>
            <p:ph type="title"/>
          </p:nvPr>
        </p:nvSpPr>
        <p:spPr>
          <a:xfrm>
            <a:off x="468313" y="404813"/>
            <a:ext cx="8304212" cy="792162"/>
          </a:xfrm>
        </p:spPr>
        <p:txBody>
          <a:bodyPr>
            <a:normAutofit/>
          </a:bodyPr>
          <a:lstStyle/>
          <a:p>
            <a:pPr fontAlgn="auto">
              <a:lnSpc>
                <a:spcPct val="115000"/>
              </a:lnSpc>
              <a:spcBef>
                <a:spcPct val="25000"/>
              </a:spcBef>
              <a:spcAft>
                <a:spcPts val="0"/>
              </a:spcAft>
              <a:defRPr/>
            </a:pPr>
            <a:r>
              <a:rPr lang="zh-CN" altLang="en-US" sz="3600" b="1" dirty="0">
                <a:solidFill>
                  <a:schemeClr val="tx1"/>
                </a:solidFill>
                <a:effectLst>
                  <a:outerShdw blurRad="38100" dist="38100" dir="2700000" algn="tl">
                    <a:srgbClr val="000000">
                      <a:alpha val="43137"/>
                    </a:srgbClr>
                  </a:outerShdw>
                </a:effectLst>
                <a:latin typeface="楷体_GB2312" pitchFamily="49" charset="-122"/>
                <a:ea typeface="楷体_GB2312" pitchFamily="49" charset="-122"/>
              </a:rPr>
              <a:t>读入两个整数，输出它们的和</a:t>
            </a:r>
            <a:endParaRPr lang="zh-CN" altLang="en-US" sz="4900" b="1" dirty="0">
              <a:solidFill>
                <a:schemeClr val="tx1"/>
              </a:solidFill>
              <a:effectLst>
                <a:outerShdw blurRad="38100" dist="38100" dir="2700000" algn="tl">
                  <a:srgbClr val="000000">
                    <a:alpha val="43137"/>
                  </a:srgbClr>
                </a:outerShdw>
              </a:effectLst>
              <a:latin typeface="楷体_GB2312" pitchFamily="49" charset="-122"/>
              <a:ea typeface="楷体_GB2312" pitchFamily="49" charset="-122"/>
            </a:endParaRPr>
          </a:p>
        </p:txBody>
      </p:sp>
      <p:sp>
        <p:nvSpPr>
          <p:cNvPr id="63491" name="Rectangle 2"/>
          <p:cNvSpPr>
            <a:spLocks noGrp="1" noChangeArrowheads="1"/>
          </p:cNvSpPr>
          <p:nvPr>
            <p:ph idx="1"/>
          </p:nvPr>
        </p:nvSpPr>
        <p:spPr>
          <a:xfrm>
            <a:off x="468313" y="1341438"/>
            <a:ext cx="8424862" cy="5099050"/>
          </a:xfrm>
        </p:spPr>
        <p:txBody>
          <a:bodyPr>
            <a:normAutofit fontScale="92500" lnSpcReduction="10000"/>
          </a:bodyPr>
          <a:lstStyle/>
          <a:p>
            <a:pPr marL="274320" indent="-274320" algn="just" fontAlgn="auto">
              <a:spcAft>
                <a:spcPts val="0"/>
              </a:spcAft>
              <a:buClr>
                <a:schemeClr val="accent3"/>
              </a:buClr>
              <a:buFont typeface="Monotype Sorts" charset="2"/>
              <a:buNone/>
              <a:defRPr/>
            </a:pPr>
            <a:r>
              <a:rPr lang="zh-CN" altLang="en-US" sz="2800" b="1" dirty="0">
                <a:latin typeface="黑体" pitchFamily="2" charset="-122"/>
                <a:ea typeface="黑体" pitchFamily="2" charset="-122"/>
              </a:rPr>
              <a:t>#</a:t>
            </a:r>
            <a:r>
              <a:rPr lang="en-US" altLang="zh-CN" sz="2800" b="1" dirty="0">
                <a:latin typeface="黑体" pitchFamily="2" charset="-122"/>
                <a:ea typeface="黑体" pitchFamily="2" charset="-122"/>
              </a:rPr>
              <a:t>include  &lt;</a:t>
            </a:r>
            <a:r>
              <a:rPr lang="en-US" altLang="zh-CN" sz="2800" b="1" dirty="0" err="1">
                <a:latin typeface="黑体" pitchFamily="2" charset="-122"/>
                <a:ea typeface="黑体" pitchFamily="2" charset="-122"/>
              </a:rPr>
              <a:t>stdio.h</a:t>
            </a:r>
            <a:r>
              <a:rPr lang="en-US" altLang="zh-CN" sz="2800" b="1" dirty="0">
                <a:latin typeface="黑体" pitchFamily="2" charset="-122"/>
                <a:ea typeface="黑体" pitchFamily="2" charset="-122"/>
              </a:rPr>
              <a:t>&gt;</a:t>
            </a:r>
          </a:p>
          <a:p>
            <a:pPr marL="274320" indent="-274320" algn="just" fontAlgn="auto">
              <a:spcAft>
                <a:spcPts val="0"/>
              </a:spcAft>
              <a:buClr>
                <a:schemeClr val="accent3"/>
              </a:buClr>
              <a:buFont typeface="Monotype Sorts" charset="2"/>
              <a:buNone/>
              <a:defRPr/>
            </a:pPr>
            <a:r>
              <a:rPr lang="en-US" altLang="zh-CN" sz="2800" b="1" dirty="0">
                <a:latin typeface="黑体" pitchFamily="2" charset="-122"/>
                <a:ea typeface="黑体" pitchFamily="2" charset="-122"/>
              </a:rPr>
              <a:t> </a:t>
            </a:r>
            <a:r>
              <a:rPr lang="en-US" altLang="zh-CN" sz="2800" b="1" dirty="0">
                <a:solidFill>
                  <a:srgbClr val="FF0000"/>
                </a:solidFill>
                <a:latin typeface="黑体" pitchFamily="2" charset="-122"/>
                <a:ea typeface="黑体" pitchFamily="2" charset="-122"/>
              </a:rPr>
              <a:t>void</a:t>
            </a:r>
            <a:r>
              <a:rPr lang="en-US" altLang="zh-CN" sz="2800" b="1" dirty="0">
                <a:latin typeface="黑体" pitchFamily="2" charset="-122"/>
                <a:ea typeface="黑体" pitchFamily="2" charset="-122"/>
              </a:rPr>
              <a:t> main()</a:t>
            </a:r>
          </a:p>
          <a:p>
            <a:pPr marL="274320" indent="-274320" algn="just" fontAlgn="auto">
              <a:spcAft>
                <a:spcPts val="0"/>
              </a:spcAft>
              <a:buClr>
                <a:schemeClr val="accent3"/>
              </a:buClr>
              <a:buFont typeface="Monotype Sorts" charset="2"/>
              <a:buNone/>
              <a:defRPr/>
            </a:pPr>
            <a:r>
              <a:rPr lang="en-US" altLang="zh-CN" sz="2800" b="1" dirty="0">
                <a:latin typeface="黑体" pitchFamily="2" charset="-122"/>
                <a:ea typeface="黑体" pitchFamily="2" charset="-122"/>
              </a:rPr>
              <a:t> {  </a:t>
            </a:r>
            <a:r>
              <a:rPr lang="en-US" altLang="zh-CN" sz="2800" b="1" dirty="0">
                <a:solidFill>
                  <a:srgbClr val="0000FF"/>
                </a:solidFill>
                <a:latin typeface="黑体" pitchFamily="2" charset="-122"/>
                <a:ea typeface="黑体" pitchFamily="2" charset="-122"/>
              </a:rPr>
              <a:t>/* </a:t>
            </a:r>
            <a:r>
              <a:rPr lang="zh-CN" altLang="en-US" sz="2800" b="1" dirty="0">
                <a:solidFill>
                  <a:srgbClr val="0000FF"/>
                </a:solidFill>
                <a:latin typeface="黑体" pitchFamily="2" charset="-122"/>
                <a:ea typeface="黑体" pitchFamily="2" charset="-122"/>
              </a:rPr>
              <a:t>变量定义部分 */</a:t>
            </a:r>
          </a:p>
          <a:p>
            <a:pPr marL="274320" indent="-274320" algn="just" fontAlgn="auto">
              <a:spcAft>
                <a:spcPts val="0"/>
              </a:spcAft>
              <a:buClr>
                <a:schemeClr val="accent3"/>
              </a:buClr>
              <a:buFont typeface="Monotype Sorts" charset="2"/>
              <a:buNone/>
              <a:defRPr/>
            </a:pPr>
            <a:r>
              <a:rPr lang="zh-CN" altLang="en-US" sz="2800" b="1" dirty="0">
                <a:latin typeface="黑体" pitchFamily="2" charset="-122"/>
                <a:ea typeface="黑体" pitchFamily="2" charset="-122"/>
              </a:rPr>
              <a:t> </a:t>
            </a:r>
            <a:r>
              <a:rPr lang="en-US" altLang="zh-CN" sz="2800" b="1" dirty="0" err="1">
                <a:solidFill>
                  <a:srgbClr val="FF0000"/>
                </a:solidFill>
                <a:latin typeface="黑体" pitchFamily="2" charset="-122"/>
                <a:ea typeface="黑体" pitchFamily="2" charset="-122"/>
              </a:rPr>
              <a:t>int</a:t>
            </a:r>
            <a:r>
              <a:rPr lang="en-US" altLang="zh-CN" sz="2800" b="1" dirty="0">
                <a:latin typeface="黑体" pitchFamily="2" charset="-122"/>
                <a:ea typeface="黑体" pitchFamily="2" charset="-122"/>
              </a:rPr>
              <a:t> x = 9, y, sum; /* </a:t>
            </a:r>
            <a:r>
              <a:rPr lang="zh-CN" altLang="en-US" sz="2800" b="1" dirty="0">
                <a:latin typeface="黑体" pitchFamily="2" charset="-122"/>
                <a:ea typeface="黑体" pitchFamily="2" charset="-122"/>
              </a:rPr>
              <a:t>定义 </a:t>
            </a:r>
            <a:r>
              <a:rPr lang="en-US" altLang="zh-CN" sz="2800" b="1" dirty="0">
                <a:latin typeface="黑体" pitchFamily="2" charset="-122"/>
                <a:ea typeface="黑体" pitchFamily="2" charset="-122"/>
              </a:rPr>
              <a:t>x, y, sum */</a:t>
            </a:r>
          </a:p>
          <a:p>
            <a:pPr marL="274320" indent="-274320" algn="just" fontAlgn="auto">
              <a:spcAft>
                <a:spcPts val="0"/>
              </a:spcAft>
              <a:buClr>
                <a:schemeClr val="accent3"/>
              </a:buClr>
              <a:buFont typeface="Monotype Sorts" charset="2"/>
              <a:buNone/>
              <a:defRPr/>
            </a:pPr>
            <a:r>
              <a:rPr lang="en-US" altLang="zh-CN" sz="2800" b="1" dirty="0">
                <a:latin typeface="黑体" pitchFamily="2" charset="-122"/>
                <a:ea typeface="黑体" pitchFamily="2" charset="-122"/>
              </a:rPr>
              <a:t>  </a:t>
            </a:r>
          </a:p>
          <a:p>
            <a:pPr marL="274320" indent="-274320" algn="just" fontAlgn="auto">
              <a:spcAft>
                <a:spcPts val="0"/>
              </a:spcAft>
              <a:buClr>
                <a:schemeClr val="accent3"/>
              </a:buClr>
              <a:buFont typeface="Monotype Sorts" charset="2"/>
              <a:buNone/>
              <a:defRPr/>
            </a:pPr>
            <a:r>
              <a:rPr lang="en-US" altLang="zh-CN" sz="2800" b="1" dirty="0">
                <a:solidFill>
                  <a:srgbClr val="0000FF"/>
                </a:solidFill>
                <a:latin typeface="黑体" pitchFamily="2" charset="-122"/>
                <a:ea typeface="黑体" pitchFamily="2" charset="-122"/>
              </a:rPr>
              <a:t>/* </a:t>
            </a:r>
            <a:r>
              <a:rPr lang="zh-CN" altLang="en-US" sz="2800" b="1" dirty="0">
                <a:solidFill>
                  <a:srgbClr val="0000FF"/>
                </a:solidFill>
                <a:latin typeface="黑体" pitchFamily="2" charset="-122"/>
                <a:ea typeface="黑体" pitchFamily="2" charset="-122"/>
              </a:rPr>
              <a:t>以下为语句序列 */</a:t>
            </a:r>
          </a:p>
          <a:p>
            <a:pPr marL="274320" indent="-274320" algn="just" fontAlgn="auto">
              <a:spcAft>
                <a:spcPts val="0"/>
              </a:spcAft>
              <a:buClr>
                <a:schemeClr val="accent3"/>
              </a:buClr>
              <a:buFont typeface="Monotype Sorts" charset="2"/>
              <a:buNone/>
              <a:defRPr/>
            </a:pPr>
            <a:r>
              <a:rPr lang="zh-CN" altLang="en-US" sz="2800" b="1" dirty="0">
                <a:latin typeface="黑体" pitchFamily="2" charset="-122"/>
                <a:ea typeface="黑体" pitchFamily="2" charset="-122"/>
              </a:rPr>
              <a:t> </a:t>
            </a:r>
            <a:r>
              <a:rPr lang="en-US" altLang="zh-CN" sz="2800" b="1" dirty="0" err="1">
                <a:latin typeface="黑体" pitchFamily="2" charset="-122"/>
                <a:ea typeface="黑体" pitchFamily="2" charset="-122"/>
              </a:rPr>
              <a:t>printf</a:t>
            </a:r>
            <a:r>
              <a:rPr lang="en-US" altLang="zh-CN" sz="2800" b="1" dirty="0">
                <a:latin typeface="黑体" pitchFamily="2" charset="-122"/>
                <a:ea typeface="黑体" pitchFamily="2" charset="-122"/>
              </a:rPr>
              <a:t>("Input y\n");</a:t>
            </a:r>
            <a:r>
              <a:rPr lang="en-US" altLang="zh-CN" sz="2800" b="1" dirty="0">
                <a:solidFill>
                  <a:srgbClr val="0000FF"/>
                </a:solidFill>
                <a:latin typeface="黑体" pitchFamily="2" charset="-122"/>
                <a:ea typeface="黑体" pitchFamily="2" charset="-122"/>
              </a:rPr>
              <a:t>/*</a:t>
            </a:r>
            <a:r>
              <a:rPr lang="zh-CN" altLang="en-US" sz="2800" b="1" dirty="0">
                <a:solidFill>
                  <a:srgbClr val="0000FF"/>
                </a:solidFill>
                <a:latin typeface="黑体" pitchFamily="2" charset="-122"/>
                <a:ea typeface="黑体" pitchFamily="2" charset="-122"/>
              </a:rPr>
              <a:t>提示输入数据*/</a:t>
            </a:r>
          </a:p>
          <a:p>
            <a:pPr marL="274320" indent="-274320" algn="just" fontAlgn="auto">
              <a:spcAft>
                <a:spcPts val="0"/>
              </a:spcAft>
              <a:buClr>
                <a:schemeClr val="accent3"/>
              </a:buClr>
              <a:buFont typeface="Monotype Sorts" charset="2"/>
              <a:buNone/>
              <a:defRPr/>
            </a:pPr>
            <a:r>
              <a:rPr lang="zh-CN" altLang="en-US" sz="2800" b="1" dirty="0">
                <a:latin typeface="黑体" pitchFamily="2" charset="-122"/>
                <a:ea typeface="黑体" pitchFamily="2" charset="-122"/>
              </a:rPr>
              <a:t> </a:t>
            </a:r>
            <a:r>
              <a:rPr lang="en-US" altLang="zh-CN" sz="2800" b="1" dirty="0" err="1">
                <a:latin typeface="黑体" pitchFamily="2" charset="-122"/>
                <a:ea typeface="黑体" pitchFamily="2" charset="-122"/>
              </a:rPr>
              <a:t>scanf</a:t>
            </a:r>
            <a:r>
              <a:rPr lang="en-US" altLang="zh-CN" sz="2800" b="1" dirty="0">
                <a:latin typeface="黑体" pitchFamily="2" charset="-122"/>
                <a:ea typeface="黑体" pitchFamily="2" charset="-122"/>
              </a:rPr>
              <a:t>("%d", &amp;y); </a:t>
            </a:r>
            <a:r>
              <a:rPr lang="en-US" altLang="zh-CN" sz="2800" b="1" dirty="0">
                <a:solidFill>
                  <a:srgbClr val="0000FF"/>
                </a:solidFill>
                <a:latin typeface="黑体" pitchFamily="2" charset="-122"/>
                <a:ea typeface="黑体" pitchFamily="2" charset="-122"/>
              </a:rPr>
              <a:t>/* </a:t>
            </a:r>
            <a:r>
              <a:rPr lang="zh-CN" altLang="en-US" sz="2800" b="1" dirty="0">
                <a:solidFill>
                  <a:srgbClr val="0000FF"/>
                </a:solidFill>
                <a:latin typeface="黑体" pitchFamily="2" charset="-122"/>
                <a:ea typeface="黑体" pitchFamily="2" charset="-122"/>
              </a:rPr>
              <a:t>输入</a:t>
            </a:r>
            <a:r>
              <a:rPr lang="en-US" altLang="zh-CN" sz="2800" b="1" dirty="0">
                <a:solidFill>
                  <a:srgbClr val="0000FF"/>
                </a:solidFill>
                <a:latin typeface="黑体" pitchFamily="2" charset="-122"/>
                <a:ea typeface="黑体" pitchFamily="2" charset="-122"/>
              </a:rPr>
              <a:t>x</a:t>
            </a:r>
            <a:r>
              <a:rPr lang="zh-CN" altLang="en-US" sz="2800" b="1" dirty="0">
                <a:solidFill>
                  <a:srgbClr val="0000FF"/>
                </a:solidFill>
                <a:latin typeface="黑体" pitchFamily="2" charset="-122"/>
                <a:ea typeface="黑体" pitchFamily="2" charset="-122"/>
              </a:rPr>
              <a:t>和</a:t>
            </a:r>
            <a:r>
              <a:rPr lang="en-US" altLang="zh-CN" sz="2800" b="1" dirty="0">
                <a:solidFill>
                  <a:srgbClr val="0000FF"/>
                </a:solidFill>
                <a:latin typeface="黑体" pitchFamily="2" charset="-122"/>
                <a:ea typeface="黑体" pitchFamily="2" charset="-122"/>
              </a:rPr>
              <a:t>y</a:t>
            </a:r>
            <a:r>
              <a:rPr lang="zh-CN" altLang="en-US" sz="2800" b="1" dirty="0">
                <a:solidFill>
                  <a:srgbClr val="0000FF"/>
                </a:solidFill>
                <a:latin typeface="黑体" pitchFamily="2" charset="-122"/>
                <a:ea typeface="黑体" pitchFamily="2" charset="-122"/>
              </a:rPr>
              <a:t>的值 */</a:t>
            </a:r>
          </a:p>
          <a:p>
            <a:pPr marL="274320" indent="-274320" algn="just" fontAlgn="auto">
              <a:spcAft>
                <a:spcPts val="0"/>
              </a:spcAft>
              <a:buClr>
                <a:schemeClr val="accent3"/>
              </a:buClr>
              <a:buFont typeface="Monotype Sorts" charset="2"/>
              <a:buNone/>
              <a:defRPr/>
            </a:pPr>
            <a:r>
              <a:rPr lang="zh-CN" altLang="en-US" sz="2800" b="1" dirty="0">
                <a:latin typeface="黑体" pitchFamily="2" charset="-122"/>
                <a:ea typeface="黑体" pitchFamily="2" charset="-122"/>
              </a:rPr>
              <a:t> </a:t>
            </a:r>
            <a:r>
              <a:rPr lang="en-US" altLang="zh-CN" sz="2800" b="1" dirty="0">
                <a:latin typeface="黑体" pitchFamily="2" charset="-122"/>
                <a:ea typeface="黑体" pitchFamily="2" charset="-122"/>
              </a:rPr>
              <a:t>sum = x + y ; </a:t>
            </a:r>
            <a:r>
              <a:rPr lang="en-US" altLang="zh-CN" sz="2800" b="1" dirty="0">
                <a:solidFill>
                  <a:srgbClr val="0000FF"/>
                </a:solidFill>
                <a:latin typeface="黑体" pitchFamily="2" charset="-122"/>
                <a:ea typeface="黑体" pitchFamily="2" charset="-122"/>
              </a:rPr>
              <a:t>/* </a:t>
            </a:r>
            <a:r>
              <a:rPr lang="zh-CN" altLang="en-US" sz="2800" b="1" dirty="0">
                <a:solidFill>
                  <a:srgbClr val="0000FF"/>
                </a:solidFill>
                <a:latin typeface="黑体" pitchFamily="2" charset="-122"/>
                <a:ea typeface="黑体" pitchFamily="2" charset="-122"/>
              </a:rPr>
              <a:t>完成</a:t>
            </a:r>
            <a:r>
              <a:rPr lang="en-US" altLang="zh-CN" sz="2800" b="1" dirty="0" err="1">
                <a:solidFill>
                  <a:srgbClr val="0000FF"/>
                </a:solidFill>
                <a:latin typeface="黑体" pitchFamily="2" charset="-122"/>
                <a:ea typeface="黑体" pitchFamily="2" charset="-122"/>
              </a:rPr>
              <a:t>x+y</a:t>
            </a:r>
            <a:r>
              <a:rPr lang="zh-CN" altLang="en-US" sz="2800" b="1" dirty="0">
                <a:solidFill>
                  <a:srgbClr val="0000FF"/>
                </a:solidFill>
                <a:latin typeface="黑体" pitchFamily="2" charset="-122"/>
                <a:ea typeface="黑体" pitchFamily="2" charset="-122"/>
              </a:rPr>
              <a:t>的计算,求</a:t>
            </a:r>
            <a:r>
              <a:rPr lang="en-US" altLang="zh-CN" sz="2800" b="1" dirty="0">
                <a:solidFill>
                  <a:srgbClr val="0000FF"/>
                </a:solidFill>
                <a:latin typeface="黑体" pitchFamily="2" charset="-122"/>
                <a:ea typeface="黑体" pitchFamily="2" charset="-122"/>
              </a:rPr>
              <a:t>sum=</a:t>
            </a:r>
            <a:r>
              <a:rPr lang="en-US" altLang="zh-CN" sz="2800" b="1" dirty="0" err="1">
                <a:solidFill>
                  <a:srgbClr val="0000FF"/>
                </a:solidFill>
                <a:latin typeface="黑体" pitchFamily="2" charset="-122"/>
                <a:ea typeface="黑体" pitchFamily="2" charset="-122"/>
              </a:rPr>
              <a:t>x+y</a:t>
            </a:r>
            <a:r>
              <a:rPr lang="en-US" altLang="zh-CN" sz="2800" b="1" dirty="0">
                <a:solidFill>
                  <a:srgbClr val="0000FF"/>
                </a:solidFill>
                <a:latin typeface="黑体" pitchFamily="2" charset="-122"/>
                <a:ea typeface="黑体" pitchFamily="2" charset="-122"/>
              </a:rPr>
              <a:t> */</a:t>
            </a:r>
          </a:p>
          <a:p>
            <a:pPr marL="274320" indent="-274320" algn="just" fontAlgn="auto">
              <a:spcAft>
                <a:spcPts val="0"/>
              </a:spcAft>
              <a:buClr>
                <a:schemeClr val="accent3"/>
              </a:buClr>
              <a:buFont typeface="Monotype Sorts" charset="2"/>
              <a:buNone/>
              <a:defRPr/>
            </a:pPr>
            <a:r>
              <a:rPr lang="en-US" altLang="zh-CN" sz="2800" b="1" dirty="0">
                <a:latin typeface="黑体" pitchFamily="2" charset="-122"/>
                <a:ea typeface="黑体" pitchFamily="2" charset="-122"/>
              </a:rPr>
              <a:t> </a:t>
            </a:r>
            <a:r>
              <a:rPr lang="en-US" altLang="zh-CN" sz="2800" b="1" dirty="0" err="1">
                <a:latin typeface="黑体" pitchFamily="2" charset="-122"/>
                <a:ea typeface="黑体" pitchFamily="2" charset="-122"/>
              </a:rPr>
              <a:t>printf</a:t>
            </a:r>
            <a:r>
              <a:rPr lang="en-US" altLang="zh-CN" sz="2800" b="1" dirty="0">
                <a:latin typeface="黑体" pitchFamily="2" charset="-122"/>
                <a:ea typeface="黑体" pitchFamily="2" charset="-122"/>
              </a:rPr>
              <a:t>("x + y = %d\n", sum); </a:t>
            </a:r>
            <a:r>
              <a:rPr lang="en-US" altLang="zh-CN" sz="2800" b="1" dirty="0">
                <a:solidFill>
                  <a:srgbClr val="0000FF"/>
                </a:solidFill>
                <a:latin typeface="黑体" pitchFamily="2" charset="-122"/>
                <a:ea typeface="黑体" pitchFamily="2" charset="-122"/>
              </a:rPr>
              <a:t>/* </a:t>
            </a:r>
            <a:r>
              <a:rPr lang="zh-CN" altLang="en-US" sz="2800" b="1" dirty="0">
                <a:solidFill>
                  <a:srgbClr val="0000FF"/>
                </a:solidFill>
                <a:latin typeface="黑体" pitchFamily="2" charset="-122"/>
                <a:ea typeface="黑体" pitchFamily="2" charset="-122"/>
              </a:rPr>
              <a:t>输出结果 */</a:t>
            </a:r>
            <a:endParaRPr lang="zh-CN" altLang="en-US" sz="2800" b="1" dirty="0">
              <a:latin typeface="黑体" pitchFamily="2" charset="-122"/>
              <a:ea typeface="黑体" pitchFamily="2" charset="-122"/>
            </a:endParaRPr>
          </a:p>
          <a:p>
            <a:pPr marL="274320" indent="-274320" algn="just" fontAlgn="auto">
              <a:spcAft>
                <a:spcPts val="0"/>
              </a:spcAft>
              <a:buClr>
                <a:schemeClr val="accent3"/>
              </a:buClr>
              <a:buFont typeface="Monotype Sorts" charset="2"/>
              <a:buNone/>
              <a:defRPr/>
            </a:pPr>
            <a:r>
              <a:rPr lang="zh-CN" altLang="en-US" sz="2800" b="1" dirty="0">
                <a:latin typeface="黑体" pitchFamily="2" charset="-122"/>
                <a:ea typeface="黑体" pitchFamily="2" charset="-122"/>
              </a:rPr>
              <a:t>}</a:t>
            </a:r>
          </a:p>
        </p:txBody>
      </p:sp>
      <p:sp>
        <p:nvSpPr>
          <p:cNvPr id="6" name="灯片编号占位符 5"/>
          <p:cNvSpPr>
            <a:spLocks noGrp="1"/>
          </p:cNvSpPr>
          <p:nvPr>
            <p:ph type="sldNum" sz="quarter" idx="12"/>
          </p:nvPr>
        </p:nvSpPr>
        <p:spPr/>
        <p:txBody>
          <a:bodyPr/>
          <a:lstStyle/>
          <a:p>
            <a:pPr defTabSz="1128713">
              <a:defRPr/>
            </a:pPr>
            <a:fld id="{8C0D5522-6113-4254-AFD3-34AA851330C1}" type="slidenum">
              <a:rPr lang="zh-CN" altLang="en-US">
                <a:latin typeface="+mn-lt"/>
              </a:rPr>
              <a:pPr defTabSz="1128713">
                <a:defRPr/>
              </a:pPr>
              <a:t>78</a:t>
            </a:fld>
            <a:endParaRPr lang="en-US" altLang="zh-CN">
              <a:latin typeface="+mn-lt"/>
            </a:endParaRPr>
          </a:p>
        </p:txBody>
      </p:sp>
      <p:sp>
        <p:nvSpPr>
          <p:cNvPr id="5" name="Left Brace 4"/>
          <p:cNvSpPr/>
          <p:nvPr/>
        </p:nvSpPr>
        <p:spPr>
          <a:xfrm rot="10800000">
            <a:off x="7089080" y="2214554"/>
            <a:ext cx="500066" cy="1011170"/>
          </a:xfrm>
          <a:prstGeom prst="leftBrace">
            <a:avLst>
              <a:gd name="adj1" fmla="val 33862"/>
              <a:gd name="adj2" fmla="val 45383"/>
            </a:avLst>
          </a:prstGeom>
          <a:solidFill>
            <a:schemeClr val="bg1"/>
          </a:solidFill>
          <a:ln w="381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solidFill>
                <a:srgbClr val="FF0000"/>
              </a:solidFill>
            </a:endParaRPr>
          </a:p>
        </p:txBody>
      </p:sp>
      <p:sp>
        <p:nvSpPr>
          <p:cNvPr id="8" name="TextBox 7"/>
          <p:cNvSpPr txBox="1"/>
          <p:nvPr/>
        </p:nvSpPr>
        <p:spPr>
          <a:xfrm>
            <a:off x="7339113" y="2148506"/>
            <a:ext cx="1826141" cy="1077218"/>
          </a:xfrm>
          <a:prstGeom prst="rect">
            <a:avLst/>
          </a:prstGeom>
          <a:noFill/>
        </p:spPr>
        <p:txBody>
          <a:bodyPr wrap="none" rtlCol="0">
            <a:spAutoFit/>
          </a:bodyPr>
          <a:lstStyle/>
          <a:p>
            <a:r>
              <a:rPr lang="zh-CN" altLang="en-US" b="1" dirty="0">
                <a:latin typeface="楷体_GB2312" pitchFamily="49" charset="-122"/>
                <a:ea typeface="楷体_GB2312" pitchFamily="49" charset="-122"/>
              </a:rPr>
              <a:t>先声明，</a:t>
            </a:r>
            <a:endParaRPr lang="en-US" altLang="zh-CN" b="1" dirty="0">
              <a:latin typeface="楷体_GB2312" pitchFamily="49" charset="-122"/>
              <a:ea typeface="楷体_GB2312" pitchFamily="49" charset="-122"/>
            </a:endParaRPr>
          </a:p>
          <a:p>
            <a:r>
              <a:rPr lang="zh-CN" altLang="en-US" b="1" dirty="0">
                <a:latin typeface="楷体_GB2312" pitchFamily="49" charset="-122"/>
                <a:ea typeface="楷体_GB2312" pitchFamily="49" charset="-122"/>
              </a:rPr>
              <a:t>后使用</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p:bldLst>
  </p:timing>
</p:sld>
</file>

<file path=ppt/slides/slide7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4754" name="Rectangle 1026"/>
          <p:cNvSpPr>
            <a:spLocks noGrp="1" noChangeArrowheads="1"/>
          </p:cNvSpPr>
          <p:nvPr>
            <p:ph type="title"/>
          </p:nvPr>
        </p:nvSpPr>
        <p:spPr>
          <a:xfrm>
            <a:off x="228600" y="228600"/>
            <a:ext cx="8664575" cy="1328738"/>
          </a:xfrm>
        </p:spPr>
        <p:txBody>
          <a:bodyPr/>
          <a:lstStyle/>
          <a:p>
            <a:r>
              <a:rPr lang="zh-CN" altLang="en-US" sz="4000" b="1" dirty="0">
                <a:solidFill>
                  <a:srgbClr val="C00000"/>
                </a:solidFill>
                <a:latin typeface="黑体" pitchFamily="2" charset="-122"/>
                <a:ea typeface="黑体" pitchFamily="2" charset="-122"/>
              </a:rPr>
              <a:t>Ｃ语言的词汇、数据类型、常量和变量</a:t>
            </a:r>
          </a:p>
        </p:txBody>
      </p:sp>
      <p:sp>
        <p:nvSpPr>
          <p:cNvPr id="74755" name="Rectangle 1027"/>
          <p:cNvSpPr>
            <a:spLocks noGrp="1" noChangeArrowheads="1"/>
          </p:cNvSpPr>
          <p:nvPr>
            <p:ph idx="1"/>
          </p:nvPr>
        </p:nvSpPr>
        <p:spPr>
          <a:xfrm>
            <a:off x="323850" y="1628775"/>
            <a:ext cx="8496300" cy="4637088"/>
          </a:xfrm>
        </p:spPr>
        <p:txBody>
          <a:bodyPr/>
          <a:lstStyle/>
          <a:p>
            <a:pPr marL="0" indent="0" algn="just">
              <a:lnSpc>
                <a:spcPct val="115000"/>
              </a:lnSpc>
              <a:buFont typeface="Monotype Sorts" charset="2"/>
              <a:buNone/>
            </a:pPr>
            <a:r>
              <a:rPr lang="en-US" altLang="zh-CN" sz="4000" b="1" dirty="0">
                <a:latin typeface="宋体" charset="-122"/>
              </a:rPr>
              <a:t>1</a:t>
            </a:r>
            <a:r>
              <a:rPr lang="zh-CN" altLang="en-US" sz="4000" b="1" dirty="0">
                <a:latin typeface="宋体" charset="-122"/>
              </a:rPr>
              <a:t>、</a:t>
            </a:r>
            <a:r>
              <a:rPr lang="zh-CN" altLang="en-US" sz="4000" b="1" dirty="0">
                <a:latin typeface="楷体_GB2312" pitchFamily="49" charset="-122"/>
                <a:ea typeface="楷体_GB2312" pitchFamily="49" charset="-122"/>
              </a:rPr>
              <a:t>基本符号:  </a:t>
            </a:r>
            <a:endParaRPr lang="zh-CN" altLang="en-US" sz="3600" b="1" dirty="0">
              <a:latin typeface="楷体_GB2312" pitchFamily="49" charset="-122"/>
              <a:ea typeface="楷体_GB2312" pitchFamily="49" charset="-122"/>
            </a:endParaRPr>
          </a:p>
          <a:p>
            <a:pPr marL="0" indent="0" algn="just">
              <a:lnSpc>
                <a:spcPct val="115000"/>
              </a:lnSpc>
            </a:pPr>
            <a:r>
              <a:rPr lang="zh-CN" altLang="en-US" sz="3600" b="1" dirty="0">
                <a:latin typeface="楷体_GB2312" pitchFamily="49" charset="-122"/>
                <a:ea typeface="楷体_GB2312" pitchFamily="49" charset="-122"/>
                <a:sym typeface="Wingdings" pitchFamily="2" charset="2"/>
              </a:rPr>
              <a:t> </a:t>
            </a:r>
            <a:r>
              <a:rPr lang="zh-CN" altLang="en-US" sz="3600" b="1" dirty="0">
                <a:latin typeface="楷体_GB2312" pitchFamily="49" charset="-122"/>
                <a:ea typeface="楷体_GB2312" pitchFamily="49" charset="-122"/>
              </a:rPr>
              <a:t>数字10个(0～9)</a:t>
            </a:r>
          </a:p>
          <a:p>
            <a:pPr marL="0" indent="0" algn="just">
              <a:lnSpc>
                <a:spcPct val="115000"/>
              </a:lnSpc>
            </a:pPr>
            <a:r>
              <a:rPr lang="zh-CN" altLang="en-US" sz="3600" b="1" dirty="0">
                <a:latin typeface="楷体_GB2312" pitchFamily="49" charset="-122"/>
                <a:ea typeface="楷体_GB2312" pitchFamily="49" charset="-122"/>
                <a:sym typeface="Wingdings" pitchFamily="2" charset="2"/>
              </a:rPr>
              <a:t> </a:t>
            </a:r>
            <a:r>
              <a:rPr lang="zh-CN" altLang="en-US" sz="3600" b="1" dirty="0">
                <a:latin typeface="楷体_GB2312" pitchFamily="49" charset="-122"/>
                <a:ea typeface="楷体_GB2312" pitchFamily="49" charset="-122"/>
              </a:rPr>
              <a:t>英文字母大、小写各26个(</a:t>
            </a:r>
            <a:r>
              <a:rPr lang="en-US" altLang="zh-CN" sz="3600" b="1" dirty="0" err="1">
                <a:latin typeface="楷体_GB2312" pitchFamily="49" charset="-122"/>
                <a:ea typeface="楷体_GB2312" pitchFamily="49" charset="-122"/>
              </a:rPr>
              <a:t>A～Z,a～z</a:t>
            </a:r>
            <a:r>
              <a:rPr lang="en-US" altLang="zh-CN" sz="3600" b="1" dirty="0">
                <a:latin typeface="楷体_GB2312" pitchFamily="49" charset="-122"/>
                <a:ea typeface="楷体_GB2312" pitchFamily="49" charset="-122"/>
              </a:rPr>
              <a:t>)</a:t>
            </a:r>
          </a:p>
          <a:p>
            <a:pPr marL="0" indent="0" algn="just">
              <a:lnSpc>
                <a:spcPct val="115000"/>
              </a:lnSpc>
            </a:pPr>
            <a:r>
              <a:rPr lang="zh-CN" altLang="en-US" sz="3600" b="1" dirty="0">
                <a:latin typeface="楷体_GB2312" pitchFamily="49" charset="-122"/>
                <a:ea typeface="楷体_GB2312" pitchFamily="49" charset="-122"/>
                <a:sym typeface="Wingdings" pitchFamily="2" charset="2"/>
              </a:rPr>
              <a:t> </a:t>
            </a:r>
            <a:r>
              <a:rPr lang="zh-CN" altLang="en-US" sz="3600" b="1" dirty="0">
                <a:latin typeface="楷体_GB2312" pitchFamily="49" charset="-122"/>
                <a:ea typeface="楷体_GB2312" pitchFamily="49" charset="-122"/>
              </a:rPr>
              <a:t>下线字符“_”</a:t>
            </a:r>
          </a:p>
          <a:p>
            <a:pPr marL="0" indent="0" algn="just">
              <a:lnSpc>
                <a:spcPct val="115000"/>
              </a:lnSpc>
            </a:pPr>
            <a:r>
              <a:rPr lang="zh-CN" altLang="en-US" sz="3600" b="1" dirty="0">
                <a:latin typeface="楷体_GB2312" pitchFamily="49" charset="-122"/>
                <a:ea typeface="楷体_GB2312" pitchFamily="49" charset="-122"/>
                <a:sym typeface="Wingdings" pitchFamily="2" charset="2"/>
              </a:rPr>
              <a:t> </a:t>
            </a:r>
            <a:r>
              <a:rPr lang="zh-CN" altLang="en-US" sz="3600" b="1" dirty="0">
                <a:latin typeface="楷体_GB2312" pitchFamily="49" charset="-122"/>
                <a:ea typeface="楷体_GB2312" pitchFamily="49" charset="-122"/>
              </a:rPr>
              <a:t>其他构成特殊符号的字符集 </a:t>
            </a:r>
            <a:r>
              <a:rPr lang="en-US" altLang="zh-CN" sz="3600" b="1" dirty="0">
                <a:latin typeface="楷体_GB2312" pitchFamily="49" charset="-122"/>
                <a:ea typeface="楷体_GB2312" pitchFamily="49" charset="-122"/>
                <a:sym typeface="Wingdings" pitchFamily="2" charset="2"/>
              </a:rPr>
              <a:t> </a:t>
            </a:r>
            <a:r>
              <a:rPr lang="zh-CN" altLang="en-US" sz="3600" b="1" dirty="0">
                <a:latin typeface="楷体_GB2312" pitchFamily="49" charset="-122"/>
                <a:ea typeface="楷体_GB2312" pitchFamily="49" charset="-122"/>
              </a:rPr>
              <a:t>  </a:t>
            </a:r>
          </a:p>
        </p:txBody>
      </p:sp>
      <p:sp>
        <p:nvSpPr>
          <p:cNvPr id="6" name="灯片编号占位符 5"/>
          <p:cNvSpPr>
            <a:spLocks noGrp="1"/>
          </p:cNvSpPr>
          <p:nvPr>
            <p:ph type="sldNum" sz="quarter" idx="12"/>
          </p:nvPr>
        </p:nvSpPr>
        <p:spPr/>
        <p:txBody>
          <a:bodyPr/>
          <a:lstStyle/>
          <a:p>
            <a:pPr defTabSz="1128713">
              <a:defRPr/>
            </a:pPr>
            <a:fld id="{2DD767B7-3AEA-4C21-A516-7CE54FFF8B70}" type="slidenum">
              <a:rPr lang="zh-CN" altLang="en-US">
                <a:latin typeface="+mn-lt"/>
              </a:rPr>
              <a:pPr defTabSz="1128713">
                <a:defRPr/>
              </a:pPr>
              <a:t>79</a:t>
            </a:fld>
            <a:endParaRPr lang="en-US" altLang="zh-CN">
              <a:latin typeface="+mn-lt"/>
            </a:endParaRPr>
          </a:p>
        </p:txBody>
      </p:sp>
    </p:spTree>
    <p:extLst>
      <p:ext uri="{BB962C8B-B14F-4D97-AF65-F5344CB8AC3E}">
        <p14:creationId xmlns:p14="http://schemas.microsoft.com/office/powerpoint/2010/main" val="2924629003"/>
      </p:ext>
    </p:extLst>
  </p:cSld>
  <p:clrMapOvr>
    <a:masterClrMapping/>
  </p:clrMapOvr>
  <p:transition>
    <p:random/>
  </p:transition>
</p:sld>
</file>

<file path=ppt/slides/slide8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5778" name="Rectangle 1026"/>
          <p:cNvSpPr>
            <a:spLocks noGrp="1" noChangeArrowheads="1"/>
          </p:cNvSpPr>
          <p:nvPr>
            <p:ph type="title"/>
          </p:nvPr>
        </p:nvSpPr>
        <p:spPr>
          <a:xfrm>
            <a:off x="250825" y="333375"/>
            <a:ext cx="8686800" cy="990600"/>
          </a:xfrm>
        </p:spPr>
        <p:txBody>
          <a:bodyPr/>
          <a:lstStyle/>
          <a:p>
            <a:r>
              <a:rPr lang="en-US" altLang="zh-CN" sz="4000">
                <a:solidFill>
                  <a:schemeClr val="tx1"/>
                </a:solidFill>
                <a:latin typeface="黑体" pitchFamily="2" charset="-122"/>
                <a:ea typeface="黑体" pitchFamily="2" charset="-122"/>
              </a:rPr>
              <a:t>2</a:t>
            </a:r>
            <a:r>
              <a:rPr lang="zh-CN" altLang="en-US" sz="4000">
                <a:solidFill>
                  <a:schemeClr val="tx1"/>
                </a:solidFill>
                <a:latin typeface="黑体" pitchFamily="2" charset="-122"/>
                <a:ea typeface="黑体" pitchFamily="2" charset="-122"/>
              </a:rPr>
              <a:t>、基本词汇</a:t>
            </a:r>
          </a:p>
        </p:txBody>
      </p:sp>
      <p:sp>
        <p:nvSpPr>
          <p:cNvPr id="75779" name="Rectangle 1027"/>
          <p:cNvSpPr>
            <a:spLocks noGrp="1" noChangeArrowheads="1"/>
          </p:cNvSpPr>
          <p:nvPr>
            <p:ph idx="1"/>
          </p:nvPr>
        </p:nvSpPr>
        <p:spPr>
          <a:xfrm>
            <a:off x="468313" y="1371600"/>
            <a:ext cx="8064500" cy="5257800"/>
          </a:xfrm>
        </p:spPr>
        <p:txBody>
          <a:bodyPr/>
          <a:lstStyle/>
          <a:p>
            <a:pPr algn="just"/>
            <a:r>
              <a:rPr lang="zh-CN" altLang="en-US" sz="4000" b="1">
                <a:latin typeface="宋体" charset="-122"/>
                <a:sym typeface="Wingdings" pitchFamily="2" charset="2"/>
              </a:rPr>
              <a:t> </a:t>
            </a:r>
            <a:r>
              <a:rPr lang="zh-CN" altLang="en-US" sz="4000" b="1">
                <a:latin typeface="宋体" charset="-122"/>
              </a:rPr>
              <a:t>字面形式常量：如</a:t>
            </a:r>
            <a:r>
              <a:rPr lang="en-US" altLang="zh-CN" sz="4000" b="1">
                <a:latin typeface="宋体" charset="-122"/>
              </a:rPr>
              <a:t>100</a:t>
            </a:r>
            <a:r>
              <a:rPr lang="zh-CN" altLang="en-US" sz="4000" b="1">
                <a:latin typeface="宋体" charset="-122"/>
              </a:rPr>
              <a:t>、</a:t>
            </a:r>
            <a:r>
              <a:rPr lang="en-US" altLang="zh-CN" sz="4000" b="1">
                <a:latin typeface="宋体" charset="-122"/>
              </a:rPr>
              <a:t>15.0</a:t>
            </a:r>
            <a:r>
              <a:rPr lang="zh-CN" altLang="en-US" sz="4000" b="1">
                <a:latin typeface="宋体" charset="-122"/>
              </a:rPr>
              <a:t>、  </a:t>
            </a:r>
            <a:r>
              <a:rPr lang="en-US" altLang="zh-CN" sz="4000" b="1"/>
              <a:t>'A'</a:t>
            </a:r>
            <a:r>
              <a:rPr lang="zh-CN" altLang="en-US" sz="4000" b="1"/>
              <a:t>、</a:t>
            </a:r>
            <a:r>
              <a:rPr lang="en-US" altLang="zh-CN" sz="4000" b="1"/>
              <a:t>"ABC"</a:t>
            </a:r>
            <a:endParaRPr lang="zh-CN" altLang="zh-CN" sz="4000" b="1">
              <a:latin typeface="宋体" charset="-122"/>
            </a:endParaRPr>
          </a:p>
          <a:p>
            <a:pPr algn="just"/>
            <a:r>
              <a:rPr lang="zh-CN" altLang="en-US" sz="4000" b="1">
                <a:latin typeface="宋体" charset="-122"/>
                <a:sym typeface="Wingdings" pitchFamily="2" charset="2"/>
              </a:rPr>
              <a:t> </a:t>
            </a:r>
            <a:r>
              <a:rPr lang="zh-CN" altLang="en-US" sz="4000" b="1">
                <a:latin typeface="宋体" charset="-122"/>
              </a:rPr>
              <a:t>特殊符号：如各种运算符</a:t>
            </a:r>
            <a:endParaRPr lang="en-US" altLang="zh-CN" sz="4000" b="1">
              <a:latin typeface="宋体" charset="-122"/>
            </a:endParaRPr>
          </a:p>
          <a:p>
            <a:r>
              <a:rPr lang="zh-CN" altLang="en-US" sz="4000" b="1">
                <a:latin typeface="宋体" charset="-122"/>
                <a:sym typeface="Wingdings" pitchFamily="2" charset="2"/>
              </a:rPr>
              <a:t> </a:t>
            </a:r>
            <a:r>
              <a:rPr lang="zh-CN" altLang="en-US" sz="4000" b="1">
                <a:latin typeface="宋体" charset="-122"/>
              </a:rPr>
              <a:t>关键字（见下一张幻灯片</a:t>
            </a:r>
            <a:r>
              <a:rPr lang="en-US" altLang="zh-CN" sz="4000" b="1">
                <a:latin typeface="宋体" charset="-122"/>
              </a:rPr>
              <a:t>)</a:t>
            </a:r>
            <a:endParaRPr lang="zh-CN" altLang="en-US" sz="4000" b="1">
              <a:latin typeface="宋体" charset="-122"/>
            </a:endParaRPr>
          </a:p>
          <a:p>
            <a:pPr algn="just"/>
            <a:r>
              <a:rPr lang="zh-CN" altLang="en-US" sz="4000" b="1">
                <a:latin typeface="宋体" charset="-122"/>
                <a:sym typeface="Wingdings" pitchFamily="2" charset="2"/>
              </a:rPr>
              <a:t> 标识符</a:t>
            </a:r>
            <a:r>
              <a:rPr lang="en-US" altLang="zh-CN" sz="4000" b="1">
                <a:latin typeface="宋体" charset="-122"/>
                <a:sym typeface="Wingdings" pitchFamily="2" charset="2"/>
              </a:rPr>
              <a:t>(</a:t>
            </a:r>
            <a:r>
              <a:rPr lang="zh-CN" altLang="en-US" sz="4000" b="1">
                <a:latin typeface="宋体" charset="-122"/>
              </a:rPr>
              <a:t>见后面说明</a:t>
            </a:r>
            <a:r>
              <a:rPr lang="en-US" altLang="zh-CN" sz="4000" b="1">
                <a:latin typeface="宋体" charset="-122"/>
              </a:rPr>
              <a:t>)</a:t>
            </a:r>
            <a:endParaRPr lang="zh-CN" altLang="en-US" sz="4000" b="1">
              <a:latin typeface="宋体" charset="-122"/>
            </a:endParaRPr>
          </a:p>
        </p:txBody>
      </p:sp>
      <p:sp>
        <p:nvSpPr>
          <p:cNvPr id="6" name="灯片编号占位符 5"/>
          <p:cNvSpPr>
            <a:spLocks noGrp="1"/>
          </p:cNvSpPr>
          <p:nvPr>
            <p:ph type="sldNum" sz="quarter" idx="12"/>
          </p:nvPr>
        </p:nvSpPr>
        <p:spPr/>
        <p:txBody>
          <a:bodyPr/>
          <a:lstStyle/>
          <a:p>
            <a:pPr defTabSz="1128713">
              <a:defRPr/>
            </a:pPr>
            <a:fld id="{7F9AB16C-52FD-46F4-9030-5E1485FEE949}" type="slidenum">
              <a:rPr lang="zh-CN" altLang="en-US">
                <a:latin typeface="+mn-lt"/>
              </a:rPr>
              <a:pPr defTabSz="1128713">
                <a:defRPr/>
              </a:pPr>
              <a:t>80</a:t>
            </a:fld>
            <a:endParaRPr lang="en-US" altLang="zh-CN" dirty="0">
              <a:latin typeface="+mn-lt"/>
            </a:endParaRPr>
          </a:p>
        </p:txBody>
      </p:sp>
    </p:spTree>
    <p:extLst>
      <p:ext uri="{BB962C8B-B14F-4D97-AF65-F5344CB8AC3E}">
        <p14:creationId xmlns:p14="http://schemas.microsoft.com/office/powerpoint/2010/main" val="1468446705"/>
      </p:ext>
    </p:extLst>
  </p:cSld>
  <p:clrMapOvr>
    <a:masterClrMapping/>
  </p:clrMapOvr>
  <p:transition>
    <p:random/>
  </p:transition>
</p:sld>
</file>

<file path=ppt/slides/slide8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6802" name="Rectangle 1027"/>
          <p:cNvSpPr>
            <a:spLocks noGrp="1" noChangeArrowheads="1"/>
          </p:cNvSpPr>
          <p:nvPr>
            <p:ph type="title"/>
          </p:nvPr>
        </p:nvSpPr>
        <p:spPr>
          <a:xfrm>
            <a:off x="250825" y="333375"/>
            <a:ext cx="8686800" cy="990600"/>
          </a:xfrm>
        </p:spPr>
        <p:txBody>
          <a:bodyPr/>
          <a:lstStyle/>
          <a:p>
            <a:r>
              <a:rPr lang="zh-CN" altLang="en-US" dirty="0"/>
              <a:t>关键字 （特定功能和含义）</a:t>
            </a:r>
          </a:p>
        </p:txBody>
      </p:sp>
      <p:sp>
        <p:nvSpPr>
          <p:cNvPr id="76803" name="Rectangle 1026"/>
          <p:cNvSpPr>
            <a:spLocks noGrp="1" noChangeArrowheads="1"/>
          </p:cNvSpPr>
          <p:nvPr>
            <p:ph idx="1"/>
          </p:nvPr>
        </p:nvSpPr>
        <p:spPr>
          <a:xfrm>
            <a:off x="467518" y="2121941"/>
            <a:ext cx="8208963" cy="4608513"/>
          </a:xfrm>
        </p:spPr>
        <p:txBody>
          <a:bodyPr/>
          <a:lstStyle/>
          <a:p>
            <a:pPr marL="0" indent="0" algn="just">
              <a:lnSpc>
                <a:spcPct val="90000"/>
              </a:lnSpc>
              <a:buFont typeface="Monotype Sorts" charset="2"/>
              <a:buNone/>
            </a:pPr>
            <a:r>
              <a:rPr lang="en-US" altLang="zh-CN" sz="3200" b="1" dirty="0">
                <a:highlight>
                  <a:srgbClr val="FFFF00"/>
                </a:highlight>
                <a:latin typeface="宋体" charset="-122"/>
              </a:rPr>
              <a:t>auto </a:t>
            </a:r>
            <a:r>
              <a:rPr lang="en-US" altLang="zh-CN" sz="3200" b="1" dirty="0">
                <a:latin typeface="宋体" charset="-122"/>
              </a:rPr>
              <a:t>     </a:t>
            </a:r>
            <a:r>
              <a:rPr lang="en-US" altLang="zh-CN" sz="3200" b="1" dirty="0">
                <a:highlight>
                  <a:srgbClr val="00FF00"/>
                </a:highlight>
                <a:latin typeface="宋体" charset="-122"/>
              </a:rPr>
              <a:t>break</a:t>
            </a:r>
            <a:r>
              <a:rPr lang="en-US" altLang="zh-CN" sz="3200" b="1" dirty="0">
                <a:latin typeface="宋体" charset="-122"/>
              </a:rPr>
              <a:t>      </a:t>
            </a:r>
            <a:r>
              <a:rPr lang="en-US" altLang="zh-CN" sz="3200" b="1" dirty="0">
                <a:highlight>
                  <a:srgbClr val="FFFF00"/>
                </a:highlight>
                <a:latin typeface="宋体" charset="-122"/>
              </a:rPr>
              <a:t>case</a:t>
            </a:r>
            <a:r>
              <a:rPr lang="en-US" altLang="zh-CN" sz="3200" b="1" dirty="0">
                <a:latin typeface="宋体" charset="-122"/>
              </a:rPr>
              <a:t>       </a:t>
            </a:r>
            <a:r>
              <a:rPr lang="en-US" altLang="zh-CN" sz="3200" b="1" dirty="0">
                <a:highlight>
                  <a:srgbClr val="FF00FF"/>
                </a:highlight>
                <a:latin typeface="宋体" charset="-122"/>
              </a:rPr>
              <a:t>char</a:t>
            </a:r>
          </a:p>
          <a:p>
            <a:pPr marL="0" indent="0" algn="just">
              <a:lnSpc>
                <a:spcPct val="90000"/>
              </a:lnSpc>
              <a:buFont typeface="Monotype Sorts" charset="2"/>
              <a:buNone/>
            </a:pPr>
            <a:r>
              <a:rPr lang="en-US" altLang="zh-CN" sz="3200" b="1" dirty="0">
                <a:latin typeface="宋体" charset="-122"/>
              </a:rPr>
              <a:t>const     </a:t>
            </a:r>
            <a:r>
              <a:rPr lang="en-US" altLang="zh-CN" sz="3200" b="1" dirty="0">
                <a:highlight>
                  <a:srgbClr val="00FF00"/>
                </a:highlight>
                <a:latin typeface="宋体" charset="-122"/>
              </a:rPr>
              <a:t>continue</a:t>
            </a:r>
            <a:r>
              <a:rPr lang="en-US" altLang="zh-CN" sz="3200" b="1" dirty="0">
                <a:latin typeface="宋体" charset="-122"/>
              </a:rPr>
              <a:t>   </a:t>
            </a:r>
            <a:r>
              <a:rPr lang="en-US" altLang="zh-CN" sz="3200" b="1" dirty="0">
                <a:highlight>
                  <a:srgbClr val="00FF00"/>
                </a:highlight>
                <a:latin typeface="宋体" charset="-122"/>
              </a:rPr>
              <a:t>default</a:t>
            </a:r>
            <a:r>
              <a:rPr lang="en-US" altLang="zh-CN" sz="3200" b="1" dirty="0">
                <a:latin typeface="宋体" charset="-122"/>
              </a:rPr>
              <a:t>    </a:t>
            </a:r>
            <a:r>
              <a:rPr lang="en-US" altLang="zh-CN" sz="3200" b="1" dirty="0">
                <a:highlight>
                  <a:srgbClr val="00FF00"/>
                </a:highlight>
                <a:latin typeface="宋体" charset="-122"/>
              </a:rPr>
              <a:t>do</a:t>
            </a:r>
          </a:p>
          <a:p>
            <a:pPr marL="0" indent="0" algn="just">
              <a:lnSpc>
                <a:spcPct val="90000"/>
              </a:lnSpc>
              <a:buFont typeface="Monotype Sorts" charset="2"/>
              <a:buNone/>
            </a:pPr>
            <a:r>
              <a:rPr lang="en-US" altLang="zh-CN" sz="3200" b="1" dirty="0">
                <a:highlight>
                  <a:srgbClr val="FF00FF"/>
                </a:highlight>
                <a:latin typeface="宋体" charset="-122"/>
              </a:rPr>
              <a:t>double</a:t>
            </a:r>
            <a:r>
              <a:rPr lang="en-US" altLang="zh-CN" sz="3200" b="1" dirty="0">
                <a:latin typeface="宋体" charset="-122"/>
              </a:rPr>
              <a:t>    </a:t>
            </a:r>
            <a:r>
              <a:rPr lang="en-US" altLang="zh-CN" sz="3200" b="1" dirty="0">
                <a:highlight>
                  <a:srgbClr val="00FF00"/>
                </a:highlight>
                <a:latin typeface="宋体" charset="-122"/>
              </a:rPr>
              <a:t>else</a:t>
            </a:r>
            <a:r>
              <a:rPr lang="en-US" altLang="zh-CN" sz="3200" b="1" dirty="0">
                <a:latin typeface="宋体" charset="-122"/>
              </a:rPr>
              <a:t>       </a:t>
            </a:r>
            <a:r>
              <a:rPr lang="en-US" altLang="zh-CN" sz="3200" b="1" dirty="0" err="1">
                <a:highlight>
                  <a:srgbClr val="FF00FF"/>
                </a:highlight>
                <a:latin typeface="宋体" charset="-122"/>
              </a:rPr>
              <a:t>enum</a:t>
            </a:r>
            <a:r>
              <a:rPr lang="en-US" altLang="zh-CN" sz="3200" b="1" dirty="0">
                <a:latin typeface="宋体" charset="-122"/>
              </a:rPr>
              <a:t>       </a:t>
            </a:r>
            <a:r>
              <a:rPr lang="en-US" altLang="zh-CN" sz="3200" b="1" dirty="0">
                <a:highlight>
                  <a:srgbClr val="FFFF00"/>
                </a:highlight>
                <a:latin typeface="宋体" charset="-122"/>
              </a:rPr>
              <a:t>extern</a:t>
            </a:r>
          </a:p>
          <a:p>
            <a:pPr marL="0" indent="0" algn="just">
              <a:lnSpc>
                <a:spcPct val="90000"/>
              </a:lnSpc>
              <a:buFont typeface="Monotype Sorts" charset="2"/>
              <a:buNone/>
            </a:pPr>
            <a:r>
              <a:rPr lang="en-US" altLang="zh-CN" sz="3200" b="1" dirty="0">
                <a:highlight>
                  <a:srgbClr val="FF00FF"/>
                </a:highlight>
                <a:latin typeface="宋体" charset="-122"/>
              </a:rPr>
              <a:t>float</a:t>
            </a:r>
            <a:r>
              <a:rPr lang="en-US" altLang="zh-CN" sz="3200" b="1" dirty="0">
                <a:latin typeface="宋体" charset="-122"/>
              </a:rPr>
              <a:t>     </a:t>
            </a:r>
            <a:r>
              <a:rPr lang="en-US" altLang="zh-CN" sz="3200" b="1" dirty="0">
                <a:highlight>
                  <a:srgbClr val="00FF00"/>
                </a:highlight>
                <a:latin typeface="宋体" charset="-122"/>
              </a:rPr>
              <a:t>for</a:t>
            </a:r>
            <a:r>
              <a:rPr lang="en-US" altLang="zh-CN" sz="3200" b="1" dirty="0">
                <a:latin typeface="宋体" charset="-122"/>
              </a:rPr>
              <a:t>        </a:t>
            </a:r>
            <a:r>
              <a:rPr lang="en-US" altLang="zh-CN" sz="3200" b="1" dirty="0" err="1">
                <a:highlight>
                  <a:srgbClr val="00FF00"/>
                </a:highlight>
                <a:latin typeface="宋体" charset="-122"/>
              </a:rPr>
              <a:t>goto</a:t>
            </a:r>
            <a:r>
              <a:rPr lang="en-US" altLang="zh-CN" sz="3200" b="1" dirty="0">
                <a:latin typeface="宋体" charset="-122"/>
              </a:rPr>
              <a:t>       </a:t>
            </a:r>
            <a:r>
              <a:rPr lang="en-US" altLang="zh-CN" sz="3200" b="1" dirty="0">
                <a:highlight>
                  <a:srgbClr val="00FF00"/>
                </a:highlight>
                <a:latin typeface="宋体" charset="-122"/>
              </a:rPr>
              <a:t>if</a:t>
            </a:r>
            <a:r>
              <a:rPr lang="en-US" altLang="zh-CN" sz="3200" b="1" dirty="0">
                <a:latin typeface="宋体" charset="-122"/>
              </a:rPr>
              <a:t>  </a:t>
            </a:r>
          </a:p>
          <a:p>
            <a:pPr marL="0" indent="0" algn="just">
              <a:lnSpc>
                <a:spcPct val="90000"/>
              </a:lnSpc>
              <a:buFont typeface="Monotype Sorts" charset="2"/>
              <a:buNone/>
            </a:pPr>
            <a:r>
              <a:rPr lang="en-US" altLang="zh-CN" sz="3200" b="1" dirty="0">
                <a:highlight>
                  <a:srgbClr val="FF00FF"/>
                </a:highlight>
                <a:latin typeface="宋体" charset="-122"/>
              </a:rPr>
              <a:t>int</a:t>
            </a:r>
            <a:r>
              <a:rPr lang="en-US" altLang="zh-CN" sz="3200" b="1" dirty="0">
                <a:latin typeface="宋体" charset="-122"/>
              </a:rPr>
              <a:t>       </a:t>
            </a:r>
            <a:r>
              <a:rPr lang="en-US" altLang="zh-CN" sz="3200" b="1" dirty="0">
                <a:highlight>
                  <a:srgbClr val="FF00FF"/>
                </a:highlight>
                <a:latin typeface="宋体" charset="-122"/>
              </a:rPr>
              <a:t>long</a:t>
            </a:r>
            <a:r>
              <a:rPr lang="en-US" altLang="zh-CN" sz="3200" b="1" dirty="0">
                <a:latin typeface="宋体" charset="-122"/>
              </a:rPr>
              <a:t>       </a:t>
            </a:r>
            <a:r>
              <a:rPr lang="en-US" altLang="zh-CN" sz="3200" b="1" dirty="0">
                <a:highlight>
                  <a:srgbClr val="FFFF00"/>
                </a:highlight>
                <a:latin typeface="宋体" charset="-122"/>
              </a:rPr>
              <a:t>register</a:t>
            </a:r>
            <a:r>
              <a:rPr lang="en-US" altLang="zh-CN" sz="3200" b="1" dirty="0">
                <a:latin typeface="宋体" charset="-122"/>
              </a:rPr>
              <a:t>   return  </a:t>
            </a:r>
          </a:p>
          <a:p>
            <a:pPr marL="0" indent="0" algn="just">
              <a:lnSpc>
                <a:spcPct val="90000"/>
              </a:lnSpc>
              <a:buFont typeface="Monotype Sorts" charset="2"/>
              <a:buNone/>
            </a:pPr>
            <a:r>
              <a:rPr lang="en-US" altLang="zh-CN" sz="3200" b="1" dirty="0">
                <a:highlight>
                  <a:srgbClr val="FF00FF"/>
                </a:highlight>
                <a:latin typeface="宋体" charset="-122"/>
              </a:rPr>
              <a:t>short</a:t>
            </a:r>
            <a:r>
              <a:rPr lang="en-US" altLang="zh-CN" sz="3200" b="1" dirty="0">
                <a:latin typeface="宋体" charset="-122"/>
              </a:rPr>
              <a:t>     </a:t>
            </a:r>
            <a:r>
              <a:rPr lang="en-US" altLang="zh-CN" sz="3200" b="1" dirty="0">
                <a:highlight>
                  <a:srgbClr val="FF00FF"/>
                </a:highlight>
                <a:latin typeface="宋体" charset="-122"/>
              </a:rPr>
              <a:t>signed</a:t>
            </a:r>
            <a:r>
              <a:rPr lang="en-US" altLang="zh-CN" sz="3200" b="1" dirty="0">
                <a:latin typeface="宋体" charset="-122"/>
              </a:rPr>
              <a:t>     </a:t>
            </a:r>
            <a:r>
              <a:rPr lang="en-US" altLang="zh-CN" sz="3200" b="1" dirty="0" err="1">
                <a:latin typeface="宋体" charset="-122"/>
              </a:rPr>
              <a:t>sizeof</a:t>
            </a:r>
            <a:r>
              <a:rPr lang="en-US" altLang="zh-CN" sz="3200" b="1" dirty="0">
                <a:latin typeface="宋体" charset="-122"/>
              </a:rPr>
              <a:t>     </a:t>
            </a:r>
            <a:r>
              <a:rPr lang="en-US" altLang="zh-CN" sz="3200" b="1" dirty="0">
                <a:highlight>
                  <a:srgbClr val="FFFF00"/>
                </a:highlight>
                <a:latin typeface="宋体" charset="-122"/>
              </a:rPr>
              <a:t>static</a:t>
            </a:r>
            <a:r>
              <a:rPr lang="en-US" altLang="zh-CN" sz="3200" b="1" dirty="0">
                <a:latin typeface="宋体" charset="-122"/>
              </a:rPr>
              <a:t> </a:t>
            </a:r>
          </a:p>
          <a:p>
            <a:pPr marL="0" indent="0" algn="just">
              <a:lnSpc>
                <a:spcPct val="90000"/>
              </a:lnSpc>
              <a:buFont typeface="Monotype Sorts" charset="2"/>
              <a:buNone/>
            </a:pPr>
            <a:r>
              <a:rPr lang="en-US" altLang="zh-CN" sz="3200" b="1" dirty="0">
                <a:highlight>
                  <a:srgbClr val="FF00FF"/>
                </a:highlight>
                <a:latin typeface="宋体" charset="-122"/>
              </a:rPr>
              <a:t>struct</a:t>
            </a:r>
            <a:r>
              <a:rPr lang="en-US" altLang="zh-CN" sz="3200" b="1" dirty="0">
                <a:latin typeface="宋体" charset="-122"/>
              </a:rPr>
              <a:t>    </a:t>
            </a:r>
            <a:r>
              <a:rPr lang="en-US" altLang="zh-CN" sz="3200" b="1" dirty="0">
                <a:highlight>
                  <a:srgbClr val="FFFF00"/>
                </a:highlight>
                <a:latin typeface="宋体" charset="-122"/>
              </a:rPr>
              <a:t>switch</a:t>
            </a:r>
            <a:r>
              <a:rPr lang="en-US" altLang="zh-CN" sz="3200" b="1" dirty="0">
                <a:latin typeface="宋体" charset="-122"/>
              </a:rPr>
              <a:t>     typedef    </a:t>
            </a:r>
            <a:r>
              <a:rPr lang="en-US" altLang="zh-CN" sz="3200" b="1" dirty="0">
                <a:highlight>
                  <a:srgbClr val="FF00FF"/>
                </a:highlight>
                <a:latin typeface="宋体" charset="-122"/>
              </a:rPr>
              <a:t>union</a:t>
            </a:r>
          </a:p>
          <a:p>
            <a:pPr marL="0" indent="0" algn="just">
              <a:lnSpc>
                <a:spcPct val="90000"/>
              </a:lnSpc>
              <a:buFont typeface="Monotype Sorts" charset="2"/>
              <a:buNone/>
            </a:pPr>
            <a:r>
              <a:rPr lang="en-US" altLang="zh-CN" sz="3200" b="1" dirty="0">
                <a:highlight>
                  <a:srgbClr val="FF00FF"/>
                </a:highlight>
                <a:latin typeface="宋体" charset="-122"/>
              </a:rPr>
              <a:t>unsigned</a:t>
            </a:r>
            <a:r>
              <a:rPr lang="en-US" altLang="zh-CN" sz="3200" b="1" dirty="0">
                <a:latin typeface="宋体" charset="-122"/>
              </a:rPr>
              <a:t>  </a:t>
            </a:r>
            <a:r>
              <a:rPr lang="en-US" altLang="zh-CN" sz="3200" b="1" dirty="0">
                <a:highlight>
                  <a:srgbClr val="FF00FF"/>
                </a:highlight>
                <a:latin typeface="宋体" charset="-122"/>
              </a:rPr>
              <a:t>void</a:t>
            </a:r>
            <a:r>
              <a:rPr lang="en-US" altLang="zh-CN" sz="3200" b="1" dirty="0">
                <a:latin typeface="宋体" charset="-122"/>
              </a:rPr>
              <a:t>       volatile   </a:t>
            </a:r>
            <a:r>
              <a:rPr lang="en-US" altLang="zh-CN" sz="3200" b="1" dirty="0">
                <a:highlight>
                  <a:srgbClr val="00FF00"/>
                </a:highlight>
                <a:latin typeface="宋体" charset="-122"/>
              </a:rPr>
              <a:t>while</a:t>
            </a:r>
            <a:endParaRPr lang="zh-CN" altLang="zh-CN" sz="2000" b="1" dirty="0">
              <a:highlight>
                <a:srgbClr val="00FF00"/>
              </a:highlight>
              <a:latin typeface="宋体" charset="-122"/>
            </a:endParaRPr>
          </a:p>
        </p:txBody>
      </p:sp>
      <p:sp>
        <p:nvSpPr>
          <p:cNvPr id="6" name="灯片编号占位符 5"/>
          <p:cNvSpPr>
            <a:spLocks noGrp="1"/>
          </p:cNvSpPr>
          <p:nvPr>
            <p:ph type="sldNum" sz="quarter" idx="12"/>
          </p:nvPr>
        </p:nvSpPr>
        <p:spPr/>
        <p:txBody>
          <a:bodyPr/>
          <a:lstStyle/>
          <a:p>
            <a:pPr defTabSz="1128713">
              <a:defRPr/>
            </a:pPr>
            <a:fld id="{419735CF-0075-4D49-8FEB-8C9E4A2778C8}" type="slidenum">
              <a:rPr lang="zh-CN" altLang="en-US">
                <a:latin typeface="+mn-lt"/>
              </a:rPr>
              <a:pPr defTabSz="1128713">
                <a:defRPr/>
              </a:pPr>
              <a:t>81</a:t>
            </a:fld>
            <a:endParaRPr lang="en-US" altLang="zh-CN">
              <a:latin typeface="+mn-lt"/>
            </a:endParaRPr>
          </a:p>
        </p:txBody>
      </p:sp>
      <p:sp>
        <p:nvSpPr>
          <p:cNvPr id="2" name="文本框 1">
            <a:extLst>
              <a:ext uri="{FF2B5EF4-FFF2-40B4-BE49-F238E27FC236}">
                <a16:creationId xmlns:a16="http://schemas.microsoft.com/office/drawing/2014/main" id="{35D41E8A-E9C6-4159-87CF-E8D5280D043A}"/>
              </a:ext>
            </a:extLst>
          </p:cNvPr>
          <p:cNvSpPr txBox="1"/>
          <p:nvPr/>
        </p:nvSpPr>
        <p:spPr>
          <a:xfrm>
            <a:off x="323528" y="1484784"/>
            <a:ext cx="7992888" cy="584775"/>
          </a:xfrm>
          <a:prstGeom prst="rect">
            <a:avLst/>
          </a:prstGeom>
          <a:noFill/>
        </p:spPr>
        <p:txBody>
          <a:bodyPr wrap="square" rtlCol="0">
            <a:spAutoFit/>
          </a:bodyPr>
          <a:lstStyle/>
          <a:p>
            <a:r>
              <a:rPr lang="zh-CN" altLang="en-US" dirty="0">
                <a:highlight>
                  <a:srgbClr val="FFFF00"/>
                </a:highlight>
              </a:rPr>
              <a:t>存储</a:t>
            </a:r>
            <a:r>
              <a:rPr lang="zh-CN" altLang="en-US" dirty="0"/>
              <a:t>，</a:t>
            </a:r>
            <a:r>
              <a:rPr lang="zh-CN" altLang="en-US" dirty="0">
                <a:highlight>
                  <a:srgbClr val="FF00FF"/>
                </a:highlight>
              </a:rPr>
              <a:t>数据</a:t>
            </a:r>
            <a:r>
              <a:rPr lang="zh-CN" altLang="en-US" dirty="0"/>
              <a:t>，</a:t>
            </a:r>
            <a:r>
              <a:rPr lang="zh-CN" altLang="en-US" dirty="0">
                <a:highlight>
                  <a:srgbClr val="00FF00"/>
                </a:highlight>
              </a:rPr>
              <a:t>控制</a:t>
            </a:r>
            <a:r>
              <a:rPr lang="zh-CN" altLang="en-US" dirty="0"/>
              <a:t>，其它</a:t>
            </a:r>
          </a:p>
        </p:txBody>
      </p:sp>
    </p:spTree>
    <p:extLst>
      <p:ext uri="{BB962C8B-B14F-4D97-AF65-F5344CB8AC3E}">
        <p14:creationId xmlns:p14="http://schemas.microsoft.com/office/powerpoint/2010/main" val="1615346398"/>
      </p:ext>
    </p:extLst>
  </p:cSld>
  <p:clrMapOvr>
    <a:masterClrMapping/>
  </p:clrMapOvr>
  <p:transition>
    <p:random/>
  </p:transition>
</p:sld>
</file>

<file path=ppt/slides/slide8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8850" name="Rectangle 1027"/>
          <p:cNvSpPr>
            <a:spLocks noGrp="1" noChangeArrowheads="1"/>
          </p:cNvSpPr>
          <p:nvPr>
            <p:ph type="title"/>
          </p:nvPr>
        </p:nvSpPr>
        <p:spPr>
          <a:xfrm>
            <a:off x="228600" y="136525"/>
            <a:ext cx="8686800" cy="990600"/>
          </a:xfrm>
        </p:spPr>
        <p:txBody>
          <a:bodyPr/>
          <a:lstStyle/>
          <a:p>
            <a:r>
              <a:rPr lang="zh-CN" altLang="en-US" dirty="0">
                <a:solidFill>
                  <a:srgbClr val="C00000"/>
                </a:solidFill>
                <a:latin typeface="黑体" pitchFamily="2" charset="-122"/>
                <a:ea typeface="黑体" pitchFamily="2" charset="-122"/>
              </a:rPr>
              <a:t>标识符</a:t>
            </a:r>
          </a:p>
        </p:txBody>
      </p:sp>
      <p:sp>
        <p:nvSpPr>
          <p:cNvPr id="78851" name="Rectangle 1026"/>
          <p:cNvSpPr>
            <a:spLocks noGrp="1" noChangeArrowheads="1"/>
          </p:cNvSpPr>
          <p:nvPr>
            <p:ph idx="1"/>
          </p:nvPr>
        </p:nvSpPr>
        <p:spPr>
          <a:xfrm>
            <a:off x="395288" y="1484313"/>
            <a:ext cx="8367712" cy="4806950"/>
          </a:xfrm>
        </p:spPr>
        <p:txBody>
          <a:bodyPr/>
          <a:lstStyle/>
          <a:p>
            <a:pPr marL="0" indent="0" algn="just">
              <a:lnSpc>
                <a:spcPct val="90000"/>
              </a:lnSpc>
              <a:buFont typeface="Monotype Sorts" charset="2"/>
              <a:buNone/>
            </a:pPr>
            <a:r>
              <a:rPr lang="zh-CN" altLang="en-US" sz="4000" b="1" dirty="0">
                <a:latin typeface="楷体_GB2312" pitchFamily="49" charset="-122"/>
                <a:ea typeface="楷体_GB2312" pitchFamily="49" charset="-122"/>
              </a:rPr>
              <a:t>作用：用来标识变量、常量、类型、函数、语句等程序对象，Ｃ语言用标识符给它们</a:t>
            </a:r>
            <a:r>
              <a:rPr lang="zh-CN" altLang="en-US" sz="4000" b="1" dirty="0">
                <a:highlight>
                  <a:srgbClr val="FFFF00"/>
                </a:highlight>
                <a:latin typeface="楷体_GB2312" pitchFamily="49" charset="-122"/>
                <a:ea typeface="楷体_GB2312" pitchFamily="49" charset="-122"/>
              </a:rPr>
              <a:t>命名</a:t>
            </a:r>
            <a:r>
              <a:rPr lang="zh-CN" altLang="en-US" sz="4000" b="1" dirty="0">
                <a:latin typeface="楷体_GB2312" pitchFamily="49" charset="-122"/>
                <a:ea typeface="楷体_GB2312" pitchFamily="49" charset="-122"/>
              </a:rPr>
              <a:t>。</a:t>
            </a:r>
          </a:p>
          <a:p>
            <a:pPr marL="0" indent="0" algn="just">
              <a:lnSpc>
                <a:spcPct val="90000"/>
              </a:lnSpc>
              <a:buFont typeface="Monotype Sorts" charset="2"/>
              <a:buNone/>
            </a:pPr>
            <a:r>
              <a:rPr lang="zh-CN" altLang="en-US" sz="4000" b="1" dirty="0">
                <a:latin typeface="楷体_GB2312" pitchFamily="49" charset="-122"/>
                <a:ea typeface="楷体_GB2312" pitchFamily="49" charset="-122"/>
              </a:rPr>
              <a:t>命名规则：在Ｃ语言中，一个合理的标识符由英文字母或下线符开头，后可跟由字母、下线符、数字组成的字符序列。一般以下线符开头的标识符为系统内部使用。</a:t>
            </a:r>
            <a:endParaRPr lang="zh-CN" altLang="en-US" sz="2400" b="1" dirty="0">
              <a:latin typeface="楷体_GB2312" pitchFamily="49" charset="-122"/>
              <a:ea typeface="楷体_GB2312" pitchFamily="49" charset="-122"/>
            </a:endParaRPr>
          </a:p>
        </p:txBody>
      </p:sp>
      <p:sp>
        <p:nvSpPr>
          <p:cNvPr id="6" name="灯片编号占位符 5"/>
          <p:cNvSpPr>
            <a:spLocks noGrp="1"/>
          </p:cNvSpPr>
          <p:nvPr>
            <p:ph type="sldNum" sz="quarter" idx="12"/>
          </p:nvPr>
        </p:nvSpPr>
        <p:spPr/>
        <p:txBody>
          <a:bodyPr/>
          <a:lstStyle/>
          <a:p>
            <a:pPr defTabSz="1128713">
              <a:defRPr/>
            </a:pPr>
            <a:fld id="{8D07F89D-7E3A-4485-9C7E-9B83D97518DA}" type="slidenum">
              <a:rPr lang="zh-CN" altLang="en-US">
                <a:latin typeface="+mn-lt"/>
              </a:rPr>
              <a:pPr defTabSz="1128713">
                <a:defRPr/>
              </a:pPr>
              <a:t>82</a:t>
            </a:fld>
            <a:endParaRPr lang="en-US" altLang="zh-CN">
              <a:latin typeface="+mn-lt"/>
            </a:endParaRPr>
          </a:p>
        </p:txBody>
      </p:sp>
    </p:spTree>
    <p:extLst>
      <p:ext uri="{BB962C8B-B14F-4D97-AF65-F5344CB8AC3E}">
        <p14:creationId xmlns:p14="http://schemas.microsoft.com/office/powerpoint/2010/main" val="1034921400"/>
      </p:ext>
    </p:extLst>
  </p:cSld>
  <p:clrMapOvr>
    <a:masterClrMapping/>
  </p:clrMapOvr>
  <p:transition>
    <p:random/>
  </p:transition>
</p:sld>
</file>

<file path=ppt/slides/slide8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9874" name="Rectangle 3074"/>
          <p:cNvSpPr>
            <a:spLocks noGrp="1" noChangeArrowheads="1"/>
          </p:cNvSpPr>
          <p:nvPr>
            <p:ph idx="1"/>
          </p:nvPr>
        </p:nvSpPr>
        <p:spPr>
          <a:xfrm>
            <a:off x="395288" y="1484313"/>
            <a:ext cx="8380412" cy="4751387"/>
          </a:xfrm>
        </p:spPr>
        <p:txBody>
          <a:bodyPr/>
          <a:lstStyle/>
          <a:p>
            <a:pPr marL="0" indent="0" algn="just">
              <a:buFont typeface="Monotype Sorts" charset="2"/>
              <a:buNone/>
            </a:pPr>
            <a:r>
              <a:rPr lang="zh-CN" altLang="en-US" sz="4000" b="1">
                <a:latin typeface="楷体_GB2312" pitchFamily="49" charset="-122"/>
                <a:ea typeface="楷体_GB2312" pitchFamily="49" charset="-122"/>
              </a:rPr>
              <a:t>命名要求：标识符作为程序成分对象的名称，为了便于联想和记忆，建议使用能反映该对象意义的标识符。</a:t>
            </a:r>
          </a:p>
          <a:p>
            <a:pPr marL="0" indent="0" algn="just">
              <a:buFont typeface="Monotype Sorts" charset="2"/>
              <a:buNone/>
            </a:pPr>
            <a:r>
              <a:rPr lang="zh-CN" altLang="en-US" sz="4000" b="1">
                <a:latin typeface="楷体_GB2312" pitchFamily="49" charset="-122"/>
                <a:ea typeface="楷体_GB2312" pitchFamily="49" charset="-122"/>
              </a:rPr>
              <a:t>注意：</a:t>
            </a:r>
            <a:r>
              <a:rPr lang="en-US" altLang="zh-CN" sz="4000" b="1">
                <a:latin typeface="楷体_GB2312" pitchFamily="49" charset="-122"/>
                <a:ea typeface="楷体_GB2312" pitchFamily="49" charset="-122"/>
              </a:rPr>
              <a:t>1.</a:t>
            </a:r>
            <a:r>
              <a:rPr lang="zh-CN" altLang="en-US" sz="4000" b="1">
                <a:latin typeface="楷体_GB2312" pitchFamily="49" charset="-122"/>
                <a:ea typeface="楷体_GB2312" pitchFamily="49" charset="-122"/>
              </a:rPr>
              <a:t>标识符长度（字符个数）随不同系统而定；</a:t>
            </a:r>
            <a:r>
              <a:rPr lang="en-US" altLang="zh-CN" sz="4000" b="1">
                <a:latin typeface="楷体_GB2312" pitchFamily="49" charset="-122"/>
                <a:ea typeface="楷体_GB2312" pitchFamily="49" charset="-122"/>
              </a:rPr>
              <a:t>2.</a:t>
            </a:r>
            <a:r>
              <a:rPr lang="zh-CN" altLang="en-US" sz="4000" b="1">
                <a:solidFill>
                  <a:srgbClr val="FF0000"/>
                </a:solidFill>
                <a:latin typeface="楷体_GB2312" pitchFamily="49" charset="-122"/>
                <a:ea typeface="楷体_GB2312" pitchFamily="49" charset="-122"/>
              </a:rPr>
              <a:t>标识符中字母大小写有区别</a:t>
            </a:r>
            <a:r>
              <a:rPr lang="zh-CN" altLang="en-US" sz="4000" b="1">
                <a:latin typeface="楷体_GB2312" pitchFamily="49" charset="-122"/>
                <a:ea typeface="楷体_GB2312" pitchFamily="49" charset="-122"/>
              </a:rPr>
              <a:t>，</a:t>
            </a:r>
            <a:r>
              <a:rPr lang="en-US" altLang="zh-CN" sz="4000" b="1">
                <a:latin typeface="楷体_GB2312" pitchFamily="49" charset="-122"/>
                <a:ea typeface="楷体_GB2312" pitchFamily="49" charset="-122"/>
              </a:rPr>
              <a:t>C</a:t>
            </a:r>
            <a:r>
              <a:rPr lang="zh-CN" altLang="en-US" sz="4000" b="1">
                <a:latin typeface="楷体_GB2312" pitchFamily="49" charset="-122"/>
                <a:ea typeface="楷体_GB2312" pitchFamily="49" charset="-122"/>
              </a:rPr>
              <a:t>语言建议用小写字母表示变量，大写字母表示符号常量名。</a:t>
            </a:r>
            <a:endParaRPr lang="zh-CN" altLang="en-US" sz="4000">
              <a:latin typeface="楷体_GB2312" pitchFamily="49" charset="-122"/>
              <a:ea typeface="楷体_GB2312" pitchFamily="49" charset="-122"/>
            </a:endParaRPr>
          </a:p>
        </p:txBody>
      </p:sp>
      <p:sp>
        <p:nvSpPr>
          <p:cNvPr id="5" name="灯片编号占位符 5"/>
          <p:cNvSpPr>
            <a:spLocks noGrp="1"/>
          </p:cNvSpPr>
          <p:nvPr>
            <p:ph type="sldNum" sz="quarter" idx="12"/>
          </p:nvPr>
        </p:nvSpPr>
        <p:spPr/>
        <p:txBody>
          <a:bodyPr/>
          <a:lstStyle/>
          <a:p>
            <a:pPr defTabSz="1128713">
              <a:defRPr/>
            </a:pPr>
            <a:fld id="{BDDA7E4A-396B-4B27-9036-BEF707610D02}" type="slidenum">
              <a:rPr lang="zh-CN" altLang="en-US">
                <a:latin typeface="+mn-lt"/>
              </a:rPr>
              <a:pPr defTabSz="1128713">
                <a:defRPr/>
              </a:pPr>
              <a:t>83</a:t>
            </a:fld>
            <a:endParaRPr lang="en-US" altLang="zh-CN">
              <a:latin typeface="+mn-lt"/>
            </a:endParaRPr>
          </a:p>
        </p:txBody>
      </p:sp>
      <p:sp>
        <p:nvSpPr>
          <p:cNvPr id="4" name="Rectangle 1027">
            <a:extLst>
              <a:ext uri="{FF2B5EF4-FFF2-40B4-BE49-F238E27FC236}">
                <a16:creationId xmlns:a16="http://schemas.microsoft.com/office/drawing/2014/main" id="{4E3DBD47-F08C-4173-8D0C-2FEFDCFB0D12}"/>
              </a:ext>
            </a:extLst>
          </p:cNvPr>
          <p:cNvSpPr>
            <a:spLocks noGrp="1" noChangeArrowheads="1"/>
          </p:cNvSpPr>
          <p:nvPr>
            <p:ph type="title"/>
          </p:nvPr>
        </p:nvSpPr>
        <p:spPr>
          <a:xfrm>
            <a:off x="228600" y="136525"/>
            <a:ext cx="8686800" cy="990600"/>
          </a:xfrm>
        </p:spPr>
        <p:txBody>
          <a:bodyPr/>
          <a:lstStyle/>
          <a:p>
            <a:r>
              <a:rPr lang="zh-CN" altLang="en-US" dirty="0">
                <a:solidFill>
                  <a:srgbClr val="C00000"/>
                </a:solidFill>
                <a:latin typeface="黑体" pitchFamily="2" charset="-122"/>
                <a:ea typeface="黑体" pitchFamily="2" charset="-122"/>
              </a:rPr>
              <a:t>标识符</a:t>
            </a:r>
          </a:p>
        </p:txBody>
      </p:sp>
    </p:spTree>
    <p:extLst>
      <p:ext uri="{BB962C8B-B14F-4D97-AF65-F5344CB8AC3E}">
        <p14:creationId xmlns:p14="http://schemas.microsoft.com/office/powerpoint/2010/main" val="2082607040"/>
      </p:ext>
    </p:extLst>
  </p:cSld>
  <p:clrMapOvr>
    <a:masterClrMapping/>
  </p:clrMapOvr>
  <p:transition>
    <p:random/>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53F2A1B-26B7-4866-80A0-91A0C5DE34A0}"/>
              </a:ext>
            </a:extLst>
          </p:cNvPr>
          <p:cNvSpPr>
            <a:spLocks noGrp="1"/>
          </p:cNvSpPr>
          <p:nvPr>
            <p:ph idx="1"/>
          </p:nvPr>
        </p:nvSpPr>
        <p:spPr>
          <a:xfrm>
            <a:off x="251520" y="1639344"/>
            <a:ext cx="8723312" cy="4389437"/>
          </a:xfrm>
        </p:spPr>
        <p:txBody>
          <a:bodyPr/>
          <a:lstStyle/>
          <a:p>
            <a:r>
              <a:rPr lang="zh-CN" altLang="en-US" dirty="0"/>
              <a:t>以下是</a:t>
            </a:r>
            <a:r>
              <a:rPr lang="en-US" altLang="zh-CN" dirty="0"/>
              <a:t>C</a:t>
            </a:r>
            <a:r>
              <a:rPr lang="zh-CN" altLang="en-US" dirty="0"/>
              <a:t>语言中常见的标识符：</a:t>
            </a:r>
          </a:p>
          <a:p>
            <a:r>
              <a:rPr lang="zh-CN" altLang="en-US" dirty="0"/>
              <a:t>变量名：用于表示程序中的变量，如</a:t>
            </a:r>
            <a:r>
              <a:rPr lang="en-US" altLang="zh-CN" dirty="0"/>
              <a:t>int age;</a:t>
            </a:r>
          </a:p>
          <a:p>
            <a:r>
              <a:rPr lang="zh-CN" altLang="en-US" dirty="0"/>
              <a:t>函数名：用于表示程序中的函数，如</a:t>
            </a:r>
            <a:r>
              <a:rPr lang="en-US" altLang="zh-CN" dirty="0"/>
              <a:t>int main()</a:t>
            </a:r>
            <a:r>
              <a:rPr lang="zh-CN" altLang="en-US" dirty="0"/>
              <a:t>；</a:t>
            </a:r>
          </a:p>
          <a:p>
            <a:r>
              <a:rPr lang="zh-CN" altLang="en-US" dirty="0"/>
              <a:t>数组名：用于表示程序中的数组，如</a:t>
            </a:r>
            <a:r>
              <a:rPr lang="en-US" altLang="zh-CN" dirty="0"/>
              <a:t>int </a:t>
            </a:r>
            <a:r>
              <a:rPr lang="en-US" altLang="zh-CN" dirty="0" err="1"/>
              <a:t>arr</a:t>
            </a:r>
            <a:r>
              <a:rPr lang="en-US" altLang="zh-CN" dirty="0"/>
              <a:t>[10]</a:t>
            </a:r>
            <a:r>
              <a:rPr lang="zh-CN" altLang="en-US" dirty="0"/>
              <a:t>；</a:t>
            </a:r>
          </a:p>
          <a:p>
            <a:r>
              <a:rPr lang="zh-CN" altLang="en-US" dirty="0"/>
              <a:t>结构体名：用于表示程序中的结构体，如</a:t>
            </a:r>
            <a:r>
              <a:rPr lang="en-US" altLang="zh-CN" dirty="0"/>
              <a:t>struct student</a:t>
            </a:r>
            <a:r>
              <a:rPr lang="zh-CN" altLang="en-US" dirty="0"/>
              <a:t>；</a:t>
            </a:r>
          </a:p>
          <a:p>
            <a:r>
              <a:rPr lang="zh-CN" altLang="en-US" dirty="0"/>
              <a:t>枚举名：用于表示程序中的枚举类型，如</a:t>
            </a:r>
            <a:r>
              <a:rPr lang="en-US" altLang="zh-CN" dirty="0" err="1"/>
              <a:t>enum</a:t>
            </a:r>
            <a:r>
              <a:rPr lang="en-US" altLang="zh-CN" dirty="0"/>
              <a:t> season</a:t>
            </a:r>
            <a:r>
              <a:rPr lang="zh-CN" altLang="en-US" dirty="0"/>
              <a:t>；</a:t>
            </a:r>
          </a:p>
          <a:p>
            <a:r>
              <a:rPr lang="zh-CN" altLang="en-US" dirty="0"/>
              <a:t>宏定义名：用于表示程序中的宏定义，如</a:t>
            </a:r>
            <a:r>
              <a:rPr lang="en-US" altLang="zh-CN" dirty="0"/>
              <a:t>#define PI 3.14</a:t>
            </a:r>
            <a:r>
              <a:rPr lang="zh-CN" altLang="en-US" dirty="0"/>
              <a:t>；</a:t>
            </a:r>
          </a:p>
          <a:p>
            <a:r>
              <a:rPr lang="en-US" altLang="zh-CN" dirty="0"/>
              <a:t>typedef</a:t>
            </a:r>
            <a:r>
              <a:rPr lang="zh-CN" altLang="en-US" dirty="0"/>
              <a:t>定义的类型名：用于表示程序中的</a:t>
            </a:r>
            <a:r>
              <a:rPr lang="en-US" altLang="zh-CN" dirty="0"/>
              <a:t>typedef</a:t>
            </a:r>
            <a:r>
              <a:rPr lang="zh-CN" altLang="en-US" dirty="0"/>
              <a:t>定义的类型，如</a:t>
            </a:r>
            <a:r>
              <a:rPr lang="en-US" altLang="zh-CN" dirty="0"/>
              <a:t>typedef int </a:t>
            </a:r>
            <a:r>
              <a:rPr lang="en-US" altLang="zh-CN" dirty="0" err="1"/>
              <a:t>INT</a:t>
            </a:r>
            <a:r>
              <a:rPr lang="zh-CN" altLang="en-US" dirty="0"/>
              <a:t>。</a:t>
            </a:r>
          </a:p>
          <a:p>
            <a:endParaRPr lang="zh-CN" altLang="en-US" dirty="0"/>
          </a:p>
        </p:txBody>
      </p:sp>
      <p:sp>
        <p:nvSpPr>
          <p:cNvPr id="4" name="灯片编号占位符 3">
            <a:extLst>
              <a:ext uri="{FF2B5EF4-FFF2-40B4-BE49-F238E27FC236}">
                <a16:creationId xmlns:a16="http://schemas.microsoft.com/office/drawing/2014/main" id="{08EEE9B3-453F-4D0E-B8A8-7E1AEFDDD71D}"/>
              </a:ext>
            </a:extLst>
          </p:cNvPr>
          <p:cNvSpPr>
            <a:spLocks noGrp="1"/>
          </p:cNvSpPr>
          <p:nvPr>
            <p:ph type="sldNum" sz="quarter" idx="12"/>
          </p:nvPr>
        </p:nvSpPr>
        <p:spPr/>
        <p:txBody>
          <a:bodyPr/>
          <a:lstStyle/>
          <a:p>
            <a:pPr>
              <a:defRPr/>
            </a:pPr>
            <a:fld id="{F5B931C6-46ED-4D6F-ADB1-4B91676450DC}" type="slidenum">
              <a:rPr lang="zh-CN" altLang="en-US" smtClean="0"/>
              <a:pPr>
                <a:defRPr/>
              </a:pPr>
              <a:t>84</a:t>
            </a:fld>
            <a:endParaRPr lang="en-US" altLang="zh-CN"/>
          </a:p>
        </p:txBody>
      </p:sp>
      <p:sp>
        <p:nvSpPr>
          <p:cNvPr id="5" name="Rectangle 1027">
            <a:extLst>
              <a:ext uri="{FF2B5EF4-FFF2-40B4-BE49-F238E27FC236}">
                <a16:creationId xmlns:a16="http://schemas.microsoft.com/office/drawing/2014/main" id="{59624CF9-BEBF-4CA7-B465-D7521F138C3D}"/>
              </a:ext>
            </a:extLst>
          </p:cNvPr>
          <p:cNvSpPr>
            <a:spLocks noGrp="1" noChangeArrowheads="1"/>
          </p:cNvSpPr>
          <p:nvPr>
            <p:ph type="title"/>
          </p:nvPr>
        </p:nvSpPr>
        <p:spPr>
          <a:xfrm>
            <a:off x="179388" y="168275"/>
            <a:ext cx="8229600" cy="1143000"/>
          </a:xfrm>
        </p:spPr>
        <p:txBody>
          <a:bodyPr/>
          <a:lstStyle/>
          <a:p>
            <a:r>
              <a:rPr lang="zh-CN" altLang="en-US" dirty="0">
                <a:solidFill>
                  <a:srgbClr val="C00000"/>
                </a:solidFill>
                <a:latin typeface="黑体" pitchFamily="2" charset="-122"/>
                <a:ea typeface="黑体" pitchFamily="2" charset="-122"/>
              </a:rPr>
              <a:t>标识符</a:t>
            </a:r>
          </a:p>
        </p:txBody>
      </p:sp>
    </p:spTree>
    <p:extLst>
      <p:ext uri="{BB962C8B-B14F-4D97-AF65-F5344CB8AC3E}">
        <p14:creationId xmlns:p14="http://schemas.microsoft.com/office/powerpoint/2010/main" val="269624819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a:xfrm>
            <a:off x="381000" y="228600"/>
            <a:ext cx="8458200" cy="838200"/>
          </a:xfrm>
        </p:spPr>
        <p:txBody>
          <a:bodyPr/>
          <a:lstStyle/>
          <a:p>
            <a:r>
              <a:rPr lang="zh-CN" altLang="en-US" sz="4400" dirty="0">
                <a:solidFill>
                  <a:srgbClr val="C00000"/>
                </a:solidFill>
                <a:latin typeface="黑体" pitchFamily="2" charset="-122"/>
                <a:ea typeface="黑体" pitchFamily="2" charset="-122"/>
              </a:rPr>
              <a:t>常量</a:t>
            </a:r>
          </a:p>
        </p:txBody>
      </p:sp>
      <p:sp>
        <p:nvSpPr>
          <p:cNvPr id="82947" name="Rectangle 3"/>
          <p:cNvSpPr>
            <a:spLocks noGrp="1" noChangeArrowheads="1"/>
          </p:cNvSpPr>
          <p:nvPr>
            <p:ph idx="1"/>
          </p:nvPr>
        </p:nvSpPr>
        <p:spPr>
          <a:xfrm>
            <a:off x="381000" y="1295400"/>
            <a:ext cx="8305800" cy="5334000"/>
          </a:xfrm>
        </p:spPr>
        <p:txBody>
          <a:bodyPr/>
          <a:lstStyle/>
          <a:p>
            <a:pPr marL="0" indent="0" algn="just">
              <a:lnSpc>
                <a:spcPct val="90000"/>
              </a:lnSpc>
              <a:buFont typeface="Monotype Sorts" charset="2"/>
              <a:buNone/>
            </a:pPr>
            <a:r>
              <a:rPr lang="zh-CN" altLang="en-US" sz="4000" b="1" dirty="0">
                <a:latin typeface="楷体_GB2312" pitchFamily="49" charset="-122"/>
                <a:ea typeface="楷体_GB2312" pitchFamily="49" charset="-122"/>
              </a:rPr>
              <a:t>在程序运行过程中，其值不允许改变的量称为常量。</a:t>
            </a:r>
          </a:p>
          <a:p>
            <a:pPr marL="0" indent="0" algn="just">
              <a:lnSpc>
                <a:spcPct val="90000"/>
              </a:lnSpc>
              <a:buFont typeface="Monotype Sorts" charset="2"/>
              <a:buNone/>
            </a:pPr>
            <a:r>
              <a:rPr lang="zh-CN" altLang="en-US" sz="4000" b="1" dirty="0">
                <a:latin typeface="楷体_GB2312" pitchFamily="49" charset="-122"/>
                <a:ea typeface="楷体_GB2312" pitchFamily="49" charset="-122"/>
              </a:rPr>
              <a:t>常量的类型有:</a:t>
            </a:r>
          </a:p>
          <a:p>
            <a:pPr marL="0" indent="0" algn="just">
              <a:lnSpc>
                <a:spcPct val="90000"/>
              </a:lnSpc>
              <a:spcBef>
                <a:spcPct val="15000"/>
              </a:spcBef>
              <a:buFont typeface="Monotype Sorts" charset="2"/>
              <a:buNone/>
            </a:pPr>
            <a:r>
              <a:rPr lang="zh-CN" altLang="en-US" sz="4000" b="1" dirty="0">
                <a:latin typeface="楷体_GB2312" pitchFamily="49" charset="-122"/>
                <a:ea typeface="楷体_GB2312" pitchFamily="49" charset="-122"/>
              </a:rPr>
              <a:t>整型常量   如，15、</a:t>
            </a:r>
            <a:r>
              <a:rPr lang="en-US" altLang="zh-CN" sz="4000" b="1" dirty="0">
                <a:latin typeface="楷体_GB2312" pitchFamily="49" charset="-122"/>
                <a:ea typeface="楷体_GB2312" pitchFamily="49" charset="-122"/>
              </a:rPr>
              <a:t>0</a:t>
            </a:r>
            <a:r>
              <a:rPr lang="zh-CN" altLang="en-US" sz="4000" b="1" dirty="0">
                <a:latin typeface="楷体_GB2312" pitchFamily="49" charset="-122"/>
                <a:ea typeface="楷体_GB2312" pitchFamily="49" charset="-122"/>
              </a:rPr>
              <a:t>、－</a:t>
            </a:r>
            <a:r>
              <a:rPr lang="en-US" altLang="zh-CN" sz="4000" b="1" dirty="0">
                <a:latin typeface="楷体_GB2312" pitchFamily="49" charset="-122"/>
                <a:ea typeface="楷体_GB2312" pitchFamily="49" charset="-122"/>
              </a:rPr>
              <a:t>7</a:t>
            </a:r>
          </a:p>
          <a:p>
            <a:pPr marL="0" indent="0" algn="just">
              <a:lnSpc>
                <a:spcPct val="90000"/>
              </a:lnSpc>
              <a:spcBef>
                <a:spcPct val="15000"/>
              </a:spcBef>
              <a:buFont typeface="Monotype Sorts" charset="2"/>
              <a:buNone/>
            </a:pPr>
            <a:r>
              <a:rPr lang="zh-CN" altLang="en-US" sz="4000" b="1" dirty="0">
                <a:latin typeface="楷体_GB2312" pitchFamily="49" charset="-122"/>
                <a:ea typeface="楷体_GB2312" pitchFamily="49" charset="-122"/>
              </a:rPr>
              <a:t>浮点型常量 如，5.0、－</a:t>
            </a:r>
            <a:r>
              <a:rPr lang="en-US" altLang="zh-CN" sz="4000" b="1" dirty="0">
                <a:latin typeface="楷体_GB2312" pitchFamily="49" charset="-122"/>
                <a:ea typeface="楷体_GB2312" pitchFamily="49" charset="-122"/>
              </a:rPr>
              <a:t>12.36</a:t>
            </a:r>
          </a:p>
          <a:p>
            <a:pPr marL="0" indent="0" algn="just">
              <a:lnSpc>
                <a:spcPct val="90000"/>
              </a:lnSpc>
              <a:spcBef>
                <a:spcPct val="15000"/>
              </a:spcBef>
              <a:buFont typeface="Monotype Sorts" charset="2"/>
              <a:buNone/>
            </a:pPr>
            <a:r>
              <a:rPr lang="zh-CN" altLang="en-US" sz="4000" b="1" dirty="0">
                <a:latin typeface="楷体_GB2312" pitchFamily="49" charset="-122"/>
                <a:ea typeface="楷体_GB2312" pitchFamily="49" charset="-122"/>
              </a:rPr>
              <a:t>字符型常量 如，</a:t>
            </a:r>
            <a:r>
              <a:rPr lang="en-US" altLang="zh-CN" sz="4000" b="1" dirty="0">
                <a:latin typeface="楷体_GB2312" pitchFamily="49" charset="-122"/>
                <a:ea typeface="楷体_GB2312" pitchFamily="49" charset="-122"/>
              </a:rPr>
              <a:t>'A'</a:t>
            </a:r>
            <a:r>
              <a:rPr lang="zh-CN" altLang="en-US" sz="4000" b="1" dirty="0">
                <a:latin typeface="楷体_GB2312" pitchFamily="49" charset="-122"/>
                <a:ea typeface="楷体_GB2312" pitchFamily="49" charset="-122"/>
              </a:rPr>
              <a:t>、’</a:t>
            </a:r>
            <a:r>
              <a:rPr lang="en-US" altLang="zh-CN" sz="4000" b="1" dirty="0">
                <a:latin typeface="楷体_GB2312" pitchFamily="49" charset="-122"/>
                <a:ea typeface="楷体_GB2312" pitchFamily="49" charset="-122"/>
              </a:rPr>
              <a:t>a’</a:t>
            </a:r>
            <a:r>
              <a:rPr lang="zh-CN" altLang="en-US" sz="4000" b="1" dirty="0">
                <a:latin typeface="楷体_GB2312" pitchFamily="49" charset="-122"/>
                <a:ea typeface="楷体_GB2312" pitchFamily="49" charset="-122"/>
              </a:rPr>
              <a:t> </a:t>
            </a:r>
          </a:p>
          <a:p>
            <a:pPr marL="0" indent="0" algn="just">
              <a:lnSpc>
                <a:spcPct val="90000"/>
              </a:lnSpc>
              <a:spcBef>
                <a:spcPct val="15000"/>
              </a:spcBef>
              <a:buFont typeface="Monotype Sorts" charset="2"/>
              <a:buNone/>
            </a:pPr>
            <a:r>
              <a:rPr lang="zh-CN" altLang="en-US" sz="4000" b="1" dirty="0">
                <a:latin typeface="楷体_GB2312" pitchFamily="49" charset="-122"/>
                <a:ea typeface="楷体_GB2312" pitchFamily="49" charset="-122"/>
              </a:rPr>
              <a:t>指针常量   如，</a:t>
            </a:r>
            <a:r>
              <a:rPr lang="en-US" altLang="zh-CN" sz="4000" b="1" dirty="0">
                <a:latin typeface="楷体_GB2312" pitchFamily="49" charset="-122"/>
                <a:ea typeface="楷体_GB2312" pitchFamily="49" charset="-122"/>
              </a:rPr>
              <a:t>NULL</a:t>
            </a:r>
          </a:p>
          <a:p>
            <a:pPr marL="0" indent="0" algn="just">
              <a:lnSpc>
                <a:spcPct val="90000"/>
              </a:lnSpc>
              <a:spcBef>
                <a:spcPct val="15000"/>
              </a:spcBef>
              <a:buFont typeface="Monotype Sorts" charset="2"/>
              <a:buNone/>
            </a:pPr>
            <a:r>
              <a:rPr lang="zh-CN" altLang="en-US" sz="4000" b="1" dirty="0">
                <a:latin typeface="楷体_GB2312" pitchFamily="49" charset="-122"/>
                <a:ea typeface="楷体_GB2312" pitchFamily="49" charset="-122"/>
              </a:rPr>
              <a:t>字符串常量 如，”</a:t>
            </a:r>
            <a:r>
              <a:rPr lang="en-US" altLang="zh-CN" sz="4000" b="1" dirty="0">
                <a:latin typeface="楷体_GB2312" pitchFamily="49" charset="-122"/>
                <a:ea typeface="楷体_GB2312" pitchFamily="49" charset="-122"/>
              </a:rPr>
              <a:t>ABC”</a:t>
            </a:r>
          </a:p>
        </p:txBody>
      </p:sp>
      <p:sp>
        <p:nvSpPr>
          <p:cNvPr id="6" name="灯片编号占位符 5"/>
          <p:cNvSpPr>
            <a:spLocks noGrp="1"/>
          </p:cNvSpPr>
          <p:nvPr>
            <p:ph type="sldNum" sz="quarter" idx="12"/>
          </p:nvPr>
        </p:nvSpPr>
        <p:spPr/>
        <p:txBody>
          <a:bodyPr/>
          <a:lstStyle/>
          <a:p>
            <a:pPr defTabSz="1128713">
              <a:defRPr/>
            </a:pPr>
            <a:fld id="{672439D7-0225-4D95-90FB-36AE9CBAE3D3}" type="slidenum">
              <a:rPr lang="zh-CN" altLang="en-US">
                <a:latin typeface="+mn-lt"/>
              </a:rPr>
              <a:pPr defTabSz="1128713">
                <a:defRPr/>
              </a:pPr>
              <a:t>85</a:t>
            </a:fld>
            <a:endParaRPr lang="en-US" altLang="zh-CN">
              <a:latin typeface="+mn-lt"/>
            </a:endParaRPr>
          </a:p>
        </p:txBody>
      </p:sp>
    </p:spTree>
    <p:extLst>
      <p:ext uri="{BB962C8B-B14F-4D97-AF65-F5344CB8AC3E}">
        <p14:creationId xmlns:p14="http://schemas.microsoft.com/office/powerpoint/2010/main" val="3045805044"/>
      </p:ext>
    </p:extLst>
  </p:cSld>
  <p:clrMapOvr>
    <a:masterClrMapping/>
  </p:clrMapOvr>
  <p:transition>
    <p:random/>
  </p:transition>
</p:sld>
</file>

<file path=ppt/slides/slide8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a:xfrm>
            <a:off x="381000" y="228600"/>
            <a:ext cx="8458200" cy="1066800"/>
          </a:xfrm>
        </p:spPr>
        <p:txBody>
          <a:bodyPr/>
          <a:lstStyle/>
          <a:p>
            <a:r>
              <a:rPr lang="zh-CN" altLang="en-US" sz="4400" dirty="0">
                <a:solidFill>
                  <a:schemeClr val="tx1"/>
                </a:solidFill>
                <a:latin typeface="黑体" pitchFamily="2" charset="-122"/>
                <a:ea typeface="黑体" pitchFamily="2" charset="-122"/>
              </a:rPr>
              <a:t>变量</a:t>
            </a:r>
          </a:p>
        </p:txBody>
      </p:sp>
      <p:sp>
        <p:nvSpPr>
          <p:cNvPr id="84995" name="Rectangle 3"/>
          <p:cNvSpPr>
            <a:spLocks noGrp="1" noChangeArrowheads="1"/>
          </p:cNvSpPr>
          <p:nvPr>
            <p:ph idx="1"/>
          </p:nvPr>
        </p:nvSpPr>
        <p:spPr>
          <a:xfrm>
            <a:off x="381000" y="1295400"/>
            <a:ext cx="8305800" cy="5334000"/>
          </a:xfrm>
        </p:spPr>
        <p:txBody>
          <a:bodyPr/>
          <a:lstStyle/>
          <a:p>
            <a:pPr marL="0" indent="0" algn="just"/>
            <a:r>
              <a:rPr lang="zh-CN" altLang="en-US" sz="3200" b="1">
                <a:solidFill>
                  <a:srgbClr val="CC0000"/>
                </a:solidFill>
                <a:latin typeface="楷体_GB2312" pitchFamily="49" charset="-122"/>
                <a:ea typeface="楷体_GB2312" pitchFamily="49" charset="-122"/>
              </a:rPr>
              <a:t> 在程序运行过程中，其值可以改变的量称为变量。</a:t>
            </a:r>
          </a:p>
          <a:p>
            <a:pPr marL="0" indent="0" algn="just"/>
            <a:r>
              <a:rPr lang="zh-CN" altLang="en-US" sz="3200" b="1">
                <a:latin typeface="楷体_GB2312" pitchFamily="49" charset="-122"/>
                <a:ea typeface="楷体_GB2312" pitchFamily="49" charset="-122"/>
              </a:rPr>
              <a:t> 变量在内存中占据一定的存储单元，存放变量的值。</a:t>
            </a:r>
          </a:p>
          <a:p>
            <a:pPr marL="0" indent="0" algn="just"/>
            <a:r>
              <a:rPr lang="zh-CN" altLang="en-US" sz="3200" b="1">
                <a:latin typeface="楷体_GB2312" pitchFamily="49" charset="-122"/>
                <a:ea typeface="楷体_GB2312" pitchFamily="49" charset="-122"/>
              </a:rPr>
              <a:t> 与变量有关的概念有：</a:t>
            </a:r>
            <a:endParaRPr lang="en-US" altLang="zh-CN" sz="3200" b="1">
              <a:latin typeface="楷体_GB2312" pitchFamily="49" charset="-122"/>
              <a:ea typeface="楷体_GB2312" pitchFamily="49" charset="-122"/>
            </a:endParaRPr>
          </a:p>
          <a:p>
            <a:pPr marL="365125" lvl="1" indent="0" algn="just"/>
            <a:r>
              <a:rPr lang="zh-CN" altLang="en-US" sz="2800" b="1">
                <a:latin typeface="楷体_GB2312" pitchFamily="49" charset="-122"/>
                <a:ea typeface="楷体_GB2312" pitchFamily="49" charset="-122"/>
              </a:rPr>
              <a:t>变量名、</a:t>
            </a:r>
            <a:endParaRPr lang="en-US" altLang="zh-CN" sz="2800" b="1">
              <a:latin typeface="楷体_GB2312" pitchFamily="49" charset="-122"/>
              <a:ea typeface="楷体_GB2312" pitchFamily="49" charset="-122"/>
            </a:endParaRPr>
          </a:p>
          <a:p>
            <a:pPr marL="365125" lvl="1" indent="0" algn="just"/>
            <a:r>
              <a:rPr lang="zh-CN" altLang="en-US" sz="2800" b="1">
                <a:latin typeface="楷体_GB2312" pitchFamily="49" charset="-122"/>
                <a:ea typeface="楷体_GB2312" pitchFamily="49" charset="-122"/>
              </a:rPr>
              <a:t>变量数据类型、</a:t>
            </a:r>
            <a:endParaRPr lang="en-US" altLang="zh-CN" sz="2800" b="1">
              <a:latin typeface="楷体_GB2312" pitchFamily="49" charset="-122"/>
              <a:ea typeface="楷体_GB2312" pitchFamily="49" charset="-122"/>
            </a:endParaRPr>
          </a:p>
          <a:p>
            <a:pPr marL="365125" lvl="1" indent="0" algn="just"/>
            <a:r>
              <a:rPr lang="zh-CN" altLang="en-US" sz="2800" b="1">
                <a:latin typeface="楷体_GB2312" pitchFamily="49" charset="-122"/>
                <a:ea typeface="楷体_GB2312" pitchFamily="49" charset="-122"/>
              </a:rPr>
              <a:t>变量在内存中的地址、</a:t>
            </a:r>
            <a:endParaRPr lang="en-US" altLang="zh-CN" sz="2800" b="1">
              <a:latin typeface="楷体_GB2312" pitchFamily="49" charset="-122"/>
              <a:ea typeface="楷体_GB2312" pitchFamily="49" charset="-122"/>
            </a:endParaRPr>
          </a:p>
          <a:p>
            <a:pPr marL="365125" lvl="1" indent="0" algn="just"/>
            <a:r>
              <a:rPr lang="zh-CN" altLang="en-US" sz="2800" b="1">
                <a:latin typeface="楷体_GB2312" pitchFamily="49" charset="-122"/>
                <a:ea typeface="楷体_GB2312" pitchFamily="49" charset="-122"/>
              </a:rPr>
              <a:t>变量在程序中的有效范围、</a:t>
            </a:r>
            <a:endParaRPr lang="en-US" altLang="zh-CN" sz="2800" b="1">
              <a:latin typeface="楷体_GB2312" pitchFamily="49" charset="-122"/>
              <a:ea typeface="楷体_GB2312" pitchFamily="49" charset="-122"/>
            </a:endParaRPr>
          </a:p>
          <a:p>
            <a:pPr marL="365125" lvl="1" indent="0" algn="just"/>
            <a:r>
              <a:rPr lang="zh-CN" altLang="en-US" sz="2800" b="1">
                <a:latin typeface="楷体_GB2312" pitchFamily="49" charset="-122"/>
                <a:ea typeface="楷体_GB2312" pitchFamily="49" charset="-122"/>
              </a:rPr>
              <a:t>变量在程序执行期间的存在时间等。</a:t>
            </a:r>
          </a:p>
        </p:txBody>
      </p:sp>
      <p:sp>
        <p:nvSpPr>
          <p:cNvPr id="6" name="灯片编号占位符 5"/>
          <p:cNvSpPr>
            <a:spLocks noGrp="1"/>
          </p:cNvSpPr>
          <p:nvPr>
            <p:ph type="sldNum" sz="quarter" idx="12"/>
          </p:nvPr>
        </p:nvSpPr>
        <p:spPr/>
        <p:txBody>
          <a:bodyPr/>
          <a:lstStyle/>
          <a:p>
            <a:pPr defTabSz="1128713">
              <a:defRPr/>
            </a:pPr>
            <a:fld id="{0D3175BF-D30D-4AF4-A706-054A3C8BD312}" type="slidenum">
              <a:rPr lang="zh-CN" altLang="en-US">
                <a:latin typeface="+mn-lt"/>
              </a:rPr>
              <a:pPr defTabSz="1128713">
                <a:defRPr/>
              </a:pPr>
              <a:t>86</a:t>
            </a:fld>
            <a:endParaRPr lang="en-US" altLang="zh-CN">
              <a:latin typeface="+mn-lt"/>
            </a:endParaRPr>
          </a:p>
        </p:txBody>
      </p:sp>
    </p:spTree>
    <p:extLst>
      <p:ext uri="{BB962C8B-B14F-4D97-AF65-F5344CB8AC3E}">
        <p14:creationId xmlns:p14="http://schemas.microsoft.com/office/powerpoint/2010/main" val="195768894"/>
      </p:ext>
    </p:extLst>
  </p:cSld>
  <p:clrMapOvr>
    <a:masterClrMapping/>
  </p:clrMapOvr>
  <p:transition>
    <p:random/>
  </p:transition>
</p:sld>
</file>

<file path=ppt/slides/slide8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643" name="Rectangle 3"/>
          <p:cNvSpPr>
            <a:spLocks noGrp="1" noChangeArrowheads="1"/>
          </p:cNvSpPr>
          <p:nvPr>
            <p:ph idx="1"/>
          </p:nvPr>
        </p:nvSpPr>
        <p:spPr>
          <a:xfrm>
            <a:off x="304800" y="476250"/>
            <a:ext cx="8534400" cy="6153150"/>
          </a:xfrm>
        </p:spPr>
        <p:txBody>
          <a:bodyPr>
            <a:normAutofit/>
          </a:bodyPr>
          <a:lstStyle/>
          <a:p>
            <a:pPr marL="0" indent="0" algn="just" fontAlgn="auto">
              <a:spcAft>
                <a:spcPts val="0"/>
              </a:spcAft>
              <a:buClr>
                <a:schemeClr val="accent3"/>
              </a:buClr>
              <a:buFont typeface="Monotype Sorts" pitchFamily="2" charset="2"/>
              <a:buNone/>
              <a:defRPr/>
            </a:pPr>
            <a:r>
              <a:rPr lang="zh-CN" altLang="en-US" sz="4000" b="1" dirty="0">
                <a:latin typeface="楷体_GB2312" pitchFamily="49" charset="-122"/>
                <a:ea typeface="楷体_GB2312" pitchFamily="49" charset="-122"/>
              </a:rPr>
              <a:t>变量定义的一般形式： </a:t>
            </a:r>
          </a:p>
          <a:p>
            <a:pPr marL="0" indent="0" algn="just" fontAlgn="auto">
              <a:spcAft>
                <a:spcPts val="0"/>
              </a:spcAft>
              <a:buClr>
                <a:schemeClr val="accent3"/>
              </a:buClr>
              <a:buFont typeface="Monotype Sorts" pitchFamily="2" charset="2"/>
              <a:buNone/>
              <a:defRPr/>
            </a:pPr>
            <a:r>
              <a:rPr lang="zh-CN" altLang="en-US" sz="4000" b="1" dirty="0">
                <a:latin typeface="楷体_GB2312" pitchFamily="49" charset="-122"/>
                <a:ea typeface="楷体_GB2312" pitchFamily="49" charset="-122"/>
              </a:rPr>
              <a:t>     类型  变量名表 ;</a:t>
            </a:r>
          </a:p>
          <a:p>
            <a:pPr marL="0" indent="0" algn="just" fontAlgn="auto">
              <a:spcAft>
                <a:spcPts val="0"/>
              </a:spcAft>
              <a:buClr>
                <a:schemeClr val="accent3"/>
              </a:buClr>
              <a:buFont typeface="Monotype Sorts" pitchFamily="2" charset="2"/>
              <a:buNone/>
              <a:defRPr/>
            </a:pPr>
            <a:r>
              <a:rPr lang="zh-CN" altLang="en-US" sz="4000" b="1" dirty="0">
                <a:latin typeface="楷体_GB2312" pitchFamily="49" charset="-122"/>
                <a:ea typeface="楷体_GB2312" pitchFamily="49" charset="-122"/>
              </a:rPr>
              <a:t>例如</a:t>
            </a:r>
          </a:p>
          <a:p>
            <a:pPr marL="0" indent="0" algn="just" fontAlgn="auto">
              <a:spcAft>
                <a:spcPts val="0"/>
              </a:spcAft>
              <a:buClr>
                <a:schemeClr val="accent3"/>
              </a:buClr>
              <a:buFont typeface="Monotype Sorts" pitchFamily="2" charset="2"/>
              <a:buNone/>
              <a:defRPr/>
            </a:pPr>
            <a:r>
              <a:rPr lang="en-US" altLang="zh-CN" sz="4000" b="1" dirty="0" err="1">
                <a:latin typeface="楷体_GB2312" pitchFamily="49" charset="-122"/>
                <a:ea typeface="楷体_GB2312" pitchFamily="49" charset="-122"/>
              </a:rPr>
              <a:t>int</a:t>
            </a:r>
            <a:r>
              <a:rPr lang="en-US" altLang="zh-CN" sz="4000" b="1" dirty="0">
                <a:latin typeface="楷体_GB2312" pitchFamily="49" charset="-122"/>
                <a:ea typeface="楷体_GB2312" pitchFamily="49" charset="-122"/>
              </a:rPr>
              <a:t> </a:t>
            </a:r>
            <a:r>
              <a:rPr lang="en-US" altLang="zh-CN" sz="4000" b="1" dirty="0" err="1">
                <a:latin typeface="楷体_GB2312" pitchFamily="49" charset="-122"/>
                <a:ea typeface="楷体_GB2312" pitchFamily="49" charset="-122"/>
              </a:rPr>
              <a:t>i,j,sum</a:t>
            </a:r>
            <a:r>
              <a:rPr lang="zh-CN" altLang="en-US" sz="4000" b="1" dirty="0">
                <a:latin typeface="楷体_GB2312" pitchFamily="49" charset="-122"/>
                <a:ea typeface="楷体_GB2312" pitchFamily="49" charset="-122"/>
              </a:rPr>
              <a:t>；</a:t>
            </a:r>
          </a:p>
          <a:p>
            <a:pPr marL="0" indent="0" algn="just" fontAlgn="auto">
              <a:spcAft>
                <a:spcPts val="0"/>
              </a:spcAft>
              <a:buClr>
                <a:schemeClr val="accent3"/>
              </a:buClr>
              <a:buFont typeface="Monotype Sorts" pitchFamily="2" charset="2"/>
              <a:buNone/>
              <a:defRPr/>
            </a:pPr>
            <a:r>
              <a:rPr lang="en-US" altLang="zh-CN" sz="4000" b="1" dirty="0" err="1">
                <a:latin typeface="楷体_GB2312" pitchFamily="49" charset="-122"/>
                <a:ea typeface="楷体_GB2312" pitchFamily="49" charset="-122"/>
              </a:rPr>
              <a:t>int</a:t>
            </a:r>
            <a:r>
              <a:rPr lang="en-US" altLang="zh-CN" sz="4000" b="1" dirty="0">
                <a:latin typeface="楷体_GB2312" pitchFamily="49" charset="-122"/>
                <a:ea typeface="楷体_GB2312" pitchFamily="49" charset="-122"/>
              </a:rPr>
              <a:t> index=100,big_int=10000;</a:t>
            </a:r>
          </a:p>
          <a:p>
            <a:pPr marL="0" indent="0" algn="just" fontAlgn="auto">
              <a:spcAft>
                <a:spcPts val="0"/>
              </a:spcAft>
              <a:buClr>
                <a:schemeClr val="accent3"/>
              </a:buClr>
              <a:buFont typeface="Monotype Sorts" pitchFamily="2" charset="2"/>
              <a:buNone/>
              <a:defRPr/>
            </a:pPr>
            <a:r>
              <a:rPr lang="en-US" altLang="zh-CN" sz="4000" b="1" dirty="0">
                <a:latin typeface="楷体_GB2312" pitchFamily="49" charset="-122"/>
                <a:ea typeface="楷体_GB2312" pitchFamily="49" charset="-122"/>
              </a:rPr>
              <a:t>float x;</a:t>
            </a:r>
          </a:p>
          <a:p>
            <a:pPr marL="0" indent="0" algn="just" fontAlgn="auto">
              <a:spcAft>
                <a:spcPts val="0"/>
              </a:spcAft>
              <a:buClr>
                <a:schemeClr val="accent3"/>
              </a:buClr>
              <a:buFont typeface="Monotype Sorts" pitchFamily="2" charset="2"/>
              <a:buNone/>
              <a:defRPr/>
            </a:pPr>
            <a:r>
              <a:rPr lang="en-US" altLang="zh-CN" sz="4000" b="1" dirty="0">
                <a:latin typeface="楷体_GB2312" pitchFamily="49" charset="-122"/>
                <a:ea typeface="楷体_GB2312" pitchFamily="49" charset="-122"/>
              </a:rPr>
              <a:t>double </a:t>
            </a:r>
            <a:r>
              <a:rPr lang="en-US" altLang="zh-CN" sz="4000" b="1" dirty="0" err="1">
                <a:latin typeface="楷体_GB2312" pitchFamily="49" charset="-122"/>
                <a:ea typeface="楷体_GB2312" pitchFamily="49" charset="-122"/>
              </a:rPr>
              <a:t>y,z</a:t>
            </a:r>
            <a:r>
              <a:rPr lang="en-US" altLang="zh-CN" sz="4000" b="1" dirty="0">
                <a:latin typeface="楷体_GB2312" pitchFamily="49" charset="-122"/>
                <a:ea typeface="楷体_GB2312" pitchFamily="49" charset="-122"/>
              </a:rPr>
              <a:t>;</a:t>
            </a:r>
            <a:endParaRPr lang="en-US" altLang="zh-CN" sz="2800" b="1" dirty="0">
              <a:latin typeface="楷体_GB2312" pitchFamily="49" charset="-122"/>
              <a:ea typeface="楷体_GB2312" pitchFamily="49" charset="-122"/>
            </a:endParaRPr>
          </a:p>
        </p:txBody>
      </p:sp>
      <p:sp>
        <p:nvSpPr>
          <p:cNvPr id="6" name="灯片编号占位符 5"/>
          <p:cNvSpPr>
            <a:spLocks noGrp="1"/>
          </p:cNvSpPr>
          <p:nvPr>
            <p:ph type="sldNum" sz="quarter" idx="12"/>
          </p:nvPr>
        </p:nvSpPr>
        <p:spPr/>
        <p:txBody>
          <a:bodyPr/>
          <a:lstStyle/>
          <a:p>
            <a:pPr defTabSz="1128713">
              <a:defRPr/>
            </a:pPr>
            <a:fld id="{E2E8DD15-54F8-47DA-B066-39DF93CA8147}" type="slidenum">
              <a:rPr lang="zh-CN" altLang="en-US">
                <a:latin typeface="+mn-lt"/>
              </a:rPr>
              <a:pPr defTabSz="1128713">
                <a:defRPr/>
              </a:pPr>
              <a:t>87</a:t>
            </a:fld>
            <a:endParaRPr lang="en-US" altLang="zh-CN">
              <a:latin typeface="+mn-lt"/>
            </a:endParaRPr>
          </a:p>
        </p:txBody>
      </p:sp>
      <p:sp>
        <p:nvSpPr>
          <p:cNvPr id="86020" name="AutoShape 3">
            <a:hlinkClick r:id="rId2" action="ppaction://hlinksldjump" highlightClick="1"/>
          </p:cNvPr>
          <p:cNvSpPr>
            <a:spLocks noChangeArrowheads="1"/>
          </p:cNvSpPr>
          <p:nvPr/>
        </p:nvSpPr>
        <p:spPr bwMode="auto">
          <a:xfrm>
            <a:off x="8388350" y="6092825"/>
            <a:ext cx="576263" cy="576263"/>
          </a:xfrm>
          <a:prstGeom prst="actionButtonInformation">
            <a:avLst/>
          </a:prstGeom>
          <a:solidFill>
            <a:schemeClr val="accent1"/>
          </a:solidFill>
          <a:ln w="9525">
            <a:noFill/>
            <a:miter lim="800000"/>
            <a:headEnd/>
            <a:tailEnd/>
          </a:ln>
        </p:spPr>
        <p:txBody>
          <a:bodyPr wrap="none" anchor="ctr"/>
          <a:lstStyle/>
          <a:p>
            <a:endParaRPr lang="zh-CN" altLang="en-US"/>
          </a:p>
        </p:txBody>
      </p:sp>
    </p:spTree>
    <p:extLst>
      <p:ext uri="{BB962C8B-B14F-4D97-AF65-F5344CB8AC3E}">
        <p14:creationId xmlns:p14="http://schemas.microsoft.com/office/powerpoint/2010/main" val="3470823794"/>
      </p:ext>
    </p:extLst>
  </p:cSld>
  <p:clrMapOvr>
    <a:masterClrMapping/>
  </p:clrMapOvr>
  <p:transition>
    <p:random/>
  </p:transition>
</p:sld>
</file>

<file path=ppt/slides/slide88.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70658" name="Rectangle 3"/>
          <p:cNvSpPr>
            <a:spLocks noGrp="1" noChangeArrowheads="1"/>
          </p:cNvSpPr>
          <p:nvPr>
            <p:ph type="title"/>
          </p:nvPr>
        </p:nvSpPr>
        <p:spPr>
          <a:xfrm>
            <a:off x="539750" y="404813"/>
            <a:ext cx="8375650" cy="1295400"/>
          </a:xfrm>
        </p:spPr>
        <p:txBody>
          <a:bodyPr/>
          <a:lstStyle/>
          <a:p>
            <a:r>
              <a:rPr lang="zh-CN" altLang="en-US" sz="3200" dirty="0">
                <a:latin typeface="宋体" charset="-122"/>
                <a:ea typeface="宋体" charset="-122"/>
              </a:rPr>
              <a:t>【例</a:t>
            </a:r>
            <a:r>
              <a:rPr lang="en-US" altLang="zh-CN" sz="3200" dirty="0">
                <a:latin typeface="宋体" charset="-122"/>
                <a:ea typeface="宋体" charset="-122"/>
              </a:rPr>
              <a:t>1.3】</a:t>
            </a:r>
            <a:r>
              <a:rPr lang="zh-CN" altLang="en-US" sz="3200" dirty="0">
                <a:latin typeface="宋体" charset="-122"/>
                <a:ea typeface="宋体" charset="-122"/>
              </a:rPr>
              <a:t>已知华氏温度0、20、</a:t>
            </a:r>
            <a:r>
              <a:rPr lang="zh-CN" altLang="en-US" sz="3200" dirty="0">
                <a:latin typeface="Courier New" pitchFamily="49" charset="0"/>
                <a:ea typeface="宋体" charset="-122"/>
              </a:rPr>
              <a:t>…</a:t>
            </a:r>
            <a:r>
              <a:rPr lang="zh-CN" altLang="en-US" sz="3200" dirty="0">
                <a:latin typeface="宋体" charset="-122"/>
                <a:ea typeface="宋体" charset="-122"/>
              </a:rPr>
              <a:t>、200，求对应的摄氏温度。</a:t>
            </a:r>
          </a:p>
        </p:txBody>
      </p:sp>
      <p:sp>
        <p:nvSpPr>
          <p:cNvPr id="64515" name="Rectangle 2"/>
          <p:cNvSpPr>
            <a:spLocks noGrp="1" noChangeArrowheads="1"/>
          </p:cNvSpPr>
          <p:nvPr>
            <p:ph idx="1"/>
          </p:nvPr>
        </p:nvSpPr>
        <p:spPr>
          <a:xfrm>
            <a:off x="611188" y="1557338"/>
            <a:ext cx="8064500" cy="5111750"/>
          </a:xfrm>
        </p:spPr>
        <p:txBody>
          <a:bodyPr>
            <a:normAutofit lnSpcReduction="10000"/>
          </a:bodyPr>
          <a:lstStyle/>
          <a:p>
            <a:pPr marL="0" indent="0" algn="just" fontAlgn="auto">
              <a:spcBef>
                <a:spcPct val="0"/>
              </a:spcBef>
              <a:spcAft>
                <a:spcPts val="0"/>
              </a:spcAft>
              <a:buClr>
                <a:schemeClr val="accent3"/>
              </a:buClr>
              <a:buFont typeface="Monotype Sorts" charset="2"/>
              <a:buNone/>
              <a:defRPr/>
            </a:pPr>
            <a:r>
              <a:rPr lang="zh-CN" altLang="en-US" sz="2800" b="1" dirty="0">
                <a:latin typeface="黑体" pitchFamily="2" charset="-122"/>
                <a:ea typeface="黑体" pitchFamily="2" charset="-122"/>
              </a:rPr>
              <a:t>#</a:t>
            </a:r>
            <a:r>
              <a:rPr lang="en-US" altLang="zh-CN" sz="2800" b="1" dirty="0">
                <a:latin typeface="黑体" pitchFamily="2" charset="-122"/>
                <a:ea typeface="黑体" pitchFamily="2" charset="-122"/>
              </a:rPr>
              <a:t>include  &lt;</a:t>
            </a:r>
            <a:r>
              <a:rPr lang="en-US" altLang="zh-CN" sz="2800" b="1" dirty="0" err="1">
                <a:latin typeface="黑体" pitchFamily="2" charset="-122"/>
                <a:ea typeface="黑体" pitchFamily="2" charset="-122"/>
              </a:rPr>
              <a:t>stdio.h</a:t>
            </a:r>
            <a:r>
              <a:rPr lang="en-US" altLang="zh-CN" sz="2800" b="1" dirty="0">
                <a:latin typeface="黑体" pitchFamily="2" charset="-122"/>
                <a:ea typeface="黑体" pitchFamily="2" charset="-122"/>
              </a:rPr>
              <a:t>&gt;</a:t>
            </a:r>
          </a:p>
          <a:p>
            <a:pPr marL="0" indent="0" algn="just" fontAlgn="auto">
              <a:spcBef>
                <a:spcPct val="0"/>
              </a:spcBef>
              <a:spcAft>
                <a:spcPts val="0"/>
              </a:spcAft>
              <a:buClr>
                <a:schemeClr val="accent3"/>
              </a:buClr>
              <a:buFont typeface="Monotype Sorts" charset="2"/>
              <a:buNone/>
              <a:defRPr/>
            </a:pPr>
            <a:r>
              <a:rPr lang="en-US" altLang="zh-CN" sz="2800" b="1" dirty="0">
                <a:latin typeface="黑体" pitchFamily="2" charset="-122"/>
                <a:ea typeface="黑体" pitchFamily="2" charset="-122"/>
              </a:rPr>
              <a:t>void main()</a:t>
            </a:r>
          </a:p>
          <a:p>
            <a:pPr marL="0" indent="0" algn="just" fontAlgn="auto">
              <a:spcBef>
                <a:spcPct val="0"/>
              </a:spcBef>
              <a:spcAft>
                <a:spcPts val="0"/>
              </a:spcAft>
              <a:buClr>
                <a:schemeClr val="accent3"/>
              </a:buClr>
              <a:buFont typeface="Monotype Sorts" charset="2"/>
              <a:buNone/>
              <a:defRPr/>
            </a:pPr>
            <a:r>
              <a:rPr lang="en-US" altLang="zh-CN" sz="2800" b="1" dirty="0">
                <a:latin typeface="黑体" pitchFamily="2" charset="-122"/>
                <a:ea typeface="黑体" pitchFamily="2" charset="-122"/>
              </a:rPr>
              <a:t>{  double f, c;       </a:t>
            </a:r>
            <a:r>
              <a:rPr lang="en-US" altLang="zh-CN" sz="2800" b="1" dirty="0">
                <a:solidFill>
                  <a:srgbClr val="0000FF"/>
                </a:solidFill>
                <a:latin typeface="黑体" pitchFamily="2" charset="-122"/>
                <a:ea typeface="黑体" pitchFamily="2" charset="-122"/>
              </a:rPr>
              <a:t>/* </a:t>
            </a:r>
            <a:r>
              <a:rPr lang="zh-CN" altLang="en-US" sz="2800" b="1" dirty="0">
                <a:solidFill>
                  <a:srgbClr val="0000FF"/>
                </a:solidFill>
                <a:latin typeface="黑体" pitchFamily="2" charset="-122"/>
                <a:ea typeface="黑体" pitchFamily="2" charset="-122"/>
              </a:rPr>
              <a:t>变量定义 */</a:t>
            </a:r>
          </a:p>
          <a:p>
            <a:pPr marL="0" indent="0" algn="just" fontAlgn="auto">
              <a:spcBef>
                <a:spcPct val="0"/>
              </a:spcBef>
              <a:spcAft>
                <a:spcPts val="0"/>
              </a:spcAft>
              <a:buClr>
                <a:schemeClr val="accent3"/>
              </a:buClr>
              <a:buFont typeface="Monotype Sorts" charset="2"/>
              <a:buNone/>
              <a:defRPr/>
            </a:pPr>
            <a:r>
              <a:rPr lang="zh-CN" altLang="en-US" sz="2800" b="1" dirty="0">
                <a:latin typeface="黑体" pitchFamily="2" charset="-122"/>
                <a:ea typeface="黑体" pitchFamily="2" charset="-122"/>
              </a:rPr>
              <a:t>   </a:t>
            </a:r>
            <a:r>
              <a:rPr lang="en-US" altLang="zh-CN" sz="2800" b="1" dirty="0" err="1">
                <a:latin typeface="黑体" pitchFamily="2" charset="-122"/>
                <a:ea typeface="黑体" pitchFamily="2" charset="-122"/>
              </a:rPr>
              <a:t>int</a:t>
            </a:r>
            <a:r>
              <a:rPr lang="en-US" altLang="zh-CN" sz="2800" b="1" dirty="0">
                <a:latin typeface="黑体" pitchFamily="2" charset="-122"/>
                <a:ea typeface="黑体" pitchFamily="2" charset="-122"/>
              </a:rPr>
              <a:t> lower, upper, step;</a:t>
            </a:r>
          </a:p>
          <a:p>
            <a:pPr marL="0" indent="0" algn="just" fontAlgn="auto">
              <a:spcBef>
                <a:spcPct val="0"/>
              </a:spcBef>
              <a:spcAft>
                <a:spcPts val="0"/>
              </a:spcAft>
              <a:buClr>
                <a:schemeClr val="accent3"/>
              </a:buClr>
              <a:buFont typeface="Monotype Sorts" charset="2"/>
              <a:buNone/>
              <a:defRPr/>
            </a:pPr>
            <a:r>
              <a:rPr lang="en-US" altLang="zh-CN" sz="2800" b="1" dirty="0">
                <a:latin typeface="黑体" pitchFamily="2" charset="-122"/>
                <a:ea typeface="黑体" pitchFamily="2" charset="-122"/>
              </a:rPr>
              <a:t>   lower = 0;   upper = 200;   </a:t>
            </a:r>
          </a:p>
          <a:p>
            <a:pPr marL="0" indent="0" algn="just" fontAlgn="auto">
              <a:spcBef>
                <a:spcPct val="0"/>
              </a:spcBef>
              <a:spcAft>
                <a:spcPts val="0"/>
              </a:spcAft>
              <a:buClr>
                <a:schemeClr val="accent3"/>
              </a:buClr>
              <a:buFont typeface="Monotype Sorts" charset="2"/>
              <a:buNone/>
              <a:defRPr/>
            </a:pPr>
            <a:r>
              <a:rPr lang="en-US" altLang="zh-CN" sz="2800" b="1" dirty="0">
                <a:latin typeface="黑体" pitchFamily="2" charset="-122"/>
                <a:ea typeface="黑体" pitchFamily="2" charset="-122"/>
              </a:rPr>
              <a:t>   step = 20;   f = lower;</a:t>
            </a:r>
          </a:p>
          <a:p>
            <a:pPr marL="0" indent="0" algn="just" fontAlgn="auto">
              <a:spcBef>
                <a:spcPct val="0"/>
              </a:spcBef>
              <a:spcAft>
                <a:spcPts val="0"/>
              </a:spcAft>
              <a:buClr>
                <a:schemeClr val="accent3"/>
              </a:buClr>
              <a:buFont typeface="Monotype Sorts" charset="2"/>
              <a:buNone/>
              <a:defRPr/>
            </a:pPr>
            <a:r>
              <a:rPr lang="en-US" altLang="zh-CN" sz="2800" b="1" dirty="0">
                <a:solidFill>
                  <a:srgbClr val="C00000"/>
                </a:solidFill>
                <a:latin typeface="黑体" pitchFamily="2" charset="-122"/>
                <a:ea typeface="黑体" pitchFamily="2" charset="-122"/>
              </a:rPr>
              <a:t>   while </a:t>
            </a:r>
            <a:r>
              <a:rPr lang="en-US" altLang="zh-CN" sz="2800" b="1" dirty="0">
                <a:latin typeface="黑体" pitchFamily="2" charset="-122"/>
                <a:ea typeface="黑体" pitchFamily="2" charset="-122"/>
              </a:rPr>
              <a:t>(</a:t>
            </a:r>
            <a:r>
              <a:rPr lang="en-US" altLang="zh-CN" sz="2800" b="1" dirty="0">
                <a:solidFill>
                  <a:srgbClr val="C00000"/>
                </a:solidFill>
                <a:latin typeface="黑体" pitchFamily="2" charset="-122"/>
                <a:ea typeface="黑体" pitchFamily="2" charset="-122"/>
              </a:rPr>
              <a:t>f &lt;= upper</a:t>
            </a:r>
            <a:r>
              <a:rPr lang="en-US" altLang="zh-CN" sz="2800" b="1" dirty="0">
                <a:latin typeface="黑体" pitchFamily="2" charset="-122"/>
                <a:ea typeface="黑体" pitchFamily="2" charset="-122"/>
              </a:rPr>
              <a:t>) </a:t>
            </a:r>
            <a:r>
              <a:rPr lang="en-US" altLang="zh-CN" sz="2800" b="1" dirty="0">
                <a:solidFill>
                  <a:srgbClr val="C00000"/>
                </a:solidFill>
                <a:latin typeface="黑体" pitchFamily="2" charset="-122"/>
                <a:ea typeface="黑体" pitchFamily="2" charset="-122"/>
              </a:rPr>
              <a:t>{</a:t>
            </a:r>
            <a:r>
              <a:rPr lang="en-US" altLang="zh-CN" sz="2800" b="1" dirty="0">
                <a:latin typeface="黑体" pitchFamily="2" charset="-122"/>
                <a:ea typeface="黑体" pitchFamily="2" charset="-122"/>
              </a:rPr>
              <a:t>  </a:t>
            </a:r>
            <a:r>
              <a:rPr lang="en-US" altLang="zh-CN" sz="2800" b="1" dirty="0">
                <a:solidFill>
                  <a:srgbClr val="0000FF"/>
                </a:solidFill>
                <a:latin typeface="黑体" pitchFamily="2" charset="-122"/>
                <a:ea typeface="黑体" pitchFamily="2" charset="-122"/>
              </a:rPr>
              <a:t>/* </a:t>
            </a:r>
            <a:r>
              <a:rPr lang="zh-CN" altLang="en-US" sz="2800" b="1" dirty="0">
                <a:solidFill>
                  <a:srgbClr val="0000FF"/>
                </a:solidFill>
                <a:latin typeface="黑体" pitchFamily="2" charset="-122"/>
                <a:ea typeface="黑体" pitchFamily="2" charset="-122"/>
              </a:rPr>
              <a:t>循环计算 */</a:t>
            </a:r>
          </a:p>
          <a:p>
            <a:pPr marL="0" indent="0" algn="just" fontAlgn="auto">
              <a:spcBef>
                <a:spcPct val="0"/>
              </a:spcBef>
              <a:spcAft>
                <a:spcPts val="0"/>
              </a:spcAft>
              <a:buClr>
                <a:schemeClr val="accent3"/>
              </a:buClr>
              <a:buFont typeface="Monotype Sorts" charset="2"/>
              <a:buNone/>
              <a:defRPr/>
            </a:pPr>
            <a:r>
              <a:rPr lang="zh-CN" altLang="en-US" sz="2800" b="1" dirty="0">
                <a:latin typeface="黑体" pitchFamily="2" charset="-122"/>
                <a:ea typeface="黑体" pitchFamily="2" charset="-122"/>
              </a:rPr>
              <a:t>     </a:t>
            </a:r>
            <a:r>
              <a:rPr lang="en-US" altLang="zh-CN" sz="2800" b="1" dirty="0">
                <a:latin typeface="黑体" pitchFamily="2" charset="-122"/>
                <a:ea typeface="黑体" pitchFamily="2" charset="-122"/>
              </a:rPr>
              <a:t>c = 5.0/9.0 * (f - 32.0);</a:t>
            </a:r>
          </a:p>
          <a:p>
            <a:pPr marL="0" indent="0" algn="just" fontAlgn="auto">
              <a:spcBef>
                <a:spcPct val="0"/>
              </a:spcBef>
              <a:spcAft>
                <a:spcPts val="0"/>
              </a:spcAft>
              <a:buClr>
                <a:schemeClr val="accent3"/>
              </a:buClr>
              <a:buFont typeface="Monotype Sorts" charset="2"/>
              <a:buNone/>
              <a:defRPr/>
            </a:pPr>
            <a:r>
              <a:rPr lang="en-US" altLang="zh-CN" sz="2800" b="1" dirty="0">
                <a:latin typeface="黑体" pitchFamily="2" charset="-122"/>
                <a:ea typeface="黑体" pitchFamily="2" charset="-122"/>
              </a:rPr>
              <a:t>     </a:t>
            </a:r>
            <a:r>
              <a:rPr lang="en-US" altLang="zh-CN" sz="2800" b="1" dirty="0" err="1">
                <a:latin typeface="黑体" pitchFamily="2" charset="-122"/>
                <a:ea typeface="黑体" pitchFamily="2" charset="-122"/>
              </a:rPr>
              <a:t>printf</a:t>
            </a:r>
            <a:r>
              <a:rPr lang="en-US" altLang="zh-CN" sz="2800" b="1" dirty="0">
                <a:latin typeface="黑体" pitchFamily="2" charset="-122"/>
                <a:ea typeface="黑体" pitchFamily="2" charset="-122"/>
              </a:rPr>
              <a:t>("\t%7.0f   %7.1f\n", f, c);</a:t>
            </a:r>
          </a:p>
          <a:p>
            <a:pPr marL="0" indent="0" algn="just" fontAlgn="auto">
              <a:spcBef>
                <a:spcPct val="0"/>
              </a:spcBef>
              <a:spcAft>
                <a:spcPts val="0"/>
              </a:spcAft>
              <a:buClr>
                <a:schemeClr val="accent3"/>
              </a:buClr>
              <a:buFont typeface="Monotype Sorts" charset="2"/>
              <a:buNone/>
              <a:defRPr/>
            </a:pPr>
            <a:r>
              <a:rPr lang="en-US" altLang="zh-CN" sz="2800" b="1" dirty="0">
                <a:latin typeface="黑体" pitchFamily="2" charset="-122"/>
                <a:ea typeface="黑体" pitchFamily="2" charset="-122"/>
              </a:rPr>
              <a:t>     </a:t>
            </a:r>
            <a:r>
              <a:rPr lang="en-US" altLang="zh-CN" sz="2800" b="1" dirty="0">
                <a:solidFill>
                  <a:srgbClr val="C00000"/>
                </a:solidFill>
                <a:latin typeface="黑体" pitchFamily="2" charset="-122"/>
                <a:ea typeface="黑体" pitchFamily="2" charset="-122"/>
              </a:rPr>
              <a:t>f = f + step</a:t>
            </a:r>
            <a:r>
              <a:rPr lang="en-US" altLang="zh-CN" sz="2800" b="1" dirty="0">
                <a:latin typeface="黑体" pitchFamily="2" charset="-122"/>
                <a:ea typeface="黑体" pitchFamily="2" charset="-122"/>
              </a:rPr>
              <a:t>;</a:t>
            </a:r>
          </a:p>
          <a:p>
            <a:pPr marL="0" indent="0" algn="just" fontAlgn="auto">
              <a:spcBef>
                <a:spcPct val="0"/>
              </a:spcBef>
              <a:spcAft>
                <a:spcPts val="0"/>
              </a:spcAft>
              <a:buClr>
                <a:schemeClr val="accent3"/>
              </a:buClr>
              <a:buFont typeface="Monotype Sorts" charset="2"/>
              <a:buNone/>
              <a:defRPr/>
            </a:pPr>
            <a:r>
              <a:rPr lang="en-US" altLang="zh-CN" sz="2800" b="1" dirty="0">
                <a:latin typeface="黑体" pitchFamily="2" charset="-122"/>
                <a:ea typeface="黑体" pitchFamily="2" charset="-122"/>
              </a:rPr>
              <a:t>   </a:t>
            </a:r>
            <a:r>
              <a:rPr lang="en-US" altLang="zh-CN" sz="2800" b="1" dirty="0">
                <a:solidFill>
                  <a:srgbClr val="C00000"/>
                </a:solidFill>
                <a:latin typeface="黑体" pitchFamily="2" charset="-122"/>
                <a:ea typeface="黑体" pitchFamily="2" charset="-122"/>
              </a:rPr>
              <a:t>}</a:t>
            </a:r>
          </a:p>
          <a:p>
            <a:pPr marL="0" indent="0" algn="just" fontAlgn="auto">
              <a:spcBef>
                <a:spcPct val="0"/>
              </a:spcBef>
              <a:spcAft>
                <a:spcPts val="0"/>
              </a:spcAft>
              <a:buClr>
                <a:schemeClr val="accent3"/>
              </a:buClr>
              <a:buFont typeface="Monotype Sorts" charset="2"/>
              <a:buNone/>
              <a:defRPr/>
            </a:pPr>
            <a:r>
              <a:rPr lang="en-US" altLang="zh-CN" sz="2800" b="1" dirty="0">
                <a:latin typeface="黑体" pitchFamily="2" charset="-122"/>
                <a:ea typeface="黑体" pitchFamily="2" charset="-122"/>
              </a:rPr>
              <a:t>}</a:t>
            </a:r>
          </a:p>
        </p:txBody>
      </p:sp>
      <p:sp>
        <p:nvSpPr>
          <p:cNvPr id="6" name="灯片编号占位符 5"/>
          <p:cNvSpPr>
            <a:spLocks noGrp="1"/>
          </p:cNvSpPr>
          <p:nvPr>
            <p:ph type="sldNum" sz="quarter" idx="12"/>
          </p:nvPr>
        </p:nvSpPr>
        <p:spPr/>
        <p:txBody>
          <a:bodyPr/>
          <a:lstStyle/>
          <a:p>
            <a:pPr defTabSz="1128713">
              <a:defRPr/>
            </a:pPr>
            <a:fld id="{A9D666A9-25E2-49CD-8F72-66E432A90410}" type="slidenum">
              <a:rPr lang="zh-CN" altLang="en-US">
                <a:latin typeface="+mn-lt"/>
              </a:rPr>
              <a:pPr defTabSz="1128713">
                <a:defRPr/>
              </a:pPr>
              <a:t>88</a:t>
            </a:fld>
            <a:endParaRPr lang="en-US" altLang="zh-CN">
              <a:latin typeface="+mn-lt"/>
            </a:endParaRPr>
          </a:p>
        </p:txBody>
      </p:sp>
    </p:spTree>
  </p:cSld>
  <p:clrMapOvr>
    <a:masterClrMapping/>
  </p:clrMapOvr>
  <p:transition>
    <p:random/>
  </p:transition>
</p:sld>
</file>

<file path=ppt/slides/slide89.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71682" name="Rectangle 3"/>
          <p:cNvSpPr>
            <a:spLocks noGrp="1" noChangeArrowheads="1"/>
          </p:cNvSpPr>
          <p:nvPr>
            <p:ph type="title"/>
          </p:nvPr>
        </p:nvSpPr>
        <p:spPr>
          <a:xfrm>
            <a:off x="323850" y="188913"/>
            <a:ext cx="8640763" cy="720725"/>
          </a:xfrm>
        </p:spPr>
        <p:txBody>
          <a:bodyPr/>
          <a:lstStyle/>
          <a:p>
            <a:r>
              <a:rPr lang="zh-CN" altLang="en-US" sz="3200" dirty="0">
                <a:latin typeface="宋体" charset="-122"/>
                <a:ea typeface="宋体" charset="-122"/>
              </a:rPr>
              <a:t>【例</a:t>
            </a:r>
            <a:r>
              <a:rPr lang="en-US" altLang="zh-CN" sz="3200" dirty="0">
                <a:latin typeface="宋体" charset="-122"/>
                <a:ea typeface="宋体" charset="-122"/>
              </a:rPr>
              <a:t>1.4】</a:t>
            </a:r>
            <a:r>
              <a:rPr lang="zh-CN" altLang="en-US" sz="3200" dirty="0">
                <a:latin typeface="宋体" charset="-122"/>
                <a:ea typeface="宋体" charset="-122"/>
              </a:rPr>
              <a:t>输入两个实数, 输出它们中的小的数</a:t>
            </a:r>
            <a:endParaRPr lang="en-US" altLang="zh-CN" sz="3200" dirty="0">
              <a:latin typeface="宋体" charset="-122"/>
              <a:ea typeface="宋体" charset="-122"/>
            </a:endParaRPr>
          </a:p>
        </p:txBody>
      </p:sp>
      <p:sp>
        <p:nvSpPr>
          <p:cNvPr id="71683" name="Rectangle 2"/>
          <p:cNvSpPr>
            <a:spLocks noGrp="1" noChangeArrowheads="1"/>
          </p:cNvSpPr>
          <p:nvPr>
            <p:ph idx="1"/>
          </p:nvPr>
        </p:nvSpPr>
        <p:spPr>
          <a:xfrm>
            <a:off x="468313" y="836613"/>
            <a:ext cx="8382000" cy="5792787"/>
          </a:xfrm>
        </p:spPr>
        <p:txBody>
          <a:bodyPr/>
          <a:lstStyle/>
          <a:p>
            <a:pPr algn="just">
              <a:lnSpc>
                <a:spcPct val="90000"/>
              </a:lnSpc>
              <a:spcBef>
                <a:spcPct val="0"/>
              </a:spcBef>
              <a:buFont typeface="Monotype Sorts" charset="2"/>
              <a:buNone/>
            </a:pPr>
            <a:r>
              <a:rPr lang="zh-CN" altLang="en-US" sz="2800" b="1" dirty="0">
                <a:latin typeface="黑体" pitchFamily="2" charset="-122"/>
                <a:ea typeface="黑体" pitchFamily="2" charset="-122"/>
              </a:rPr>
              <a:t>#</a:t>
            </a:r>
            <a:r>
              <a:rPr lang="en-US" altLang="zh-CN" sz="2800" b="1" dirty="0">
                <a:latin typeface="黑体" pitchFamily="2" charset="-122"/>
                <a:ea typeface="黑体" pitchFamily="2" charset="-122"/>
              </a:rPr>
              <a:t>include  &lt;</a:t>
            </a:r>
            <a:r>
              <a:rPr lang="en-US" altLang="zh-CN" sz="2800" b="1" dirty="0" err="1">
                <a:latin typeface="黑体" pitchFamily="2" charset="-122"/>
                <a:ea typeface="黑体" pitchFamily="2" charset="-122"/>
              </a:rPr>
              <a:t>stdio.h</a:t>
            </a:r>
            <a:r>
              <a:rPr lang="en-US" altLang="zh-CN" sz="2800" b="1" dirty="0">
                <a:latin typeface="黑体" pitchFamily="2" charset="-122"/>
                <a:ea typeface="黑体" pitchFamily="2" charset="-122"/>
              </a:rPr>
              <a:t>&gt;</a:t>
            </a:r>
          </a:p>
          <a:p>
            <a:pPr algn="just">
              <a:lnSpc>
                <a:spcPct val="90000"/>
              </a:lnSpc>
              <a:spcBef>
                <a:spcPct val="0"/>
              </a:spcBef>
              <a:buFont typeface="Monotype Sorts" charset="2"/>
              <a:buNone/>
            </a:pPr>
            <a:r>
              <a:rPr lang="en-US" altLang="zh-CN" sz="2800" b="1" dirty="0">
                <a:latin typeface="黑体" pitchFamily="2" charset="-122"/>
                <a:ea typeface="黑体" pitchFamily="2" charset="-122"/>
              </a:rPr>
              <a:t>float min(float a, float b)</a:t>
            </a:r>
          </a:p>
          <a:p>
            <a:pPr algn="just">
              <a:lnSpc>
                <a:spcPct val="90000"/>
              </a:lnSpc>
              <a:spcBef>
                <a:spcPct val="0"/>
              </a:spcBef>
              <a:buFont typeface="Monotype Sorts" charset="2"/>
              <a:buNone/>
            </a:pPr>
            <a:r>
              <a:rPr lang="en-US" altLang="zh-CN" sz="2800" b="1" dirty="0">
                <a:latin typeface="黑体" pitchFamily="2" charset="-122"/>
                <a:ea typeface="黑体" pitchFamily="2" charset="-122"/>
              </a:rPr>
              <a:t>{  float temp ;    </a:t>
            </a:r>
            <a:r>
              <a:rPr lang="en-US" altLang="zh-CN" sz="2800" b="1" dirty="0">
                <a:solidFill>
                  <a:srgbClr val="0000FF"/>
                </a:solidFill>
                <a:latin typeface="黑体" pitchFamily="2" charset="-122"/>
                <a:ea typeface="黑体" pitchFamily="2" charset="-122"/>
              </a:rPr>
              <a:t>/* </a:t>
            </a:r>
            <a:r>
              <a:rPr lang="zh-CN" altLang="en-US" sz="2800" b="1" dirty="0">
                <a:solidFill>
                  <a:srgbClr val="0000FF"/>
                </a:solidFill>
                <a:latin typeface="黑体" pitchFamily="2" charset="-122"/>
                <a:ea typeface="黑体" pitchFamily="2" charset="-122"/>
              </a:rPr>
              <a:t>函数使用的变量的定义 */</a:t>
            </a:r>
          </a:p>
          <a:p>
            <a:pPr algn="just">
              <a:lnSpc>
                <a:spcPct val="90000"/>
              </a:lnSpc>
              <a:spcBef>
                <a:spcPct val="0"/>
              </a:spcBef>
              <a:buFont typeface="Monotype Sorts" charset="2"/>
              <a:buNone/>
            </a:pPr>
            <a:r>
              <a:rPr lang="zh-CN" altLang="en-US" sz="2800" b="1" dirty="0">
                <a:latin typeface="黑体" pitchFamily="2" charset="-122"/>
                <a:ea typeface="黑体" pitchFamily="2" charset="-122"/>
              </a:rPr>
              <a:t>   </a:t>
            </a:r>
            <a:r>
              <a:rPr lang="en-US" altLang="zh-CN" sz="2800" b="1" dirty="0">
                <a:latin typeface="黑体" pitchFamily="2" charset="-122"/>
                <a:ea typeface="黑体" pitchFamily="2" charset="-122"/>
              </a:rPr>
              <a:t>if (a &lt; b) temp = a;</a:t>
            </a:r>
          </a:p>
          <a:p>
            <a:pPr algn="just">
              <a:lnSpc>
                <a:spcPct val="90000"/>
              </a:lnSpc>
              <a:spcBef>
                <a:spcPct val="0"/>
              </a:spcBef>
              <a:buFont typeface="Monotype Sorts" charset="2"/>
              <a:buNone/>
            </a:pPr>
            <a:r>
              <a:rPr lang="en-US" altLang="zh-CN" sz="2800" b="1" dirty="0">
                <a:latin typeface="黑体" pitchFamily="2" charset="-122"/>
                <a:ea typeface="黑体" pitchFamily="2" charset="-122"/>
              </a:rPr>
              <a:t>   else  temp = b;</a:t>
            </a:r>
          </a:p>
          <a:p>
            <a:pPr algn="just">
              <a:lnSpc>
                <a:spcPct val="90000"/>
              </a:lnSpc>
              <a:spcBef>
                <a:spcPct val="0"/>
              </a:spcBef>
              <a:buFont typeface="Monotype Sorts" charset="2"/>
              <a:buNone/>
            </a:pPr>
            <a:r>
              <a:rPr lang="en-US" altLang="zh-CN" sz="2800" b="1" dirty="0">
                <a:latin typeface="黑体" pitchFamily="2" charset="-122"/>
                <a:ea typeface="黑体" pitchFamily="2" charset="-122"/>
              </a:rPr>
              <a:t>	return temp ; </a:t>
            </a:r>
            <a:r>
              <a:rPr lang="en-US" altLang="zh-CN" sz="2800" b="1" dirty="0">
                <a:solidFill>
                  <a:srgbClr val="0000FF"/>
                </a:solidFill>
                <a:latin typeface="黑体" pitchFamily="2" charset="-122"/>
                <a:ea typeface="黑体" pitchFamily="2" charset="-122"/>
              </a:rPr>
              <a:t>/* </a:t>
            </a:r>
            <a:r>
              <a:rPr lang="zh-CN" altLang="en-US" sz="2800" b="1" dirty="0">
                <a:solidFill>
                  <a:srgbClr val="0000FF"/>
                </a:solidFill>
                <a:latin typeface="黑体" pitchFamily="2" charset="-122"/>
                <a:ea typeface="黑体" pitchFamily="2" charset="-122"/>
              </a:rPr>
              <a:t>返回 </a:t>
            </a:r>
            <a:r>
              <a:rPr lang="en-US" altLang="zh-CN" sz="2800" b="1" dirty="0">
                <a:solidFill>
                  <a:srgbClr val="0000FF"/>
                </a:solidFill>
                <a:latin typeface="黑体" pitchFamily="2" charset="-122"/>
                <a:ea typeface="黑体" pitchFamily="2" charset="-122"/>
              </a:rPr>
              <a:t>temp </a:t>
            </a:r>
            <a:r>
              <a:rPr lang="zh-CN" altLang="en-US" sz="2800" b="1" dirty="0">
                <a:solidFill>
                  <a:srgbClr val="0000FF"/>
                </a:solidFill>
                <a:latin typeface="黑体" pitchFamily="2" charset="-122"/>
                <a:ea typeface="黑体" pitchFamily="2" charset="-122"/>
              </a:rPr>
              <a:t>到调用 </a:t>
            </a:r>
            <a:r>
              <a:rPr lang="en-US" altLang="zh-CN" sz="2800" b="1" dirty="0">
                <a:solidFill>
                  <a:srgbClr val="0000FF"/>
                </a:solidFill>
                <a:latin typeface="黑体" pitchFamily="2" charset="-122"/>
                <a:ea typeface="黑体" pitchFamily="2" charset="-122"/>
              </a:rPr>
              <a:t>min() </a:t>
            </a:r>
            <a:r>
              <a:rPr lang="zh-CN" altLang="en-US" sz="2800" b="1" dirty="0">
                <a:solidFill>
                  <a:srgbClr val="0000FF"/>
                </a:solidFill>
                <a:latin typeface="黑体" pitchFamily="2" charset="-122"/>
                <a:ea typeface="黑体" pitchFamily="2" charset="-122"/>
              </a:rPr>
              <a:t>函数处 */</a:t>
            </a:r>
          </a:p>
          <a:p>
            <a:pPr algn="just">
              <a:lnSpc>
                <a:spcPct val="90000"/>
              </a:lnSpc>
              <a:spcBef>
                <a:spcPct val="0"/>
              </a:spcBef>
              <a:buFont typeface="Monotype Sorts" charset="2"/>
              <a:buNone/>
            </a:pPr>
            <a:r>
              <a:rPr lang="zh-CN" altLang="en-US" sz="2800" b="1" dirty="0">
                <a:latin typeface="黑体" pitchFamily="2" charset="-122"/>
                <a:ea typeface="黑体" pitchFamily="2" charset="-122"/>
              </a:rPr>
              <a:t>}</a:t>
            </a:r>
          </a:p>
          <a:p>
            <a:pPr algn="just">
              <a:lnSpc>
                <a:spcPct val="90000"/>
              </a:lnSpc>
              <a:spcBef>
                <a:spcPct val="0"/>
              </a:spcBef>
              <a:buFont typeface="Monotype Sorts" charset="2"/>
              <a:buNone/>
            </a:pPr>
            <a:r>
              <a:rPr lang="en-US" altLang="zh-CN" sz="2800" b="1" dirty="0">
                <a:latin typeface="黑体" pitchFamily="2" charset="-122"/>
                <a:ea typeface="黑体" pitchFamily="2" charset="-122"/>
              </a:rPr>
              <a:t>void main()</a:t>
            </a:r>
          </a:p>
          <a:p>
            <a:pPr algn="just">
              <a:lnSpc>
                <a:spcPct val="90000"/>
              </a:lnSpc>
              <a:spcBef>
                <a:spcPct val="0"/>
              </a:spcBef>
              <a:buFont typeface="Monotype Sorts" charset="2"/>
              <a:buNone/>
            </a:pPr>
            <a:r>
              <a:rPr lang="en-US" altLang="zh-CN" sz="2800" b="1" dirty="0">
                <a:latin typeface="黑体" pitchFamily="2" charset="-122"/>
                <a:ea typeface="黑体" pitchFamily="2" charset="-122"/>
              </a:rPr>
              <a:t>{  float x, y, c;       </a:t>
            </a:r>
            <a:r>
              <a:rPr lang="en-US" altLang="zh-CN" sz="2800" b="1" dirty="0">
                <a:solidFill>
                  <a:srgbClr val="0000FF"/>
                </a:solidFill>
                <a:latin typeface="黑体" pitchFamily="2" charset="-122"/>
                <a:ea typeface="黑体" pitchFamily="2" charset="-122"/>
              </a:rPr>
              <a:t>/* </a:t>
            </a:r>
            <a:r>
              <a:rPr lang="zh-CN" altLang="en-US" sz="2800" b="1" dirty="0">
                <a:solidFill>
                  <a:srgbClr val="0000FF"/>
                </a:solidFill>
                <a:latin typeface="黑体" pitchFamily="2" charset="-122"/>
                <a:ea typeface="黑体" pitchFamily="2" charset="-122"/>
              </a:rPr>
              <a:t>变量定义 */</a:t>
            </a:r>
            <a:endParaRPr lang="zh-CN" altLang="en-US" sz="2800" b="1" dirty="0">
              <a:latin typeface="黑体" pitchFamily="2" charset="-122"/>
              <a:ea typeface="黑体" pitchFamily="2" charset="-122"/>
            </a:endParaRPr>
          </a:p>
          <a:p>
            <a:pPr algn="just">
              <a:lnSpc>
                <a:spcPct val="90000"/>
              </a:lnSpc>
              <a:spcBef>
                <a:spcPct val="0"/>
              </a:spcBef>
              <a:buFont typeface="Monotype Sorts" charset="2"/>
              <a:buNone/>
            </a:pPr>
            <a:r>
              <a:rPr lang="en-US" altLang="zh-CN" sz="2800" b="1" dirty="0">
                <a:latin typeface="黑体" pitchFamily="2" charset="-122"/>
                <a:ea typeface="黑体" pitchFamily="2" charset="-122"/>
              </a:rPr>
              <a:t>   </a:t>
            </a:r>
            <a:r>
              <a:rPr lang="en-US" altLang="zh-CN" sz="2800" b="1" dirty="0" err="1">
                <a:latin typeface="黑体" pitchFamily="2" charset="-122"/>
                <a:ea typeface="黑体" pitchFamily="2" charset="-122"/>
              </a:rPr>
              <a:t>printf</a:t>
            </a:r>
            <a:r>
              <a:rPr lang="en-US" altLang="zh-CN" sz="2800" b="1" dirty="0">
                <a:latin typeface="黑体" pitchFamily="2" charset="-122"/>
                <a:ea typeface="黑体" pitchFamily="2" charset="-122"/>
              </a:rPr>
              <a:t>("</a:t>
            </a:r>
            <a:r>
              <a:rPr lang="zh-CN" altLang="en-US" sz="2800" b="1" dirty="0">
                <a:latin typeface="黑体" pitchFamily="2" charset="-122"/>
                <a:ea typeface="黑体" pitchFamily="2" charset="-122"/>
              </a:rPr>
              <a:t>输入</a:t>
            </a:r>
            <a:r>
              <a:rPr lang="en-US" altLang="zh-CN" sz="2800" b="1" dirty="0">
                <a:latin typeface="黑体" pitchFamily="2" charset="-122"/>
                <a:ea typeface="黑体" pitchFamily="2" charset="-122"/>
              </a:rPr>
              <a:t>x</a:t>
            </a:r>
            <a:r>
              <a:rPr lang="zh-CN" altLang="en-US" sz="2800" b="1" dirty="0">
                <a:latin typeface="黑体" pitchFamily="2" charset="-122"/>
                <a:ea typeface="黑体" pitchFamily="2" charset="-122"/>
              </a:rPr>
              <a:t>和</a:t>
            </a:r>
            <a:r>
              <a:rPr lang="en-US" altLang="zh-CN" sz="2800" b="1" dirty="0">
                <a:latin typeface="黑体" pitchFamily="2" charset="-122"/>
                <a:ea typeface="黑体" pitchFamily="2" charset="-122"/>
              </a:rPr>
              <a:t>y.\n"); </a:t>
            </a:r>
          </a:p>
          <a:p>
            <a:pPr algn="just">
              <a:lnSpc>
                <a:spcPct val="90000"/>
              </a:lnSpc>
              <a:spcBef>
                <a:spcPct val="0"/>
              </a:spcBef>
              <a:buFont typeface="Monotype Sorts" charset="2"/>
              <a:buNone/>
            </a:pPr>
            <a:r>
              <a:rPr lang="en-US" altLang="zh-CN" sz="2800" b="1" dirty="0">
                <a:latin typeface="黑体" pitchFamily="2" charset="-122"/>
                <a:ea typeface="黑体" pitchFamily="2" charset="-122"/>
              </a:rPr>
              <a:t>   </a:t>
            </a:r>
            <a:r>
              <a:rPr lang="en-US" altLang="zh-CN" sz="2800" b="1" dirty="0" err="1">
                <a:latin typeface="黑体" pitchFamily="2" charset="-122"/>
                <a:ea typeface="黑体" pitchFamily="2" charset="-122"/>
              </a:rPr>
              <a:t>scanf</a:t>
            </a:r>
            <a:r>
              <a:rPr lang="en-US" altLang="zh-CN" sz="2800" b="1" dirty="0">
                <a:latin typeface="黑体" pitchFamily="2" charset="-122"/>
                <a:ea typeface="黑体" pitchFamily="2" charset="-122"/>
              </a:rPr>
              <a:t>("%</a:t>
            </a:r>
            <a:r>
              <a:rPr lang="en-US" altLang="zh-CN" sz="2800" b="1" dirty="0" err="1">
                <a:latin typeface="黑体" pitchFamily="2" charset="-122"/>
                <a:ea typeface="黑体" pitchFamily="2" charset="-122"/>
              </a:rPr>
              <a:t>f%f</a:t>
            </a:r>
            <a:r>
              <a:rPr lang="en-US" altLang="zh-CN" sz="2800" b="1" dirty="0">
                <a:latin typeface="黑体" pitchFamily="2" charset="-122"/>
                <a:ea typeface="黑体" pitchFamily="2" charset="-122"/>
              </a:rPr>
              <a:t>", &amp;x, &amp;y );</a:t>
            </a:r>
          </a:p>
          <a:p>
            <a:pPr algn="just">
              <a:lnSpc>
                <a:spcPct val="90000"/>
              </a:lnSpc>
              <a:spcBef>
                <a:spcPct val="0"/>
              </a:spcBef>
              <a:buFont typeface="Monotype Sorts" charset="2"/>
              <a:buNone/>
            </a:pPr>
            <a:r>
              <a:rPr lang="en-US" altLang="zh-CN" sz="2800" b="1" dirty="0">
                <a:latin typeface="黑体" pitchFamily="2" charset="-122"/>
                <a:ea typeface="黑体" pitchFamily="2" charset="-122"/>
              </a:rPr>
              <a:t>   c = min(x, y);      </a:t>
            </a:r>
            <a:r>
              <a:rPr lang="en-US" altLang="zh-CN" sz="2800" b="1" dirty="0">
                <a:solidFill>
                  <a:srgbClr val="0000FF"/>
                </a:solidFill>
                <a:latin typeface="黑体" pitchFamily="2" charset="-122"/>
                <a:ea typeface="黑体" pitchFamily="2" charset="-122"/>
              </a:rPr>
              <a:t>/* </a:t>
            </a:r>
            <a:r>
              <a:rPr lang="zh-CN" altLang="en-US" sz="2800" b="1" dirty="0">
                <a:solidFill>
                  <a:srgbClr val="0000FF"/>
                </a:solidFill>
                <a:latin typeface="黑体" pitchFamily="2" charset="-122"/>
                <a:ea typeface="黑体" pitchFamily="2" charset="-122"/>
              </a:rPr>
              <a:t>调用函数 </a:t>
            </a:r>
            <a:r>
              <a:rPr lang="en-US" altLang="zh-CN" sz="2800" b="1" dirty="0">
                <a:solidFill>
                  <a:srgbClr val="0000FF"/>
                </a:solidFill>
                <a:latin typeface="黑体" pitchFamily="2" charset="-122"/>
                <a:ea typeface="黑体" pitchFamily="2" charset="-122"/>
              </a:rPr>
              <a:t>min() */</a:t>
            </a:r>
          </a:p>
          <a:p>
            <a:pPr algn="just">
              <a:lnSpc>
                <a:spcPct val="90000"/>
              </a:lnSpc>
              <a:spcBef>
                <a:spcPct val="0"/>
              </a:spcBef>
              <a:buFont typeface="Monotype Sorts" charset="2"/>
              <a:buNone/>
            </a:pPr>
            <a:r>
              <a:rPr lang="en-US" altLang="zh-CN" sz="2800" b="1" dirty="0">
                <a:latin typeface="黑体" pitchFamily="2" charset="-122"/>
                <a:ea typeface="黑体" pitchFamily="2" charset="-122"/>
              </a:rPr>
              <a:t>   </a:t>
            </a:r>
            <a:r>
              <a:rPr lang="en-US" altLang="zh-CN" sz="2800" b="1" dirty="0" err="1">
                <a:latin typeface="黑体" pitchFamily="2" charset="-122"/>
                <a:ea typeface="黑体" pitchFamily="2" charset="-122"/>
              </a:rPr>
              <a:t>printf</a:t>
            </a:r>
            <a:r>
              <a:rPr lang="en-US" altLang="zh-CN" sz="2800" b="1" dirty="0">
                <a:latin typeface="黑体" pitchFamily="2" charset="-122"/>
                <a:ea typeface="黑体" pitchFamily="2" charset="-122"/>
              </a:rPr>
              <a:t>("MIN(%.2f, %.2f)= %.2f\</a:t>
            </a:r>
            <a:r>
              <a:rPr lang="en-US" altLang="zh-CN" sz="2800" b="1" dirty="0" err="1">
                <a:latin typeface="黑体" pitchFamily="2" charset="-122"/>
                <a:ea typeface="黑体" pitchFamily="2" charset="-122"/>
              </a:rPr>
              <a:t>n",x,y,c</a:t>
            </a:r>
            <a:r>
              <a:rPr lang="en-US" altLang="zh-CN" sz="2800" b="1" dirty="0">
                <a:latin typeface="黑体" pitchFamily="2" charset="-122"/>
                <a:ea typeface="黑体" pitchFamily="2" charset="-122"/>
              </a:rPr>
              <a:t>);</a:t>
            </a:r>
          </a:p>
          <a:p>
            <a:pPr algn="just">
              <a:lnSpc>
                <a:spcPct val="90000"/>
              </a:lnSpc>
              <a:spcBef>
                <a:spcPct val="0"/>
              </a:spcBef>
              <a:buFont typeface="Monotype Sorts" charset="2"/>
              <a:buNone/>
            </a:pPr>
            <a:r>
              <a:rPr lang="en-US" altLang="zh-CN" sz="2800" b="1" dirty="0">
                <a:latin typeface="黑体" pitchFamily="2" charset="-122"/>
                <a:ea typeface="黑体" pitchFamily="2" charset="-122"/>
              </a:rPr>
              <a:t>}</a:t>
            </a:r>
          </a:p>
        </p:txBody>
      </p:sp>
      <p:sp>
        <p:nvSpPr>
          <p:cNvPr id="6" name="灯片编号占位符 5"/>
          <p:cNvSpPr>
            <a:spLocks noGrp="1"/>
          </p:cNvSpPr>
          <p:nvPr>
            <p:ph type="sldNum" sz="quarter" idx="12"/>
          </p:nvPr>
        </p:nvSpPr>
        <p:spPr/>
        <p:txBody>
          <a:bodyPr/>
          <a:lstStyle/>
          <a:p>
            <a:pPr defTabSz="1128713">
              <a:defRPr/>
            </a:pPr>
            <a:fld id="{7091FCE1-C22E-4191-915A-992C4A31D716}" type="slidenum">
              <a:rPr lang="zh-CN" altLang="en-US">
                <a:latin typeface="+mn-lt"/>
              </a:rPr>
              <a:pPr defTabSz="1128713">
                <a:defRPr/>
              </a:pPr>
              <a:t>89</a:t>
            </a:fld>
            <a:endParaRPr lang="en-US" altLang="zh-CN">
              <a:latin typeface="+mn-lt"/>
            </a:endParaRPr>
          </a:p>
        </p:txBody>
      </p:sp>
    </p:spTree>
  </p:cSld>
  <p:clrMapOvr>
    <a:masterClrMapping/>
  </p:clrMapOvr>
  <p:transition>
    <p:random/>
  </p:transition>
</p:sld>
</file>

<file path=ppt/slides/slide90.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72706" name="Rectangle 3"/>
          <p:cNvSpPr>
            <a:spLocks noGrp="1" noChangeArrowheads="1"/>
          </p:cNvSpPr>
          <p:nvPr>
            <p:ph type="title"/>
          </p:nvPr>
        </p:nvSpPr>
        <p:spPr>
          <a:xfrm>
            <a:off x="395288" y="404813"/>
            <a:ext cx="7727950" cy="792162"/>
          </a:xfrm>
        </p:spPr>
        <p:txBody>
          <a:bodyPr/>
          <a:lstStyle/>
          <a:p>
            <a:r>
              <a:rPr lang="zh-CN" altLang="en-US" sz="4400">
                <a:solidFill>
                  <a:schemeClr val="tx1"/>
                </a:solidFill>
                <a:latin typeface="黑体" pitchFamily="2" charset="-122"/>
                <a:ea typeface="黑体" pitchFamily="2" charset="-122"/>
              </a:rPr>
              <a:t>函数定义</a:t>
            </a:r>
          </a:p>
        </p:txBody>
      </p:sp>
      <p:sp>
        <p:nvSpPr>
          <p:cNvPr id="226306" name="Rectangle 2"/>
          <p:cNvSpPr>
            <a:spLocks noGrp="1" noChangeArrowheads="1"/>
          </p:cNvSpPr>
          <p:nvPr>
            <p:ph idx="1"/>
          </p:nvPr>
        </p:nvSpPr>
        <p:spPr>
          <a:xfrm>
            <a:off x="395288" y="1412875"/>
            <a:ext cx="8382000" cy="4968875"/>
          </a:xfrm>
        </p:spPr>
        <p:txBody>
          <a:bodyPr>
            <a:normAutofit lnSpcReduction="10000"/>
          </a:bodyPr>
          <a:lstStyle/>
          <a:p>
            <a:pPr marL="0" indent="0" algn="just" fontAlgn="auto">
              <a:lnSpc>
                <a:spcPct val="105000"/>
              </a:lnSpc>
              <a:spcBef>
                <a:spcPct val="10000"/>
              </a:spcBef>
              <a:spcAft>
                <a:spcPts val="0"/>
              </a:spcAft>
              <a:buClr>
                <a:schemeClr val="accent3"/>
              </a:buClr>
              <a:buFont typeface="Wingdings 2"/>
              <a:buChar char=""/>
              <a:defRPr/>
            </a:pPr>
            <a:r>
              <a:rPr lang="zh-CN" altLang="en-US" sz="2400" b="1" dirty="0">
                <a:effectLst>
                  <a:outerShdw blurRad="38100" dist="38100" dir="2700000" algn="tl">
                    <a:srgbClr val="000000"/>
                  </a:outerShdw>
                </a:effectLst>
                <a:latin typeface="宋体" pitchFamily="2" charset="-122"/>
              </a:rPr>
              <a:t> </a:t>
            </a:r>
            <a:r>
              <a:rPr lang="zh-CN" altLang="en-US" sz="2800" b="1" dirty="0">
                <a:latin typeface="楷体_GB2312" pitchFamily="49" charset="-122"/>
                <a:ea typeface="楷体_GB2312" pitchFamily="49" charset="-122"/>
              </a:rPr>
              <a:t>Ｃ程序由若干函数组成。主函数名为</a:t>
            </a:r>
            <a:r>
              <a:rPr lang="en-US" altLang="zh-CN" sz="2800" b="1" dirty="0">
                <a:latin typeface="楷体_GB2312" pitchFamily="49" charset="-122"/>
                <a:ea typeface="楷体_GB2312" pitchFamily="49" charset="-122"/>
              </a:rPr>
              <a:t>main()</a:t>
            </a:r>
            <a:r>
              <a:rPr lang="zh-CN" altLang="en-US" sz="2800" b="1" dirty="0">
                <a:latin typeface="楷体_GB2312" pitchFamily="49" charset="-122"/>
                <a:ea typeface="楷体_GB2312" pitchFamily="49" charset="-122"/>
              </a:rPr>
              <a:t>，总是优先运行。</a:t>
            </a:r>
            <a:endParaRPr lang="en-US" altLang="zh-CN" sz="2800" b="1" dirty="0">
              <a:latin typeface="楷体_GB2312" pitchFamily="49" charset="-122"/>
              <a:ea typeface="楷体_GB2312" pitchFamily="49" charset="-122"/>
            </a:endParaRPr>
          </a:p>
          <a:p>
            <a:pPr marL="0" indent="0" algn="just" fontAlgn="auto">
              <a:lnSpc>
                <a:spcPct val="105000"/>
              </a:lnSpc>
              <a:spcBef>
                <a:spcPct val="10000"/>
              </a:spcBef>
              <a:spcAft>
                <a:spcPts val="0"/>
              </a:spcAft>
              <a:buClr>
                <a:schemeClr val="accent3"/>
              </a:buClr>
              <a:buFont typeface="Wingdings 2"/>
              <a:buChar char=""/>
              <a:defRPr/>
            </a:pPr>
            <a:r>
              <a:rPr lang="zh-CN" altLang="en-US" sz="2800" b="1" dirty="0">
                <a:latin typeface="楷体_GB2312" pitchFamily="49" charset="-122"/>
                <a:ea typeface="楷体_GB2312" pitchFamily="49" charset="-122"/>
              </a:rPr>
              <a:t> 一个函数由函数头和函数体组成。</a:t>
            </a:r>
            <a:r>
              <a:rPr lang="zh-CN" altLang="en-US" sz="2800" b="1" dirty="0">
                <a:solidFill>
                  <a:srgbClr val="FF0000"/>
                </a:solidFill>
                <a:latin typeface="楷体_GB2312" pitchFamily="49" charset="-122"/>
                <a:ea typeface="楷体_GB2312" pitchFamily="49" charset="-122"/>
              </a:rPr>
              <a:t>函数头</a:t>
            </a:r>
            <a:r>
              <a:rPr lang="zh-CN" altLang="en-US" sz="2800" b="1" dirty="0">
                <a:latin typeface="楷体_GB2312" pitchFamily="49" charset="-122"/>
                <a:ea typeface="楷体_GB2312" pitchFamily="49" charset="-122"/>
              </a:rPr>
              <a:t>包括函数属性、 函数返回值类型、函数名、函数形式参数名，形式参数类型。</a:t>
            </a:r>
          </a:p>
          <a:p>
            <a:pPr marL="0" indent="0" algn="just" fontAlgn="auto">
              <a:lnSpc>
                <a:spcPct val="105000"/>
              </a:lnSpc>
              <a:spcBef>
                <a:spcPct val="10000"/>
              </a:spcBef>
              <a:spcAft>
                <a:spcPts val="0"/>
              </a:spcAft>
              <a:buClr>
                <a:schemeClr val="accent3"/>
              </a:buClr>
              <a:buFont typeface="Wingdings 2"/>
              <a:buChar char=""/>
              <a:defRPr/>
            </a:pPr>
            <a:r>
              <a:rPr lang="zh-CN" altLang="en-US" sz="2800" b="1" dirty="0">
                <a:latin typeface="楷体_GB2312" pitchFamily="49" charset="-122"/>
                <a:ea typeface="楷体_GB2312" pitchFamily="49" charset="-122"/>
              </a:rPr>
              <a:t> 函数结构的一般形式：</a:t>
            </a:r>
            <a:endParaRPr lang="en-US" altLang="zh-CN" sz="2800" b="1" dirty="0">
              <a:latin typeface="楷体_GB2312" pitchFamily="49" charset="-122"/>
              <a:ea typeface="楷体_GB2312" pitchFamily="49" charset="-122"/>
            </a:endParaRPr>
          </a:p>
          <a:p>
            <a:pPr marL="0" indent="0" algn="just" fontAlgn="auto">
              <a:lnSpc>
                <a:spcPct val="105000"/>
              </a:lnSpc>
              <a:spcBef>
                <a:spcPct val="10000"/>
              </a:spcBef>
              <a:spcAft>
                <a:spcPts val="0"/>
              </a:spcAft>
              <a:buClr>
                <a:schemeClr val="accent3"/>
              </a:buClr>
              <a:buFont typeface="Wingdings 2"/>
              <a:buChar char=""/>
              <a:defRPr/>
            </a:pPr>
            <a:endParaRPr lang="zh-CN" altLang="en-US" sz="2800" b="1" dirty="0">
              <a:latin typeface="楷体_GB2312" pitchFamily="49" charset="-122"/>
              <a:ea typeface="楷体_GB2312" pitchFamily="49" charset="-122"/>
            </a:endParaRPr>
          </a:p>
          <a:p>
            <a:pPr marL="0" indent="0" algn="just" fontAlgn="auto">
              <a:lnSpc>
                <a:spcPct val="105000"/>
              </a:lnSpc>
              <a:spcBef>
                <a:spcPct val="10000"/>
              </a:spcBef>
              <a:spcAft>
                <a:spcPts val="0"/>
              </a:spcAft>
              <a:buClr>
                <a:schemeClr val="accent3"/>
              </a:buClr>
              <a:buFont typeface="Monotype Sorts" pitchFamily="2" charset="2"/>
              <a:buNone/>
              <a:defRPr/>
            </a:pPr>
            <a:r>
              <a:rPr lang="zh-CN" altLang="en-US" sz="2800" b="1" dirty="0">
                <a:latin typeface="楷体_GB2312" pitchFamily="49" charset="-122"/>
                <a:ea typeface="楷体_GB2312" pitchFamily="49" charset="-122"/>
              </a:rPr>
              <a:t> 函数返回值类型  函数名(参数说明表)</a:t>
            </a:r>
          </a:p>
          <a:p>
            <a:pPr marL="0" indent="0" algn="just" fontAlgn="auto">
              <a:lnSpc>
                <a:spcPct val="105000"/>
              </a:lnSpc>
              <a:spcBef>
                <a:spcPct val="10000"/>
              </a:spcBef>
              <a:spcAft>
                <a:spcPts val="0"/>
              </a:spcAft>
              <a:buClr>
                <a:schemeClr val="accent3"/>
              </a:buClr>
              <a:buFont typeface="Monotype Sorts" pitchFamily="2" charset="2"/>
              <a:buNone/>
              <a:defRPr/>
            </a:pPr>
            <a:r>
              <a:rPr lang="zh-CN" altLang="en-US" sz="2800" b="1" dirty="0">
                <a:latin typeface="楷体_GB2312" pitchFamily="49" charset="-122"/>
                <a:ea typeface="楷体_GB2312" pitchFamily="49" charset="-122"/>
              </a:rPr>
              <a:t> { 说明和定义部分;</a:t>
            </a:r>
          </a:p>
          <a:p>
            <a:pPr marL="0" indent="0" algn="just" fontAlgn="auto">
              <a:lnSpc>
                <a:spcPct val="105000"/>
              </a:lnSpc>
              <a:spcBef>
                <a:spcPct val="10000"/>
              </a:spcBef>
              <a:spcAft>
                <a:spcPts val="0"/>
              </a:spcAft>
              <a:buClr>
                <a:schemeClr val="accent3"/>
              </a:buClr>
              <a:buFont typeface="Monotype Sorts" pitchFamily="2" charset="2"/>
              <a:buNone/>
              <a:defRPr/>
            </a:pPr>
            <a:r>
              <a:rPr lang="zh-CN" altLang="en-US" sz="2800" b="1" dirty="0">
                <a:latin typeface="楷体_GB2312" pitchFamily="49" charset="-122"/>
                <a:ea typeface="楷体_GB2312" pitchFamily="49" charset="-122"/>
              </a:rPr>
              <a:t>   执行语句序列</a:t>
            </a:r>
          </a:p>
          <a:p>
            <a:pPr marL="0" indent="0" algn="just" fontAlgn="auto">
              <a:lnSpc>
                <a:spcPct val="105000"/>
              </a:lnSpc>
              <a:spcBef>
                <a:spcPct val="10000"/>
              </a:spcBef>
              <a:spcAft>
                <a:spcPts val="0"/>
              </a:spcAft>
              <a:buClr>
                <a:schemeClr val="accent3"/>
              </a:buClr>
              <a:buFont typeface="Monotype Sorts" pitchFamily="2" charset="2"/>
              <a:buNone/>
              <a:defRPr/>
            </a:pPr>
            <a:r>
              <a:rPr lang="zh-CN" altLang="en-US" sz="2800" b="1" dirty="0">
                <a:latin typeface="楷体_GB2312" pitchFamily="49" charset="-122"/>
                <a:ea typeface="楷体_GB2312" pitchFamily="49" charset="-122"/>
              </a:rPr>
              <a:t> }</a:t>
            </a:r>
          </a:p>
        </p:txBody>
      </p:sp>
      <p:sp>
        <p:nvSpPr>
          <p:cNvPr id="6" name="灯片编号占位符 5"/>
          <p:cNvSpPr>
            <a:spLocks noGrp="1"/>
          </p:cNvSpPr>
          <p:nvPr>
            <p:ph type="sldNum" sz="quarter" idx="12"/>
          </p:nvPr>
        </p:nvSpPr>
        <p:spPr/>
        <p:txBody>
          <a:bodyPr/>
          <a:lstStyle/>
          <a:p>
            <a:pPr defTabSz="1128713">
              <a:defRPr/>
            </a:pPr>
            <a:fld id="{60C6C3DD-4C3D-4A6C-B265-023A98206073}" type="slidenum">
              <a:rPr lang="zh-CN" altLang="en-US">
                <a:latin typeface="+mn-lt"/>
              </a:rPr>
              <a:pPr defTabSz="1128713">
                <a:defRPr/>
              </a:pPr>
              <a:t>90</a:t>
            </a:fld>
            <a:endParaRPr lang="en-US" altLang="zh-CN">
              <a:latin typeface="+mn-lt"/>
            </a:endParaRPr>
          </a:p>
        </p:txBody>
      </p:sp>
    </p:spTree>
  </p:cSld>
  <p:clrMapOvr>
    <a:masterClrMapping/>
  </p:clrMapOvr>
  <p:transition>
    <p:random/>
  </p:transition>
</p:sld>
</file>

<file path=ppt/slides/slide91.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73730" name="Rectangle 2"/>
          <p:cNvSpPr>
            <a:spLocks noGrp="1" noChangeArrowheads="1"/>
          </p:cNvSpPr>
          <p:nvPr>
            <p:ph idx="1"/>
          </p:nvPr>
        </p:nvSpPr>
        <p:spPr>
          <a:xfrm>
            <a:off x="395288" y="692150"/>
            <a:ext cx="8382000" cy="5792788"/>
          </a:xfrm>
        </p:spPr>
        <p:txBody>
          <a:bodyPr/>
          <a:lstStyle/>
          <a:p>
            <a:pPr marL="0" indent="0" algn="just"/>
            <a:r>
              <a:rPr lang="zh-CN" altLang="en-US" sz="3200" b="1">
                <a:latin typeface="楷体_GB2312" pitchFamily="49" charset="-122"/>
                <a:ea typeface="楷体_GB2312" pitchFamily="49" charset="-122"/>
              </a:rPr>
              <a:t>函数可以没有参数，但函数名之后的一对圆括号是必须的。</a:t>
            </a:r>
            <a:r>
              <a:rPr lang="zh-CN" altLang="en-US" sz="3200" b="1">
                <a:solidFill>
                  <a:srgbClr val="FF0000"/>
                </a:solidFill>
                <a:latin typeface="楷体_GB2312" pitchFamily="49" charset="-122"/>
                <a:ea typeface="楷体_GB2312" pitchFamily="49" charset="-122"/>
              </a:rPr>
              <a:t>函数体</a:t>
            </a:r>
            <a:r>
              <a:rPr lang="zh-CN" altLang="en-US" sz="3200" b="1">
                <a:latin typeface="楷体_GB2312" pitchFamily="49" charset="-122"/>
                <a:ea typeface="楷体_GB2312" pitchFamily="49" charset="-122"/>
              </a:rPr>
              <a:t>是函数头之后用一对花括号括住的部分。函数体用于描述实现函数功能的代码，它又包括：</a:t>
            </a:r>
          </a:p>
          <a:p>
            <a:pPr marL="365125" lvl="1" indent="0" algn="just"/>
            <a:r>
              <a:rPr lang="zh-CN" altLang="en-US" sz="3000" b="1">
                <a:latin typeface="楷体_GB2312" pitchFamily="49" charset="-122"/>
                <a:ea typeface="楷体_GB2312" pitchFamily="49" charset="-122"/>
              </a:rPr>
              <a:t> </a:t>
            </a:r>
            <a:r>
              <a:rPr lang="zh-CN" altLang="en-US" sz="3000" b="1">
                <a:solidFill>
                  <a:srgbClr val="000066"/>
                </a:solidFill>
                <a:latin typeface="楷体_GB2312" pitchFamily="49" charset="-122"/>
                <a:ea typeface="楷体_GB2312" pitchFamily="49" charset="-122"/>
              </a:rPr>
              <a:t>说明和定义部分</a:t>
            </a:r>
            <a:r>
              <a:rPr lang="zh-CN" altLang="en-US" sz="3000" b="1">
                <a:latin typeface="楷体_GB2312" pitchFamily="49" charset="-122"/>
                <a:ea typeface="楷体_GB2312" pitchFamily="49" charset="-122"/>
              </a:rPr>
              <a:t> </a:t>
            </a:r>
            <a:endParaRPr lang="en-US" altLang="zh-CN" sz="3000" b="1">
              <a:latin typeface="楷体_GB2312" pitchFamily="49" charset="-122"/>
              <a:ea typeface="楷体_GB2312" pitchFamily="49" charset="-122"/>
            </a:endParaRPr>
          </a:p>
          <a:p>
            <a:pPr marL="639763" lvl="2" indent="0" algn="just"/>
            <a:r>
              <a:rPr lang="zh-CN" altLang="en-US" sz="2900" b="1">
                <a:latin typeface="楷体_GB2312" pitchFamily="49" charset="-122"/>
                <a:ea typeface="楷体_GB2312" pitchFamily="49" charset="-122"/>
              </a:rPr>
              <a:t>说明数据结构(类型)和定义函数专用的局部变量等。</a:t>
            </a:r>
          </a:p>
          <a:p>
            <a:pPr marL="365125" lvl="1" indent="0" algn="just"/>
            <a:r>
              <a:rPr lang="zh-CN" altLang="en-US" sz="3000" b="1">
                <a:solidFill>
                  <a:srgbClr val="000066"/>
                </a:solidFill>
                <a:latin typeface="楷体_GB2312" pitchFamily="49" charset="-122"/>
                <a:ea typeface="楷体_GB2312" pitchFamily="49" charset="-122"/>
              </a:rPr>
              <a:t>执行部分</a:t>
            </a:r>
            <a:r>
              <a:rPr lang="zh-CN" altLang="en-US" sz="3000" b="1">
                <a:latin typeface="楷体_GB2312" pitchFamily="49" charset="-122"/>
                <a:ea typeface="楷体_GB2312" pitchFamily="49" charset="-122"/>
              </a:rPr>
              <a:t>  </a:t>
            </a:r>
          </a:p>
          <a:p>
            <a:pPr marL="639763" lvl="2" indent="0" algn="just"/>
            <a:r>
              <a:rPr lang="zh-CN" altLang="en-US" sz="2700" b="1">
                <a:latin typeface="楷体_GB2312" pitchFamily="49" charset="-122"/>
                <a:ea typeface="楷体_GB2312" pitchFamily="49" charset="-122"/>
              </a:rPr>
              <a:t>由Ｃ语句和控制结构代码组成。</a:t>
            </a:r>
            <a:endParaRPr lang="zh-CN" altLang="en-US" sz="1300" b="1">
              <a:latin typeface="楷体_GB2312" pitchFamily="49" charset="-122"/>
              <a:ea typeface="楷体_GB2312" pitchFamily="49" charset="-122"/>
            </a:endParaRPr>
          </a:p>
        </p:txBody>
      </p:sp>
      <p:sp>
        <p:nvSpPr>
          <p:cNvPr id="6" name="灯片编号占位符 5"/>
          <p:cNvSpPr>
            <a:spLocks noGrp="1"/>
          </p:cNvSpPr>
          <p:nvPr>
            <p:ph type="sldNum" sz="quarter" idx="12"/>
          </p:nvPr>
        </p:nvSpPr>
        <p:spPr/>
        <p:txBody>
          <a:bodyPr/>
          <a:lstStyle/>
          <a:p>
            <a:pPr defTabSz="1128713">
              <a:defRPr/>
            </a:pPr>
            <a:fld id="{900605E4-1D77-4859-B6EC-74A5EE3AB64E}" type="slidenum">
              <a:rPr lang="zh-CN" altLang="en-US">
                <a:latin typeface="+mn-lt"/>
              </a:rPr>
              <a:pPr defTabSz="1128713">
                <a:defRPr/>
              </a:pPr>
              <a:t>91</a:t>
            </a:fld>
            <a:endParaRPr lang="en-US" altLang="zh-CN">
              <a:latin typeface="+mn-lt"/>
            </a:endParaRPr>
          </a:p>
        </p:txBody>
      </p:sp>
      <p:sp>
        <p:nvSpPr>
          <p:cNvPr id="73732" name="AutoShape 5">
            <a:hlinkClick r:id="rId2" action="ppaction://hlinksldjump" highlightClick="1"/>
          </p:cNvPr>
          <p:cNvSpPr>
            <a:spLocks noChangeArrowheads="1"/>
          </p:cNvSpPr>
          <p:nvPr/>
        </p:nvSpPr>
        <p:spPr bwMode="auto">
          <a:xfrm>
            <a:off x="7885113" y="5734050"/>
            <a:ext cx="503237" cy="574675"/>
          </a:xfrm>
          <a:prstGeom prst="actionButtonInformation">
            <a:avLst/>
          </a:prstGeom>
          <a:solidFill>
            <a:schemeClr val="accent1"/>
          </a:solidFill>
          <a:ln w="9525">
            <a:noFill/>
            <a:miter lim="800000"/>
            <a:headEnd/>
            <a:tailEnd/>
          </a:ln>
        </p:spPr>
        <p:txBody>
          <a:bodyPr wrap="none" anchor="ctr"/>
          <a:lstStyle/>
          <a:p>
            <a:endParaRPr lang="zh-CN" altLang="en-US"/>
          </a:p>
        </p:txBody>
      </p:sp>
    </p:spTree>
  </p:cSld>
  <p:clrMapOvr>
    <a:masterClrMapping/>
  </p:clrMapOvr>
  <p:transition>
    <p:random/>
  </p:transition>
</p:sld>
</file>

<file path=ppt/slides/slide92.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77826" name="Rectangle 2"/>
          <p:cNvSpPr>
            <a:spLocks noGrp="1" noChangeArrowheads="1"/>
          </p:cNvSpPr>
          <p:nvPr>
            <p:ph idx="1"/>
          </p:nvPr>
        </p:nvSpPr>
        <p:spPr>
          <a:xfrm>
            <a:off x="468313" y="1196975"/>
            <a:ext cx="8380412" cy="4983163"/>
          </a:xfrm>
        </p:spPr>
        <p:txBody>
          <a:bodyPr/>
          <a:lstStyle/>
          <a:p>
            <a:pPr marL="0" indent="0" algn="just">
              <a:buFont typeface="Monotype Sorts" charset="2"/>
              <a:buNone/>
            </a:pPr>
            <a:r>
              <a:rPr lang="zh-CN" altLang="en-US" sz="4000" b="1">
                <a:latin typeface="楷体_GB2312" pitchFamily="49" charset="-122"/>
                <a:ea typeface="楷体_GB2312" pitchFamily="49" charset="-122"/>
              </a:rPr>
              <a:t>下面几个虽不属于关键字，但建议把它们看作关键字，不要在程序中随便使用。它们用在Ｃ程序的预处理命令行中。</a:t>
            </a:r>
          </a:p>
          <a:p>
            <a:pPr marL="0" indent="0" algn="just">
              <a:buFont typeface="Monotype Sorts" charset="2"/>
              <a:buNone/>
            </a:pPr>
            <a:r>
              <a:rPr lang="en-US" altLang="zh-CN" sz="4000" b="1">
                <a:latin typeface="宋体" charset="-122"/>
              </a:rPr>
              <a:t>define  undef  include  ifdef</a:t>
            </a:r>
          </a:p>
          <a:p>
            <a:pPr marL="0" indent="0" algn="just">
              <a:buFont typeface="Monotype Sorts" charset="2"/>
              <a:buNone/>
            </a:pPr>
            <a:r>
              <a:rPr lang="en-US" altLang="zh-CN" sz="4000" b="1">
                <a:latin typeface="宋体" charset="-122"/>
              </a:rPr>
              <a:t>ifndef</a:t>
            </a:r>
          </a:p>
          <a:p>
            <a:pPr marL="0" indent="0" algn="just">
              <a:buFont typeface="Monotype Sorts" charset="2"/>
              <a:buNone/>
            </a:pPr>
            <a:r>
              <a:rPr lang="en-US" altLang="zh-CN" sz="4000" b="1">
                <a:latin typeface="宋体" charset="-122"/>
              </a:rPr>
              <a:t>endif   line   elif</a:t>
            </a:r>
            <a:endParaRPr lang="zh-CN" altLang="en-US" sz="4000">
              <a:latin typeface="宋体" charset="-122"/>
            </a:endParaRPr>
          </a:p>
        </p:txBody>
      </p:sp>
      <p:sp>
        <p:nvSpPr>
          <p:cNvPr id="5" name="灯片编号占位符 5"/>
          <p:cNvSpPr>
            <a:spLocks noGrp="1"/>
          </p:cNvSpPr>
          <p:nvPr>
            <p:ph type="sldNum" sz="quarter" idx="12"/>
          </p:nvPr>
        </p:nvSpPr>
        <p:spPr/>
        <p:txBody>
          <a:bodyPr/>
          <a:lstStyle/>
          <a:p>
            <a:pPr defTabSz="1128713">
              <a:defRPr/>
            </a:pPr>
            <a:fld id="{31459968-2411-4F3F-BBE4-DB651EC58529}" type="slidenum">
              <a:rPr lang="zh-CN" altLang="en-US">
                <a:latin typeface="+mn-lt"/>
              </a:rPr>
              <a:pPr defTabSz="1128713">
                <a:defRPr/>
              </a:pPr>
              <a:t>92</a:t>
            </a:fld>
            <a:endParaRPr lang="en-US" altLang="zh-CN">
              <a:latin typeface="+mn-lt"/>
            </a:endParaRPr>
          </a:p>
        </p:txBody>
      </p:sp>
    </p:spTree>
  </p:cSld>
  <p:clrMapOvr>
    <a:masterClrMapping/>
  </p:clrMapOvr>
  <p:transition>
    <p:random/>
  </p:transition>
</p:sld>
</file>

<file path=ppt/slides/slide9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a:xfrm>
            <a:off x="0" y="228600"/>
            <a:ext cx="9324975" cy="1400175"/>
          </a:xfrm>
        </p:spPr>
        <p:txBody>
          <a:bodyPr/>
          <a:lstStyle/>
          <a:p>
            <a:r>
              <a:rPr lang="zh-CN" altLang="en-US" sz="4500">
                <a:solidFill>
                  <a:srgbClr val="C00000"/>
                </a:solidFill>
                <a:latin typeface="黑体" pitchFamily="2" charset="-122"/>
                <a:ea typeface="黑体" pitchFamily="2" charset="-122"/>
              </a:rPr>
              <a:t>1.</a:t>
            </a:r>
            <a:r>
              <a:rPr lang="en-US" altLang="zh-CN" sz="4500">
                <a:solidFill>
                  <a:srgbClr val="C00000"/>
                </a:solidFill>
                <a:latin typeface="黑体" pitchFamily="2" charset="-122"/>
                <a:ea typeface="黑体" pitchFamily="2" charset="-122"/>
              </a:rPr>
              <a:t>5 </a:t>
            </a:r>
            <a:r>
              <a:rPr lang="zh-CN" altLang="en-US" sz="4500">
                <a:solidFill>
                  <a:srgbClr val="C00000"/>
                </a:solidFill>
                <a:latin typeface="黑体" pitchFamily="2" charset="-122"/>
                <a:ea typeface="黑体" pitchFamily="2" charset="-122"/>
              </a:rPr>
              <a:t>程序开发环境基本知识</a:t>
            </a:r>
            <a:endParaRPr lang="zh-CN" altLang="en-US" sz="6000">
              <a:solidFill>
                <a:srgbClr val="C00000"/>
              </a:solidFill>
              <a:latin typeface="黑体" pitchFamily="2" charset="-122"/>
              <a:ea typeface="黑体" pitchFamily="2" charset="-122"/>
            </a:endParaRPr>
          </a:p>
        </p:txBody>
      </p:sp>
      <p:sp>
        <p:nvSpPr>
          <p:cNvPr id="87043" name="Rectangle 3"/>
          <p:cNvSpPr>
            <a:spLocks noGrp="1" noChangeArrowheads="1"/>
          </p:cNvSpPr>
          <p:nvPr>
            <p:ph idx="1"/>
          </p:nvPr>
        </p:nvSpPr>
        <p:spPr>
          <a:xfrm>
            <a:off x="381000" y="1700213"/>
            <a:ext cx="8305800" cy="4929187"/>
          </a:xfrm>
        </p:spPr>
        <p:txBody>
          <a:bodyPr/>
          <a:lstStyle/>
          <a:p>
            <a:pPr marL="449263" indent="-449263" algn="just">
              <a:lnSpc>
                <a:spcPct val="90000"/>
              </a:lnSpc>
              <a:buFont typeface="Monotype Sorts" charset="2"/>
              <a:buNone/>
            </a:pPr>
            <a:r>
              <a:rPr lang="en-US" altLang="zh-CN" sz="3600" b="1">
                <a:latin typeface="楷体_GB2312" pitchFamily="49" charset="-122"/>
                <a:ea typeface="楷体_GB2312" pitchFamily="49" charset="-122"/>
              </a:rPr>
              <a:t>C</a:t>
            </a:r>
            <a:r>
              <a:rPr lang="zh-CN" altLang="en-US" sz="3600" b="1">
                <a:latin typeface="楷体_GB2312" pitchFamily="49" charset="-122"/>
                <a:ea typeface="楷体_GB2312" pitchFamily="49" charset="-122"/>
              </a:rPr>
              <a:t>程序从开发到运行大致经历四个阶段：</a:t>
            </a:r>
          </a:p>
          <a:p>
            <a:pPr marL="449263" indent="-449263" algn="just">
              <a:lnSpc>
                <a:spcPct val="90000"/>
              </a:lnSpc>
              <a:buFont typeface="Monotype Sorts" charset="2"/>
              <a:buNone/>
            </a:pPr>
            <a:r>
              <a:rPr lang="en-US" altLang="zh-CN" sz="3600" b="1">
                <a:latin typeface="楷体_GB2312" pitchFamily="49" charset="-122"/>
                <a:ea typeface="楷体_GB2312" pitchFamily="49" charset="-122"/>
              </a:rPr>
              <a:t>1.</a:t>
            </a:r>
            <a:r>
              <a:rPr lang="zh-CN" altLang="en-US" sz="3200" b="1">
                <a:solidFill>
                  <a:srgbClr val="FF0000"/>
                </a:solidFill>
                <a:latin typeface="楷体_GB2312" pitchFamily="49" charset="-122"/>
                <a:ea typeface="楷体_GB2312" pitchFamily="49" charset="-122"/>
              </a:rPr>
              <a:t>编辑</a:t>
            </a:r>
            <a:r>
              <a:rPr lang="zh-CN" altLang="en-US" sz="3200" b="1">
                <a:latin typeface="楷体_GB2312" pitchFamily="49" charset="-122"/>
                <a:ea typeface="楷体_GB2312" pitchFamily="49" charset="-122"/>
              </a:rPr>
              <a:t>:程序员用系统环境提供的编辑器编辑源程序，产生一个源程序文件.</a:t>
            </a:r>
            <a:r>
              <a:rPr lang="en-US" altLang="zh-CN" sz="3200" b="1">
                <a:latin typeface="楷体_GB2312" pitchFamily="49" charset="-122"/>
                <a:ea typeface="楷体_GB2312" pitchFamily="49" charset="-122"/>
              </a:rPr>
              <a:t>c </a:t>
            </a:r>
            <a:r>
              <a:rPr lang="zh-CN" altLang="zh-CN" sz="3200" b="1">
                <a:latin typeface="楷体_GB2312" pitchFamily="49" charset="-122"/>
                <a:ea typeface="楷体_GB2312" pitchFamily="49" charset="-122"/>
              </a:rPr>
              <a:t>或</a:t>
            </a:r>
            <a:r>
              <a:rPr lang="zh-CN" altLang="en-US" sz="3200" b="1">
                <a:latin typeface="楷体_GB2312" pitchFamily="49" charset="-122"/>
                <a:ea typeface="楷体_GB2312" pitchFamily="49" charset="-122"/>
              </a:rPr>
              <a:t>.</a:t>
            </a:r>
            <a:r>
              <a:rPr lang="en-US" altLang="zh-CN" sz="3200" b="1">
                <a:latin typeface="楷体_GB2312" pitchFamily="49" charset="-122"/>
                <a:ea typeface="楷体_GB2312" pitchFamily="49" charset="-122"/>
              </a:rPr>
              <a:t>h</a:t>
            </a:r>
            <a:r>
              <a:rPr lang="zh-CN" altLang="en-US" sz="3200" b="1">
                <a:latin typeface="楷体_GB2312" pitchFamily="49" charset="-122"/>
                <a:ea typeface="楷体_GB2312" pitchFamily="49" charset="-122"/>
              </a:rPr>
              <a:t> 。</a:t>
            </a:r>
          </a:p>
          <a:p>
            <a:pPr marL="449263" indent="-449263" algn="just">
              <a:lnSpc>
                <a:spcPct val="90000"/>
              </a:lnSpc>
              <a:buFont typeface="Monotype Sorts" charset="2"/>
              <a:buNone/>
            </a:pPr>
            <a:r>
              <a:rPr lang="en-US" altLang="zh-CN" sz="3200" b="1">
                <a:latin typeface="楷体_GB2312" pitchFamily="49" charset="-122"/>
                <a:ea typeface="楷体_GB2312" pitchFamily="49" charset="-122"/>
              </a:rPr>
              <a:t>2.</a:t>
            </a:r>
            <a:r>
              <a:rPr lang="zh-CN" altLang="en-US" sz="3200" b="1">
                <a:solidFill>
                  <a:srgbClr val="FF0000"/>
                </a:solidFill>
                <a:latin typeface="楷体_GB2312" pitchFamily="49" charset="-122"/>
                <a:ea typeface="楷体_GB2312" pitchFamily="49" charset="-122"/>
              </a:rPr>
              <a:t>编译</a:t>
            </a:r>
            <a:r>
              <a:rPr lang="zh-CN" altLang="en-US" sz="3200" b="1">
                <a:latin typeface="楷体_GB2312" pitchFamily="49" charset="-122"/>
                <a:ea typeface="楷体_GB2312" pitchFamily="49" charset="-122"/>
              </a:rPr>
              <a:t>:编译前，</a:t>
            </a:r>
            <a:r>
              <a:rPr lang="en-US" altLang="zh-CN" sz="3200" b="1">
                <a:latin typeface="楷体_GB2312" pitchFamily="49" charset="-122"/>
                <a:ea typeface="楷体_GB2312" pitchFamily="49" charset="-122"/>
              </a:rPr>
              <a:t>C</a:t>
            </a:r>
            <a:r>
              <a:rPr lang="zh-CN" altLang="en-US" sz="3200" b="1">
                <a:latin typeface="楷体_GB2312" pitchFamily="49" charset="-122"/>
                <a:ea typeface="楷体_GB2312" pitchFamily="49" charset="-122"/>
              </a:rPr>
              <a:t>编译器先自动调用预处理程序，对源程序文件作文字转换，产生一个新的内部程序代码。若编译过程中发现程序有错误，则输出错误的详细信息；对正确的源程序产生机器语言程序，称为源程序的目的代码。</a:t>
            </a:r>
          </a:p>
        </p:txBody>
      </p:sp>
      <p:sp>
        <p:nvSpPr>
          <p:cNvPr id="6" name="灯片编号占位符 5"/>
          <p:cNvSpPr>
            <a:spLocks noGrp="1"/>
          </p:cNvSpPr>
          <p:nvPr>
            <p:ph type="sldNum" sz="quarter" idx="12"/>
          </p:nvPr>
        </p:nvSpPr>
        <p:spPr/>
        <p:txBody>
          <a:bodyPr/>
          <a:lstStyle/>
          <a:p>
            <a:pPr defTabSz="1128713">
              <a:defRPr/>
            </a:pPr>
            <a:fld id="{8FF8BBE9-7698-4CED-B930-0CC034E5311C}" type="slidenum">
              <a:rPr lang="zh-CN" altLang="en-US">
                <a:latin typeface="+mn-lt"/>
              </a:rPr>
              <a:pPr defTabSz="1128713">
                <a:defRPr/>
              </a:pPr>
              <a:t>93</a:t>
            </a:fld>
            <a:endParaRPr lang="en-US" altLang="zh-CN">
              <a:latin typeface="+mn-lt"/>
            </a:endParaRPr>
          </a:p>
        </p:txBody>
      </p:sp>
    </p:spTree>
  </p:cSld>
  <p:clrMapOvr>
    <a:masterClrMapping/>
  </p:clrMapOvr>
  <p:transition>
    <p:random/>
  </p:transition>
</p:sld>
</file>

<file path=ppt/slides/slide9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2691" name="Rectangle 3"/>
          <p:cNvSpPr>
            <a:spLocks noGrp="1" noChangeArrowheads="1"/>
          </p:cNvSpPr>
          <p:nvPr>
            <p:ph idx="1"/>
          </p:nvPr>
        </p:nvSpPr>
        <p:spPr>
          <a:xfrm>
            <a:off x="428625" y="883493"/>
            <a:ext cx="8305800" cy="5857875"/>
          </a:xfrm>
        </p:spPr>
        <p:txBody>
          <a:bodyPr>
            <a:normAutofit fontScale="85000" lnSpcReduction="20000"/>
          </a:bodyPr>
          <a:lstStyle/>
          <a:p>
            <a:pPr marL="536575" indent="-536575" algn="just" fontAlgn="auto">
              <a:spcAft>
                <a:spcPts val="0"/>
              </a:spcAft>
              <a:buClr>
                <a:schemeClr val="accent3"/>
              </a:buClr>
              <a:buFont typeface="Monotype Sorts" pitchFamily="2" charset="2"/>
              <a:buNone/>
              <a:defRPr/>
            </a:pPr>
            <a:r>
              <a:rPr lang="en-US" altLang="zh-CN" sz="3600" b="1" dirty="0">
                <a:latin typeface="楷体_GB2312" pitchFamily="49" charset="-122"/>
                <a:ea typeface="楷体_GB2312" pitchFamily="49" charset="-122"/>
              </a:rPr>
              <a:t>3.</a:t>
            </a:r>
            <a:r>
              <a:rPr lang="zh-CN" altLang="en-US" sz="3600" b="1" dirty="0">
                <a:solidFill>
                  <a:srgbClr val="C00000"/>
                </a:solidFill>
                <a:latin typeface="楷体_GB2312" pitchFamily="49" charset="-122"/>
                <a:ea typeface="楷体_GB2312" pitchFamily="49" charset="-122"/>
              </a:rPr>
              <a:t>连接</a:t>
            </a:r>
            <a:r>
              <a:rPr lang="zh-CN" altLang="en-US" sz="3600" b="1" dirty="0">
                <a:latin typeface="楷体_GB2312" pitchFamily="49" charset="-122"/>
                <a:ea typeface="楷体_GB2312" pitchFamily="49" charset="-122"/>
              </a:rPr>
              <a:t>:连接程序将目的代码和程序调用的库函数或其他源程序中定义的函数的目的代码连接起来，产生计算机可直接执行的程序映象文件。</a:t>
            </a:r>
            <a:endParaRPr lang="en-US" altLang="zh-CN" sz="3600" b="1" dirty="0">
              <a:latin typeface="楷体_GB2312" pitchFamily="49" charset="-122"/>
              <a:ea typeface="楷体_GB2312" pitchFamily="49" charset="-122"/>
            </a:endParaRPr>
          </a:p>
          <a:p>
            <a:pPr marL="536575" indent="-536575" algn="just" fontAlgn="auto">
              <a:spcAft>
                <a:spcPts val="0"/>
              </a:spcAft>
              <a:buClr>
                <a:schemeClr val="accent3"/>
              </a:buClr>
              <a:buFont typeface="Monotype Sorts" pitchFamily="2" charset="2"/>
              <a:buNone/>
              <a:defRPr/>
            </a:pPr>
            <a:endParaRPr lang="zh-CN" altLang="en-US" sz="3600" b="1" dirty="0">
              <a:latin typeface="楷体_GB2312" pitchFamily="49" charset="-122"/>
              <a:ea typeface="楷体_GB2312" pitchFamily="49" charset="-122"/>
            </a:endParaRPr>
          </a:p>
          <a:p>
            <a:pPr marL="536575" indent="-536575" algn="just" fontAlgn="auto">
              <a:spcAft>
                <a:spcPts val="0"/>
              </a:spcAft>
              <a:buClr>
                <a:schemeClr val="accent3"/>
              </a:buClr>
              <a:buFont typeface="Monotype Sorts" pitchFamily="2" charset="2"/>
              <a:buNone/>
              <a:defRPr/>
            </a:pPr>
            <a:r>
              <a:rPr lang="en-US" altLang="zh-CN" sz="3600" b="1" dirty="0">
                <a:latin typeface="楷体_GB2312" pitchFamily="49" charset="-122"/>
                <a:ea typeface="楷体_GB2312" pitchFamily="49" charset="-122"/>
              </a:rPr>
              <a:t>4.</a:t>
            </a:r>
            <a:r>
              <a:rPr lang="zh-CN" altLang="en-US" sz="3600" b="1" dirty="0">
                <a:solidFill>
                  <a:srgbClr val="C00000"/>
                </a:solidFill>
                <a:latin typeface="楷体_GB2312" pitchFamily="49" charset="-122"/>
                <a:ea typeface="楷体_GB2312" pitchFamily="49" charset="-122"/>
              </a:rPr>
              <a:t>运行</a:t>
            </a:r>
            <a:r>
              <a:rPr lang="zh-CN" altLang="en-US" sz="3600" b="1" dirty="0">
                <a:latin typeface="楷体_GB2312" pitchFamily="49" charset="-122"/>
                <a:ea typeface="楷体_GB2312" pitchFamily="49" charset="-122"/>
              </a:rPr>
              <a:t>:运行前，操作系统（</a:t>
            </a:r>
            <a:r>
              <a:rPr lang="en-US" altLang="zh-CN" sz="3600" b="1" dirty="0">
                <a:latin typeface="楷体_GB2312" pitchFamily="49" charset="-122"/>
                <a:ea typeface="楷体_GB2312" pitchFamily="49" charset="-122"/>
              </a:rPr>
              <a:t>OS</a:t>
            </a:r>
            <a:r>
              <a:rPr lang="zh-CN" altLang="en-US" sz="3600" b="1" dirty="0">
                <a:latin typeface="楷体_GB2312" pitchFamily="49" charset="-122"/>
                <a:ea typeface="楷体_GB2312" pitchFamily="49" charset="-122"/>
              </a:rPr>
              <a:t>）将要执行的程序装入内存。装入内存的程序在计算机的操作系统控制下执行。</a:t>
            </a:r>
            <a:endParaRPr lang="en-US" altLang="zh-CN" sz="3600" b="1" dirty="0">
              <a:latin typeface="楷体_GB2312" pitchFamily="49" charset="-122"/>
              <a:ea typeface="楷体_GB2312" pitchFamily="49" charset="-122"/>
            </a:endParaRPr>
          </a:p>
          <a:p>
            <a:pPr marL="536575" indent="-536575" algn="just" fontAlgn="auto">
              <a:spcAft>
                <a:spcPts val="0"/>
              </a:spcAft>
              <a:buClr>
                <a:schemeClr val="accent3"/>
              </a:buClr>
              <a:buFont typeface="Monotype Sorts" pitchFamily="2" charset="2"/>
              <a:buNone/>
              <a:defRPr/>
            </a:pPr>
            <a:endParaRPr lang="en-US" altLang="zh-CN" sz="3600" b="1" dirty="0">
              <a:latin typeface="楷体_GB2312" pitchFamily="49" charset="-122"/>
              <a:ea typeface="楷体_GB2312" pitchFamily="49" charset="-122"/>
            </a:endParaRPr>
          </a:p>
          <a:p>
            <a:pPr marL="536575" indent="-536575" algn="just" fontAlgn="auto">
              <a:spcAft>
                <a:spcPts val="0"/>
              </a:spcAft>
              <a:buClr>
                <a:schemeClr val="accent3"/>
              </a:buClr>
              <a:buFont typeface="Wingdings 2"/>
              <a:buChar char=""/>
              <a:defRPr/>
            </a:pPr>
            <a:r>
              <a:rPr lang="zh-CN" altLang="en-US" sz="3500" b="1" dirty="0">
                <a:latin typeface="楷体_GB2312" pitchFamily="49" charset="-122"/>
                <a:ea typeface="楷体_GB2312" pitchFamily="49" charset="-122"/>
              </a:rPr>
              <a:t>如果在编译阶段产生句法错误，或连接时发现有变量或函数没有定义，或运行后，产生不正确的结果，就要寻找源程序中的错误，都要重新回到编辑阶段，修正程序中的错误。</a:t>
            </a:r>
          </a:p>
          <a:p>
            <a:pPr marL="536575" indent="-536575" algn="just" fontAlgn="auto">
              <a:spcAft>
                <a:spcPts val="0"/>
              </a:spcAft>
              <a:buClr>
                <a:schemeClr val="accent3"/>
              </a:buClr>
              <a:buFont typeface="Monotype Sorts" pitchFamily="2" charset="2"/>
              <a:buNone/>
              <a:defRPr/>
            </a:pPr>
            <a:endParaRPr lang="zh-CN" altLang="en-US" sz="3600" b="1" dirty="0">
              <a:latin typeface="楷体_GB2312" pitchFamily="49" charset="-122"/>
              <a:ea typeface="楷体_GB2312" pitchFamily="49" charset="-122"/>
            </a:endParaRPr>
          </a:p>
        </p:txBody>
      </p:sp>
      <p:sp>
        <p:nvSpPr>
          <p:cNvPr id="5" name="灯片编号占位符 5"/>
          <p:cNvSpPr>
            <a:spLocks noGrp="1"/>
          </p:cNvSpPr>
          <p:nvPr>
            <p:ph type="sldNum" sz="quarter" idx="12"/>
          </p:nvPr>
        </p:nvSpPr>
        <p:spPr/>
        <p:txBody>
          <a:bodyPr/>
          <a:lstStyle/>
          <a:p>
            <a:pPr defTabSz="1128713">
              <a:defRPr/>
            </a:pPr>
            <a:fld id="{C5FCA414-6C71-436B-8C3A-A0248B3A0FA7}" type="slidenum">
              <a:rPr lang="zh-CN" altLang="en-US">
                <a:latin typeface="+mn-lt"/>
              </a:rPr>
              <a:pPr defTabSz="1128713">
                <a:defRPr/>
              </a:pPr>
              <a:t>94</a:t>
            </a:fld>
            <a:endParaRPr lang="en-US" altLang="zh-CN">
              <a:latin typeface="+mn-lt"/>
            </a:endParaRPr>
          </a:p>
        </p:txBody>
      </p:sp>
    </p:spTree>
  </p:cSld>
  <p:clrMapOvr>
    <a:masterClrMapping/>
  </p:clrMapOvr>
  <p:transition>
    <p:random/>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2.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docProps/app.xml><?xml version="1.0" encoding="utf-8"?>
<Properties xmlns="http://schemas.openxmlformats.org/officeDocument/2006/extended-properties" xmlns:vt="http://schemas.openxmlformats.org/officeDocument/2006/docPropsVTypes">
  <Template>Default Theme</Template>
  <TotalTime>10267</TotalTime>
  <Words>6756</Words>
  <Application>Microsoft Office PowerPoint</Application>
  <PresentationFormat>全屏显示(4:3)</PresentationFormat>
  <Paragraphs>686</Paragraphs>
  <Slides>94</Slides>
  <Notes>3</Notes>
  <HiddenSlides>6</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1</vt:i4>
      </vt:variant>
      <vt:variant>
        <vt:lpstr>幻灯片标题</vt:lpstr>
      </vt:variant>
      <vt:variant>
        <vt:i4>94</vt:i4>
      </vt:variant>
    </vt:vector>
  </HeadingPairs>
  <TitlesOfParts>
    <vt:vector size="110" baseType="lpstr">
      <vt:lpstr>Arial Unicode MS</vt:lpstr>
      <vt:lpstr>Monotype Sorts</vt:lpstr>
      <vt:lpstr>黑体</vt:lpstr>
      <vt:lpstr>楷体_GB2312</vt:lpstr>
      <vt:lpstr>隶书</vt:lpstr>
      <vt:lpstr>宋体</vt:lpstr>
      <vt:lpstr>Arial</vt:lpstr>
      <vt:lpstr>Calibri</vt:lpstr>
      <vt:lpstr>Constantia</vt:lpstr>
      <vt:lpstr>Courier New</vt:lpstr>
      <vt:lpstr>Garamond</vt:lpstr>
      <vt:lpstr>Times New Roman</vt:lpstr>
      <vt:lpstr>Wingdings</vt:lpstr>
      <vt:lpstr>Wingdings 2</vt:lpstr>
      <vt:lpstr>Flow</vt:lpstr>
      <vt:lpstr>Visio</vt:lpstr>
      <vt:lpstr>第1章 程序设计基础</vt:lpstr>
      <vt:lpstr>PowerPoint 演示文稿</vt:lpstr>
      <vt:lpstr>PowerPoint 演示文稿</vt:lpstr>
      <vt:lpstr>PowerPoint 演示文稿</vt:lpstr>
      <vt:lpstr>PowerPoint 演示文稿</vt:lpstr>
      <vt:lpstr>PowerPoint 演示文稿</vt:lpstr>
      <vt:lpstr>PowerPoint 演示文稿</vt:lpstr>
      <vt:lpstr>存储 &amp; 二进制…</vt:lpstr>
      <vt:lpstr>二进制数</vt:lpstr>
      <vt:lpstr>8进制与16进制数</vt:lpstr>
      <vt:lpstr>PowerPoint 演示文稿</vt:lpstr>
      <vt:lpstr>PowerPoint 演示文稿</vt:lpstr>
      <vt:lpstr>PowerPoint 演示文稿</vt:lpstr>
      <vt:lpstr>计算机数据存储的格式——二进制(续)</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计算机系统</vt:lpstr>
      <vt:lpstr>PowerPoint 演示文稿</vt:lpstr>
      <vt:lpstr>PowerPoint 演示文稿</vt:lpstr>
      <vt:lpstr>PowerPoint 演示文稿</vt:lpstr>
      <vt:lpstr>PowerPoint 演示文稿</vt:lpstr>
      <vt:lpstr>PowerPoint 演示文稿</vt:lpstr>
      <vt:lpstr>PowerPoint 演示文稿</vt:lpstr>
      <vt:lpstr>计算机程序的执行过程</vt:lpstr>
      <vt:lpstr>面向过程的语言</vt:lpstr>
      <vt:lpstr>面向问题的语言</vt:lpstr>
      <vt:lpstr>面向对象语言（C++）</vt:lpstr>
      <vt:lpstr>PowerPoint 演示文稿</vt:lpstr>
      <vt:lpstr>计算机数据的分类</vt:lpstr>
      <vt:lpstr>字符的表示——ASCII编码</vt:lpstr>
      <vt:lpstr>ASCII表</vt:lpstr>
      <vt:lpstr>常见中文编码</vt:lpstr>
      <vt:lpstr>程序设计语言</vt:lpstr>
      <vt:lpstr>PowerPoint 演示文稿</vt:lpstr>
      <vt:lpstr>PowerPoint 演示文稿</vt:lpstr>
      <vt:lpstr>PowerPoint 演示文稿</vt:lpstr>
      <vt:lpstr>算法时间复杂度</vt:lpstr>
      <vt:lpstr>数据结构</vt:lpstr>
      <vt:lpstr>数据结构（续）</vt:lpstr>
      <vt:lpstr>数据结构（续）</vt:lpstr>
      <vt:lpstr>数据结构与算法的关系（续）</vt:lpstr>
      <vt:lpstr>PowerPoint 演示文稿</vt:lpstr>
      <vt:lpstr>PowerPoint 演示文稿</vt:lpstr>
      <vt:lpstr>结构化程序设计</vt:lpstr>
      <vt:lpstr>自顶向下模块化设计方法</vt:lpstr>
      <vt:lpstr>自顶向下模块化设计方法（续）</vt:lpstr>
      <vt:lpstr>逐步求精设计方法</vt:lpstr>
      <vt:lpstr>逐步求精设计方法（续）</vt:lpstr>
      <vt:lpstr>逐步求精设计方法（续）</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Why C?</vt:lpstr>
      <vt:lpstr>C语言是基础吗？</vt:lpstr>
      <vt:lpstr>C适合做什么事情？</vt:lpstr>
      <vt:lpstr>代码风格</vt:lpstr>
      <vt:lpstr>1.2  C语言的历史和特点 </vt:lpstr>
      <vt:lpstr>C 语言的特点</vt:lpstr>
      <vt:lpstr>C语言掌故</vt:lpstr>
      <vt:lpstr>1.3 几个简单的C程序 </vt:lpstr>
      <vt:lpstr>C 程序有以下几个特点</vt:lpstr>
      <vt:lpstr>PowerPoint 演示文稿</vt:lpstr>
      <vt:lpstr>读入两个整数，输出它们的和</vt:lpstr>
      <vt:lpstr>Ｃ语言的词汇、数据类型、常量和变量</vt:lpstr>
      <vt:lpstr>2、基本词汇</vt:lpstr>
      <vt:lpstr>关键字 （特定功能和含义）</vt:lpstr>
      <vt:lpstr>标识符</vt:lpstr>
      <vt:lpstr>标识符</vt:lpstr>
      <vt:lpstr>标识符</vt:lpstr>
      <vt:lpstr>常量</vt:lpstr>
      <vt:lpstr>变量</vt:lpstr>
      <vt:lpstr>PowerPoint 演示文稿</vt:lpstr>
      <vt:lpstr>【例1.3】已知华氏温度0、20、…、200，求对应的摄氏温度。</vt:lpstr>
      <vt:lpstr>【例1.4】输入两个实数, 输出它们中的小的数</vt:lpstr>
      <vt:lpstr>函数定义</vt:lpstr>
      <vt:lpstr>PowerPoint 演示文稿</vt:lpstr>
      <vt:lpstr>PowerPoint 演示文稿</vt:lpstr>
      <vt:lpstr>1.5 程序开发环境基本知识</vt:lpstr>
      <vt:lpstr>PowerPoint 演示文稿</vt:lpstr>
    </vt:vector>
  </TitlesOfParts>
  <Company>复旦</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第1章 程序设计基础</dc:title>
  <dc:subject>程序设计</dc:subject>
  <dc:creator>xkl&amp;zzz</dc:creator>
  <cp:lastModifiedBy>王轶彤</cp:lastModifiedBy>
  <cp:revision>579</cp:revision>
  <dcterms:created xsi:type="dcterms:W3CDTF">1998-11-11T02:43:28Z</dcterms:created>
  <dcterms:modified xsi:type="dcterms:W3CDTF">2025-09-11T04:08:41Z</dcterms:modified>
</cp:coreProperties>
</file>