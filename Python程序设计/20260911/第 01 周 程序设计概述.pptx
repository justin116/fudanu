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5"/>
  </p:notesMasterIdLst>
  <p:sldIdLst>
    <p:sldId id="256" r:id="rId2"/>
    <p:sldId id="322" r:id="rId3"/>
    <p:sldId id="323" r:id="rId4"/>
    <p:sldId id="301" r:id="rId5"/>
    <p:sldId id="303" r:id="rId6"/>
    <p:sldId id="302" r:id="rId7"/>
    <p:sldId id="257" r:id="rId8"/>
    <p:sldId id="261" r:id="rId9"/>
    <p:sldId id="320" r:id="rId10"/>
    <p:sldId id="278" r:id="rId11"/>
    <p:sldId id="277" r:id="rId12"/>
    <p:sldId id="279" r:id="rId13"/>
    <p:sldId id="280" r:id="rId14"/>
    <p:sldId id="307" r:id="rId15"/>
    <p:sldId id="281" r:id="rId16"/>
    <p:sldId id="324" r:id="rId17"/>
    <p:sldId id="325" r:id="rId18"/>
    <p:sldId id="319" r:id="rId19"/>
    <p:sldId id="318" r:id="rId20"/>
    <p:sldId id="308" r:id="rId21"/>
    <p:sldId id="262" r:id="rId22"/>
    <p:sldId id="282" r:id="rId23"/>
    <p:sldId id="283" r:id="rId24"/>
    <p:sldId id="326" r:id="rId25"/>
    <p:sldId id="327" r:id="rId26"/>
    <p:sldId id="328" r:id="rId27"/>
    <p:sldId id="300" r:id="rId28"/>
    <p:sldId id="285" r:id="rId29"/>
    <p:sldId id="286" r:id="rId30"/>
    <p:sldId id="316" r:id="rId31"/>
    <p:sldId id="309" r:id="rId32"/>
    <p:sldId id="310" r:id="rId33"/>
    <p:sldId id="287" r:id="rId34"/>
    <p:sldId id="288" r:id="rId35"/>
    <p:sldId id="289" r:id="rId36"/>
    <p:sldId id="290" r:id="rId37"/>
    <p:sldId id="292" r:id="rId38"/>
    <p:sldId id="313" r:id="rId39"/>
    <p:sldId id="263" r:id="rId40"/>
    <p:sldId id="293" r:id="rId41"/>
    <p:sldId id="294" r:id="rId42"/>
    <p:sldId id="295" r:id="rId43"/>
    <p:sldId id="321" r:id="rId44"/>
    <p:sldId id="296" r:id="rId45"/>
    <p:sldId id="298" r:id="rId46"/>
    <p:sldId id="297" r:id="rId47"/>
    <p:sldId id="314" r:id="rId48"/>
    <p:sldId id="264" r:id="rId49"/>
    <p:sldId id="311" r:id="rId50"/>
    <p:sldId id="315" r:id="rId51"/>
    <p:sldId id="312" r:id="rId52"/>
    <p:sldId id="329" r:id="rId53"/>
    <p:sldId id="299" r:id="rId5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CC"/>
    <a:srgbClr val="FFCCCC"/>
    <a:srgbClr val="FFCCFF"/>
    <a:srgbClr val="CCECFF"/>
    <a:srgbClr val="CCFFCC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主题样式 2 - 强调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262" autoAdjust="0"/>
  </p:normalViewPr>
  <p:slideViewPr>
    <p:cSldViewPr snapToGrid="0">
      <p:cViewPr varScale="1">
        <p:scale>
          <a:sx n="111" d="100"/>
          <a:sy n="111" d="100"/>
        </p:scale>
        <p:origin x="55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06CB9D-EDB0-48F1-B7D9-CFFE944E047C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E146D6-5326-48B3-9196-02B18259E8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7569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1FD6F4-E0D1-4CA4-9AAE-7CC69C3C3A2A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41443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dirty="0"/>
              <a:t>答案：</a:t>
            </a:r>
            <a:r>
              <a:rPr lang="en-US" altLang="zh-CN" dirty="0"/>
              <a:t>A</a:t>
            </a:r>
            <a:endParaRPr lang="zh-CN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1FD6F4-E0D1-4CA4-9AAE-7CC69C3C3A2A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73262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D951E-B468-430F-9467-6097F35EC0E8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F729F24A-6D92-4F10-8D4D-AE16C2DEA3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1240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D951E-B468-430F-9467-6097F35EC0E8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9F24A-6D92-4F10-8D4D-AE16C2DEA3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3658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D951E-B468-430F-9467-6097F35EC0E8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729F24A-6D92-4F10-8D4D-AE16C2DEA3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2560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D951E-B468-430F-9467-6097F35EC0E8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729F24A-6D92-4F10-8D4D-AE16C2DEA3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7350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D951E-B468-430F-9467-6097F35EC0E8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729F24A-6D92-4F10-8D4D-AE16C2DEA3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5296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D951E-B468-430F-9467-6097F35EC0E8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9F24A-6D92-4F10-8D4D-AE16C2DEA3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0871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D951E-B468-430F-9467-6097F35EC0E8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9F24A-6D92-4F10-8D4D-AE16C2DEA3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1911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D951E-B468-430F-9467-6097F35EC0E8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9F24A-6D92-4F10-8D4D-AE16C2DEA3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3006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D951E-B468-430F-9467-6097F35EC0E8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729F24A-6D92-4F10-8D4D-AE16C2DEA3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8595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D951E-B468-430F-9467-6097F35EC0E8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729F24A-6D92-4F10-8D4D-AE16C2DEA3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4729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D951E-B468-430F-9467-6097F35EC0E8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729F24A-6D92-4F10-8D4D-AE16C2DEA3D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481381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D951E-B468-430F-9467-6097F35EC0E8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729F24A-6D92-4F10-8D4D-AE16C2DEA3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3227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D951E-B468-430F-9467-6097F35EC0E8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729F24A-6D92-4F10-8D4D-AE16C2DEA3D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220092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D951E-B468-430F-9467-6097F35EC0E8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729F24A-6D92-4F10-8D4D-AE16C2DEA3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37607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D951E-B468-430F-9467-6097F35EC0E8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9F24A-6D92-4F10-8D4D-AE16C2DEA3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97607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D951E-B468-430F-9467-6097F35EC0E8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9F24A-6D92-4F10-8D4D-AE16C2DEA3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2762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3D951E-B468-430F-9467-6097F35EC0E8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F729F24A-6D92-4F10-8D4D-AE16C2DEA3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4292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Python</a:t>
            </a:r>
            <a:r>
              <a:rPr lang="zh-CN" altLang="en-US" dirty="0"/>
              <a:t>程序设计</a:t>
            </a:r>
            <a:br>
              <a:rPr lang="en-US" altLang="zh-CN" dirty="0"/>
            </a:br>
            <a:br>
              <a:rPr lang="en-US" altLang="zh-CN" dirty="0"/>
            </a:br>
            <a:r>
              <a:rPr lang="en-US" altLang="zh-CN" dirty="0"/>
              <a:t>— </a:t>
            </a:r>
            <a:r>
              <a:rPr lang="en-US" altLang="zh-CN" sz="4400" dirty="0"/>
              <a:t>01 </a:t>
            </a:r>
            <a:r>
              <a:rPr lang="zh-CN" altLang="en-US" sz="4400" dirty="0"/>
              <a:t>程序设计概述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复旦大学计算机基础教学组  肖川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6049" y="192554"/>
            <a:ext cx="1631454" cy="1531823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7382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课程的前置条件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81200" y="1600200"/>
            <a:ext cx="8363272" cy="4686300"/>
          </a:xfrm>
        </p:spPr>
        <p:txBody>
          <a:bodyPr/>
          <a:lstStyle/>
          <a:p>
            <a:r>
              <a:rPr lang="zh-CN" altLang="en-US" sz="2800" dirty="0"/>
              <a:t>键盘盲打</a:t>
            </a:r>
            <a:endParaRPr lang="en-US" altLang="zh-CN" sz="2800" dirty="0"/>
          </a:p>
          <a:p>
            <a:pPr lvl="1"/>
            <a:r>
              <a:rPr lang="zh-CN" altLang="en-US" sz="2400" dirty="0"/>
              <a:t>从 </a:t>
            </a:r>
            <a:r>
              <a:rPr lang="en-US" altLang="zh-CN" sz="2400" dirty="0">
                <a:solidFill>
                  <a:srgbClr val="FF0000"/>
                </a:solidFill>
              </a:rPr>
              <a:t>https://www.51dzt.com/ </a:t>
            </a:r>
            <a:r>
              <a:rPr lang="zh-CN" altLang="en-US" sz="2400" dirty="0"/>
              <a:t>下载并安装“金山打字通”课后自行练习</a:t>
            </a:r>
            <a:endParaRPr lang="en-US" altLang="zh-CN" sz="2400" dirty="0"/>
          </a:p>
          <a:p>
            <a:pPr marL="514350" indent="-514350">
              <a:buFont typeface="+mj-lt"/>
              <a:buAutoNum type="arabicPeriod"/>
            </a:pPr>
            <a:endParaRPr lang="en-US" altLang="zh-CN" dirty="0"/>
          </a:p>
          <a:p>
            <a:r>
              <a:rPr lang="zh-CN" altLang="en-US" sz="2800" dirty="0"/>
              <a:t>压缩软件的使用</a:t>
            </a:r>
            <a:endParaRPr lang="en-US" altLang="zh-CN" sz="2800" dirty="0"/>
          </a:p>
          <a:p>
            <a:pPr lvl="1"/>
            <a:r>
              <a:rPr lang="zh-CN" altLang="en-US" sz="2400" dirty="0"/>
              <a:t>从 </a:t>
            </a:r>
            <a:r>
              <a:rPr lang="en-US" altLang="zh-CN" sz="2400" dirty="0">
                <a:solidFill>
                  <a:srgbClr val="FF0000"/>
                </a:solidFill>
              </a:rPr>
              <a:t>http://www.winrar.com.cn/ </a:t>
            </a:r>
            <a:r>
              <a:rPr lang="zh-CN" altLang="en-US" sz="2400" dirty="0"/>
              <a:t>下载并安装</a:t>
            </a:r>
            <a:r>
              <a:rPr lang="en-US" altLang="zh-CN" sz="2400" dirty="0"/>
              <a:t>Winrar</a:t>
            </a:r>
          </a:p>
          <a:p>
            <a:pPr lvl="1"/>
            <a:endParaRPr lang="en-US" altLang="zh-CN" sz="2400" dirty="0"/>
          </a:p>
          <a:p>
            <a:r>
              <a:rPr lang="zh-CN" altLang="en-US" sz="2800" dirty="0"/>
              <a:t>屏幕截图</a:t>
            </a:r>
            <a:endParaRPr lang="en-US" altLang="zh-CN" sz="2800" dirty="0"/>
          </a:p>
          <a:p>
            <a:pPr lvl="1"/>
            <a:r>
              <a:rPr lang="zh-CN" altLang="en-US" sz="2400" dirty="0"/>
              <a:t>开始 </a:t>
            </a:r>
            <a:r>
              <a:rPr lang="en-US" altLang="zh-CN" sz="2400" dirty="0"/>
              <a:t>&gt;&gt; Windows</a:t>
            </a:r>
            <a:r>
              <a:rPr lang="zh-CN" altLang="en-US" sz="2400" dirty="0"/>
              <a:t>附件 </a:t>
            </a:r>
            <a:r>
              <a:rPr lang="en-US" altLang="zh-CN" sz="2400" dirty="0"/>
              <a:t>&gt;&gt; </a:t>
            </a:r>
            <a:r>
              <a:rPr lang="zh-CN" altLang="en-US" sz="2400" dirty="0"/>
              <a:t>截图工具</a:t>
            </a:r>
            <a:endParaRPr lang="en-US" altLang="zh-CN" sz="2400" dirty="0"/>
          </a:p>
          <a:p>
            <a:pPr marL="514350" indent="-514350">
              <a:buFont typeface="+mj-lt"/>
              <a:buAutoNum type="arabicPeriod"/>
            </a:pP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EDF0C6-82ED-4C6F-8BB2-5E093416C5F6}" type="slidenum">
              <a:rPr lang="zh-CN" altLang="en-US" smtClean="0"/>
              <a:pPr>
                <a:defRPr/>
              </a:pPr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3517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上课方式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 sz="3200" dirty="0"/>
              <a:t>教师</a:t>
            </a:r>
            <a:endParaRPr lang="en-US" altLang="zh-CN" sz="3200" dirty="0"/>
          </a:p>
          <a:p>
            <a:endParaRPr lang="en-US" altLang="zh-CN" sz="3200" dirty="0"/>
          </a:p>
          <a:p>
            <a:pPr lvl="1"/>
            <a:r>
              <a:rPr lang="zh-CN" altLang="en-US" sz="2800" dirty="0"/>
              <a:t>讲解</a:t>
            </a:r>
            <a:endParaRPr lang="en-US" altLang="zh-CN" sz="2800" dirty="0"/>
          </a:p>
          <a:p>
            <a:pPr lvl="1"/>
            <a:endParaRPr lang="en-US" altLang="zh-CN" sz="2800" dirty="0"/>
          </a:p>
          <a:p>
            <a:pPr lvl="1"/>
            <a:r>
              <a:rPr lang="zh-CN" altLang="en-US" sz="2800" dirty="0"/>
              <a:t>演示</a:t>
            </a:r>
          </a:p>
        </p:txBody>
      </p:sp>
      <p:sp>
        <p:nvSpPr>
          <p:cNvPr id="10" name="内容占位符 9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zh-CN" altLang="en-US" sz="3200" dirty="0"/>
              <a:t>学生</a:t>
            </a:r>
            <a:endParaRPr lang="en-US" altLang="zh-CN" sz="3200" dirty="0"/>
          </a:p>
          <a:p>
            <a:endParaRPr lang="en-US" altLang="zh-CN" sz="3200" dirty="0"/>
          </a:p>
          <a:p>
            <a:pPr lvl="1"/>
            <a:r>
              <a:rPr lang="zh-CN" altLang="en-US" sz="2800" dirty="0"/>
              <a:t>笔记</a:t>
            </a:r>
            <a:endParaRPr lang="en-US" altLang="zh-CN" sz="2800" dirty="0"/>
          </a:p>
          <a:p>
            <a:pPr lvl="1"/>
            <a:endParaRPr lang="en-US" altLang="zh-CN" sz="2800" dirty="0"/>
          </a:p>
          <a:p>
            <a:pPr lvl="1"/>
            <a:r>
              <a:rPr lang="zh-CN" altLang="en-US" sz="2800" dirty="0"/>
              <a:t>操作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EDF0C6-82ED-4C6F-8BB2-5E093416C5F6}" type="slidenum">
              <a:rPr lang="zh-CN" altLang="en-US" smtClean="0"/>
              <a:pPr>
                <a:defRPr/>
              </a:pPr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215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教材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777" t="-1" b="-1"/>
          <a:stretch/>
        </p:blipFill>
        <p:spPr>
          <a:xfrm>
            <a:off x="6684264" y="349727"/>
            <a:ext cx="4352544" cy="61585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文本框 4"/>
          <p:cNvSpPr txBox="1"/>
          <p:nvPr/>
        </p:nvSpPr>
        <p:spPr>
          <a:xfrm>
            <a:off x="1325880" y="2173064"/>
            <a:ext cx="459933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书名：</a:t>
            </a:r>
            <a:r>
              <a:rPr lang="en-US" altLang="zh-CN" sz="2400" dirty="0"/>
              <a:t>Python</a:t>
            </a:r>
            <a:r>
              <a:rPr lang="zh-CN" altLang="en-US" sz="2400" dirty="0"/>
              <a:t>程序设计基础教程</a:t>
            </a:r>
            <a:endParaRPr lang="en-US" altLang="zh-CN" sz="2400" dirty="0"/>
          </a:p>
          <a:p>
            <a:r>
              <a:rPr lang="zh-CN" altLang="en-US" sz="2400" dirty="0"/>
              <a:t>书号：</a:t>
            </a:r>
            <a:r>
              <a:rPr lang="en-US" altLang="zh-CN" sz="2400" dirty="0"/>
              <a:t>978-7-113-31380-7 </a:t>
            </a:r>
          </a:p>
        </p:txBody>
      </p:sp>
    </p:spTree>
    <p:extLst>
      <p:ext uri="{BB962C8B-B14F-4D97-AF65-F5344CB8AC3E}">
        <p14:creationId xmlns:p14="http://schemas.microsoft.com/office/powerpoint/2010/main" val="24123129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课程成绩评定</a:t>
            </a:r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平时成绩 </a:t>
            </a:r>
            <a:r>
              <a:rPr lang="en-US" altLang="zh-CN" dirty="0"/>
              <a:t>40%</a:t>
            </a:r>
          </a:p>
          <a:p>
            <a:pPr lvl="1"/>
            <a:r>
              <a:rPr lang="zh-CN" altLang="en-US" dirty="0"/>
              <a:t>考勤</a:t>
            </a:r>
            <a:r>
              <a:rPr lang="en-US" altLang="zh-CN" dirty="0"/>
              <a:t>  10%</a:t>
            </a:r>
          </a:p>
          <a:p>
            <a:pPr lvl="1"/>
            <a:r>
              <a:rPr lang="zh-CN" altLang="en-US" dirty="0"/>
              <a:t>作业  </a:t>
            </a:r>
            <a:r>
              <a:rPr lang="en-US" altLang="zh-CN" dirty="0"/>
              <a:t>15%</a:t>
            </a:r>
          </a:p>
          <a:p>
            <a:pPr lvl="1"/>
            <a:r>
              <a:rPr lang="zh-CN" altLang="en-US" dirty="0"/>
              <a:t>项目  </a:t>
            </a:r>
            <a:r>
              <a:rPr lang="en-US" altLang="zh-CN" dirty="0"/>
              <a:t>15%</a:t>
            </a:r>
          </a:p>
          <a:p>
            <a:endParaRPr lang="en-US" altLang="zh-CN" dirty="0"/>
          </a:p>
          <a:p>
            <a:r>
              <a:rPr lang="zh-CN" altLang="en-US" dirty="0"/>
              <a:t>期末成绩 </a:t>
            </a:r>
            <a:r>
              <a:rPr lang="en-US" altLang="zh-CN" dirty="0"/>
              <a:t>60%</a:t>
            </a:r>
          </a:p>
          <a:p>
            <a:pPr lvl="1"/>
            <a:r>
              <a:rPr lang="zh-CN" altLang="en-US" dirty="0"/>
              <a:t>闭卷纸质考试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最终</a:t>
            </a:r>
            <a:r>
              <a:rPr lang="zh-CN" altLang="zh-CN" dirty="0"/>
              <a:t>成绩采用等级制记载。学生也可申请以</a:t>
            </a:r>
            <a:r>
              <a:rPr lang="en-US" altLang="zh-CN" dirty="0"/>
              <a:t>P/NP</a:t>
            </a:r>
            <a:r>
              <a:rPr lang="zh-CN" altLang="zh-CN" dirty="0"/>
              <a:t>记载。</a:t>
            </a:r>
            <a:endParaRPr lang="zh-CN" altLang="en-US" dirty="0"/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Char char="¡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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" pitchFamily="2" charset="2"/>
              <a:buChar char="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0E78D3C-879D-4D71-A3BB-7D9400CF513D}" type="slidenum">
              <a:rPr lang="en-US" altLang="zh-CN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zh-CN" sz="1400"/>
          </a:p>
        </p:txBody>
      </p:sp>
    </p:spTree>
    <p:extLst>
      <p:ext uri="{BB962C8B-B14F-4D97-AF65-F5344CB8AC3E}">
        <p14:creationId xmlns:p14="http://schemas.microsoft.com/office/powerpoint/2010/main" val="3035153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Char char="¡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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" pitchFamily="2" charset="2"/>
              <a:buChar char="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51F0BD5-B483-4490-ACEA-015F8447DFA0}" type="slidenum">
              <a:rPr lang="en-US" altLang="zh-CN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zh-CN" sz="1400"/>
          </a:p>
        </p:txBody>
      </p:sp>
      <p:sp>
        <p:nvSpPr>
          <p:cNvPr id="6147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教学网站</a:t>
            </a:r>
          </a:p>
        </p:txBody>
      </p:sp>
      <p:sp>
        <p:nvSpPr>
          <p:cNvPr id="6148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1981200" y="1600200"/>
            <a:ext cx="8229600" cy="4853136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110000"/>
              </a:lnSpc>
            </a:pPr>
            <a:r>
              <a:rPr lang="en-US" altLang="zh-CN" dirty="0"/>
              <a:t> </a:t>
            </a:r>
            <a:r>
              <a:rPr lang="en-US" altLang="zh-CN" sz="2800" dirty="0">
                <a:solidFill>
                  <a:srgbClr val="0000FF"/>
                </a:solidFill>
              </a:rPr>
              <a:t>http://elearning.fudan.edu.cn</a:t>
            </a:r>
          </a:p>
          <a:p>
            <a:pPr lvl="1" algn="just" eaLnBrk="1" hangingPunct="1">
              <a:lnSpc>
                <a:spcPct val="110000"/>
              </a:lnSpc>
            </a:pPr>
            <a:r>
              <a:rPr lang="en-US" altLang="zh-CN" dirty="0"/>
              <a:t> </a:t>
            </a:r>
            <a:r>
              <a:rPr lang="zh-CN" altLang="en-US" dirty="0"/>
              <a:t>点击页面左侧“</a:t>
            </a:r>
            <a:r>
              <a:rPr lang="zh-CN" altLang="en-US" dirty="0">
                <a:solidFill>
                  <a:srgbClr val="FF0000"/>
                </a:solidFill>
              </a:rPr>
              <a:t>登录</a:t>
            </a:r>
            <a:r>
              <a:rPr lang="zh-CN" altLang="en-US" dirty="0"/>
              <a:t>”，使用</a:t>
            </a:r>
            <a:r>
              <a:rPr lang="zh-CN" altLang="en-US" dirty="0">
                <a:solidFill>
                  <a:schemeClr val="tx1"/>
                </a:solidFill>
              </a:rPr>
              <a:t>统一身份认证的</a:t>
            </a:r>
            <a:r>
              <a:rPr lang="zh-CN" altLang="en-US" dirty="0"/>
              <a:t>用户名与口令，登录后点击页面左侧“所属站点”，之后点击所出现列表中课程站点资源，左侧可看到“文件”、“作业”等链接。</a:t>
            </a:r>
            <a:endParaRPr lang="en-US" altLang="zh-CN" dirty="0"/>
          </a:p>
          <a:p>
            <a:pPr algn="just" eaLnBrk="1" hangingPunct="1">
              <a:lnSpc>
                <a:spcPct val="110000"/>
              </a:lnSpc>
            </a:pPr>
            <a:r>
              <a:rPr lang="zh-CN" altLang="en-US" sz="2400" dirty="0"/>
              <a:t>用途</a:t>
            </a:r>
            <a:endParaRPr lang="en-US" altLang="zh-CN" sz="2400" dirty="0"/>
          </a:p>
          <a:p>
            <a:pPr lvl="1" algn="just" eaLnBrk="1" hangingPunct="1">
              <a:lnSpc>
                <a:spcPct val="110000"/>
              </a:lnSpc>
            </a:pPr>
            <a:r>
              <a:rPr lang="zh-CN" altLang="en-US" dirty="0"/>
              <a:t> 课件下载</a:t>
            </a:r>
            <a:endParaRPr lang="en-US" altLang="zh-CN" dirty="0"/>
          </a:p>
          <a:p>
            <a:pPr lvl="1" algn="just" eaLnBrk="1" hangingPunct="1">
              <a:lnSpc>
                <a:spcPct val="110000"/>
              </a:lnSpc>
            </a:pPr>
            <a:r>
              <a:rPr lang="en-US" altLang="zh-CN" dirty="0"/>
              <a:t> </a:t>
            </a:r>
            <a:r>
              <a:rPr lang="zh-CN" altLang="en-US" dirty="0"/>
              <a:t>作业上传</a:t>
            </a:r>
            <a:endParaRPr lang="en-US" altLang="zh-CN" dirty="0"/>
          </a:p>
          <a:p>
            <a:pPr lvl="1" algn="just" eaLnBrk="1" hangingPunct="1">
              <a:lnSpc>
                <a:spcPct val="110000"/>
              </a:lnSpc>
            </a:pPr>
            <a:r>
              <a:rPr lang="en-US" altLang="zh-CN" dirty="0"/>
              <a:t> </a:t>
            </a:r>
            <a:r>
              <a:rPr lang="zh-CN" altLang="en-US" dirty="0"/>
              <a:t>讨论</a:t>
            </a:r>
            <a:r>
              <a:rPr lang="en-US" altLang="zh-CN" dirty="0"/>
              <a:t> </a:t>
            </a:r>
          </a:p>
          <a:p>
            <a:pPr lvl="1" algn="just" eaLnBrk="1" hangingPunct="1">
              <a:lnSpc>
                <a:spcPct val="110000"/>
              </a:lnSpc>
            </a:pPr>
            <a:r>
              <a:rPr lang="zh-CN" altLang="en-US" dirty="0"/>
              <a:t> 通知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907560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提纲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/>
              <a:t>Python</a:t>
            </a:r>
            <a:r>
              <a:rPr lang="zh-CN" altLang="zh-CN" sz="2800" dirty="0"/>
              <a:t>程序的运行</a:t>
            </a:r>
            <a:endParaRPr lang="en-US" altLang="zh-CN" sz="2800" dirty="0"/>
          </a:p>
          <a:p>
            <a:r>
              <a:rPr lang="zh-CN" altLang="zh-CN" sz="2800" dirty="0"/>
              <a:t>对象基础</a:t>
            </a:r>
            <a:endParaRPr lang="en-US" altLang="zh-CN" sz="2800" dirty="0"/>
          </a:p>
          <a:p>
            <a:r>
              <a:rPr lang="zh-CN" altLang="zh-CN" sz="2800" dirty="0"/>
              <a:t>程序规范</a:t>
            </a:r>
            <a:endParaRPr lang="en-US" altLang="zh-CN" sz="2800" dirty="0"/>
          </a:p>
          <a:p>
            <a:r>
              <a:rPr lang="zh-CN" altLang="en-US" sz="2800" dirty="0"/>
              <a:t>作业</a:t>
            </a:r>
          </a:p>
        </p:txBody>
      </p:sp>
    </p:spTree>
    <p:extLst>
      <p:ext uri="{BB962C8B-B14F-4D97-AF65-F5344CB8AC3E}">
        <p14:creationId xmlns:p14="http://schemas.microsoft.com/office/powerpoint/2010/main" val="25779327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1.1 Python</a:t>
            </a:r>
            <a:r>
              <a:rPr lang="zh-CN" altLang="zh-CN" dirty="0"/>
              <a:t>程序的运行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47744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zh-CN" dirty="0"/>
              <a:t>语言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吉多</a:t>
            </a:r>
            <a:r>
              <a:rPr lang="en-US" altLang="zh-CN" dirty="0"/>
              <a:t>·</a:t>
            </a:r>
            <a:r>
              <a:rPr lang="zh-CN" altLang="zh-CN" dirty="0"/>
              <a:t>范罗苏姆（</a:t>
            </a:r>
            <a:r>
              <a:rPr lang="en-US" altLang="zh-CN" dirty="0"/>
              <a:t>Guido van Rossum</a:t>
            </a:r>
            <a:r>
              <a:rPr lang="zh-CN" altLang="zh-CN" dirty="0"/>
              <a:t>）</a:t>
            </a:r>
            <a:endParaRPr lang="en-US" altLang="zh-CN" dirty="0"/>
          </a:p>
          <a:p>
            <a:r>
              <a:rPr lang="en-US" altLang="zh-CN" dirty="0"/>
              <a:t>Python 2</a:t>
            </a:r>
          </a:p>
          <a:p>
            <a:r>
              <a:rPr lang="en-US" altLang="zh-CN" dirty="0"/>
              <a:t>Python 3</a:t>
            </a: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916"/>
          <a:stretch/>
        </p:blipFill>
        <p:spPr>
          <a:xfrm>
            <a:off x="7511291" y="329249"/>
            <a:ext cx="4050747" cy="1300326"/>
          </a:xfrm>
          <a:prstGeom prst="rect">
            <a:avLst/>
          </a:prstGeom>
          <a:solidFill>
            <a:schemeClr val="tx1"/>
          </a:solidFill>
        </p:spPr>
      </p:pic>
      <p:pic>
        <p:nvPicPr>
          <p:cNvPr id="5" name="图片 4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4864" y="3439988"/>
            <a:ext cx="8122949" cy="2784116"/>
          </a:xfrm>
          <a:prstGeom prst="rect">
            <a:avLst/>
          </a:prstGeom>
        </p:spPr>
      </p:pic>
      <p:cxnSp>
        <p:nvCxnSpPr>
          <p:cNvPr id="7" name="直接连接符 6"/>
          <p:cNvCxnSpPr/>
          <p:nvPr/>
        </p:nvCxnSpPr>
        <p:spPr>
          <a:xfrm>
            <a:off x="2196548" y="2713383"/>
            <a:ext cx="2365513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椭圆 5"/>
          <p:cNvSpPr/>
          <p:nvPr/>
        </p:nvSpPr>
        <p:spPr>
          <a:xfrm>
            <a:off x="5548745" y="4717472"/>
            <a:ext cx="987136" cy="696191"/>
          </a:xfrm>
          <a:prstGeom prst="ellipse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5268191" y="3617209"/>
            <a:ext cx="2969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https://www.python.org/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3002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安装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图片 3"/>
          <p:cNvPicPr/>
          <p:nvPr/>
        </p:nvPicPr>
        <p:blipFill>
          <a:blip r:embed="rId2"/>
          <a:stretch>
            <a:fillRect/>
          </a:stretch>
        </p:blipFill>
        <p:spPr>
          <a:xfrm>
            <a:off x="1563410" y="1421240"/>
            <a:ext cx="4425910" cy="30227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图片 4"/>
          <p:cNvPicPr/>
          <p:nvPr/>
        </p:nvPicPr>
        <p:blipFill>
          <a:blip r:embed="rId3"/>
          <a:stretch>
            <a:fillRect/>
          </a:stretch>
        </p:blipFill>
        <p:spPr>
          <a:xfrm>
            <a:off x="4563372" y="2448380"/>
            <a:ext cx="3719790" cy="25670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图片 5"/>
          <p:cNvPicPr/>
          <p:nvPr/>
        </p:nvPicPr>
        <p:blipFill>
          <a:blip r:embed="rId4"/>
          <a:stretch>
            <a:fillRect/>
          </a:stretch>
        </p:blipFill>
        <p:spPr>
          <a:xfrm>
            <a:off x="7470648" y="4123944"/>
            <a:ext cx="3854561" cy="26313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椭圆 6"/>
          <p:cNvSpPr/>
          <p:nvPr/>
        </p:nvSpPr>
        <p:spPr>
          <a:xfrm>
            <a:off x="2400299" y="3683942"/>
            <a:ext cx="863793" cy="988641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rgbClr val="0000FF"/>
                </a:solidFill>
              </a:rPr>
              <a:t>勾选</a:t>
            </a:r>
          </a:p>
        </p:txBody>
      </p:sp>
      <p:sp>
        <p:nvSpPr>
          <p:cNvPr id="8" name="椭圆 7"/>
          <p:cNvSpPr/>
          <p:nvPr/>
        </p:nvSpPr>
        <p:spPr>
          <a:xfrm>
            <a:off x="8534135" y="5496790"/>
            <a:ext cx="2636092" cy="976745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tx1"/>
                </a:solidFill>
              </a:rPr>
              <a:t>单击此处</a:t>
            </a:r>
          </a:p>
        </p:txBody>
      </p:sp>
    </p:spTree>
    <p:extLst>
      <p:ext uri="{BB962C8B-B14F-4D97-AF65-F5344CB8AC3E}">
        <p14:creationId xmlns:p14="http://schemas.microsoft.com/office/powerpoint/2010/main" val="891650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 </a:t>
            </a:r>
            <a:r>
              <a:rPr lang="zh-CN" altLang="en-US" dirty="0"/>
              <a:t>集成开发环境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 err="1"/>
              <a:t>PyCharm</a:t>
            </a:r>
            <a:endParaRPr lang="en-US" altLang="zh-CN" sz="2400" dirty="0"/>
          </a:p>
          <a:p>
            <a:r>
              <a:rPr lang="en-US" altLang="zh-CN" sz="2400" dirty="0"/>
              <a:t>VS Code</a:t>
            </a:r>
            <a:endParaRPr lang="zh-CN" altLang="zh-CN" sz="2400" dirty="0"/>
          </a:p>
          <a:p>
            <a:r>
              <a:rPr lang="en-US" altLang="zh-CN" sz="2400" dirty="0" err="1"/>
              <a:t>Spyder</a:t>
            </a:r>
            <a:endParaRPr lang="zh-CN" altLang="zh-CN" sz="2400" dirty="0"/>
          </a:p>
          <a:p>
            <a:r>
              <a:rPr lang="en-US" altLang="zh-CN" sz="2400" dirty="0" err="1"/>
              <a:t>Jupyter</a:t>
            </a:r>
            <a:r>
              <a:rPr lang="en-US" altLang="zh-CN" sz="2400" dirty="0"/>
              <a:t> Notebook</a:t>
            </a:r>
            <a:endParaRPr lang="zh-CN" altLang="zh-CN" sz="2400" dirty="0"/>
          </a:p>
          <a:p>
            <a:r>
              <a:rPr lang="en-US" altLang="zh-CN" sz="2400" dirty="0"/>
              <a:t>IDLE</a:t>
            </a:r>
            <a:endParaRPr lang="zh-CN" altLang="zh-CN" sz="2400" dirty="0"/>
          </a:p>
          <a:p>
            <a:endParaRPr lang="zh-CN" altLang="en-US" sz="2400" dirty="0"/>
          </a:p>
        </p:txBody>
      </p:sp>
      <p:cxnSp>
        <p:nvCxnSpPr>
          <p:cNvPr id="7" name="直接箭头连接符 6"/>
          <p:cNvCxnSpPr/>
          <p:nvPr/>
        </p:nvCxnSpPr>
        <p:spPr>
          <a:xfrm>
            <a:off x="4023360" y="4352544"/>
            <a:ext cx="2720340" cy="0"/>
          </a:xfrm>
          <a:prstGeom prst="straightConnector1">
            <a:avLst/>
          </a:prstGeom>
          <a:ln w="25400">
            <a:headEnd type="triangle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8868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交互模式运行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/>
              <a:t>桌面 </a:t>
            </a:r>
            <a:r>
              <a:rPr lang="en-US" altLang="zh-CN" sz="2800" dirty="0"/>
              <a:t>&gt;&gt; </a:t>
            </a:r>
            <a:r>
              <a:rPr lang="zh-CN" altLang="en-US" sz="2800" dirty="0"/>
              <a:t>开始</a:t>
            </a:r>
            <a:r>
              <a:rPr lang="en-US" altLang="zh-CN" sz="2800" dirty="0"/>
              <a:t> &gt;&gt; Python 3.x &gt;&gt; IDLE</a:t>
            </a:r>
            <a:endParaRPr lang="zh-CN" altLang="en-US" sz="2800" dirty="0"/>
          </a:p>
        </p:txBody>
      </p:sp>
      <p:pic>
        <p:nvPicPr>
          <p:cNvPr id="5" name="图片 4"/>
          <p:cNvPicPr/>
          <p:nvPr/>
        </p:nvPicPr>
        <p:blipFill>
          <a:blip r:embed="rId2"/>
          <a:stretch>
            <a:fillRect/>
          </a:stretch>
        </p:blipFill>
        <p:spPr>
          <a:xfrm>
            <a:off x="2935753" y="3253509"/>
            <a:ext cx="8222318" cy="193471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894662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交互模式用于临时执行简单的语句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查看</a:t>
            </a:r>
            <a:r>
              <a:rPr lang="en-US" altLang="zh-CN" dirty="0"/>
              <a:t>Python</a:t>
            </a:r>
            <a:r>
              <a:rPr lang="zh-CN" altLang="zh-CN" dirty="0"/>
              <a:t>版本</a:t>
            </a:r>
            <a:endParaRPr lang="en-US" altLang="zh-CN" dirty="0"/>
          </a:p>
          <a:p>
            <a:r>
              <a:rPr lang="zh-CN" altLang="zh-CN" dirty="0"/>
              <a:t>查看当前时间</a:t>
            </a:r>
            <a:endParaRPr lang="en-US" altLang="zh-CN" dirty="0"/>
          </a:p>
          <a:p>
            <a:r>
              <a:rPr lang="zh-CN" altLang="zh-CN" dirty="0"/>
              <a:t>查看当前文件夹位置</a:t>
            </a:r>
            <a:endParaRPr lang="en-US" altLang="zh-CN" dirty="0"/>
          </a:p>
          <a:p>
            <a:r>
              <a:rPr lang="zh-CN" altLang="zh-CN" dirty="0"/>
              <a:t>改变当前文件夹位置</a:t>
            </a:r>
          </a:p>
          <a:p>
            <a:r>
              <a:rPr lang="zh-CN" altLang="zh-CN" dirty="0"/>
              <a:t>简单的算术运算</a:t>
            </a:r>
          </a:p>
          <a:p>
            <a:r>
              <a:rPr lang="zh-CN" altLang="zh-CN" dirty="0"/>
              <a:t>常用的数学函数</a:t>
            </a:r>
          </a:p>
          <a:p>
            <a:r>
              <a:rPr lang="zh-CN" altLang="zh-CN" dirty="0"/>
              <a:t>随机数函数</a:t>
            </a:r>
          </a:p>
          <a:p>
            <a:r>
              <a:rPr lang="zh-CN" altLang="zh-CN" dirty="0"/>
              <a:t>简单输入与输出</a:t>
            </a:r>
          </a:p>
          <a:p>
            <a:r>
              <a:rPr lang="zh-CN" altLang="zh-CN" dirty="0"/>
              <a:t>获取帮助信息</a:t>
            </a:r>
          </a:p>
        </p:txBody>
      </p:sp>
    </p:spTree>
    <p:extLst>
      <p:ext uri="{BB962C8B-B14F-4D97-AF65-F5344CB8AC3E}">
        <p14:creationId xmlns:p14="http://schemas.microsoft.com/office/powerpoint/2010/main" val="26141216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668694" y="1286083"/>
            <a:ext cx="1925527" cy="646331"/>
          </a:xfrm>
          <a:prstGeom prst="rect">
            <a:avLst/>
          </a:prstGeom>
          <a:solidFill>
            <a:srgbClr val="CCECFF"/>
          </a:solidFill>
          <a:ln w="31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dirty="0"/>
              <a:t>&gt;&gt;&gt; </a:t>
            </a:r>
            <a:r>
              <a:rPr lang="en-US" altLang="zh-CN" b="1" dirty="0">
                <a:solidFill>
                  <a:srgbClr val="0000FF"/>
                </a:solidFill>
              </a:rPr>
              <a:t>import sys</a:t>
            </a:r>
            <a:r>
              <a:rPr lang="en-US" altLang="zh-CN" b="1" dirty="0"/>
              <a:t> </a:t>
            </a:r>
            <a:endParaRPr lang="en-US" altLang="zh-CN" dirty="0"/>
          </a:p>
          <a:p>
            <a:r>
              <a:rPr lang="en-US" altLang="zh-CN" dirty="0"/>
              <a:t>&gt;&gt;&gt; </a:t>
            </a:r>
            <a:r>
              <a:rPr lang="en-US" altLang="zh-CN" b="1" dirty="0"/>
              <a:t>sys.version 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1169930" y="2241543"/>
            <a:ext cx="3696846" cy="1200329"/>
          </a:xfrm>
          <a:prstGeom prst="rect">
            <a:avLst/>
          </a:prstGeom>
          <a:solidFill>
            <a:srgbClr val="CCECFF"/>
          </a:solidFill>
          <a:ln w="31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dirty="0"/>
              <a:t>&gt;&gt;&gt; </a:t>
            </a:r>
            <a:r>
              <a:rPr lang="en-US" altLang="zh-CN" b="1" dirty="0">
                <a:solidFill>
                  <a:srgbClr val="0000FF"/>
                </a:solidFill>
              </a:rPr>
              <a:t>import os </a:t>
            </a:r>
            <a:endParaRPr lang="en-US" altLang="zh-CN" dirty="0">
              <a:solidFill>
                <a:srgbClr val="0000FF"/>
              </a:solidFill>
            </a:endParaRPr>
          </a:p>
          <a:p>
            <a:r>
              <a:rPr lang="en-US" altLang="zh-CN" dirty="0"/>
              <a:t>&gt;&gt;&gt; </a:t>
            </a:r>
            <a:r>
              <a:rPr lang="en-US" altLang="zh-CN" b="1" dirty="0"/>
              <a:t>os.getcwd() </a:t>
            </a:r>
            <a:endParaRPr lang="zh-CN" altLang="en-US" dirty="0"/>
          </a:p>
          <a:p>
            <a:r>
              <a:rPr lang="en-US" altLang="zh-CN" dirty="0"/>
              <a:t>&gt;&gt;&gt; </a:t>
            </a:r>
            <a:r>
              <a:rPr lang="en-US" altLang="zh-CN" b="1" dirty="0"/>
              <a:t>os.chdir("d:\\mypythons") </a:t>
            </a:r>
            <a:endParaRPr lang="en-US" altLang="zh-CN" dirty="0"/>
          </a:p>
          <a:p>
            <a:r>
              <a:rPr lang="en-US" altLang="zh-CN" dirty="0"/>
              <a:t>&gt;&gt;&gt; </a:t>
            </a:r>
            <a:r>
              <a:rPr lang="en-US" altLang="zh-CN" b="1" dirty="0"/>
              <a:t>os.getcwd() 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5631992" y="3206925"/>
            <a:ext cx="2533066" cy="1754326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dirty="0"/>
              <a:t>&gt;&gt;&gt; </a:t>
            </a:r>
            <a:r>
              <a:rPr lang="en-US" altLang="zh-CN" b="1" dirty="0"/>
              <a:t>2 + 3.5 * 6 </a:t>
            </a:r>
            <a:endParaRPr lang="zh-CN" altLang="en-US" dirty="0"/>
          </a:p>
          <a:p>
            <a:r>
              <a:rPr lang="en-US" altLang="zh-CN" dirty="0"/>
              <a:t>&gt;&gt;&gt; </a:t>
            </a:r>
            <a:r>
              <a:rPr lang="en-US" altLang="zh-CN" b="1" dirty="0"/>
              <a:t>(79.8 - 32.6) / 24 </a:t>
            </a:r>
            <a:endParaRPr lang="zh-CN" altLang="en-US" dirty="0"/>
          </a:p>
          <a:p>
            <a:r>
              <a:rPr lang="en-US" altLang="zh-CN" dirty="0"/>
              <a:t>&gt;&gt;&gt; </a:t>
            </a:r>
            <a:r>
              <a:rPr lang="en-US" altLang="zh-CN" b="1" dirty="0"/>
              <a:t>2 ** 4 </a:t>
            </a:r>
            <a:endParaRPr lang="zh-CN" altLang="en-US" dirty="0"/>
          </a:p>
          <a:p>
            <a:r>
              <a:rPr lang="en-US" altLang="zh-CN" dirty="0"/>
              <a:t>&gt;&gt;&gt; </a:t>
            </a:r>
            <a:r>
              <a:rPr lang="en-US" altLang="zh-CN" b="1" dirty="0"/>
              <a:t>2 ** (1/2) </a:t>
            </a:r>
          </a:p>
          <a:p>
            <a:r>
              <a:rPr lang="en-US" altLang="zh-CN" dirty="0"/>
              <a:t>&gt;&gt;&gt; </a:t>
            </a:r>
            <a:r>
              <a:rPr lang="en-US" altLang="zh-CN" b="1" dirty="0"/>
              <a:t>7 / 3</a:t>
            </a:r>
          </a:p>
          <a:p>
            <a:r>
              <a:rPr lang="en-US" altLang="zh-CN" dirty="0"/>
              <a:t>&gt;&gt;&gt; </a:t>
            </a:r>
            <a:r>
              <a:rPr lang="en-US" altLang="zh-CN" b="1" dirty="0"/>
              <a:t>7 // 3 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5190787" y="1433635"/>
            <a:ext cx="3482043" cy="1477328"/>
          </a:xfrm>
          <a:prstGeom prst="rect">
            <a:avLst/>
          </a:prstGeom>
          <a:solidFill>
            <a:srgbClr val="FFCCCC"/>
          </a:solidFill>
          <a:ln w="31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dirty="0"/>
              <a:t>&gt;&gt;&gt; </a:t>
            </a:r>
            <a:r>
              <a:rPr lang="en-US" altLang="zh-CN" b="1" dirty="0">
                <a:solidFill>
                  <a:srgbClr val="0000FF"/>
                </a:solidFill>
              </a:rPr>
              <a:t>import time </a:t>
            </a:r>
            <a:endParaRPr lang="en-US" altLang="zh-CN" dirty="0">
              <a:solidFill>
                <a:srgbClr val="0000FF"/>
              </a:solidFill>
            </a:endParaRPr>
          </a:p>
          <a:p>
            <a:r>
              <a:rPr lang="en-US" altLang="zh-CN" dirty="0"/>
              <a:t>&gt;&gt;&gt; </a:t>
            </a:r>
            <a:r>
              <a:rPr lang="en-US" altLang="zh-CN" b="1" dirty="0"/>
              <a:t>time.ctime() </a:t>
            </a:r>
            <a:endParaRPr lang="en-US" altLang="zh-CN" dirty="0"/>
          </a:p>
          <a:p>
            <a:r>
              <a:rPr lang="en-US" altLang="zh-CN" dirty="0"/>
              <a:t>&gt;&gt;&gt; </a:t>
            </a:r>
            <a:r>
              <a:rPr lang="en-US" altLang="zh-CN" b="1" dirty="0"/>
              <a:t>time.asctime() </a:t>
            </a:r>
            <a:endParaRPr lang="en-US" altLang="zh-CN" dirty="0"/>
          </a:p>
          <a:p>
            <a:r>
              <a:rPr lang="en-US" altLang="zh-CN" dirty="0"/>
              <a:t>&gt;&gt;&gt; </a:t>
            </a:r>
            <a:r>
              <a:rPr lang="en-US" altLang="zh-CN" b="1" dirty="0"/>
              <a:t>time.localtime() </a:t>
            </a:r>
            <a:endParaRPr lang="en-US" altLang="zh-CN" dirty="0"/>
          </a:p>
          <a:p>
            <a:r>
              <a:rPr lang="en-US" altLang="zh-CN" dirty="0"/>
              <a:t>&gt;&gt;&gt; </a:t>
            </a:r>
            <a:r>
              <a:rPr lang="en-US" altLang="zh-CN" b="1" dirty="0"/>
              <a:t>time.localtime().tm_year 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1333641" y="3738457"/>
            <a:ext cx="3857146" cy="2862322"/>
          </a:xfrm>
          <a:prstGeom prst="rect">
            <a:avLst/>
          </a:prstGeom>
          <a:solidFill>
            <a:srgbClr val="FFCCCC"/>
          </a:solidFill>
          <a:ln w="31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dirty="0"/>
              <a:t>&gt;&gt;&gt; </a:t>
            </a:r>
            <a:r>
              <a:rPr lang="en-US" altLang="zh-CN" b="1" dirty="0">
                <a:solidFill>
                  <a:srgbClr val="0000FF"/>
                </a:solidFill>
              </a:rPr>
              <a:t>import math </a:t>
            </a:r>
            <a:endParaRPr lang="en-US" altLang="zh-CN" dirty="0">
              <a:solidFill>
                <a:srgbClr val="0000FF"/>
              </a:solidFill>
            </a:endParaRPr>
          </a:p>
          <a:p>
            <a:r>
              <a:rPr lang="en-US" altLang="zh-CN" dirty="0"/>
              <a:t>&gt;&gt;&gt; </a:t>
            </a:r>
            <a:r>
              <a:rPr lang="en-US" altLang="zh-CN" b="1" dirty="0"/>
              <a:t>math.pi </a:t>
            </a:r>
            <a:endParaRPr lang="zh-CN" altLang="en-US" dirty="0"/>
          </a:p>
          <a:p>
            <a:r>
              <a:rPr lang="en-US" altLang="zh-CN" dirty="0"/>
              <a:t>&gt;&gt;&gt; </a:t>
            </a:r>
            <a:r>
              <a:rPr lang="en-US" altLang="zh-CN" b="1" dirty="0"/>
              <a:t>math.e </a:t>
            </a:r>
            <a:endParaRPr lang="en-US" altLang="zh-CN" dirty="0"/>
          </a:p>
          <a:p>
            <a:r>
              <a:rPr lang="en-US" altLang="zh-CN" dirty="0"/>
              <a:t>&gt;&gt;&gt; </a:t>
            </a:r>
            <a:r>
              <a:rPr lang="en-US" altLang="zh-CN" b="1" dirty="0"/>
              <a:t>math.sqrt(9) </a:t>
            </a:r>
            <a:endParaRPr lang="en-US" altLang="zh-CN" dirty="0"/>
          </a:p>
          <a:p>
            <a:r>
              <a:rPr lang="en-US" altLang="zh-CN" dirty="0"/>
              <a:t>&gt;&gt;&gt; </a:t>
            </a:r>
            <a:r>
              <a:rPr lang="en-US" altLang="zh-CN" b="1" dirty="0"/>
              <a:t>math.log(2**6) </a:t>
            </a:r>
            <a:endParaRPr lang="en-US" altLang="zh-CN" dirty="0"/>
          </a:p>
          <a:p>
            <a:r>
              <a:rPr lang="en-US" altLang="zh-CN" dirty="0"/>
              <a:t>&gt;&gt;&gt; </a:t>
            </a:r>
            <a:r>
              <a:rPr lang="en-US" altLang="zh-CN" b="1" dirty="0"/>
              <a:t>math.log10(1000) </a:t>
            </a:r>
            <a:endParaRPr lang="en-US" altLang="zh-CN" dirty="0"/>
          </a:p>
          <a:p>
            <a:r>
              <a:rPr lang="en-US" altLang="zh-CN" dirty="0"/>
              <a:t>&gt;&gt;&gt; </a:t>
            </a:r>
            <a:r>
              <a:rPr lang="en-US" altLang="zh-CN" b="1" dirty="0"/>
              <a:t>math.exp(2) </a:t>
            </a:r>
            <a:endParaRPr lang="en-US" altLang="zh-CN" dirty="0"/>
          </a:p>
          <a:p>
            <a:r>
              <a:rPr lang="en-US" altLang="zh-CN" dirty="0"/>
              <a:t>&gt;&gt;&gt; </a:t>
            </a:r>
            <a:r>
              <a:rPr lang="en-US" altLang="zh-CN" b="1" dirty="0"/>
              <a:t>math.exp2(3) </a:t>
            </a:r>
            <a:endParaRPr lang="en-US" altLang="zh-CN" dirty="0"/>
          </a:p>
          <a:p>
            <a:r>
              <a:rPr lang="en-US" altLang="zh-CN" dirty="0"/>
              <a:t>&gt;&gt;&gt; </a:t>
            </a:r>
            <a:r>
              <a:rPr lang="en-US" altLang="zh-CN" b="1" dirty="0"/>
              <a:t>math.exp2(3) ** 2 </a:t>
            </a:r>
            <a:endParaRPr lang="en-US" altLang="zh-CN" dirty="0"/>
          </a:p>
          <a:p>
            <a:r>
              <a:rPr lang="en-US" altLang="zh-CN" dirty="0"/>
              <a:t>&gt;&gt;&gt; </a:t>
            </a:r>
            <a:r>
              <a:rPr lang="en-US" altLang="zh-CN" b="1" dirty="0"/>
              <a:t>2 * (math.sin(math.pi/2) + 5) 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8859741" y="2012200"/>
            <a:ext cx="3084499" cy="1200329"/>
          </a:xfrm>
          <a:prstGeom prst="rect">
            <a:avLst/>
          </a:prstGeom>
          <a:solidFill>
            <a:srgbClr val="CCFFCC"/>
          </a:solidFill>
          <a:ln w="31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dirty="0"/>
              <a:t>&gt;&gt;&gt; </a:t>
            </a:r>
            <a:r>
              <a:rPr lang="en-US" altLang="zh-CN" b="1" dirty="0">
                <a:solidFill>
                  <a:srgbClr val="0000FF"/>
                </a:solidFill>
              </a:rPr>
              <a:t>import random </a:t>
            </a:r>
            <a:endParaRPr lang="en-US" altLang="zh-CN" dirty="0">
              <a:solidFill>
                <a:srgbClr val="0000FF"/>
              </a:solidFill>
            </a:endParaRPr>
          </a:p>
          <a:p>
            <a:r>
              <a:rPr lang="en-US" altLang="zh-CN" dirty="0"/>
              <a:t>&gt;&gt;&gt; </a:t>
            </a:r>
            <a:r>
              <a:rPr lang="en-US" altLang="zh-CN" b="1" dirty="0"/>
              <a:t>random.randint(1,10) </a:t>
            </a:r>
            <a:endParaRPr lang="en-US" altLang="zh-CN" dirty="0"/>
          </a:p>
          <a:p>
            <a:r>
              <a:rPr lang="en-US" altLang="zh-CN" dirty="0"/>
              <a:t>&gt;&gt;&gt; </a:t>
            </a:r>
            <a:r>
              <a:rPr lang="en-US" altLang="zh-CN" b="1" dirty="0"/>
              <a:t>random.randint(1,10) </a:t>
            </a:r>
          </a:p>
          <a:p>
            <a:r>
              <a:rPr lang="en-US" altLang="zh-CN" dirty="0"/>
              <a:t>&gt;&gt;&gt; </a:t>
            </a:r>
            <a:r>
              <a:rPr lang="en-US" altLang="zh-CN" b="1" dirty="0"/>
              <a:t>random.randint(1,10) </a:t>
            </a:r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1779108" y="316084"/>
            <a:ext cx="9879492" cy="888924"/>
          </a:xfrm>
        </p:spPr>
        <p:txBody>
          <a:bodyPr>
            <a:normAutofit/>
          </a:bodyPr>
          <a:lstStyle/>
          <a:p>
            <a:r>
              <a:rPr lang="zh-CN" altLang="en-US" dirty="0"/>
              <a:t>课堂练习：交互模式下输入以下代码并查看结果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6098342" y="5591796"/>
            <a:ext cx="3626314" cy="923330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dirty="0"/>
              <a:t>&gt;&gt;&gt; </a:t>
            </a:r>
            <a:r>
              <a:rPr lang="en-US" altLang="zh-CN" b="1" dirty="0"/>
              <a:t>print(23) </a:t>
            </a:r>
            <a:endParaRPr lang="en-US" altLang="zh-CN" dirty="0"/>
          </a:p>
          <a:p>
            <a:r>
              <a:rPr lang="en-US" altLang="zh-CN" dirty="0"/>
              <a:t>&gt;&gt;&gt; </a:t>
            </a:r>
            <a:r>
              <a:rPr lang="en-US" altLang="zh-CN" b="1" dirty="0"/>
              <a:t>print("Hello Fudan") </a:t>
            </a:r>
            <a:endParaRPr lang="en-US" altLang="zh-CN" dirty="0"/>
          </a:p>
          <a:p>
            <a:r>
              <a:rPr lang="en-US" altLang="zh-CN" dirty="0"/>
              <a:t>&gt;&gt;&gt; </a:t>
            </a:r>
            <a:r>
              <a:rPr lang="en-US" altLang="zh-CN" b="1" dirty="0"/>
              <a:t>print(23, "Hello Shanghai") 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8789208" y="3958542"/>
            <a:ext cx="3225563" cy="1200329"/>
          </a:xfrm>
          <a:prstGeom prst="rect">
            <a:avLst/>
          </a:prstGeom>
          <a:solidFill>
            <a:srgbClr val="CCFFCC"/>
          </a:solidFill>
          <a:ln w="31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dirty="0"/>
              <a:t>&gt;&gt;&gt; </a:t>
            </a:r>
            <a:r>
              <a:rPr lang="en-US" altLang="zh-CN" b="1" dirty="0"/>
              <a:t>help(int)</a:t>
            </a:r>
          </a:p>
          <a:p>
            <a:r>
              <a:rPr lang="en-US" altLang="zh-CN" dirty="0"/>
              <a:t>&gt;&gt;&gt; </a:t>
            </a:r>
            <a:r>
              <a:rPr lang="en-US" altLang="zh-CN" b="1" dirty="0"/>
              <a:t>help(print)</a:t>
            </a:r>
          </a:p>
          <a:p>
            <a:r>
              <a:rPr lang="en-US" altLang="zh-CN" dirty="0"/>
              <a:t>&gt;&gt;&gt; </a:t>
            </a:r>
            <a:r>
              <a:rPr lang="en-US" altLang="zh-CN" b="1" dirty="0"/>
              <a:t>help("+")</a:t>
            </a:r>
          </a:p>
          <a:p>
            <a:r>
              <a:rPr lang="en-US" altLang="zh-CN" dirty="0"/>
              <a:t>&gt;&gt;&gt; </a:t>
            </a:r>
            <a:r>
              <a:rPr lang="en-US" altLang="zh-CN" b="1" dirty="0"/>
              <a:t>help("random.randint")</a:t>
            </a:r>
          </a:p>
        </p:txBody>
      </p:sp>
    </p:spTree>
    <p:extLst>
      <p:ext uri="{BB962C8B-B14F-4D97-AF65-F5344CB8AC3E}">
        <p14:creationId xmlns:p14="http://schemas.microsoft.com/office/powerpoint/2010/main" val="40613748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脚本模式运行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94393" y="1636644"/>
            <a:ext cx="9510219" cy="5052391"/>
          </a:xfrm>
        </p:spPr>
        <p:txBody>
          <a:bodyPr>
            <a:normAutofit fontScale="92500"/>
          </a:bodyPr>
          <a:lstStyle/>
          <a:p>
            <a:r>
              <a:rPr lang="en-US" altLang="zh-CN" sz="2400" dirty="0"/>
              <a:t>1. </a:t>
            </a:r>
            <a:r>
              <a:rPr lang="zh-CN" altLang="en-US" sz="2400" dirty="0"/>
              <a:t>新建</a:t>
            </a:r>
            <a:endParaRPr lang="en-US" altLang="zh-CN" sz="2400" dirty="0"/>
          </a:p>
          <a:p>
            <a:pPr lvl="1"/>
            <a:r>
              <a:rPr lang="en-US" altLang="zh-CN" sz="2400" dirty="0"/>
              <a:t> </a:t>
            </a:r>
            <a:r>
              <a:rPr lang="zh-CN" altLang="en-US" sz="2400" dirty="0"/>
              <a:t>在交互窗口，</a:t>
            </a:r>
            <a:r>
              <a:rPr lang="en-US" altLang="zh-CN" sz="2400" dirty="0"/>
              <a:t>File &gt;&gt; New File</a:t>
            </a:r>
          </a:p>
          <a:p>
            <a:r>
              <a:rPr lang="en-US" altLang="zh-CN" sz="2400" dirty="0"/>
              <a:t>2. </a:t>
            </a:r>
            <a:r>
              <a:rPr lang="zh-CN" altLang="en-US" sz="2400" dirty="0"/>
              <a:t>编辑</a:t>
            </a:r>
            <a:endParaRPr lang="en-US" altLang="zh-CN" sz="2400" dirty="0"/>
          </a:p>
          <a:p>
            <a:pPr lvl="1"/>
            <a:r>
              <a:rPr lang="zh-CN" altLang="en-US" sz="2400" dirty="0"/>
              <a:t> 在脚本窗口内，输入多行代码</a:t>
            </a:r>
            <a:endParaRPr lang="en-US" altLang="zh-CN" sz="2400" dirty="0"/>
          </a:p>
          <a:p>
            <a:r>
              <a:rPr lang="en-US" altLang="zh-CN" sz="2400" dirty="0"/>
              <a:t>3. </a:t>
            </a:r>
            <a:r>
              <a:rPr lang="zh-CN" altLang="en-US" sz="2400" dirty="0"/>
              <a:t>保存</a:t>
            </a:r>
            <a:endParaRPr lang="en-US" altLang="zh-CN" sz="2400" dirty="0"/>
          </a:p>
          <a:p>
            <a:pPr lvl="1"/>
            <a:r>
              <a:rPr lang="zh-CN" altLang="en-US" sz="2400" dirty="0"/>
              <a:t> 在脚本窗口，</a:t>
            </a:r>
            <a:r>
              <a:rPr lang="en-US" altLang="zh-CN" sz="2400" dirty="0"/>
              <a:t>File &gt;&gt; Save</a:t>
            </a:r>
          </a:p>
          <a:p>
            <a:r>
              <a:rPr lang="en-US" altLang="zh-CN" sz="2400" dirty="0"/>
              <a:t>4. </a:t>
            </a:r>
            <a:r>
              <a:rPr lang="zh-CN" altLang="en-US" sz="2400" dirty="0"/>
              <a:t>运行</a:t>
            </a:r>
            <a:endParaRPr lang="en-US" altLang="zh-CN" sz="2400" dirty="0"/>
          </a:p>
          <a:p>
            <a:pPr lvl="1"/>
            <a:r>
              <a:rPr lang="en-US" altLang="zh-CN" sz="2400" dirty="0"/>
              <a:t> </a:t>
            </a:r>
            <a:r>
              <a:rPr lang="zh-CN" altLang="en-US" sz="2400" dirty="0"/>
              <a:t>在脚本窗口，</a:t>
            </a:r>
            <a:r>
              <a:rPr lang="en-US" altLang="zh-CN" sz="2400" dirty="0"/>
              <a:t>Run &gt;&gt; Run Module</a:t>
            </a:r>
            <a:r>
              <a:rPr lang="zh-CN" altLang="en-US" sz="2400" dirty="0"/>
              <a:t>，</a:t>
            </a:r>
            <a:endParaRPr lang="en-US" altLang="zh-CN" sz="2400" dirty="0"/>
          </a:p>
          <a:p>
            <a:pPr marL="457200" lvl="1" indent="0">
              <a:buNone/>
            </a:pPr>
            <a:r>
              <a:rPr lang="en-US" altLang="zh-CN" sz="2400" dirty="0"/>
              <a:t>    </a:t>
            </a:r>
            <a:r>
              <a:rPr lang="zh-CN" altLang="en-US" sz="2400" dirty="0"/>
              <a:t>将在交互窗口显示该脚本的运行结果。</a:t>
            </a:r>
            <a:endParaRPr lang="en-US" altLang="zh-CN" sz="2400" dirty="0"/>
          </a:p>
          <a:p>
            <a:r>
              <a:rPr lang="en-US" altLang="zh-CN" sz="2400" dirty="0"/>
              <a:t>5. </a:t>
            </a:r>
            <a:r>
              <a:rPr lang="zh-CN" altLang="en-US" sz="2400" dirty="0"/>
              <a:t>再次打开</a:t>
            </a:r>
            <a:endParaRPr lang="en-US" altLang="zh-CN" sz="2400" dirty="0"/>
          </a:p>
          <a:p>
            <a:pPr lvl="1"/>
            <a:r>
              <a:rPr lang="zh-CN" altLang="en-US" sz="2200" dirty="0"/>
              <a:t>选中已有的脚本文件，鼠标右键 </a:t>
            </a:r>
            <a:r>
              <a:rPr lang="en-US" altLang="zh-CN" sz="2200" dirty="0"/>
              <a:t>&gt;&gt; Edit with IDLE &gt;&gt; Edit with IDLE 3.x</a:t>
            </a:r>
            <a:endParaRPr lang="zh-CN" altLang="en-US" sz="2200" dirty="0"/>
          </a:p>
        </p:txBody>
      </p:sp>
      <p:sp>
        <p:nvSpPr>
          <p:cNvPr id="7" name="直角上箭头 6"/>
          <p:cNvSpPr/>
          <p:nvPr/>
        </p:nvSpPr>
        <p:spPr>
          <a:xfrm>
            <a:off x="6828183" y="1688844"/>
            <a:ext cx="2205955" cy="831882"/>
          </a:xfrm>
          <a:prstGeom prst="bentUpArrow">
            <a:avLst>
              <a:gd name="adj1" fmla="val 45311"/>
              <a:gd name="adj2" fmla="val 25000"/>
              <a:gd name="adj3" fmla="val 16637"/>
            </a:avLst>
          </a:prstGeom>
          <a:solidFill>
            <a:srgbClr val="FFFF99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弹出脚本窗口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1709" y="2668423"/>
            <a:ext cx="3856590" cy="1405673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082" y="211636"/>
            <a:ext cx="3438111" cy="1395815"/>
          </a:xfrm>
          <a:prstGeom prst="rect">
            <a:avLst/>
          </a:prstGeom>
        </p:spPr>
      </p:pic>
      <p:sp>
        <p:nvSpPr>
          <p:cNvPr id="10" name="右箭头 9"/>
          <p:cNvSpPr/>
          <p:nvPr/>
        </p:nvSpPr>
        <p:spPr>
          <a:xfrm>
            <a:off x="6828183" y="3002322"/>
            <a:ext cx="840139" cy="467139"/>
          </a:xfrm>
          <a:prstGeom prst="rightArrow">
            <a:avLst>
              <a:gd name="adj1" fmla="val 60000"/>
              <a:gd name="adj2" fmla="val 28723"/>
            </a:avLst>
          </a:prstGeom>
          <a:solidFill>
            <a:srgbClr val="FFFF99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1709" y="4420362"/>
            <a:ext cx="3856589" cy="1516877"/>
          </a:xfrm>
          <a:prstGeom prst="rect">
            <a:avLst/>
          </a:prstGeom>
        </p:spPr>
      </p:pic>
      <p:sp>
        <p:nvSpPr>
          <p:cNvPr id="12" name="右箭头 11"/>
          <p:cNvSpPr/>
          <p:nvPr/>
        </p:nvSpPr>
        <p:spPr>
          <a:xfrm rot="1053783">
            <a:off x="6828182" y="4186793"/>
            <a:ext cx="840139" cy="467139"/>
          </a:xfrm>
          <a:prstGeom prst="rightArrow">
            <a:avLst>
              <a:gd name="adj1" fmla="val 60000"/>
              <a:gd name="adj2" fmla="val 28723"/>
            </a:avLst>
          </a:prstGeom>
          <a:solidFill>
            <a:srgbClr val="FFFF99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5380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自定义函数并使用它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由 交互式窗口 </a:t>
            </a:r>
            <a:r>
              <a:rPr lang="en-US" altLang="zh-CN" sz="2400" b="1" dirty="0">
                <a:solidFill>
                  <a:srgbClr val="FF0000"/>
                </a:solidFill>
              </a:rPr>
              <a:t>File &gt;&gt; Open… </a:t>
            </a:r>
            <a:r>
              <a:rPr lang="zh-CN" altLang="en-US" sz="2400" dirty="0"/>
              <a:t>选择 </a:t>
            </a:r>
            <a:r>
              <a:rPr lang="en-US" altLang="zh-CN" sz="2400" dirty="0"/>
              <a:t>HelloWorld.py </a:t>
            </a:r>
            <a:r>
              <a:rPr lang="zh-CN" altLang="en-US" sz="2400" dirty="0"/>
              <a:t>并打开</a:t>
            </a:r>
            <a:endParaRPr lang="en-US" altLang="zh-CN" sz="2400" dirty="0"/>
          </a:p>
          <a:p>
            <a:r>
              <a:rPr lang="zh-CN" altLang="en-US" sz="2400" dirty="0"/>
              <a:t>按如下方式编辑，并保存该文件</a:t>
            </a:r>
            <a:r>
              <a:rPr lang="en-US" altLang="zh-CN" sz="2400" dirty="0"/>
              <a:t>(</a:t>
            </a:r>
            <a:r>
              <a:rPr lang="zh-CN" altLang="en-US" sz="2400" dirty="0"/>
              <a:t>文件窗口 </a:t>
            </a:r>
            <a:r>
              <a:rPr lang="en-US" altLang="zh-CN" sz="2400" b="1" dirty="0">
                <a:solidFill>
                  <a:srgbClr val="FF0000"/>
                </a:solidFill>
              </a:rPr>
              <a:t>File &gt;&gt; Save</a:t>
            </a:r>
            <a:r>
              <a:rPr lang="en-US" altLang="zh-CN" sz="2400" dirty="0"/>
              <a:t>)</a:t>
            </a:r>
          </a:p>
          <a:p>
            <a:endParaRPr lang="en-US" altLang="zh-CN" sz="2400" dirty="0"/>
          </a:p>
          <a:p>
            <a:pPr marL="0" indent="0">
              <a:buNone/>
            </a:pPr>
            <a:endParaRPr lang="zh-CN" altLang="en-US" sz="24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584" y="2709644"/>
            <a:ext cx="7585428" cy="38157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椭圆 3"/>
          <p:cNvSpPr/>
          <p:nvPr/>
        </p:nvSpPr>
        <p:spPr>
          <a:xfrm>
            <a:off x="4079776" y="2564904"/>
            <a:ext cx="3672408" cy="64807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16</a:t>
            </a:fld>
            <a:endParaRPr lang="zh-CN" altLang="en-US"/>
          </a:p>
        </p:txBody>
      </p:sp>
      <p:grpSp>
        <p:nvGrpSpPr>
          <p:cNvPr id="6" name="组合 5"/>
          <p:cNvGrpSpPr/>
          <p:nvPr/>
        </p:nvGrpSpPr>
        <p:grpSpPr>
          <a:xfrm>
            <a:off x="4511825" y="5301208"/>
            <a:ext cx="5944495" cy="1431512"/>
            <a:chOff x="2987824" y="5301208"/>
            <a:chExt cx="5944495" cy="1431512"/>
          </a:xfrm>
        </p:grpSpPr>
        <p:pic>
          <p:nvPicPr>
            <p:cNvPr id="7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87824" y="5301208"/>
              <a:ext cx="5944495" cy="143151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TextBox 6"/>
            <p:cNvSpPr txBox="1"/>
            <p:nvPr/>
          </p:nvSpPr>
          <p:spPr>
            <a:xfrm>
              <a:off x="4418130" y="6140288"/>
              <a:ext cx="43652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运行： </a:t>
              </a:r>
              <a:r>
                <a:rPr lang="zh-CN" altLang="en-US" dirty="0">
                  <a:solidFill>
                    <a:srgbClr val="FF0000"/>
                  </a:solidFill>
                </a:rPr>
                <a:t>文件窗口 </a:t>
              </a:r>
              <a:r>
                <a:rPr lang="en-US" altLang="zh-CN" b="1" dirty="0">
                  <a:solidFill>
                    <a:srgbClr val="FF0000"/>
                  </a:solidFill>
                </a:rPr>
                <a:t>Run &gt;&gt; Run Module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70193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做点变化再运行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351584" y="1905000"/>
            <a:ext cx="8915400" cy="3777622"/>
          </a:xfrm>
        </p:spPr>
        <p:txBody>
          <a:bodyPr/>
          <a:lstStyle/>
          <a:p>
            <a:r>
              <a:rPr lang="zh-CN" altLang="en-US" b="1" dirty="0"/>
              <a:t>文件 </a:t>
            </a:r>
            <a:r>
              <a:rPr lang="zh-CN" altLang="zh-CN" b="1" dirty="0"/>
              <a:t>HelloWorld.py</a:t>
            </a:r>
            <a:endParaRPr lang="en-US" altLang="zh-CN" b="1" dirty="0"/>
          </a:p>
          <a:p>
            <a:endParaRPr lang="en-US" altLang="zh-CN" b="1" dirty="0"/>
          </a:p>
          <a:p>
            <a:pPr marL="0" indent="0">
              <a:buNone/>
            </a:pPr>
            <a:endParaRPr lang="zh-CN" altLang="en-US" b="1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584" y="2493620"/>
            <a:ext cx="7585428" cy="38157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直接连接符 4"/>
          <p:cNvCxnSpPr/>
          <p:nvPr/>
        </p:nvCxnSpPr>
        <p:spPr>
          <a:xfrm>
            <a:off x="3647728" y="4509120"/>
            <a:ext cx="2448272" cy="0"/>
          </a:xfrm>
          <a:prstGeom prst="line">
            <a:avLst/>
          </a:prstGeom>
          <a:ln w="254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2567608" y="5517232"/>
            <a:ext cx="2448272" cy="0"/>
          </a:xfrm>
          <a:prstGeom prst="line">
            <a:avLst/>
          </a:prstGeom>
          <a:ln w="254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68008" y="4328918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增加几行代码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15880" y="5337030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增加几行代码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13179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课堂练习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4423040"/>
              </p:ext>
            </p:extLst>
          </p:nvPr>
        </p:nvGraphicFramePr>
        <p:xfrm>
          <a:off x="1671533" y="4022411"/>
          <a:ext cx="3852004" cy="1924261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852004">
                  <a:extLst>
                    <a:ext uri="{9D8B030D-6E8A-4147-A177-3AD203B41FA5}">
                      <a16:colId xmlns:a16="http://schemas.microsoft.com/office/drawing/2014/main" val="2424052653"/>
                    </a:ext>
                  </a:extLst>
                </a:gridCol>
              </a:tblGrid>
              <a:tr h="46122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1600" b="1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abc01.py</a:t>
                      </a:r>
                      <a:endParaRPr lang="zh-CN" sz="160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6627014"/>
                  </a:ext>
                </a:extLst>
              </a:tr>
              <a:tr h="121831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print("Hello Fudan")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def greet():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    print("How are you</a:t>
                      </a:r>
                      <a:r>
                        <a:rPr lang="zh-CN" sz="1600" kern="100" dirty="0">
                          <a:effectLst/>
                        </a:rPr>
                        <a:t>？</a:t>
                      </a:r>
                      <a:r>
                        <a:rPr lang="en-US" sz="1600" kern="100" dirty="0">
                          <a:effectLst/>
                        </a:rPr>
                        <a:t>")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    print("Where are you from</a:t>
                      </a:r>
                      <a:r>
                        <a:rPr lang="zh-CN" sz="1600" kern="100" dirty="0">
                          <a:effectLst/>
                        </a:rPr>
                        <a:t>？</a:t>
                      </a:r>
                      <a:r>
                        <a:rPr lang="en-US" sz="1600" kern="100" dirty="0">
                          <a:effectLst/>
                        </a:rPr>
                        <a:t>")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print("Hello Shanghai")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greet()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37790487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5426695"/>
              </p:ext>
            </p:extLst>
          </p:nvPr>
        </p:nvGraphicFramePr>
        <p:xfrm>
          <a:off x="6512319" y="3789238"/>
          <a:ext cx="5137779" cy="2390605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5137779">
                  <a:extLst>
                    <a:ext uri="{9D8B030D-6E8A-4147-A177-3AD203B41FA5}">
                      <a16:colId xmlns:a16="http://schemas.microsoft.com/office/drawing/2014/main" val="2810948708"/>
                    </a:ext>
                  </a:extLst>
                </a:gridCol>
              </a:tblGrid>
              <a:tr h="43988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1600" b="1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abc02.py</a:t>
                      </a:r>
                      <a:endParaRPr lang="zh-CN" sz="160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6613548"/>
                  </a:ext>
                </a:extLst>
              </a:tr>
              <a:tr h="153586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print("Hello Fudan")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def greet(name):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    print("How are you</a:t>
                      </a:r>
                      <a:r>
                        <a:rPr lang="zh-CN" sz="1600" kern="100" dirty="0">
                          <a:effectLst/>
                        </a:rPr>
                        <a:t>？</a:t>
                      </a:r>
                      <a:r>
                        <a:rPr lang="en-US" sz="1600" kern="100" dirty="0">
                          <a:effectLst/>
                        </a:rPr>
                        <a:t>", name)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    print("Where are you from</a:t>
                      </a:r>
                      <a:r>
                        <a:rPr lang="zh-CN" sz="1600" kern="100" dirty="0">
                          <a:effectLst/>
                        </a:rPr>
                        <a:t>？</a:t>
                      </a:r>
                      <a:r>
                        <a:rPr lang="en-US" sz="1600" kern="100" dirty="0">
                          <a:effectLst/>
                        </a:rPr>
                        <a:t>", name)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print("Hello Shanghai")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greet("</a:t>
                      </a:r>
                      <a:r>
                        <a:rPr lang="zh-CN" sz="1600" kern="100" dirty="0">
                          <a:effectLst/>
                        </a:rPr>
                        <a:t>李四</a:t>
                      </a:r>
                      <a:r>
                        <a:rPr lang="en-US" sz="1600" kern="100" dirty="0">
                          <a:effectLst/>
                        </a:rPr>
                        <a:t>")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name = input("</a:t>
                      </a:r>
                      <a:r>
                        <a:rPr lang="zh-CN" sz="1600" kern="100" dirty="0">
                          <a:effectLst/>
                        </a:rPr>
                        <a:t>请输入姓名：</a:t>
                      </a:r>
                      <a:r>
                        <a:rPr lang="en-US" sz="1600" kern="100" dirty="0">
                          <a:effectLst/>
                        </a:rPr>
                        <a:t>")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greet(name)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46026917"/>
                  </a:ext>
                </a:extLst>
              </a:tr>
            </a:tbl>
          </a:graphicData>
        </a:graphic>
      </p:graphicFrame>
      <p:sp>
        <p:nvSpPr>
          <p:cNvPr id="7" name="内容占位符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/>
              <a:t>在脚本模式下新建如下两个</a:t>
            </a:r>
            <a:r>
              <a:rPr lang="en-US" altLang="zh-CN" sz="2000" dirty="0"/>
              <a:t>Python</a:t>
            </a:r>
            <a:r>
              <a:rPr lang="zh-CN" altLang="en-US" sz="2000" dirty="0"/>
              <a:t>程序</a:t>
            </a:r>
            <a:endParaRPr lang="en-US" altLang="zh-CN" sz="2000" dirty="0"/>
          </a:p>
          <a:p>
            <a:r>
              <a:rPr lang="zh-CN" altLang="en-US" sz="2000" dirty="0"/>
              <a:t>分别运行，查看输出结果</a:t>
            </a:r>
            <a:endParaRPr lang="en-US" altLang="zh-CN" sz="2000" dirty="0"/>
          </a:p>
          <a:p>
            <a:r>
              <a:rPr lang="zh-CN" altLang="en-US" sz="2000" dirty="0"/>
              <a:t>尝试理解每条语句的功能</a:t>
            </a:r>
          </a:p>
        </p:txBody>
      </p:sp>
    </p:spTree>
    <p:extLst>
      <p:ext uri="{BB962C8B-B14F-4D97-AF65-F5344CB8AC3E}">
        <p14:creationId xmlns:p14="http://schemas.microsoft.com/office/powerpoint/2010/main" val="41101520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用</a:t>
            </a:r>
            <a:r>
              <a:rPr lang="en-US" altLang="zh-CN" dirty="0"/>
              <a:t>print()</a:t>
            </a:r>
            <a:r>
              <a:rPr lang="zh-CN" altLang="en-US" dirty="0"/>
              <a:t>显示结果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交互模式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 dirty="0"/>
              <a:t>脚本模式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9846" y="2853850"/>
            <a:ext cx="4352260" cy="19104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3"/>
          <a:srcRect t="-354" r="24621" b="11835"/>
          <a:stretch/>
        </p:blipFill>
        <p:spPr>
          <a:xfrm>
            <a:off x="7166957" y="2853850"/>
            <a:ext cx="3929026" cy="23940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13" name="组合 12"/>
          <p:cNvGrpSpPr/>
          <p:nvPr/>
        </p:nvGrpSpPr>
        <p:grpSpPr>
          <a:xfrm>
            <a:off x="7166957" y="1461448"/>
            <a:ext cx="4912178" cy="2832256"/>
            <a:chOff x="7166957" y="1461448"/>
            <a:chExt cx="4912178" cy="2832256"/>
          </a:xfrm>
        </p:grpSpPr>
        <p:sp>
          <p:nvSpPr>
            <p:cNvPr id="10" name="云形标注 9"/>
            <p:cNvSpPr/>
            <p:nvPr/>
          </p:nvSpPr>
          <p:spPr>
            <a:xfrm>
              <a:off x="9626755" y="1461448"/>
              <a:ext cx="2452380" cy="1592316"/>
            </a:xfrm>
            <a:prstGeom prst="cloudCallout">
              <a:avLst>
                <a:gd name="adj1" fmla="val -55282"/>
                <a:gd name="adj2" fmla="val 100576"/>
              </a:avLst>
            </a:prstGeom>
            <a:solidFill>
              <a:srgbClr val="FFFF99"/>
            </a:soli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>
                  <a:solidFill>
                    <a:schemeClr val="tx1"/>
                  </a:solidFill>
                </a:rPr>
                <a:t>此行代码没有输出显示</a:t>
              </a:r>
            </a:p>
          </p:txBody>
        </p:sp>
        <p:cxnSp>
          <p:nvCxnSpPr>
            <p:cNvPr id="12" name="直接连接符 11"/>
            <p:cNvCxnSpPr/>
            <p:nvPr/>
          </p:nvCxnSpPr>
          <p:spPr>
            <a:xfrm>
              <a:off x="7166957" y="4293704"/>
              <a:ext cx="2339172" cy="0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52339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课堂练习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/>
              <a:t>1. </a:t>
            </a:r>
            <a:r>
              <a:rPr lang="zh-CN" altLang="en-US" sz="2400" dirty="0"/>
              <a:t>编写一个程序，计算半径为</a:t>
            </a:r>
            <a:r>
              <a:rPr lang="en-US" altLang="zh-CN" sz="2400" dirty="0"/>
              <a:t>5.6</a:t>
            </a:r>
            <a:r>
              <a:rPr lang="zh-CN" altLang="en-US" sz="2400" dirty="0"/>
              <a:t>的圆的面积并显示。</a:t>
            </a:r>
            <a:endParaRPr lang="en-US" altLang="zh-CN" sz="2400" dirty="0"/>
          </a:p>
          <a:p>
            <a:r>
              <a:rPr lang="en-US" altLang="zh-CN" sz="2400" dirty="0"/>
              <a:t>2. </a:t>
            </a:r>
            <a:r>
              <a:rPr lang="zh-CN" altLang="en-US" sz="2400" dirty="0"/>
              <a:t>编写一个程序，输出右图所示内容。</a:t>
            </a: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5384" y="3001336"/>
            <a:ext cx="1944216" cy="29098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314154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1.2 </a:t>
            </a:r>
            <a:r>
              <a:rPr lang="zh-CN" altLang="zh-CN" dirty="0"/>
              <a:t>对象基础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06981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对象</a:t>
            </a:r>
            <a:r>
              <a:rPr lang="zh-CN" altLang="en-US" dirty="0"/>
              <a:t>的</a:t>
            </a:r>
            <a:r>
              <a:rPr lang="zh-CN" altLang="zh-CN" dirty="0"/>
              <a:t>三个特性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zh-CN" dirty="0"/>
              <a:t>标识</a:t>
            </a:r>
            <a:endParaRPr lang="en-US" altLang="zh-CN" dirty="0"/>
          </a:p>
          <a:p>
            <a:pPr lvl="1"/>
            <a:r>
              <a:rPr lang="zh-CN" altLang="zh-CN" dirty="0"/>
              <a:t>表示对象内存块在整个内存中的位置，用</a:t>
            </a:r>
            <a:r>
              <a:rPr lang="en-US" altLang="zh-CN" dirty="0"/>
              <a:t>id(.)</a:t>
            </a:r>
            <a:r>
              <a:rPr lang="zh-CN" altLang="zh-CN" dirty="0"/>
              <a:t>函数查看对象标识。</a:t>
            </a:r>
          </a:p>
          <a:p>
            <a:pPr lvl="0"/>
            <a:r>
              <a:rPr lang="zh-CN" altLang="zh-CN" dirty="0"/>
              <a:t>类型</a:t>
            </a:r>
            <a:endParaRPr lang="en-US" altLang="zh-CN" dirty="0"/>
          </a:p>
          <a:p>
            <a:pPr lvl="1"/>
            <a:r>
              <a:rPr lang="zh-CN" altLang="zh-CN" dirty="0"/>
              <a:t>决定对象内存块内部的组织结构，用</a:t>
            </a:r>
            <a:r>
              <a:rPr lang="en-US" altLang="zh-CN" dirty="0"/>
              <a:t>type(.)</a:t>
            </a:r>
            <a:r>
              <a:rPr lang="zh-CN" altLang="zh-CN" dirty="0"/>
              <a:t>函数查看对象类型。</a:t>
            </a:r>
          </a:p>
          <a:p>
            <a:pPr lvl="0"/>
            <a:r>
              <a:rPr lang="zh-CN" altLang="zh-CN" dirty="0"/>
              <a:t>数据</a:t>
            </a:r>
            <a:endParaRPr lang="en-US" altLang="zh-CN" dirty="0"/>
          </a:p>
          <a:p>
            <a:pPr lvl="1"/>
            <a:r>
              <a:rPr lang="zh-CN" altLang="zh-CN" dirty="0"/>
              <a:t>对象内存块所包含的数据内容，在对象创建时设置，有些对象允许数据更新。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923481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对象类型及示例</a:t>
            </a:r>
            <a:endParaRPr lang="zh-CN" altLang="en-US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3815635"/>
              </p:ext>
            </p:extLst>
          </p:nvPr>
        </p:nvGraphicFramePr>
        <p:xfrm>
          <a:off x="2323548" y="1641084"/>
          <a:ext cx="7841857" cy="496956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41389">
                  <a:extLst>
                    <a:ext uri="{9D8B030D-6E8A-4147-A177-3AD203B41FA5}">
                      <a16:colId xmlns:a16="http://schemas.microsoft.com/office/drawing/2014/main" val="4293477283"/>
                    </a:ext>
                  </a:extLst>
                </a:gridCol>
                <a:gridCol w="1091889">
                  <a:extLst>
                    <a:ext uri="{9D8B030D-6E8A-4147-A177-3AD203B41FA5}">
                      <a16:colId xmlns:a16="http://schemas.microsoft.com/office/drawing/2014/main" val="2740189730"/>
                    </a:ext>
                  </a:extLst>
                </a:gridCol>
                <a:gridCol w="3122578">
                  <a:extLst>
                    <a:ext uri="{9D8B030D-6E8A-4147-A177-3AD203B41FA5}">
                      <a16:colId xmlns:a16="http://schemas.microsoft.com/office/drawing/2014/main" val="818372652"/>
                    </a:ext>
                  </a:extLst>
                </a:gridCol>
                <a:gridCol w="2286001">
                  <a:extLst>
                    <a:ext uri="{9D8B030D-6E8A-4147-A177-3AD203B41FA5}">
                      <a16:colId xmlns:a16="http://schemas.microsoft.com/office/drawing/2014/main" val="2993476455"/>
                    </a:ext>
                  </a:extLst>
                </a:gridCol>
              </a:tblGrid>
              <a:tr h="26155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750" kern="100">
                          <a:effectLst/>
                        </a:rPr>
                        <a:t>对象类型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750" kern="100">
                          <a:effectLst/>
                        </a:rPr>
                        <a:t>类型描述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750" kern="100">
                          <a:effectLst/>
                        </a:rPr>
                        <a:t>示例值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750" kern="100" dirty="0">
                          <a:effectLst/>
                        </a:rPr>
                        <a:t>可变</a:t>
                      </a:r>
                      <a:r>
                        <a:rPr lang="zh-CN" altLang="en-US" sz="750" kern="100" dirty="0">
                          <a:effectLst/>
                        </a:rPr>
                        <a:t>与否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27276014"/>
                  </a:ext>
                </a:extLst>
              </a:tr>
              <a:tr h="26155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750" kern="100" dirty="0">
                          <a:effectLst/>
                        </a:rPr>
                        <a:t>int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750" kern="100" dirty="0">
                          <a:effectLst/>
                        </a:rPr>
                        <a:t>整数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750" kern="100">
                          <a:effectLst/>
                        </a:rPr>
                        <a:t>123</a:t>
                      </a:r>
                      <a:r>
                        <a:rPr lang="zh-CN" sz="750" kern="100">
                          <a:effectLst/>
                        </a:rPr>
                        <a:t>，</a:t>
                      </a:r>
                      <a:r>
                        <a:rPr lang="en-US" sz="750" kern="100">
                          <a:effectLst/>
                        </a:rPr>
                        <a:t>-4923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750" kern="100">
                          <a:effectLst/>
                        </a:rPr>
                        <a:t>不可变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49098638"/>
                  </a:ext>
                </a:extLst>
              </a:tr>
              <a:tr h="26155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750" kern="100">
                          <a:effectLst/>
                        </a:rPr>
                        <a:t>float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750" kern="100" dirty="0">
                          <a:effectLst/>
                        </a:rPr>
                        <a:t>浮点数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750" kern="100">
                          <a:effectLst/>
                        </a:rPr>
                        <a:t>0.456</a:t>
                      </a:r>
                      <a:r>
                        <a:rPr lang="zh-CN" sz="750" kern="100">
                          <a:effectLst/>
                        </a:rPr>
                        <a:t>，</a:t>
                      </a:r>
                      <a:r>
                        <a:rPr lang="en-US" sz="750" kern="100">
                          <a:effectLst/>
                        </a:rPr>
                        <a:t>-87.55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750" kern="100" dirty="0">
                          <a:effectLst/>
                        </a:rPr>
                        <a:t>不可变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89101676"/>
                  </a:ext>
                </a:extLst>
              </a:tr>
              <a:tr h="26155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750" kern="100" dirty="0">
                          <a:effectLst/>
                        </a:rPr>
                        <a:t>complex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750" kern="100" dirty="0">
                          <a:effectLst/>
                        </a:rPr>
                        <a:t>复数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750" kern="100">
                          <a:effectLst/>
                        </a:rPr>
                        <a:t>-85.6+0.3j</a:t>
                      </a:r>
                      <a:r>
                        <a:rPr lang="zh-CN" sz="750" kern="100">
                          <a:effectLst/>
                        </a:rPr>
                        <a:t>，</a:t>
                      </a:r>
                      <a:r>
                        <a:rPr lang="en-US" sz="750" kern="100">
                          <a:effectLst/>
                        </a:rPr>
                        <a:t>3-4j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750" kern="100" dirty="0">
                          <a:effectLst/>
                        </a:rPr>
                        <a:t>不可变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56540088"/>
                  </a:ext>
                </a:extLst>
              </a:tr>
              <a:tr h="26155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750" kern="100">
                          <a:effectLst/>
                        </a:rPr>
                        <a:t>str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750" kern="100" dirty="0">
                          <a:effectLst/>
                        </a:rPr>
                        <a:t>字符串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750" kern="100" dirty="0">
                          <a:effectLst/>
                        </a:rPr>
                        <a:t>"fudan123"</a:t>
                      </a:r>
                      <a:r>
                        <a:rPr lang="zh-CN" sz="750" kern="100" dirty="0">
                          <a:effectLst/>
                        </a:rPr>
                        <a:t>，</a:t>
                      </a:r>
                      <a:r>
                        <a:rPr lang="en-US" sz="750" kern="100" dirty="0">
                          <a:effectLst/>
                        </a:rPr>
                        <a:t>"</a:t>
                      </a:r>
                      <a:r>
                        <a:rPr lang="zh-CN" sz="750" kern="100" dirty="0">
                          <a:effectLst/>
                        </a:rPr>
                        <a:t>上海</a:t>
                      </a:r>
                      <a:r>
                        <a:rPr lang="en-US" sz="750" kern="100" dirty="0">
                          <a:effectLst/>
                        </a:rPr>
                        <a:t>"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750" kern="100">
                          <a:effectLst/>
                        </a:rPr>
                        <a:t>不可变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45678726"/>
                  </a:ext>
                </a:extLst>
              </a:tr>
              <a:tr h="26155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750" kern="100">
                          <a:effectLst/>
                        </a:rPr>
                        <a:t>datetime.date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750" kern="100" dirty="0">
                          <a:effectLst/>
                        </a:rPr>
                        <a:t>日期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750" kern="100">
                          <a:effectLst/>
                        </a:rPr>
                        <a:t>datetime.date(2024,5,27)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750" kern="100" dirty="0">
                          <a:effectLst/>
                        </a:rPr>
                        <a:t>不可变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18229553"/>
                  </a:ext>
                </a:extLst>
              </a:tr>
              <a:tr h="26155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750" kern="100">
                          <a:effectLst/>
                        </a:rPr>
                        <a:t>datetime.time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750" kern="100" dirty="0">
                          <a:effectLst/>
                        </a:rPr>
                        <a:t>时间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750" kern="100">
                          <a:effectLst/>
                        </a:rPr>
                        <a:t>datetime.time(15,20,56)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750" kern="100" dirty="0">
                          <a:effectLst/>
                        </a:rPr>
                        <a:t>不可变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76538739"/>
                  </a:ext>
                </a:extLst>
              </a:tr>
              <a:tr h="26155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750" kern="100">
                          <a:effectLst/>
                        </a:rPr>
                        <a:t>datetime.datetime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750" kern="100" dirty="0">
                          <a:effectLst/>
                        </a:rPr>
                        <a:t>日期时间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750" kern="100">
                          <a:effectLst/>
                        </a:rPr>
                        <a:t>datetime.datetime(2024,1,6,20,15,30)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750" kern="100" dirty="0">
                          <a:effectLst/>
                        </a:rPr>
                        <a:t>不可变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14570349"/>
                  </a:ext>
                </a:extLst>
              </a:tr>
              <a:tr h="26155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750" kern="100">
                          <a:effectLst/>
                        </a:rPr>
                        <a:t>list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750" kern="100" dirty="0">
                          <a:effectLst/>
                        </a:rPr>
                        <a:t>列表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750" kern="100">
                          <a:effectLst/>
                        </a:rPr>
                        <a:t>[2,6,3.5]</a:t>
                      </a:r>
                      <a:r>
                        <a:rPr lang="zh-CN" sz="750" kern="100">
                          <a:effectLst/>
                        </a:rPr>
                        <a:t>，</a:t>
                      </a:r>
                      <a:r>
                        <a:rPr lang="en-US" sz="750" kern="100">
                          <a:effectLst/>
                        </a:rPr>
                        <a:t>["</a:t>
                      </a:r>
                      <a:r>
                        <a:rPr lang="zh-CN" sz="750" kern="100">
                          <a:effectLst/>
                        </a:rPr>
                        <a:t>上海</a:t>
                      </a:r>
                      <a:r>
                        <a:rPr lang="en-US" sz="750" kern="100">
                          <a:effectLst/>
                        </a:rPr>
                        <a:t>","</a:t>
                      </a:r>
                      <a:r>
                        <a:rPr lang="zh-CN" sz="750" kern="100">
                          <a:effectLst/>
                        </a:rPr>
                        <a:t>北京</a:t>
                      </a:r>
                      <a:r>
                        <a:rPr lang="en-US" sz="750" kern="100">
                          <a:effectLst/>
                        </a:rPr>
                        <a:t>",12345]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750" kern="100" dirty="0">
                          <a:effectLst/>
                        </a:rPr>
                        <a:t>可变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51806819"/>
                  </a:ext>
                </a:extLst>
              </a:tr>
              <a:tr h="26155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750" kern="100">
                          <a:effectLst/>
                        </a:rPr>
                        <a:t>tuple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750" kern="100" dirty="0">
                          <a:effectLst/>
                        </a:rPr>
                        <a:t>元组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750" kern="100">
                          <a:effectLst/>
                        </a:rPr>
                        <a:t>(4,5.9,3,-1)</a:t>
                      </a:r>
                      <a:r>
                        <a:rPr lang="zh-CN" sz="750" kern="100">
                          <a:effectLst/>
                        </a:rPr>
                        <a:t>，</a:t>
                      </a:r>
                      <a:r>
                        <a:rPr lang="en-US" sz="750" kern="100">
                          <a:effectLst/>
                        </a:rPr>
                        <a:t>(598,"</a:t>
                      </a:r>
                      <a:r>
                        <a:rPr lang="zh-CN" sz="750" kern="100">
                          <a:effectLst/>
                        </a:rPr>
                        <a:t>复旦大学</a:t>
                      </a:r>
                      <a:r>
                        <a:rPr lang="en-US" sz="750" kern="100">
                          <a:effectLst/>
                        </a:rPr>
                        <a:t>","</a:t>
                      </a:r>
                      <a:r>
                        <a:rPr lang="zh-CN" sz="750" kern="100">
                          <a:effectLst/>
                        </a:rPr>
                        <a:t>北京大学</a:t>
                      </a:r>
                      <a:r>
                        <a:rPr lang="en-US" sz="750" kern="100">
                          <a:effectLst/>
                        </a:rPr>
                        <a:t>")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750" kern="100" dirty="0">
                          <a:effectLst/>
                        </a:rPr>
                        <a:t>不可变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90197474"/>
                  </a:ext>
                </a:extLst>
              </a:tr>
              <a:tr h="26155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750" kern="100">
                          <a:effectLst/>
                        </a:rPr>
                        <a:t>dict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750" kern="100">
                          <a:effectLst/>
                        </a:rPr>
                        <a:t>字典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750" kern="100">
                          <a:effectLst/>
                        </a:rPr>
                        <a:t>{101:[1,2],23:"Fudan"}</a:t>
                      </a:r>
                      <a:r>
                        <a:rPr lang="zh-CN" sz="750" kern="100">
                          <a:effectLst/>
                        </a:rPr>
                        <a:t>，</a:t>
                      </a:r>
                      <a:r>
                        <a:rPr lang="en-US" sz="750" kern="100">
                          <a:effectLst/>
                        </a:rPr>
                        <a:t>{"A":95,"E":82,"T":92}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750" kern="100" dirty="0">
                          <a:effectLst/>
                        </a:rPr>
                        <a:t>可变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92124029"/>
                  </a:ext>
                </a:extLst>
              </a:tr>
              <a:tr h="26155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750" kern="100">
                          <a:effectLst/>
                        </a:rPr>
                        <a:t>set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750" kern="100">
                          <a:effectLst/>
                        </a:rPr>
                        <a:t>集合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750" kern="100">
                          <a:effectLst/>
                        </a:rPr>
                        <a:t>{8,2.4,9,"</a:t>
                      </a:r>
                      <a:r>
                        <a:rPr lang="zh-CN" sz="750" kern="100">
                          <a:effectLst/>
                        </a:rPr>
                        <a:t>复旦大学</a:t>
                      </a:r>
                      <a:r>
                        <a:rPr lang="en-US" sz="750" kern="100">
                          <a:effectLst/>
                        </a:rPr>
                        <a:t>"}</a:t>
                      </a:r>
                      <a:r>
                        <a:rPr lang="zh-CN" sz="750" kern="100">
                          <a:effectLst/>
                        </a:rPr>
                        <a:t>，</a:t>
                      </a:r>
                      <a:r>
                        <a:rPr lang="en-US" sz="750" kern="100">
                          <a:effectLst/>
                        </a:rPr>
                        <a:t>{"Fudan","</a:t>
                      </a:r>
                      <a:r>
                        <a:rPr lang="zh-CN" sz="750" kern="100">
                          <a:effectLst/>
                        </a:rPr>
                        <a:t>清华大学</a:t>
                      </a:r>
                      <a:r>
                        <a:rPr lang="en-US" sz="750" kern="100">
                          <a:effectLst/>
                        </a:rPr>
                        <a:t>",3.14159}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750" kern="100" dirty="0">
                          <a:effectLst/>
                        </a:rPr>
                        <a:t>可变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7393767"/>
                  </a:ext>
                </a:extLst>
              </a:tr>
              <a:tr h="26155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750" kern="100">
                          <a:effectLst/>
                        </a:rPr>
                        <a:t>io.IOBase</a:t>
                      </a:r>
                      <a:r>
                        <a:rPr lang="zh-CN" sz="750" kern="100">
                          <a:effectLst/>
                        </a:rPr>
                        <a:t>及其子类型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750" kern="100">
                          <a:effectLst/>
                        </a:rPr>
                        <a:t>文件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750" kern="100" dirty="0">
                          <a:effectLst/>
                        </a:rPr>
                        <a:t>open("d:\\mypythons\\abcd.txt","r")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750" kern="100" dirty="0">
                          <a:effectLst/>
                        </a:rPr>
                        <a:t>不可变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8856788"/>
                  </a:ext>
                </a:extLst>
              </a:tr>
              <a:tr h="26155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750" kern="100">
                          <a:effectLst/>
                        </a:rPr>
                        <a:t>bool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750" kern="100">
                          <a:effectLst/>
                        </a:rPr>
                        <a:t>逻辑类型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750" kern="100" dirty="0">
                          <a:effectLst/>
                        </a:rPr>
                        <a:t>True</a:t>
                      </a:r>
                      <a:r>
                        <a:rPr lang="zh-CN" sz="750" kern="100" dirty="0">
                          <a:effectLst/>
                        </a:rPr>
                        <a:t>，</a:t>
                      </a:r>
                      <a:r>
                        <a:rPr lang="en-US" sz="750" kern="100" dirty="0">
                          <a:effectLst/>
                        </a:rPr>
                        <a:t>False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750" kern="100" dirty="0">
                          <a:effectLst/>
                        </a:rPr>
                        <a:t>不可变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81689113"/>
                  </a:ext>
                </a:extLst>
              </a:tr>
              <a:tr h="26155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750" kern="100">
                          <a:effectLst/>
                        </a:rPr>
                        <a:t>NoneType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750" kern="100">
                          <a:effectLst/>
                        </a:rPr>
                        <a:t>空类型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750" kern="100">
                          <a:effectLst/>
                        </a:rPr>
                        <a:t>None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750" kern="100" dirty="0">
                          <a:effectLst/>
                        </a:rPr>
                        <a:t>不可变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80355683"/>
                  </a:ext>
                </a:extLst>
              </a:tr>
              <a:tr h="26155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750" kern="100">
                          <a:effectLst/>
                        </a:rPr>
                        <a:t>types.BuiltinFunctionType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750" kern="100">
                          <a:effectLst/>
                        </a:rPr>
                        <a:t>内置函数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750" kern="100">
                          <a:effectLst/>
                        </a:rPr>
                        <a:t>print</a:t>
                      </a:r>
                      <a:r>
                        <a:rPr lang="zh-CN" sz="750" kern="100">
                          <a:effectLst/>
                        </a:rPr>
                        <a:t>，</a:t>
                      </a:r>
                      <a:r>
                        <a:rPr lang="en-US" sz="750" kern="100">
                          <a:effectLst/>
                        </a:rPr>
                        <a:t>math.sin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750" kern="100">
                          <a:effectLst/>
                        </a:rPr>
                        <a:t>不可变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93563099"/>
                  </a:ext>
                </a:extLst>
              </a:tr>
              <a:tr h="52311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750" kern="100">
                          <a:effectLst/>
                        </a:rPr>
                        <a:t>types.FunctionType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750" kern="100">
                          <a:effectLst/>
                        </a:rPr>
                        <a:t>函数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750" kern="100">
                          <a:effectLst/>
                        </a:rPr>
                        <a:t>def fun():</a:t>
                      </a:r>
                      <a:endParaRPr lang="zh-CN" sz="1050" kern="10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750" kern="100">
                          <a:effectLst/>
                        </a:rPr>
                        <a:t>    print("Hello World!")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750" kern="100" dirty="0">
                          <a:effectLst/>
                        </a:rPr>
                        <a:t>不可变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84079771"/>
                  </a:ext>
                </a:extLst>
              </a:tr>
              <a:tr h="26155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750" kern="100">
                          <a:effectLst/>
                        </a:rPr>
                        <a:t>types.ModuleType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750" kern="100">
                          <a:effectLst/>
                        </a:rPr>
                        <a:t>模块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750" kern="100">
                          <a:effectLst/>
                        </a:rPr>
                        <a:t>math</a:t>
                      </a:r>
                      <a:r>
                        <a:rPr lang="zh-CN" sz="750" kern="100">
                          <a:effectLst/>
                        </a:rPr>
                        <a:t>，</a:t>
                      </a:r>
                      <a:r>
                        <a:rPr lang="en-US" sz="750" kern="100">
                          <a:effectLst/>
                        </a:rPr>
                        <a:t>random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750" kern="100" dirty="0">
                          <a:effectLst/>
                        </a:rPr>
                        <a:t>不可变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191577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66760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Char char="¡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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" pitchFamily="2" charset="2"/>
              <a:buChar char="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3784B82-C306-45C5-BD43-D8EBB4B7A56D}" type="slidenum">
              <a:rPr lang="en-US" altLang="zh-CN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zh-CN" sz="1400"/>
          </a:p>
        </p:txBody>
      </p:sp>
      <p:sp>
        <p:nvSpPr>
          <p:cNvPr id="17411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对象就是内存中一块区域</a:t>
            </a:r>
          </a:p>
        </p:txBody>
      </p:sp>
      <p:sp>
        <p:nvSpPr>
          <p:cNvPr id="17412" name="Rectangle 5"/>
          <p:cNvSpPr>
            <a:spLocks noChangeArrowheads="1"/>
          </p:cNvSpPr>
          <p:nvPr/>
        </p:nvSpPr>
        <p:spPr bwMode="auto">
          <a:xfrm>
            <a:off x="2286000" y="1219200"/>
            <a:ext cx="2057400" cy="304800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Char char="¡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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" pitchFamily="2" charset="2"/>
              <a:buChar char="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/>
              <a:t>Byte(</a:t>
            </a:r>
            <a:r>
              <a:rPr lang="zh-CN" altLang="en-US" sz="1800"/>
              <a:t>字节</a:t>
            </a:r>
            <a:r>
              <a:rPr lang="en-US" altLang="zh-CN" sz="1800"/>
              <a:t>)</a:t>
            </a:r>
          </a:p>
        </p:txBody>
      </p:sp>
      <p:sp>
        <p:nvSpPr>
          <p:cNvPr id="17413" name="Rectangle 6"/>
          <p:cNvSpPr>
            <a:spLocks noChangeArrowheads="1"/>
          </p:cNvSpPr>
          <p:nvPr/>
        </p:nvSpPr>
        <p:spPr bwMode="auto">
          <a:xfrm>
            <a:off x="2286000" y="1524000"/>
            <a:ext cx="2057400" cy="304800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Char char="¡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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" pitchFamily="2" charset="2"/>
              <a:buChar char="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/>
              <a:t>Byte(</a:t>
            </a:r>
            <a:r>
              <a:rPr lang="zh-CN" altLang="en-US" sz="1800"/>
              <a:t>字节</a:t>
            </a:r>
            <a:r>
              <a:rPr lang="en-US" altLang="zh-CN" sz="1800"/>
              <a:t>)</a:t>
            </a:r>
          </a:p>
        </p:txBody>
      </p:sp>
      <p:sp>
        <p:nvSpPr>
          <p:cNvPr id="17415" name="Rectangle 8"/>
          <p:cNvSpPr>
            <a:spLocks noChangeArrowheads="1"/>
          </p:cNvSpPr>
          <p:nvPr/>
        </p:nvSpPr>
        <p:spPr bwMode="auto">
          <a:xfrm>
            <a:off x="2286000" y="2743200"/>
            <a:ext cx="2057400" cy="304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Char char="¡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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" pitchFamily="2" charset="2"/>
              <a:buChar char="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dirty="0"/>
          </a:p>
        </p:txBody>
      </p:sp>
      <p:sp>
        <p:nvSpPr>
          <p:cNvPr id="17416" name="Rectangle 9"/>
          <p:cNvSpPr>
            <a:spLocks noChangeArrowheads="1"/>
          </p:cNvSpPr>
          <p:nvPr/>
        </p:nvSpPr>
        <p:spPr bwMode="auto">
          <a:xfrm>
            <a:off x="2286000" y="3048000"/>
            <a:ext cx="2057400" cy="304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Char char="¡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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" pitchFamily="2" charset="2"/>
              <a:buChar char="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dirty="0"/>
          </a:p>
        </p:txBody>
      </p:sp>
      <p:sp>
        <p:nvSpPr>
          <p:cNvPr id="17417" name="Rectangle 10"/>
          <p:cNvSpPr>
            <a:spLocks noChangeArrowheads="1"/>
          </p:cNvSpPr>
          <p:nvPr/>
        </p:nvSpPr>
        <p:spPr bwMode="auto">
          <a:xfrm>
            <a:off x="2286000" y="3352800"/>
            <a:ext cx="2057400" cy="304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Char char="¡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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" pitchFamily="2" charset="2"/>
              <a:buChar char="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dirty="0"/>
          </a:p>
        </p:txBody>
      </p:sp>
      <p:sp>
        <p:nvSpPr>
          <p:cNvPr id="17418" name="Rectangle 13"/>
          <p:cNvSpPr>
            <a:spLocks noChangeArrowheads="1"/>
          </p:cNvSpPr>
          <p:nvPr/>
        </p:nvSpPr>
        <p:spPr bwMode="auto">
          <a:xfrm>
            <a:off x="2286000" y="1828800"/>
            <a:ext cx="2057400" cy="304800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Char char="¡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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" pitchFamily="2" charset="2"/>
              <a:buChar char="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Byte(</a:t>
            </a:r>
            <a:r>
              <a:rPr lang="zh-CN" altLang="en-US" sz="1800" dirty="0"/>
              <a:t>字节</a:t>
            </a:r>
            <a:r>
              <a:rPr lang="en-US" altLang="zh-CN" sz="1800" dirty="0"/>
              <a:t>)</a:t>
            </a:r>
          </a:p>
        </p:txBody>
      </p:sp>
      <p:sp>
        <p:nvSpPr>
          <p:cNvPr id="17419" name="Rectangle 14"/>
          <p:cNvSpPr>
            <a:spLocks noChangeArrowheads="1"/>
          </p:cNvSpPr>
          <p:nvPr/>
        </p:nvSpPr>
        <p:spPr bwMode="auto">
          <a:xfrm>
            <a:off x="2286000" y="2133600"/>
            <a:ext cx="2057400" cy="304800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Char char="¡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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" pitchFamily="2" charset="2"/>
              <a:buChar char="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/>
              <a:t>Byte(</a:t>
            </a:r>
            <a:r>
              <a:rPr lang="zh-CN" altLang="en-US" sz="1800"/>
              <a:t>字节</a:t>
            </a:r>
            <a:r>
              <a:rPr lang="en-US" altLang="zh-CN" sz="1800"/>
              <a:t>)</a:t>
            </a:r>
          </a:p>
        </p:txBody>
      </p:sp>
      <p:sp>
        <p:nvSpPr>
          <p:cNvPr id="17420" name="Rectangle 15"/>
          <p:cNvSpPr>
            <a:spLocks noChangeArrowheads="1"/>
          </p:cNvSpPr>
          <p:nvPr/>
        </p:nvSpPr>
        <p:spPr bwMode="auto">
          <a:xfrm>
            <a:off x="2286000" y="3657600"/>
            <a:ext cx="2057400" cy="304800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Char char="¡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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" pitchFamily="2" charset="2"/>
              <a:buChar char="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/>
              <a:t>Byte(</a:t>
            </a:r>
            <a:r>
              <a:rPr lang="zh-CN" altLang="en-US" sz="1800"/>
              <a:t>字节</a:t>
            </a:r>
            <a:r>
              <a:rPr lang="en-US" altLang="zh-CN" sz="1800"/>
              <a:t>)</a:t>
            </a:r>
          </a:p>
        </p:txBody>
      </p:sp>
      <p:sp>
        <p:nvSpPr>
          <p:cNvPr id="17421" name="Rectangle 16"/>
          <p:cNvSpPr>
            <a:spLocks noChangeArrowheads="1"/>
          </p:cNvSpPr>
          <p:nvPr/>
        </p:nvSpPr>
        <p:spPr bwMode="auto">
          <a:xfrm>
            <a:off x="2286000" y="3962400"/>
            <a:ext cx="2057400" cy="304800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Char char="¡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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" pitchFamily="2" charset="2"/>
              <a:buChar char="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/>
              <a:t>Byte(</a:t>
            </a:r>
            <a:r>
              <a:rPr lang="zh-CN" altLang="en-US" sz="1800"/>
              <a:t>字节</a:t>
            </a:r>
            <a:r>
              <a:rPr lang="en-US" altLang="zh-CN" sz="1800"/>
              <a:t>)</a:t>
            </a:r>
          </a:p>
        </p:txBody>
      </p:sp>
      <p:sp>
        <p:nvSpPr>
          <p:cNvPr id="17422" name="Rectangle 17"/>
          <p:cNvSpPr>
            <a:spLocks noChangeArrowheads="1"/>
          </p:cNvSpPr>
          <p:nvPr/>
        </p:nvSpPr>
        <p:spPr bwMode="auto">
          <a:xfrm>
            <a:off x="2286000" y="4876800"/>
            <a:ext cx="2057400" cy="304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Char char="¡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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" pitchFamily="2" charset="2"/>
              <a:buChar char="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/>
              <a:t>Byte(</a:t>
            </a:r>
            <a:r>
              <a:rPr lang="zh-CN" altLang="en-US" sz="1800"/>
              <a:t>字节</a:t>
            </a:r>
            <a:r>
              <a:rPr lang="en-US" altLang="zh-CN" sz="1800"/>
              <a:t>)</a:t>
            </a:r>
          </a:p>
        </p:txBody>
      </p:sp>
      <p:sp>
        <p:nvSpPr>
          <p:cNvPr id="17423" name="Rectangle 18"/>
          <p:cNvSpPr>
            <a:spLocks noChangeArrowheads="1"/>
          </p:cNvSpPr>
          <p:nvPr/>
        </p:nvSpPr>
        <p:spPr bwMode="auto">
          <a:xfrm>
            <a:off x="2286000" y="5181600"/>
            <a:ext cx="2057400" cy="304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Char char="¡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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" pitchFamily="2" charset="2"/>
              <a:buChar char="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/>
              <a:t>Byte(</a:t>
            </a:r>
            <a:r>
              <a:rPr lang="zh-CN" altLang="en-US" sz="1800"/>
              <a:t>字节</a:t>
            </a:r>
            <a:r>
              <a:rPr lang="en-US" altLang="zh-CN" sz="1800"/>
              <a:t>)</a:t>
            </a:r>
          </a:p>
        </p:txBody>
      </p:sp>
      <p:sp>
        <p:nvSpPr>
          <p:cNvPr id="17424" name="Rectangle 19"/>
          <p:cNvSpPr>
            <a:spLocks noChangeArrowheads="1"/>
          </p:cNvSpPr>
          <p:nvPr/>
        </p:nvSpPr>
        <p:spPr bwMode="auto">
          <a:xfrm>
            <a:off x="2286000" y="5486400"/>
            <a:ext cx="2057400" cy="304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Char char="¡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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" pitchFamily="2" charset="2"/>
              <a:buChar char="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/>
              <a:t>Byte(</a:t>
            </a:r>
            <a:r>
              <a:rPr lang="zh-CN" altLang="en-US" sz="1800"/>
              <a:t>字节</a:t>
            </a:r>
            <a:r>
              <a:rPr lang="en-US" altLang="zh-CN" sz="1800"/>
              <a:t>)</a:t>
            </a:r>
          </a:p>
        </p:txBody>
      </p:sp>
      <p:sp>
        <p:nvSpPr>
          <p:cNvPr id="17425" name="Rectangle 20"/>
          <p:cNvSpPr>
            <a:spLocks noChangeArrowheads="1"/>
          </p:cNvSpPr>
          <p:nvPr/>
        </p:nvSpPr>
        <p:spPr bwMode="auto">
          <a:xfrm>
            <a:off x="2286000" y="5791200"/>
            <a:ext cx="2057400" cy="304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Char char="¡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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" pitchFamily="2" charset="2"/>
              <a:buChar char="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/>
              <a:t>Byte(</a:t>
            </a:r>
            <a:r>
              <a:rPr lang="zh-CN" altLang="en-US" sz="1800"/>
              <a:t>字节</a:t>
            </a:r>
            <a:r>
              <a:rPr lang="en-US" altLang="zh-CN" sz="1800"/>
              <a:t>)</a:t>
            </a:r>
          </a:p>
        </p:txBody>
      </p:sp>
      <p:sp>
        <p:nvSpPr>
          <p:cNvPr id="17426" name="Rectangle 21"/>
          <p:cNvSpPr>
            <a:spLocks noChangeArrowheads="1"/>
          </p:cNvSpPr>
          <p:nvPr/>
        </p:nvSpPr>
        <p:spPr bwMode="auto">
          <a:xfrm>
            <a:off x="2286000" y="4267200"/>
            <a:ext cx="2057400" cy="304800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Char char="¡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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" pitchFamily="2" charset="2"/>
              <a:buChar char="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/>
              <a:t>Byte(</a:t>
            </a:r>
            <a:r>
              <a:rPr lang="zh-CN" altLang="en-US" sz="1800"/>
              <a:t>字节</a:t>
            </a:r>
            <a:r>
              <a:rPr lang="en-US" altLang="zh-CN" sz="1800"/>
              <a:t>)</a:t>
            </a:r>
          </a:p>
        </p:txBody>
      </p:sp>
      <p:sp>
        <p:nvSpPr>
          <p:cNvPr id="17427" name="Rectangle 22"/>
          <p:cNvSpPr>
            <a:spLocks noChangeArrowheads="1"/>
          </p:cNvSpPr>
          <p:nvPr/>
        </p:nvSpPr>
        <p:spPr bwMode="auto">
          <a:xfrm>
            <a:off x="2286000" y="4572000"/>
            <a:ext cx="2057400" cy="1524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Char char="¡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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" pitchFamily="2" charset="2"/>
              <a:buChar char="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i="1" dirty="0"/>
              <a:t>2024-08-30</a:t>
            </a:r>
          </a:p>
        </p:txBody>
      </p:sp>
      <p:sp>
        <p:nvSpPr>
          <p:cNvPr id="17428" name="AutoShape 23"/>
          <p:cNvSpPr>
            <a:spLocks noChangeArrowheads="1"/>
          </p:cNvSpPr>
          <p:nvPr/>
        </p:nvSpPr>
        <p:spPr bwMode="auto">
          <a:xfrm>
            <a:off x="2286000" y="6096000"/>
            <a:ext cx="2057400" cy="609600"/>
          </a:xfrm>
          <a:prstGeom prst="flowChartDocument">
            <a:avLst/>
          </a:prstGeom>
          <a:solidFill>
            <a:schemeClr val="bg2">
              <a:lumMod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Char char="¡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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" pitchFamily="2" charset="2"/>
              <a:buChar char="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17432" name="Text Box 56"/>
          <p:cNvSpPr txBox="1">
            <a:spLocks noChangeArrowheads="1"/>
          </p:cNvSpPr>
          <p:nvPr/>
        </p:nvSpPr>
        <p:spPr bwMode="auto">
          <a:xfrm>
            <a:off x="3027402" y="6172200"/>
            <a:ext cx="553998" cy="40011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txBody>
          <a:bodyPr vert="eaVert"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Char char="¡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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" pitchFamily="2" charset="2"/>
              <a:buChar char="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/>
              <a:t>…</a:t>
            </a:r>
          </a:p>
        </p:txBody>
      </p:sp>
      <p:sp>
        <p:nvSpPr>
          <p:cNvPr id="17414" name="Rectangle 7"/>
          <p:cNvSpPr>
            <a:spLocks noChangeArrowheads="1"/>
          </p:cNvSpPr>
          <p:nvPr/>
        </p:nvSpPr>
        <p:spPr bwMode="auto">
          <a:xfrm>
            <a:off x="2286000" y="2438400"/>
            <a:ext cx="2057400" cy="12192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Char char="¡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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" pitchFamily="2" charset="2"/>
              <a:buChar char="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800" i="1" dirty="0"/>
              <a:t>3.14</a:t>
            </a:r>
            <a:endParaRPr lang="en-US" altLang="zh-CN" sz="4400" i="1" dirty="0"/>
          </a:p>
        </p:txBody>
      </p:sp>
    </p:spTree>
    <p:extLst>
      <p:ext uri="{BB962C8B-B14F-4D97-AF65-F5344CB8AC3E}">
        <p14:creationId xmlns:p14="http://schemas.microsoft.com/office/powerpoint/2010/main" val="15723737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/>
              <a:t>为变量赋值（</a:t>
            </a:r>
            <a:r>
              <a:rPr lang="en-US" altLang="zh-CN" dirty="0">
                <a:solidFill>
                  <a:srgbClr val="0000FF"/>
                </a:solidFill>
              </a:rPr>
              <a:t>=</a:t>
            </a:r>
            <a:r>
              <a:rPr lang="zh-CN" altLang="en-US" dirty="0"/>
              <a:t>）</a:t>
            </a:r>
          </a:p>
        </p:txBody>
      </p:sp>
      <p:sp>
        <p:nvSpPr>
          <p:cNvPr id="36" name="内容占位符 3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zh-CN" sz="2000" dirty="0">
                <a:latin typeface="宋体" pitchFamily="2" charset="-122"/>
              </a:rPr>
              <a:t>在Python中，</a:t>
            </a:r>
            <a:endParaRPr lang="en-US" altLang="zh-CN" sz="2000" dirty="0">
              <a:latin typeface="宋体" pitchFamily="2" charset="-122"/>
            </a:endParaRPr>
          </a:p>
          <a:p>
            <a:pPr marL="0" indent="0">
              <a:buNone/>
            </a:pPr>
            <a:r>
              <a:rPr lang="zh-CN" altLang="zh-CN" sz="2000" dirty="0">
                <a:latin typeface="宋体" pitchFamily="2" charset="-122"/>
              </a:rPr>
              <a:t>不需要事先声明变量名及其类型，</a:t>
            </a:r>
            <a:endParaRPr lang="en-US" altLang="zh-CN" sz="2000" dirty="0">
              <a:latin typeface="宋体" pitchFamily="2" charset="-122"/>
            </a:endParaRPr>
          </a:p>
          <a:p>
            <a:pPr marL="0" indent="0">
              <a:buNone/>
            </a:pPr>
            <a:r>
              <a:rPr lang="zh-CN" altLang="zh-CN" sz="2000" dirty="0">
                <a:latin typeface="宋体" pitchFamily="2" charset="-122"/>
              </a:rPr>
              <a:t>直接赋值即可创建各种类型的变量。</a:t>
            </a:r>
            <a:endParaRPr lang="en-US" altLang="zh-CN" sz="2000" dirty="0">
              <a:latin typeface="宋体" pitchFamily="2" charset="-122"/>
            </a:endParaRPr>
          </a:p>
          <a:p>
            <a:endParaRPr lang="zh-CN" altLang="en-US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25</a:t>
            </a:fld>
            <a:endParaRPr lang="zh-CN" altLang="en-US"/>
          </a:p>
        </p:txBody>
      </p:sp>
      <p:grpSp>
        <p:nvGrpSpPr>
          <p:cNvPr id="35" name="组合 34"/>
          <p:cNvGrpSpPr/>
          <p:nvPr/>
        </p:nvGrpSpPr>
        <p:grpSpPr>
          <a:xfrm>
            <a:off x="7444892" y="482103"/>
            <a:ext cx="2418895" cy="4609952"/>
            <a:chOff x="5920891" y="482103"/>
            <a:chExt cx="2418895" cy="4609952"/>
          </a:xfrm>
        </p:grpSpPr>
        <p:grpSp>
          <p:nvGrpSpPr>
            <p:cNvPr id="5" name="组合 4"/>
            <p:cNvGrpSpPr/>
            <p:nvPr/>
          </p:nvGrpSpPr>
          <p:grpSpPr>
            <a:xfrm>
              <a:off x="6611054" y="482103"/>
              <a:ext cx="1728732" cy="4609952"/>
              <a:chOff x="5033475" y="1184400"/>
              <a:chExt cx="2057400" cy="5486400"/>
            </a:xfrm>
          </p:grpSpPr>
          <p:sp>
            <p:nvSpPr>
              <p:cNvPr id="6" name="Rectangle 5"/>
              <p:cNvSpPr>
                <a:spLocks noChangeArrowheads="1"/>
              </p:cNvSpPr>
              <p:nvPr/>
            </p:nvSpPr>
            <p:spPr bwMode="auto">
              <a:xfrm>
                <a:off x="5033475" y="1184400"/>
                <a:ext cx="2057400" cy="304800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85000"/>
                  <a:buFont typeface="Wingdings 2" pitchFamily="18" charset="2"/>
                  <a:buChar char="¡"/>
                  <a:defRPr sz="32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itchFamily="2" charset="2"/>
                  <a:buChar char=""/>
                  <a:defRPr sz="28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4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0000"/>
                  <a:buFont typeface="Wingdings" pitchFamily="2" charset="2"/>
                  <a:buChar char="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400" dirty="0"/>
                  <a:t>Byte(</a:t>
                </a:r>
                <a:r>
                  <a:rPr lang="zh-CN" altLang="en-US" sz="1400" dirty="0"/>
                  <a:t>字节</a:t>
                </a:r>
                <a:r>
                  <a:rPr lang="en-US" altLang="zh-CN" sz="1400" dirty="0"/>
                  <a:t>)</a:t>
                </a:r>
              </a:p>
            </p:txBody>
          </p:sp>
          <p:sp>
            <p:nvSpPr>
              <p:cNvPr id="7" name="Rectangle 6"/>
              <p:cNvSpPr>
                <a:spLocks noChangeArrowheads="1"/>
              </p:cNvSpPr>
              <p:nvPr/>
            </p:nvSpPr>
            <p:spPr bwMode="auto">
              <a:xfrm>
                <a:off x="5033475" y="1489200"/>
                <a:ext cx="2057400" cy="304800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85000"/>
                  <a:buFont typeface="Wingdings 2" pitchFamily="18" charset="2"/>
                  <a:buChar char="¡"/>
                  <a:defRPr sz="32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itchFamily="2" charset="2"/>
                  <a:buChar char=""/>
                  <a:defRPr sz="28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4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0000"/>
                  <a:buFont typeface="Wingdings" pitchFamily="2" charset="2"/>
                  <a:buChar char="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400"/>
                  <a:t>Byte(</a:t>
                </a:r>
                <a:r>
                  <a:rPr lang="zh-CN" altLang="en-US" sz="1400"/>
                  <a:t>字节</a:t>
                </a:r>
                <a:r>
                  <a:rPr lang="en-US" altLang="zh-CN" sz="1400"/>
                  <a:t>)</a:t>
                </a:r>
              </a:p>
            </p:txBody>
          </p:sp>
          <p:sp>
            <p:nvSpPr>
              <p:cNvPr id="8" name="Rectangle 8"/>
              <p:cNvSpPr>
                <a:spLocks noChangeArrowheads="1"/>
              </p:cNvSpPr>
              <p:nvPr/>
            </p:nvSpPr>
            <p:spPr bwMode="auto">
              <a:xfrm>
                <a:off x="5033475" y="2708400"/>
                <a:ext cx="2057400" cy="3048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85000"/>
                  <a:buFont typeface="Wingdings 2" pitchFamily="18" charset="2"/>
                  <a:buChar char="¡"/>
                  <a:defRPr sz="32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itchFamily="2" charset="2"/>
                  <a:buChar char=""/>
                  <a:defRPr sz="28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4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0000"/>
                  <a:buFont typeface="Wingdings" pitchFamily="2" charset="2"/>
                  <a:buChar char="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dirty="0"/>
              </a:p>
            </p:txBody>
          </p:sp>
          <p:sp>
            <p:nvSpPr>
              <p:cNvPr id="9" name="Rectangle 9"/>
              <p:cNvSpPr>
                <a:spLocks noChangeArrowheads="1"/>
              </p:cNvSpPr>
              <p:nvPr/>
            </p:nvSpPr>
            <p:spPr bwMode="auto">
              <a:xfrm>
                <a:off x="5033475" y="3013200"/>
                <a:ext cx="2057400" cy="3048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85000"/>
                  <a:buFont typeface="Wingdings 2" pitchFamily="18" charset="2"/>
                  <a:buChar char="¡"/>
                  <a:defRPr sz="32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itchFamily="2" charset="2"/>
                  <a:buChar char=""/>
                  <a:defRPr sz="28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4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0000"/>
                  <a:buFont typeface="Wingdings" pitchFamily="2" charset="2"/>
                  <a:buChar char="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dirty="0"/>
              </a:p>
            </p:txBody>
          </p:sp>
          <p:sp>
            <p:nvSpPr>
              <p:cNvPr id="10" name="Rectangle 10"/>
              <p:cNvSpPr>
                <a:spLocks noChangeArrowheads="1"/>
              </p:cNvSpPr>
              <p:nvPr/>
            </p:nvSpPr>
            <p:spPr bwMode="auto">
              <a:xfrm>
                <a:off x="5033475" y="3318000"/>
                <a:ext cx="2057400" cy="3048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85000"/>
                  <a:buFont typeface="Wingdings 2" pitchFamily="18" charset="2"/>
                  <a:buChar char="¡"/>
                  <a:defRPr sz="32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itchFamily="2" charset="2"/>
                  <a:buChar char=""/>
                  <a:defRPr sz="28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4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0000"/>
                  <a:buFont typeface="Wingdings" pitchFamily="2" charset="2"/>
                  <a:buChar char="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dirty="0"/>
              </a:p>
            </p:txBody>
          </p:sp>
          <p:sp>
            <p:nvSpPr>
              <p:cNvPr id="11" name="Rectangle 13"/>
              <p:cNvSpPr>
                <a:spLocks noChangeArrowheads="1"/>
              </p:cNvSpPr>
              <p:nvPr/>
            </p:nvSpPr>
            <p:spPr bwMode="auto">
              <a:xfrm>
                <a:off x="5033475" y="1794000"/>
                <a:ext cx="2057400" cy="304800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85000"/>
                  <a:buFont typeface="Wingdings 2" pitchFamily="18" charset="2"/>
                  <a:buChar char="¡"/>
                  <a:defRPr sz="32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itchFamily="2" charset="2"/>
                  <a:buChar char=""/>
                  <a:defRPr sz="28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4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0000"/>
                  <a:buFont typeface="Wingdings" pitchFamily="2" charset="2"/>
                  <a:buChar char="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400" dirty="0"/>
                  <a:t>Byte(</a:t>
                </a:r>
                <a:r>
                  <a:rPr lang="zh-CN" altLang="en-US" sz="1400" dirty="0"/>
                  <a:t>字节</a:t>
                </a:r>
                <a:r>
                  <a:rPr lang="en-US" altLang="zh-CN" sz="1400" dirty="0"/>
                  <a:t>)</a:t>
                </a:r>
              </a:p>
            </p:txBody>
          </p:sp>
          <p:sp>
            <p:nvSpPr>
              <p:cNvPr id="12" name="Rectangle 14"/>
              <p:cNvSpPr>
                <a:spLocks noChangeArrowheads="1"/>
              </p:cNvSpPr>
              <p:nvPr/>
            </p:nvSpPr>
            <p:spPr bwMode="auto">
              <a:xfrm>
                <a:off x="5033475" y="2098800"/>
                <a:ext cx="2057400" cy="304800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85000"/>
                  <a:buFont typeface="Wingdings 2" pitchFamily="18" charset="2"/>
                  <a:buChar char="¡"/>
                  <a:defRPr sz="32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itchFamily="2" charset="2"/>
                  <a:buChar char=""/>
                  <a:defRPr sz="28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4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0000"/>
                  <a:buFont typeface="Wingdings" pitchFamily="2" charset="2"/>
                  <a:buChar char="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400"/>
                  <a:t>Byte(</a:t>
                </a:r>
                <a:r>
                  <a:rPr lang="zh-CN" altLang="en-US" sz="1400"/>
                  <a:t>字节</a:t>
                </a:r>
                <a:r>
                  <a:rPr lang="en-US" altLang="zh-CN" sz="1400"/>
                  <a:t>)</a:t>
                </a:r>
              </a:p>
            </p:txBody>
          </p:sp>
          <p:sp>
            <p:nvSpPr>
              <p:cNvPr id="13" name="Rectangle 15"/>
              <p:cNvSpPr>
                <a:spLocks noChangeArrowheads="1"/>
              </p:cNvSpPr>
              <p:nvPr/>
            </p:nvSpPr>
            <p:spPr bwMode="auto">
              <a:xfrm>
                <a:off x="5033475" y="3622800"/>
                <a:ext cx="2057400" cy="304800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85000"/>
                  <a:buFont typeface="Wingdings 2" pitchFamily="18" charset="2"/>
                  <a:buChar char="¡"/>
                  <a:defRPr sz="32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itchFamily="2" charset="2"/>
                  <a:buChar char=""/>
                  <a:defRPr sz="28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4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0000"/>
                  <a:buFont typeface="Wingdings" pitchFamily="2" charset="2"/>
                  <a:buChar char="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400"/>
                  <a:t>Byte(</a:t>
                </a:r>
                <a:r>
                  <a:rPr lang="zh-CN" altLang="en-US" sz="1400"/>
                  <a:t>字节</a:t>
                </a:r>
                <a:r>
                  <a:rPr lang="en-US" altLang="zh-CN" sz="1400"/>
                  <a:t>)</a:t>
                </a:r>
              </a:p>
            </p:txBody>
          </p:sp>
          <p:sp>
            <p:nvSpPr>
              <p:cNvPr id="14" name="Rectangle 16"/>
              <p:cNvSpPr>
                <a:spLocks noChangeArrowheads="1"/>
              </p:cNvSpPr>
              <p:nvPr/>
            </p:nvSpPr>
            <p:spPr bwMode="auto">
              <a:xfrm>
                <a:off x="5033475" y="3927600"/>
                <a:ext cx="2057400" cy="304800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85000"/>
                  <a:buFont typeface="Wingdings 2" pitchFamily="18" charset="2"/>
                  <a:buChar char="¡"/>
                  <a:defRPr sz="32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itchFamily="2" charset="2"/>
                  <a:buChar char=""/>
                  <a:defRPr sz="28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4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0000"/>
                  <a:buFont typeface="Wingdings" pitchFamily="2" charset="2"/>
                  <a:buChar char="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400"/>
                  <a:t>Byte(</a:t>
                </a:r>
                <a:r>
                  <a:rPr lang="zh-CN" altLang="en-US" sz="1400"/>
                  <a:t>字节</a:t>
                </a:r>
                <a:r>
                  <a:rPr lang="en-US" altLang="zh-CN" sz="1400"/>
                  <a:t>)</a:t>
                </a:r>
              </a:p>
            </p:txBody>
          </p:sp>
          <p:sp>
            <p:nvSpPr>
              <p:cNvPr id="15" name="Rectangle 17"/>
              <p:cNvSpPr>
                <a:spLocks noChangeArrowheads="1"/>
              </p:cNvSpPr>
              <p:nvPr/>
            </p:nvSpPr>
            <p:spPr bwMode="auto">
              <a:xfrm>
                <a:off x="5033475" y="4842000"/>
                <a:ext cx="2057400" cy="3048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85000"/>
                  <a:buFont typeface="Wingdings 2" pitchFamily="18" charset="2"/>
                  <a:buChar char="¡"/>
                  <a:defRPr sz="32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itchFamily="2" charset="2"/>
                  <a:buChar char=""/>
                  <a:defRPr sz="28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4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0000"/>
                  <a:buFont typeface="Wingdings" pitchFamily="2" charset="2"/>
                  <a:buChar char="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/>
                  <a:t>Byte(</a:t>
                </a:r>
                <a:r>
                  <a:rPr lang="zh-CN" altLang="en-US" sz="1800"/>
                  <a:t>字节</a:t>
                </a:r>
                <a:r>
                  <a:rPr lang="en-US" altLang="zh-CN" sz="1800"/>
                  <a:t>)</a:t>
                </a:r>
              </a:p>
            </p:txBody>
          </p:sp>
          <p:sp>
            <p:nvSpPr>
              <p:cNvPr id="16" name="Rectangle 18"/>
              <p:cNvSpPr>
                <a:spLocks noChangeArrowheads="1"/>
              </p:cNvSpPr>
              <p:nvPr/>
            </p:nvSpPr>
            <p:spPr bwMode="auto">
              <a:xfrm>
                <a:off x="5033475" y="5146800"/>
                <a:ext cx="2057400" cy="3048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85000"/>
                  <a:buFont typeface="Wingdings 2" pitchFamily="18" charset="2"/>
                  <a:buChar char="¡"/>
                  <a:defRPr sz="32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itchFamily="2" charset="2"/>
                  <a:buChar char=""/>
                  <a:defRPr sz="28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4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0000"/>
                  <a:buFont typeface="Wingdings" pitchFamily="2" charset="2"/>
                  <a:buChar char="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/>
                  <a:t>Byte(</a:t>
                </a:r>
                <a:r>
                  <a:rPr lang="zh-CN" altLang="en-US" sz="1800"/>
                  <a:t>字节</a:t>
                </a:r>
                <a:r>
                  <a:rPr lang="en-US" altLang="zh-CN" sz="1800"/>
                  <a:t>)</a:t>
                </a:r>
              </a:p>
            </p:txBody>
          </p:sp>
          <p:sp>
            <p:nvSpPr>
              <p:cNvPr id="17" name="Rectangle 19"/>
              <p:cNvSpPr>
                <a:spLocks noChangeArrowheads="1"/>
              </p:cNvSpPr>
              <p:nvPr/>
            </p:nvSpPr>
            <p:spPr bwMode="auto">
              <a:xfrm>
                <a:off x="5033475" y="5451600"/>
                <a:ext cx="2057400" cy="3048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85000"/>
                  <a:buFont typeface="Wingdings 2" pitchFamily="18" charset="2"/>
                  <a:buChar char="¡"/>
                  <a:defRPr sz="32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itchFamily="2" charset="2"/>
                  <a:buChar char=""/>
                  <a:defRPr sz="28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4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0000"/>
                  <a:buFont typeface="Wingdings" pitchFamily="2" charset="2"/>
                  <a:buChar char="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/>
                  <a:t>Byte(</a:t>
                </a:r>
                <a:r>
                  <a:rPr lang="zh-CN" altLang="en-US" sz="1800"/>
                  <a:t>字节</a:t>
                </a:r>
                <a:r>
                  <a:rPr lang="en-US" altLang="zh-CN" sz="1800"/>
                  <a:t>)</a:t>
                </a:r>
              </a:p>
            </p:txBody>
          </p:sp>
          <p:sp>
            <p:nvSpPr>
              <p:cNvPr id="18" name="Rectangle 20"/>
              <p:cNvSpPr>
                <a:spLocks noChangeArrowheads="1"/>
              </p:cNvSpPr>
              <p:nvPr/>
            </p:nvSpPr>
            <p:spPr bwMode="auto">
              <a:xfrm>
                <a:off x="5033475" y="5756400"/>
                <a:ext cx="2057400" cy="304800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85000"/>
                  <a:buFont typeface="Wingdings 2" pitchFamily="18" charset="2"/>
                  <a:buChar char="¡"/>
                  <a:defRPr sz="32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itchFamily="2" charset="2"/>
                  <a:buChar char=""/>
                  <a:defRPr sz="28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4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0000"/>
                  <a:buFont typeface="Wingdings" pitchFamily="2" charset="2"/>
                  <a:buChar char="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400" dirty="0"/>
                  <a:t>Byte(</a:t>
                </a:r>
                <a:r>
                  <a:rPr lang="zh-CN" altLang="en-US" sz="1400" dirty="0"/>
                  <a:t>字节</a:t>
                </a:r>
                <a:r>
                  <a:rPr lang="en-US" altLang="zh-CN" sz="1400" dirty="0"/>
                  <a:t>)</a:t>
                </a:r>
              </a:p>
            </p:txBody>
          </p:sp>
          <p:sp>
            <p:nvSpPr>
              <p:cNvPr id="19" name="Rectangle 21"/>
              <p:cNvSpPr>
                <a:spLocks noChangeArrowheads="1"/>
              </p:cNvSpPr>
              <p:nvPr/>
            </p:nvSpPr>
            <p:spPr bwMode="auto">
              <a:xfrm>
                <a:off x="5033475" y="4232400"/>
                <a:ext cx="2057400" cy="304800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85000"/>
                  <a:buFont typeface="Wingdings 2" pitchFamily="18" charset="2"/>
                  <a:buChar char="¡"/>
                  <a:defRPr sz="32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itchFamily="2" charset="2"/>
                  <a:buChar char=""/>
                  <a:defRPr sz="28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4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0000"/>
                  <a:buFont typeface="Wingdings" pitchFamily="2" charset="2"/>
                  <a:buChar char="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400" dirty="0"/>
                  <a:t>Byte(</a:t>
                </a:r>
                <a:r>
                  <a:rPr lang="zh-CN" altLang="en-US" sz="1400" dirty="0"/>
                  <a:t>字节</a:t>
                </a:r>
                <a:r>
                  <a:rPr lang="en-US" altLang="zh-CN" sz="1400" dirty="0"/>
                  <a:t>)</a:t>
                </a:r>
              </a:p>
            </p:txBody>
          </p:sp>
          <p:sp>
            <p:nvSpPr>
              <p:cNvPr id="20" name="Rectangle 22"/>
              <p:cNvSpPr>
                <a:spLocks noChangeArrowheads="1"/>
              </p:cNvSpPr>
              <p:nvPr/>
            </p:nvSpPr>
            <p:spPr bwMode="auto">
              <a:xfrm>
                <a:off x="5033475" y="4537200"/>
                <a:ext cx="2057400" cy="12192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85000"/>
                  <a:buFont typeface="Wingdings 2" pitchFamily="18" charset="2"/>
                  <a:buChar char="¡"/>
                  <a:defRPr sz="32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itchFamily="2" charset="2"/>
                  <a:buChar char=""/>
                  <a:defRPr sz="28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4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0000"/>
                  <a:buFont typeface="Wingdings" pitchFamily="2" charset="2"/>
                  <a:buChar char="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i="1" dirty="0"/>
                  <a:t>"Hello World!"</a:t>
                </a:r>
              </a:p>
            </p:txBody>
          </p:sp>
          <p:sp>
            <p:nvSpPr>
              <p:cNvPr id="21" name="AutoShape 23"/>
              <p:cNvSpPr>
                <a:spLocks noChangeArrowheads="1"/>
              </p:cNvSpPr>
              <p:nvPr/>
            </p:nvSpPr>
            <p:spPr bwMode="auto">
              <a:xfrm>
                <a:off x="5033475" y="6061200"/>
                <a:ext cx="2057400" cy="609600"/>
              </a:xfrm>
              <a:prstGeom prst="flowChartDocument">
                <a:avLst/>
              </a:prstGeom>
              <a:solidFill>
                <a:schemeClr val="bg2">
                  <a:lumMod val="9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85000"/>
                  <a:buFont typeface="Wingdings 2" pitchFamily="18" charset="2"/>
                  <a:buChar char="¡"/>
                  <a:defRPr sz="32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itchFamily="2" charset="2"/>
                  <a:buChar char=""/>
                  <a:defRPr sz="28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4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0000"/>
                  <a:buFont typeface="Wingdings" pitchFamily="2" charset="2"/>
                  <a:buChar char="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22" name="Text Box 56"/>
              <p:cNvSpPr txBox="1">
                <a:spLocks noChangeArrowheads="1"/>
              </p:cNvSpPr>
              <p:nvPr/>
            </p:nvSpPr>
            <p:spPr bwMode="auto">
              <a:xfrm>
                <a:off x="5669551" y="6137400"/>
                <a:ext cx="659325" cy="476179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txBody>
              <a:bodyPr vert="eaVert"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85000"/>
                  <a:buFont typeface="Wingdings 2" pitchFamily="18" charset="2"/>
                  <a:buChar char="¡"/>
                  <a:defRPr sz="32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itchFamily="2" charset="2"/>
                  <a:buChar char=""/>
                  <a:defRPr sz="28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4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0000"/>
                  <a:buFont typeface="Wingdings" pitchFamily="2" charset="2"/>
                  <a:buChar char="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/>
                  <a:t>…</a:t>
                </a:r>
              </a:p>
            </p:txBody>
          </p:sp>
          <p:sp>
            <p:nvSpPr>
              <p:cNvPr id="23" name="Rectangle 7"/>
              <p:cNvSpPr>
                <a:spLocks noChangeArrowheads="1"/>
              </p:cNvSpPr>
              <p:nvPr/>
            </p:nvSpPr>
            <p:spPr bwMode="auto">
              <a:xfrm>
                <a:off x="5033475" y="2403600"/>
                <a:ext cx="2057400" cy="12192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85000"/>
                  <a:buFont typeface="Wingdings 2" pitchFamily="18" charset="2"/>
                  <a:buChar char="¡"/>
                  <a:defRPr sz="32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itchFamily="2" charset="2"/>
                  <a:buChar char=""/>
                  <a:defRPr sz="28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4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0000"/>
                  <a:buFont typeface="Wingdings" pitchFamily="2" charset="2"/>
                  <a:buChar char="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6600" i="1" dirty="0"/>
                  <a:t>3</a:t>
                </a:r>
                <a:endParaRPr lang="en-US" altLang="zh-CN" sz="6000" i="1" dirty="0"/>
              </a:p>
            </p:txBody>
          </p:sp>
        </p:grpSp>
        <p:sp>
          <p:nvSpPr>
            <p:cNvPr id="24" name="文本框 23"/>
            <p:cNvSpPr txBox="1"/>
            <p:nvPr/>
          </p:nvSpPr>
          <p:spPr>
            <a:xfrm>
              <a:off x="5920891" y="1466573"/>
              <a:ext cx="2952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x</a:t>
              </a:r>
              <a:endParaRPr lang="zh-CN" altLang="en-US" dirty="0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5940870" y="3208138"/>
              <a:ext cx="2624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y</a:t>
              </a:r>
              <a:endParaRPr lang="zh-CN" altLang="en-US" dirty="0"/>
            </a:p>
          </p:txBody>
        </p:sp>
        <p:cxnSp>
          <p:nvCxnSpPr>
            <p:cNvPr id="26" name="直接箭头连接符 25"/>
            <p:cNvCxnSpPr>
              <a:stCxn id="24" idx="3"/>
            </p:cNvCxnSpPr>
            <p:nvPr/>
          </p:nvCxnSpPr>
          <p:spPr>
            <a:xfrm flipV="1">
              <a:off x="6203341" y="1649407"/>
              <a:ext cx="385169" cy="1832"/>
            </a:xfrm>
            <a:prstGeom prst="straightConnector1">
              <a:avLst/>
            </a:prstGeom>
            <a:ln w="28575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箭头连接符 26"/>
            <p:cNvCxnSpPr/>
            <p:nvPr/>
          </p:nvCxnSpPr>
          <p:spPr>
            <a:xfrm flipV="1">
              <a:off x="6221211" y="3392804"/>
              <a:ext cx="369698" cy="1818"/>
            </a:xfrm>
            <a:prstGeom prst="straightConnector1">
              <a:avLst/>
            </a:prstGeom>
            <a:ln w="28575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TextBox 5"/>
          <p:cNvSpPr txBox="1"/>
          <p:nvPr/>
        </p:nvSpPr>
        <p:spPr>
          <a:xfrm>
            <a:off x="1734274" y="4223403"/>
            <a:ext cx="6094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Let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31" name="TextBox 7"/>
          <p:cNvSpPr txBox="1"/>
          <p:nvPr/>
        </p:nvSpPr>
        <p:spPr>
          <a:xfrm>
            <a:off x="1734274" y="5436140"/>
            <a:ext cx="6094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Let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pic>
        <p:nvPicPr>
          <p:cNvPr id="3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600" y="4156520"/>
            <a:ext cx="4476246" cy="19112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TextBox 3"/>
          <p:cNvSpPr txBox="1"/>
          <p:nvPr/>
        </p:nvSpPr>
        <p:spPr>
          <a:xfrm>
            <a:off x="4171971" y="4242537"/>
            <a:ext cx="3762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宋体" pitchFamily="2" charset="-122"/>
              </a:rPr>
              <a:t>#</a:t>
            </a:r>
            <a:r>
              <a:rPr lang="zh-CN" altLang="zh-CN" dirty="0">
                <a:latin typeface="宋体" pitchFamily="2" charset="-122"/>
              </a:rPr>
              <a:t>创建了</a:t>
            </a:r>
            <a:r>
              <a:rPr lang="zh-CN" altLang="en-US" dirty="0">
                <a:latin typeface="宋体" pitchFamily="2" charset="-122"/>
              </a:rPr>
              <a:t>对象</a:t>
            </a:r>
            <a:r>
              <a:rPr lang="en-US" altLang="zh-CN" dirty="0">
                <a:latin typeface="宋体" pitchFamily="2" charset="-122"/>
              </a:rPr>
              <a:t>3</a:t>
            </a:r>
            <a:r>
              <a:rPr lang="zh-CN" altLang="zh-CN" dirty="0">
                <a:latin typeface="宋体" pitchFamily="2" charset="-122"/>
              </a:rPr>
              <a:t>，</a:t>
            </a:r>
            <a:r>
              <a:rPr lang="zh-CN" altLang="en-US" dirty="0">
                <a:latin typeface="宋体" pitchFamily="2" charset="-122"/>
              </a:rPr>
              <a:t>用变量</a:t>
            </a:r>
            <a:r>
              <a:rPr lang="en-US" altLang="zh-CN" dirty="0">
                <a:latin typeface="宋体" pitchFamily="2" charset="-122"/>
              </a:rPr>
              <a:t>x</a:t>
            </a:r>
            <a:r>
              <a:rPr lang="zh-CN" altLang="en-US" dirty="0">
                <a:latin typeface="宋体" pitchFamily="2" charset="-122"/>
              </a:rPr>
              <a:t>引用该对象</a:t>
            </a:r>
            <a:endParaRPr lang="zh-CN" altLang="en-US" dirty="0"/>
          </a:p>
        </p:txBody>
      </p:sp>
      <p:sp>
        <p:nvSpPr>
          <p:cNvPr id="34" name="TextBox 4"/>
          <p:cNvSpPr txBox="1"/>
          <p:nvPr/>
        </p:nvSpPr>
        <p:spPr>
          <a:xfrm>
            <a:off x="6935158" y="5343808"/>
            <a:ext cx="34163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宋体" pitchFamily="2" charset="-122"/>
              </a:rPr>
              <a:t># </a:t>
            </a:r>
            <a:r>
              <a:rPr lang="zh-CN" altLang="zh-CN" dirty="0">
                <a:latin typeface="宋体" pitchFamily="2" charset="-122"/>
              </a:rPr>
              <a:t>创建了</a:t>
            </a:r>
            <a:r>
              <a:rPr lang="zh-CN" altLang="en-US" dirty="0">
                <a:latin typeface="宋体" pitchFamily="2" charset="-122"/>
              </a:rPr>
              <a:t>对象</a:t>
            </a:r>
            <a:r>
              <a:rPr lang="en-US" altLang="zh-CN" dirty="0">
                <a:latin typeface="宋体" pitchFamily="2" charset="-122"/>
              </a:rPr>
              <a:t>'</a:t>
            </a:r>
            <a:r>
              <a:rPr lang="zh-CN" altLang="zh-CN" dirty="0">
                <a:latin typeface="宋体" pitchFamily="2" charset="-122"/>
              </a:rPr>
              <a:t>Hello </a:t>
            </a:r>
            <a:r>
              <a:rPr lang="en-US" altLang="zh-CN" dirty="0">
                <a:latin typeface="宋体" pitchFamily="2" charset="-122"/>
              </a:rPr>
              <a:t>W</a:t>
            </a:r>
            <a:r>
              <a:rPr lang="zh-CN" altLang="zh-CN" dirty="0">
                <a:latin typeface="宋体" pitchFamily="2" charset="-122"/>
              </a:rPr>
              <a:t>orld</a:t>
            </a:r>
            <a:r>
              <a:rPr lang="en-US" altLang="zh-CN" dirty="0">
                <a:latin typeface="宋体" pitchFamily="2" charset="-122"/>
              </a:rPr>
              <a:t>!</a:t>
            </a:r>
            <a:r>
              <a:rPr lang="zh-CN" altLang="zh-CN" dirty="0">
                <a:latin typeface="宋体" pitchFamily="2" charset="-122"/>
              </a:rPr>
              <a:t>'，</a:t>
            </a:r>
            <a:endParaRPr lang="en-US" altLang="zh-CN" dirty="0">
              <a:latin typeface="宋体" pitchFamily="2" charset="-122"/>
            </a:endParaRPr>
          </a:p>
          <a:p>
            <a:r>
              <a:rPr lang="en-US" altLang="zh-CN" dirty="0">
                <a:latin typeface="宋体" pitchFamily="2" charset="-122"/>
              </a:rPr>
              <a:t># </a:t>
            </a:r>
            <a:r>
              <a:rPr lang="zh-CN" altLang="en-US" dirty="0">
                <a:latin typeface="宋体" pitchFamily="2" charset="-122"/>
              </a:rPr>
              <a:t>用</a:t>
            </a:r>
            <a:r>
              <a:rPr lang="zh-CN" altLang="zh-CN" dirty="0">
                <a:latin typeface="宋体" pitchFamily="2" charset="-122"/>
              </a:rPr>
              <a:t>变量</a:t>
            </a:r>
            <a:r>
              <a:rPr lang="en-US" altLang="zh-CN" dirty="0">
                <a:latin typeface="宋体" pitchFamily="2" charset="-122"/>
              </a:rPr>
              <a:t>y</a:t>
            </a:r>
            <a:r>
              <a:rPr lang="zh-CN" altLang="en-US" dirty="0">
                <a:latin typeface="宋体" pitchFamily="2" charset="-122"/>
              </a:rPr>
              <a:t>引用该对象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88403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build="p"/>
      <p:bldP spid="30" grpId="0"/>
      <p:bldP spid="31" grpId="0"/>
      <p:bldP spid="33" grpId="0"/>
      <p:bldP spid="3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变量赋值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/>
              <a:t>x = 100</a:t>
            </a:r>
            <a:endParaRPr lang="zh-CN" altLang="en-US" b="1" dirty="0"/>
          </a:p>
        </p:txBody>
      </p:sp>
      <p:grpSp>
        <p:nvGrpSpPr>
          <p:cNvPr id="4" name="组合 3"/>
          <p:cNvGrpSpPr/>
          <p:nvPr/>
        </p:nvGrpSpPr>
        <p:grpSpPr>
          <a:xfrm>
            <a:off x="3429041" y="3260036"/>
            <a:ext cx="4676872" cy="1065268"/>
            <a:chOff x="0" y="0"/>
            <a:chExt cx="1968158" cy="573803"/>
          </a:xfrm>
        </p:grpSpPr>
        <p:sp>
          <p:nvSpPr>
            <p:cNvPr id="5" name="矩形 4"/>
            <p:cNvSpPr/>
            <p:nvPr/>
          </p:nvSpPr>
          <p:spPr>
            <a:xfrm>
              <a:off x="0" y="0"/>
              <a:ext cx="291947" cy="48439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lang="en-US" sz="2200" kern="100">
                  <a:ln w="9525" cap="rnd" cmpd="sng" algn="ctr">
                    <a:solidFill>
                      <a:srgbClr val="000000"/>
                    </a:solidFill>
                    <a:prstDash val="solid"/>
                    <a:bevel/>
                  </a:ln>
                  <a:solidFill>
                    <a:srgbClr val="000000"/>
                  </a:solidFill>
                  <a:effectLst/>
                  <a:ea typeface="等线" panose="02010600030101010101" pitchFamily="2" charset="-122"/>
                  <a:cs typeface="Times New Roman" panose="02020603050405020304" pitchFamily="18" charset="0"/>
                </a:rPr>
                <a:t>x</a:t>
              </a:r>
              <a:endParaRPr lang="zh-CN" sz="1050" kern="100">
                <a:effectLst/>
                <a:ea typeface="等线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1211855" y="5508"/>
              <a:ext cx="756303" cy="56829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lang="en-US" sz="2200" kern="100">
                  <a:ln w="9525" cap="rnd" cmpd="sng" algn="ctr">
                    <a:solidFill>
                      <a:srgbClr val="000000"/>
                    </a:solidFill>
                    <a:prstDash val="solid"/>
                    <a:bevel/>
                  </a:ln>
                  <a:solidFill>
                    <a:srgbClr val="000000"/>
                  </a:solidFill>
                  <a:effectLst/>
                  <a:ea typeface="等线" panose="02010600030101010101" pitchFamily="2" charset="-122"/>
                  <a:cs typeface="Times New Roman" panose="02020603050405020304" pitchFamily="18" charset="0"/>
                </a:rPr>
                <a:t>100</a:t>
              </a:r>
              <a:endParaRPr lang="zh-CN" sz="1050" kern="100">
                <a:effectLst/>
                <a:ea typeface="等线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7" name="直接箭头连接符 6"/>
            <p:cNvCxnSpPr/>
            <p:nvPr/>
          </p:nvCxnSpPr>
          <p:spPr>
            <a:xfrm>
              <a:off x="291947" y="264405"/>
              <a:ext cx="91488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876442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运算中不可变对象不会改变其数据</a:t>
            </a:r>
            <a:endParaRPr lang="zh-CN" altLang="en-US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3701686"/>
              </p:ext>
            </p:extLst>
          </p:nvPr>
        </p:nvGraphicFramePr>
        <p:xfrm>
          <a:off x="2592925" y="2027023"/>
          <a:ext cx="2752798" cy="146304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752798">
                  <a:extLst>
                    <a:ext uri="{9D8B030D-6E8A-4147-A177-3AD203B41FA5}">
                      <a16:colId xmlns:a16="http://schemas.microsoft.com/office/drawing/2014/main" val="25519201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&gt;&gt;&gt; </a:t>
                      </a:r>
                      <a:r>
                        <a:rPr lang="en-US" sz="2400" b="1" kern="100" dirty="0">
                          <a:effectLst/>
                        </a:rPr>
                        <a:t>x = 5</a:t>
                      </a:r>
                      <a:endParaRPr lang="zh-CN" sz="24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&gt;&gt;&gt; </a:t>
                      </a:r>
                      <a:r>
                        <a:rPr lang="en-US" sz="2400" b="1" kern="100" dirty="0">
                          <a:effectLst/>
                        </a:rPr>
                        <a:t>x = x + 1</a:t>
                      </a:r>
                      <a:endParaRPr lang="zh-CN" sz="24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&gt;&gt;&gt; </a:t>
                      </a:r>
                      <a:r>
                        <a:rPr lang="en-US" sz="2400" b="1" kern="100" dirty="0">
                          <a:effectLst/>
                        </a:rPr>
                        <a:t>x</a:t>
                      </a:r>
                      <a:endParaRPr lang="zh-CN" sz="24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solidFill>
                            <a:srgbClr val="0000FF"/>
                          </a:solidFill>
                          <a:effectLst/>
                        </a:rPr>
                        <a:t>6</a:t>
                      </a:r>
                      <a:endParaRPr lang="zh-CN" sz="2400" kern="100" dirty="0">
                        <a:solidFill>
                          <a:srgbClr val="0000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99715139"/>
                  </a:ext>
                </a:extLst>
              </a:tr>
            </a:tbl>
          </a:graphicData>
        </a:graphic>
      </p:graphicFrame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444050"/>
              </p:ext>
            </p:extLst>
          </p:nvPr>
        </p:nvGraphicFramePr>
        <p:xfrm>
          <a:off x="5436749" y="3612086"/>
          <a:ext cx="5811681" cy="183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幻灯片" r:id="rId2" imgW="6280308" imgH="1982591" progId="PowerPoint.Slide.12">
                  <p:embed/>
                </p:oleObj>
              </mc:Choice>
              <mc:Fallback>
                <p:oleObj name="幻灯片" r:id="rId2" imgW="6280308" imgH="1982591" progId="PowerPoint.Slide.12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6749" y="3612086"/>
                        <a:ext cx="5811681" cy="18370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66753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变量命名规则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zh-CN" dirty="0"/>
              <a:t>变量名必须由字母、数字和下划线</a:t>
            </a:r>
            <a:r>
              <a:rPr lang="en-US" altLang="zh-CN" dirty="0"/>
              <a:t>(_)</a:t>
            </a:r>
            <a:r>
              <a:rPr lang="zh-CN" altLang="zh-CN" dirty="0"/>
              <a:t>组成，可以是任意长度；</a:t>
            </a:r>
          </a:p>
          <a:p>
            <a:pPr lvl="0"/>
            <a:r>
              <a:rPr lang="zh-CN" altLang="zh-CN" dirty="0"/>
              <a:t>变量名必须以字母或下划线</a:t>
            </a:r>
            <a:r>
              <a:rPr lang="en-US" altLang="zh-CN" dirty="0"/>
              <a:t>(_)</a:t>
            </a:r>
            <a:r>
              <a:rPr lang="zh-CN" altLang="zh-CN" dirty="0"/>
              <a:t>开头， 不能以数字开头；</a:t>
            </a:r>
            <a:endParaRPr lang="en-US" altLang="zh-CN" dirty="0"/>
          </a:p>
          <a:p>
            <a:pPr lvl="0"/>
            <a:r>
              <a:rPr lang="zh-CN" altLang="en-US" dirty="0"/>
              <a:t>变量名区分大小写；</a:t>
            </a:r>
            <a:endParaRPr lang="zh-CN" altLang="zh-CN" dirty="0"/>
          </a:p>
          <a:p>
            <a:pPr lvl="0"/>
            <a:r>
              <a:rPr lang="zh-CN" altLang="zh-CN" dirty="0"/>
              <a:t>变量名不能是关键字。关键字也称为保留字，在</a:t>
            </a:r>
            <a:r>
              <a:rPr lang="en-US" altLang="zh-CN" dirty="0"/>
              <a:t>Python</a:t>
            </a:r>
            <a:r>
              <a:rPr lang="zh-CN" altLang="zh-CN" dirty="0"/>
              <a:t>中有特殊的含义</a:t>
            </a:r>
            <a:r>
              <a:rPr lang="zh-CN" altLang="en-US" dirty="0"/>
              <a:t>；</a:t>
            </a:r>
            <a:endParaRPr lang="en-US" altLang="zh-CN" dirty="0"/>
          </a:p>
          <a:p>
            <a:r>
              <a:rPr lang="zh-CN" altLang="zh-CN" dirty="0"/>
              <a:t>内置函数名、模块名也不应该用作变量名，否则内置函数或模块会被覆盖。</a:t>
            </a:r>
          </a:p>
        </p:txBody>
      </p:sp>
      <p:sp>
        <p:nvSpPr>
          <p:cNvPr id="4" name="爆炸形 1 3"/>
          <p:cNvSpPr/>
          <p:nvPr/>
        </p:nvSpPr>
        <p:spPr>
          <a:xfrm>
            <a:off x="4582391" y="4395355"/>
            <a:ext cx="3325091" cy="2109354"/>
          </a:xfrm>
          <a:prstGeom prst="irregularSeal1">
            <a:avLst/>
          </a:prstGeom>
          <a:solidFill>
            <a:srgbClr val="FFFFCC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/>
                </a:solidFill>
              </a:rPr>
              <a:t>此规则也适用于函数、类、模块的命名。</a:t>
            </a:r>
          </a:p>
        </p:txBody>
      </p:sp>
    </p:spTree>
    <p:extLst>
      <p:ext uri="{BB962C8B-B14F-4D97-AF65-F5344CB8AC3E}">
        <p14:creationId xmlns:p14="http://schemas.microsoft.com/office/powerpoint/2010/main" val="1208149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关键字</a:t>
            </a:r>
          </a:p>
        </p:txBody>
      </p:sp>
      <p:pic>
        <p:nvPicPr>
          <p:cNvPr id="133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5490" y="1700808"/>
            <a:ext cx="8401020" cy="41558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66326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驼峰命名法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标识符应具有描述性，避免过于简单；</a:t>
            </a:r>
          </a:p>
          <a:p>
            <a:r>
              <a:rPr lang="en-US" altLang="zh-CN" dirty="0"/>
              <a:t>numberOfPandas </a:t>
            </a:r>
            <a:r>
              <a:rPr lang="zh-CN" altLang="en-US" dirty="0"/>
              <a:t>、</a:t>
            </a:r>
            <a:r>
              <a:rPr lang="en-US" altLang="zh-CN" dirty="0"/>
              <a:t>numOfPand </a:t>
            </a:r>
          </a:p>
          <a:p>
            <a:r>
              <a:rPr lang="en-US" altLang="zh-CN" dirty="0"/>
              <a:t>num_of_pandas 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268857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课堂练习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zh-CN" dirty="0"/>
              <a:t>下面给出了若干名字，其中可以作为变量名的有几个？（</a:t>
            </a:r>
            <a:r>
              <a:rPr lang="en-US" altLang="zh-CN" dirty="0"/>
              <a:t>    </a:t>
            </a:r>
            <a:r>
              <a:rPr lang="zh-CN" altLang="zh-CN" dirty="0"/>
              <a:t>）</a:t>
            </a:r>
          </a:p>
          <a:p>
            <a:pPr marL="0" indent="0">
              <a:buNone/>
            </a:pPr>
            <a:r>
              <a:rPr lang="en-US" altLang="zh-CN" dirty="0"/>
              <a:t>(1)  _     (2)   </a:t>
            </a:r>
            <a:r>
              <a:rPr lang="zh-CN" altLang="zh-CN" dirty="0"/>
              <a:t>变量</a:t>
            </a:r>
            <a:r>
              <a:rPr lang="en-US" altLang="zh-CN" dirty="0"/>
              <a:t>    (3)  tom's     (4)  True    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A:1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B:2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C:3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D:4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 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 </a:t>
            </a:r>
            <a:endParaRPr lang="zh-CN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32028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课堂练习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zh-CN" dirty="0"/>
              <a:t>下面给出了若干名字，其中可以作为变量名的有几个？</a:t>
            </a:r>
          </a:p>
          <a:p>
            <a:pPr marL="0" indent="0">
              <a:buNone/>
            </a:pPr>
            <a:r>
              <a:rPr lang="en-US" altLang="zh-CN" dirty="0"/>
              <a:t>(1)  var   (2)  4var   (3) None   (4) student-no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A:1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B:2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C:3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D:4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 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 </a:t>
            </a:r>
            <a:endParaRPr lang="zh-CN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29423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赋值示例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6934742"/>
              </p:ext>
            </p:extLst>
          </p:nvPr>
        </p:nvGraphicFramePr>
        <p:xfrm>
          <a:off x="7129629" y="1999087"/>
          <a:ext cx="3414684" cy="2991543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414684">
                  <a:extLst>
                    <a:ext uri="{9D8B030D-6E8A-4147-A177-3AD203B41FA5}">
                      <a16:colId xmlns:a16="http://schemas.microsoft.com/office/drawing/2014/main" val="477074558"/>
                    </a:ext>
                  </a:extLst>
                </a:gridCol>
              </a:tblGrid>
              <a:tr h="299154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 err="1">
                          <a:effectLst/>
                        </a:rPr>
                        <a:t>myPrint</a:t>
                      </a:r>
                      <a:r>
                        <a:rPr lang="en-US" sz="1600" b="1" kern="100" dirty="0">
                          <a:effectLst/>
                        </a:rPr>
                        <a:t> = print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 err="1">
                          <a:effectLst/>
                        </a:rPr>
                        <a:t>myPrint</a:t>
                      </a:r>
                      <a:r>
                        <a:rPr lang="en-US" sz="1600" b="1" kern="100" dirty="0">
                          <a:effectLst/>
                        </a:rPr>
                        <a:t>("Hello </a:t>
                      </a:r>
                      <a:r>
                        <a:rPr lang="en-US" sz="1600" b="1" kern="100" dirty="0" err="1">
                          <a:effectLst/>
                        </a:rPr>
                        <a:t>Fudan</a:t>
                      </a:r>
                      <a:r>
                        <a:rPr lang="en-US" sz="1600" b="1" kern="100" dirty="0">
                          <a:effectLst/>
                        </a:rPr>
                        <a:t>")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00FF"/>
                          </a:solidFill>
                          <a:effectLst/>
                        </a:rPr>
                        <a:t>Hello </a:t>
                      </a:r>
                      <a:r>
                        <a:rPr lang="en-US" sz="1600" kern="100" dirty="0" err="1">
                          <a:solidFill>
                            <a:srgbClr val="0000FF"/>
                          </a:solidFill>
                          <a:effectLst/>
                        </a:rPr>
                        <a:t>Fudan</a:t>
                      </a:r>
                      <a:endParaRPr lang="zh-CN" sz="1600" kern="100" dirty="0">
                        <a:solidFill>
                          <a:srgbClr val="0000FF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>
                          <a:effectLst/>
                        </a:rPr>
                        <a:t>import random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 err="1">
                          <a:effectLst/>
                        </a:rPr>
                        <a:t>rFun</a:t>
                      </a:r>
                      <a:r>
                        <a:rPr lang="en-US" sz="1600" b="1" kern="100" dirty="0">
                          <a:effectLst/>
                        </a:rPr>
                        <a:t> = </a:t>
                      </a:r>
                      <a:r>
                        <a:rPr lang="en-US" sz="1600" b="1" kern="100" dirty="0" err="1">
                          <a:effectLst/>
                        </a:rPr>
                        <a:t>random.randint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 err="1">
                          <a:effectLst/>
                        </a:rPr>
                        <a:t>rnd</a:t>
                      </a:r>
                      <a:r>
                        <a:rPr lang="en-US" sz="1600" b="1" kern="100" dirty="0">
                          <a:effectLst/>
                        </a:rPr>
                        <a:t> = </a:t>
                      </a:r>
                      <a:r>
                        <a:rPr lang="en-US" sz="1600" b="1" kern="100" dirty="0" err="1">
                          <a:effectLst/>
                        </a:rPr>
                        <a:t>rFun</a:t>
                      </a:r>
                      <a:r>
                        <a:rPr lang="en-US" sz="1600" b="1" kern="100" dirty="0">
                          <a:effectLst/>
                        </a:rPr>
                        <a:t>(1, 9)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 err="1">
                          <a:effectLst/>
                        </a:rPr>
                        <a:t>rnd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00FF"/>
                          </a:solidFill>
                          <a:effectLst/>
                        </a:rPr>
                        <a:t>7</a:t>
                      </a:r>
                      <a:endParaRPr lang="zh-CN" sz="1600" kern="100" dirty="0">
                        <a:solidFill>
                          <a:srgbClr val="0000FF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>
                          <a:effectLst/>
                        </a:rPr>
                        <a:t>import math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>
                          <a:effectLst/>
                        </a:rPr>
                        <a:t>m = math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 err="1">
                          <a:effectLst/>
                        </a:rPr>
                        <a:t>m.sin</a:t>
                      </a:r>
                      <a:r>
                        <a:rPr lang="en-US" sz="1600" b="1" kern="100" dirty="0">
                          <a:effectLst/>
                        </a:rPr>
                        <a:t>(</a:t>
                      </a:r>
                      <a:r>
                        <a:rPr lang="en-US" sz="1600" b="1" kern="100" dirty="0" err="1">
                          <a:effectLst/>
                        </a:rPr>
                        <a:t>m.pi</a:t>
                      </a:r>
                      <a:r>
                        <a:rPr lang="en-US" sz="1600" b="1" kern="100" dirty="0">
                          <a:effectLst/>
                        </a:rPr>
                        <a:t>/2)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00FF"/>
                          </a:solidFill>
                          <a:effectLst/>
                        </a:rPr>
                        <a:t>1.0</a:t>
                      </a:r>
                      <a:endParaRPr lang="zh-CN" sz="1600" kern="100" dirty="0">
                        <a:solidFill>
                          <a:srgbClr val="0000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54407681"/>
                  </a:ext>
                </a:extLst>
              </a:tr>
            </a:tbl>
          </a:graphicData>
        </a:graphic>
      </p:graphicFrame>
      <p:graphicFrame>
        <p:nvGraphicFramePr>
          <p:cNvPr id="6" name="内容占位符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8831340"/>
              </p:ext>
            </p:extLst>
          </p:nvPr>
        </p:nvGraphicFramePr>
        <p:xfrm>
          <a:off x="2290367" y="2153739"/>
          <a:ext cx="3663578" cy="268224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663578">
                  <a:extLst>
                    <a:ext uri="{9D8B030D-6E8A-4147-A177-3AD203B41FA5}">
                      <a16:colId xmlns:a16="http://schemas.microsoft.com/office/drawing/2014/main" val="15136848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>
                          <a:effectLst/>
                        </a:rPr>
                        <a:t>x = 1.5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>
                          <a:effectLst/>
                        </a:rPr>
                        <a:t>x = "fudan123"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>
                          <a:effectLst/>
                        </a:rPr>
                        <a:t>x = [5, 7.3, 8.2, 4]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>
                          <a:effectLst/>
                        </a:rPr>
                        <a:t>x = 2 + 3 * 4 / 3.6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>
                          <a:effectLst/>
                        </a:rPr>
                        <a:t>x = x ** (1/2)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>
                          <a:effectLst/>
                        </a:rPr>
                        <a:t>import math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>
                          <a:effectLst/>
                        </a:rPr>
                        <a:t>x = x + </a:t>
                      </a:r>
                      <a:r>
                        <a:rPr lang="en-US" sz="1600" b="1" kern="100" dirty="0" err="1">
                          <a:effectLst/>
                        </a:rPr>
                        <a:t>math.sin</a:t>
                      </a:r>
                      <a:r>
                        <a:rPr lang="en-US" sz="1600" b="1" kern="100" dirty="0">
                          <a:effectLst/>
                        </a:rPr>
                        <a:t>(2 * x)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>
                          <a:effectLst/>
                        </a:rPr>
                        <a:t>name = input("</a:t>
                      </a:r>
                      <a:r>
                        <a:rPr lang="zh-CN" sz="1600" b="1" kern="100" dirty="0">
                          <a:effectLst/>
                        </a:rPr>
                        <a:t>请输入姓名：</a:t>
                      </a:r>
                      <a:r>
                        <a:rPr lang="en-US" sz="1600" b="1" kern="100" dirty="0">
                          <a:effectLst/>
                        </a:rPr>
                        <a:t>")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0000FF"/>
                          </a:solidFill>
                          <a:effectLst/>
                        </a:rPr>
                        <a:t>请输入姓名：</a:t>
                      </a:r>
                      <a:r>
                        <a:rPr lang="en-US" sz="1600" b="1" i="1" kern="100" dirty="0">
                          <a:solidFill>
                            <a:srgbClr val="0000FF"/>
                          </a:solidFill>
                          <a:effectLst/>
                        </a:rPr>
                        <a:t>Tommy</a:t>
                      </a:r>
                      <a:endParaRPr lang="zh-CN" sz="1600" b="1" i="1" kern="100" dirty="0">
                        <a:solidFill>
                          <a:srgbClr val="0000FF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>
                          <a:effectLst/>
                        </a:rPr>
                        <a:t>print("Hello", name)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00FF"/>
                          </a:solidFill>
                          <a:effectLst/>
                        </a:rPr>
                        <a:t>Hello Tommy</a:t>
                      </a:r>
                      <a:endParaRPr lang="zh-CN" sz="1600" kern="100" dirty="0">
                        <a:solidFill>
                          <a:srgbClr val="0000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879161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30189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多变量赋值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变量</a:t>
            </a:r>
            <a:r>
              <a:rPr lang="en-US" altLang="zh-CN" dirty="0"/>
              <a:t>1, </a:t>
            </a:r>
            <a:r>
              <a:rPr lang="zh-CN" altLang="zh-CN" dirty="0"/>
              <a:t>变量</a:t>
            </a:r>
            <a:r>
              <a:rPr lang="en-US" altLang="zh-CN" dirty="0"/>
              <a:t>2, …, </a:t>
            </a:r>
            <a:r>
              <a:rPr lang="zh-CN" altLang="zh-CN" dirty="0"/>
              <a:t>变量</a:t>
            </a:r>
            <a:r>
              <a:rPr lang="en-US" altLang="zh-CN" dirty="0"/>
              <a:t>n = </a:t>
            </a:r>
            <a:r>
              <a:rPr lang="zh-CN" altLang="zh-CN" dirty="0"/>
              <a:t>表达式</a:t>
            </a:r>
            <a:r>
              <a:rPr lang="en-US" altLang="zh-CN" dirty="0"/>
              <a:t>1, </a:t>
            </a:r>
            <a:r>
              <a:rPr lang="zh-CN" altLang="zh-CN" dirty="0"/>
              <a:t>表达式</a:t>
            </a:r>
            <a:r>
              <a:rPr lang="en-US" altLang="zh-CN" dirty="0"/>
              <a:t>2, …, </a:t>
            </a:r>
            <a:r>
              <a:rPr lang="zh-CN" altLang="zh-CN" dirty="0"/>
              <a:t>表达式</a:t>
            </a:r>
            <a:r>
              <a:rPr lang="en-US" altLang="zh-CN" dirty="0"/>
              <a:t>n</a:t>
            </a:r>
          </a:p>
          <a:p>
            <a:r>
              <a:rPr lang="zh-CN" altLang="zh-CN" dirty="0"/>
              <a:t>变量</a:t>
            </a:r>
            <a:r>
              <a:rPr lang="en-US" altLang="zh-CN" dirty="0"/>
              <a:t>1 = </a:t>
            </a:r>
            <a:r>
              <a:rPr lang="zh-CN" altLang="zh-CN" dirty="0"/>
              <a:t>变量</a:t>
            </a:r>
            <a:r>
              <a:rPr lang="en-US" altLang="zh-CN" dirty="0"/>
              <a:t>2 = … = </a:t>
            </a:r>
            <a:r>
              <a:rPr lang="zh-CN" altLang="zh-CN" dirty="0"/>
              <a:t>变量</a:t>
            </a:r>
            <a:r>
              <a:rPr lang="en-US" altLang="zh-CN" dirty="0"/>
              <a:t>n = </a:t>
            </a:r>
            <a:r>
              <a:rPr lang="zh-CN" altLang="zh-CN" dirty="0"/>
              <a:t>表达式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6757103"/>
              </p:ext>
            </p:extLst>
          </p:nvPr>
        </p:nvGraphicFramePr>
        <p:xfrm>
          <a:off x="2334840" y="3251157"/>
          <a:ext cx="3708151" cy="2771223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708151">
                  <a:extLst>
                    <a:ext uri="{9D8B030D-6E8A-4147-A177-3AD203B41FA5}">
                      <a16:colId xmlns:a16="http://schemas.microsoft.com/office/drawing/2014/main" val="2189130388"/>
                    </a:ext>
                  </a:extLst>
                </a:gridCol>
              </a:tblGrid>
              <a:tr h="277122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>
                          <a:effectLst/>
                        </a:rPr>
                        <a:t>x, y = 4, 9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>
                          <a:effectLst/>
                        </a:rPr>
                        <a:t>x, y = (</a:t>
                      </a:r>
                      <a:r>
                        <a:rPr lang="en-US" sz="1600" b="1" kern="100" dirty="0" err="1">
                          <a:effectLst/>
                        </a:rPr>
                        <a:t>x+y</a:t>
                      </a:r>
                      <a:r>
                        <a:rPr lang="en-US" sz="1600" b="1" kern="100" dirty="0">
                          <a:effectLst/>
                        </a:rPr>
                        <a:t>)/2, (x*y)**(1/2)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>
                          <a:effectLst/>
                        </a:rPr>
                        <a:t>x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00FF"/>
                          </a:solidFill>
                          <a:effectLst/>
                        </a:rPr>
                        <a:t>6.5</a:t>
                      </a:r>
                      <a:endParaRPr lang="zh-CN" sz="1600" kern="100" dirty="0">
                        <a:solidFill>
                          <a:srgbClr val="0000FF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>
                          <a:effectLst/>
                        </a:rPr>
                        <a:t>y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00FF"/>
                          </a:solidFill>
                          <a:effectLst/>
                        </a:rPr>
                        <a:t>6.0</a:t>
                      </a:r>
                      <a:endParaRPr lang="zh-CN" sz="1600" kern="100" dirty="0">
                        <a:solidFill>
                          <a:srgbClr val="0000FF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>
                          <a:effectLst/>
                        </a:rPr>
                        <a:t>x, y = y, x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>
                          <a:effectLst/>
                        </a:rPr>
                        <a:t>x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00FF"/>
                          </a:solidFill>
                          <a:effectLst/>
                        </a:rPr>
                        <a:t>6.0</a:t>
                      </a:r>
                      <a:endParaRPr lang="zh-CN" sz="1600" kern="100" dirty="0">
                        <a:solidFill>
                          <a:srgbClr val="0000FF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>
                          <a:effectLst/>
                        </a:rPr>
                        <a:t>y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00FF"/>
                          </a:solidFill>
                          <a:effectLst/>
                        </a:rPr>
                        <a:t>6.5</a:t>
                      </a:r>
                      <a:endParaRPr lang="zh-CN" sz="1600" kern="100" dirty="0">
                        <a:solidFill>
                          <a:srgbClr val="0000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76154815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5876915"/>
              </p:ext>
            </p:extLst>
          </p:nvPr>
        </p:nvGraphicFramePr>
        <p:xfrm>
          <a:off x="7527194" y="3673129"/>
          <a:ext cx="2681397" cy="1927281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681397">
                  <a:extLst>
                    <a:ext uri="{9D8B030D-6E8A-4147-A177-3AD203B41FA5}">
                      <a16:colId xmlns:a16="http://schemas.microsoft.com/office/drawing/2014/main" val="2450070266"/>
                    </a:ext>
                  </a:extLst>
                </a:gridCol>
              </a:tblGrid>
              <a:tr h="192728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>
                          <a:effectLst/>
                        </a:rPr>
                        <a:t>a = b = c = 589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>
                          <a:effectLst/>
                        </a:rPr>
                        <a:t>a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00FF"/>
                          </a:solidFill>
                          <a:effectLst/>
                        </a:rPr>
                        <a:t>589</a:t>
                      </a:r>
                      <a:endParaRPr lang="zh-CN" sz="1600" kern="100" dirty="0">
                        <a:solidFill>
                          <a:srgbClr val="0000FF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>
                          <a:effectLst/>
                        </a:rPr>
                        <a:t>b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00FF"/>
                          </a:solidFill>
                          <a:effectLst/>
                        </a:rPr>
                        <a:t>589</a:t>
                      </a:r>
                      <a:endParaRPr lang="zh-CN" sz="1600" kern="100" dirty="0">
                        <a:solidFill>
                          <a:srgbClr val="0000FF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>
                          <a:effectLst/>
                        </a:rPr>
                        <a:t>c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00FF"/>
                          </a:solidFill>
                          <a:effectLst/>
                        </a:rPr>
                        <a:t>589</a:t>
                      </a:r>
                      <a:endParaRPr lang="zh-CN" sz="1600" kern="100" dirty="0">
                        <a:solidFill>
                          <a:srgbClr val="0000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020189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60552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07487" y="566184"/>
            <a:ext cx="8911687" cy="1280890"/>
          </a:xfrm>
        </p:spPr>
        <p:txBody>
          <a:bodyPr/>
          <a:lstStyle/>
          <a:p>
            <a:r>
              <a:rPr lang="zh-CN" altLang="en-US" dirty="0"/>
              <a:t>类型检查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01035" y="2030161"/>
            <a:ext cx="8915400" cy="3777622"/>
          </a:xfrm>
        </p:spPr>
        <p:txBody>
          <a:bodyPr/>
          <a:lstStyle/>
          <a:p>
            <a:r>
              <a:rPr lang="en-US" altLang="zh-CN" dirty="0"/>
              <a:t>type(.)</a:t>
            </a:r>
          </a:p>
          <a:p>
            <a:r>
              <a:rPr lang="en-US" altLang="zh-CN" dirty="0" err="1"/>
              <a:t>isinstance</a:t>
            </a:r>
            <a:r>
              <a:rPr lang="en-US" altLang="zh-CN" dirty="0"/>
              <a:t>(.)</a:t>
            </a:r>
            <a:endParaRPr lang="zh-CN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9845050"/>
              </p:ext>
            </p:extLst>
          </p:nvPr>
        </p:nvGraphicFramePr>
        <p:xfrm>
          <a:off x="3823434" y="534744"/>
          <a:ext cx="3839321" cy="597408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839321">
                  <a:extLst>
                    <a:ext uri="{9D8B030D-6E8A-4147-A177-3AD203B41FA5}">
                      <a16:colId xmlns:a16="http://schemas.microsoft.com/office/drawing/2014/main" val="3939574359"/>
                    </a:ext>
                  </a:extLst>
                </a:gridCol>
              </a:tblGrid>
              <a:tr h="388620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&gt;&gt;&gt; </a:t>
                      </a:r>
                      <a:r>
                        <a:rPr lang="en-US" sz="1400" b="1" kern="100" dirty="0">
                          <a:effectLst/>
                        </a:rPr>
                        <a:t>x = 1.5</a:t>
                      </a:r>
                      <a:endParaRPr lang="zh-CN" sz="14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&gt;&gt;&gt; </a:t>
                      </a:r>
                      <a:r>
                        <a:rPr lang="en-US" sz="1400" b="1" kern="100" dirty="0">
                          <a:effectLst/>
                        </a:rPr>
                        <a:t>type(x)</a:t>
                      </a:r>
                      <a:endParaRPr lang="zh-CN" sz="14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FF"/>
                          </a:solidFill>
                          <a:effectLst/>
                        </a:rPr>
                        <a:t>&lt;class 'float'&gt;</a:t>
                      </a:r>
                      <a:endParaRPr lang="zh-CN" sz="1400" kern="100" dirty="0">
                        <a:solidFill>
                          <a:srgbClr val="0000FF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&gt;&gt;&gt; </a:t>
                      </a:r>
                      <a:r>
                        <a:rPr lang="en-US" sz="1400" b="1" kern="100" dirty="0">
                          <a:effectLst/>
                        </a:rPr>
                        <a:t>type(x) == float</a:t>
                      </a:r>
                      <a:endParaRPr lang="zh-CN" sz="14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FF"/>
                          </a:solidFill>
                          <a:effectLst/>
                        </a:rPr>
                        <a:t>True</a:t>
                      </a:r>
                      <a:endParaRPr lang="zh-CN" sz="1400" kern="100" dirty="0">
                        <a:solidFill>
                          <a:srgbClr val="0000FF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&gt;&gt;&gt; </a:t>
                      </a:r>
                      <a:r>
                        <a:rPr lang="en-US" sz="1400" b="1" kern="100" dirty="0" err="1">
                          <a:effectLst/>
                        </a:rPr>
                        <a:t>isinstance</a:t>
                      </a:r>
                      <a:r>
                        <a:rPr lang="en-US" sz="1400" b="1" kern="100" dirty="0">
                          <a:effectLst/>
                        </a:rPr>
                        <a:t>(x, float)</a:t>
                      </a:r>
                      <a:endParaRPr lang="zh-CN" sz="14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FF"/>
                          </a:solidFill>
                          <a:effectLst/>
                        </a:rPr>
                        <a:t>True</a:t>
                      </a:r>
                      <a:endParaRPr lang="zh-CN" sz="1400" kern="100" dirty="0">
                        <a:solidFill>
                          <a:srgbClr val="0000FF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&gt;&gt;&gt; </a:t>
                      </a:r>
                      <a:r>
                        <a:rPr lang="en-US" sz="1400" b="1" kern="100" dirty="0" err="1">
                          <a:effectLst/>
                        </a:rPr>
                        <a:t>isinstance</a:t>
                      </a:r>
                      <a:r>
                        <a:rPr lang="en-US" sz="1400" b="1" kern="100" dirty="0">
                          <a:effectLst/>
                        </a:rPr>
                        <a:t>(x, </a:t>
                      </a:r>
                      <a:r>
                        <a:rPr lang="en-US" sz="1400" b="1" kern="100" dirty="0" err="1">
                          <a:effectLst/>
                        </a:rPr>
                        <a:t>int</a:t>
                      </a:r>
                      <a:r>
                        <a:rPr lang="en-US" sz="1400" b="1" kern="100" dirty="0">
                          <a:effectLst/>
                        </a:rPr>
                        <a:t>)</a:t>
                      </a:r>
                      <a:endParaRPr lang="zh-CN" sz="14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FF"/>
                          </a:solidFill>
                          <a:effectLst/>
                        </a:rPr>
                        <a:t>False</a:t>
                      </a:r>
                      <a:endParaRPr lang="zh-CN" sz="1400" kern="100" dirty="0">
                        <a:solidFill>
                          <a:srgbClr val="0000FF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&gt;&gt;&gt; </a:t>
                      </a:r>
                      <a:r>
                        <a:rPr lang="en-US" sz="1400" b="1" kern="100" dirty="0">
                          <a:effectLst/>
                        </a:rPr>
                        <a:t>x = "</a:t>
                      </a:r>
                      <a:r>
                        <a:rPr lang="zh-CN" sz="1400" b="1" kern="100" dirty="0">
                          <a:effectLst/>
                        </a:rPr>
                        <a:t>上海复旦</a:t>
                      </a:r>
                      <a:r>
                        <a:rPr lang="en-US" sz="1400" b="1" kern="100" dirty="0">
                          <a:effectLst/>
                        </a:rPr>
                        <a:t>"</a:t>
                      </a:r>
                      <a:endParaRPr lang="zh-CN" sz="14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&gt;&gt;&gt; </a:t>
                      </a:r>
                      <a:r>
                        <a:rPr lang="en-US" sz="1400" b="1" kern="100" dirty="0">
                          <a:effectLst/>
                        </a:rPr>
                        <a:t>type(x)</a:t>
                      </a:r>
                      <a:endParaRPr lang="zh-CN" sz="14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FF"/>
                          </a:solidFill>
                          <a:effectLst/>
                        </a:rPr>
                        <a:t>&lt;class '</a:t>
                      </a:r>
                      <a:r>
                        <a:rPr lang="en-US" sz="1400" kern="100" dirty="0" err="1">
                          <a:solidFill>
                            <a:srgbClr val="0000FF"/>
                          </a:solidFill>
                          <a:effectLst/>
                        </a:rPr>
                        <a:t>str</a:t>
                      </a:r>
                      <a:r>
                        <a:rPr lang="en-US" sz="1400" kern="100" dirty="0">
                          <a:solidFill>
                            <a:srgbClr val="0000FF"/>
                          </a:solidFill>
                          <a:effectLst/>
                        </a:rPr>
                        <a:t>'&gt;</a:t>
                      </a:r>
                      <a:endParaRPr lang="zh-CN" sz="1400" kern="100" dirty="0">
                        <a:solidFill>
                          <a:srgbClr val="0000FF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&gt;&gt;&gt; </a:t>
                      </a:r>
                      <a:r>
                        <a:rPr lang="en-US" sz="1400" b="1" kern="100" dirty="0">
                          <a:effectLst/>
                        </a:rPr>
                        <a:t>type(x) == </a:t>
                      </a:r>
                      <a:r>
                        <a:rPr lang="en-US" sz="1400" b="1" kern="100" dirty="0" err="1">
                          <a:effectLst/>
                        </a:rPr>
                        <a:t>str</a:t>
                      </a:r>
                      <a:endParaRPr lang="zh-CN" sz="14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FF"/>
                          </a:solidFill>
                          <a:effectLst/>
                        </a:rPr>
                        <a:t>True</a:t>
                      </a:r>
                      <a:endParaRPr lang="zh-CN" sz="1400" kern="100" dirty="0">
                        <a:solidFill>
                          <a:srgbClr val="0000FF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&gt;&gt;&gt; </a:t>
                      </a:r>
                      <a:r>
                        <a:rPr lang="en-US" sz="1400" b="1" kern="100" dirty="0" err="1">
                          <a:effectLst/>
                        </a:rPr>
                        <a:t>isinstance</a:t>
                      </a:r>
                      <a:r>
                        <a:rPr lang="en-US" sz="1400" b="1" kern="100" dirty="0">
                          <a:effectLst/>
                        </a:rPr>
                        <a:t>(x, </a:t>
                      </a:r>
                      <a:r>
                        <a:rPr lang="en-US" sz="1400" b="1" kern="100" dirty="0" err="1">
                          <a:effectLst/>
                        </a:rPr>
                        <a:t>str</a:t>
                      </a:r>
                      <a:r>
                        <a:rPr lang="en-US" sz="1400" b="1" kern="100" dirty="0">
                          <a:effectLst/>
                        </a:rPr>
                        <a:t>)</a:t>
                      </a:r>
                      <a:endParaRPr lang="zh-CN" sz="14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FF"/>
                          </a:solidFill>
                          <a:effectLst/>
                        </a:rPr>
                        <a:t>True</a:t>
                      </a:r>
                      <a:endParaRPr lang="zh-CN" sz="1400" kern="100" dirty="0">
                        <a:solidFill>
                          <a:srgbClr val="0000FF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&gt;&gt;&gt; </a:t>
                      </a:r>
                      <a:r>
                        <a:rPr lang="en-US" sz="1400" b="1" kern="100" dirty="0" err="1">
                          <a:effectLst/>
                        </a:rPr>
                        <a:t>isinstance</a:t>
                      </a:r>
                      <a:r>
                        <a:rPr lang="en-US" sz="1400" b="1" kern="100" dirty="0">
                          <a:effectLst/>
                        </a:rPr>
                        <a:t>(x, list)</a:t>
                      </a:r>
                      <a:endParaRPr lang="zh-CN" sz="14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FF"/>
                          </a:solidFill>
                          <a:effectLst/>
                        </a:rPr>
                        <a:t>False</a:t>
                      </a:r>
                      <a:endParaRPr lang="zh-CN" sz="1400" kern="100" dirty="0">
                        <a:solidFill>
                          <a:srgbClr val="0000FF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&gt;&gt;&gt; </a:t>
                      </a:r>
                      <a:r>
                        <a:rPr lang="en-US" sz="1400" b="1" kern="100" dirty="0">
                          <a:effectLst/>
                        </a:rPr>
                        <a:t>import </a:t>
                      </a:r>
                      <a:r>
                        <a:rPr lang="en-US" sz="1400" b="1" kern="100" dirty="0" err="1">
                          <a:effectLst/>
                        </a:rPr>
                        <a:t>datetime</a:t>
                      </a:r>
                      <a:endParaRPr lang="zh-CN" sz="14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&gt;&gt;&gt; </a:t>
                      </a:r>
                      <a:r>
                        <a:rPr lang="en-US" sz="1400" b="1" kern="100" dirty="0">
                          <a:effectLst/>
                        </a:rPr>
                        <a:t>current = </a:t>
                      </a:r>
                      <a:r>
                        <a:rPr lang="en-US" sz="1400" b="1" kern="100" dirty="0" err="1">
                          <a:effectLst/>
                        </a:rPr>
                        <a:t>datetime.datetime.now</a:t>
                      </a:r>
                      <a:r>
                        <a:rPr lang="en-US" sz="1400" b="1" kern="100" dirty="0">
                          <a:effectLst/>
                        </a:rPr>
                        <a:t>()</a:t>
                      </a:r>
                      <a:endParaRPr lang="zh-CN" sz="14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&gt;&gt;&gt; </a:t>
                      </a:r>
                      <a:r>
                        <a:rPr lang="en-US" sz="1400" b="1" kern="100" dirty="0">
                          <a:effectLst/>
                        </a:rPr>
                        <a:t>type(current)</a:t>
                      </a:r>
                      <a:endParaRPr lang="zh-CN" sz="14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FF"/>
                          </a:solidFill>
                          <a:effectLst/>
                        </a:rPr>
                        <a:t>&lt;class '</a:t>
                      </a:r>
                      <a:r>
                        <a:rPr lang="en-US" sz="1400" kern="100" dirty="0" err="1">
                          <a:solidFill>
                            <a:srgbClr val="0000FF"/>
                          </a:solidFill>
                          <a:effectLst/>
                        </a:rPr>
                        <a:t>datetime.datetime</a:t>
                      </a:r>
                      <a:r>
                        <a:rPr lang="en-US" sz="1400" kern="100" dirty="0">
                          <a:solidFill>
                            <a:srgbClr val="0000FF"/>
                          </a:solidFill>
                          <a:effectLst/>
                        </a:rPr>
                        <a:t>'&gt;</a:t>
                      </a:r>
                      <a:endParaRPr lang="zh-CN" sz="1400" kern="100" dirty="0">
                        <a:solidFill>
                          <a:srgbClr val="0000FF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&gt;&gt;&gt; </a:t>
                      </a:r>
                      <a:r>
                        <a:rPr lang="en-US" sz="1400" b="1" kern="100" dirty="0">
                          <a:effectLst/>
                        </a:rPr>
                        <a:t>type(current) == </a:t>
                      </a:r>
                      <a:r>
                        <a:rPr lang="en-US" sz="1400" b="1" kern="100" dirty="0" err="1">
                          <a:effectLst/>
                        </a:rPr>
                        <a:t>datetime.datetime</a:t>
                      </a:r>
                      <a:endParaRPr lang="zh-CN" sz="14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FF"/>
                          </a:solidFill>
                          <a:effectLst/>
                        </a:rPr>
                        <a:t>True</a:t>
                      </a:r>
                      <a:endParaRPr lang="zh-CN" sz="1400" kern="100" dirty="0">
                        <a:solidFill>
                          <a:srgbClr val="0000FF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&gt;&gt;&gt; </a:t>
                      </a:r>
                      <a:r>
                        <a:rPr lang="en-US" sz="1400" b="1" kern="100" dirty="0" err="1">
                          <a:effectLst/>
                        </a:rPr>
                        <a:t>isinstance</a:t>
                      </a:r>
                      <a:r>
                        <a:rPr lang="en-US" sz="1400" b="1" kern="100" dirty="0">
                          <a:effectLst/>
                        </a:rPr>
                        <a:t>(current, </a:t>
                      </a:r>
                      <a:r>
                        <a:rPr lang="en-US" sz="1400" b="1" kern="100" dirty="0" err="1">
                          <a:effectLst/>
                        </a:rPr>
                        <a:t>datetime.datetime</a:t>
                      </a:r>
                      <a:r>
                        <a:rPr lang="en-US" sz="1400" b="1" kern="100" dirty="0">
                          <a:effectLst/>
                        </a:rPr>
                        <a:t>)</a:t>
                      </a:r>
                      <a:endParaRPr lang="zh-CN" sz="14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FF"/>
                          </a:solidFill>
                          <a:effectLst/>
                        </a:rPr>
                        <a:t>True</a:t>
                      </a:r>
                      <a:endParaRPr lang="zh-CN" sz="1400" kern="100" dirty="0">
                        <a:solidFill>
                          <a:srgbClr val="0000FF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&gt;&gt;&gt; </a:t>
                      </a:r>
                      <a:r>
                        <a:rPr lang="en-US" sz="1400" b="1" kern="100" dirty="0" err="1">
                          <a:effectLst/>
                        </a:rPr>
                        <a:t>isinstance</a:t>
                      </a:r>
                      <a:r>
                        <a:rPr lang="en-US" sz="1400" b="1" kern="100" dirty="0">
                          <a:effectLst/>
                        </a:rPr>
                        <a:t>(current, </a:t>
                      </a:r>
                      <a:r>
                        <a:rPr lang="en-US" sz="1400" b="1" kern="100" dirty="0" err="1">
                          <a:effectLst/>
                        </a:rPr>
                        <a:t>datetime.time</a:t>
                      </a:r>
                      <a:r>
                        <a:rPr lang="en-US" sz="1400" b="1" kern="100" dirty="0">
                          <a:effectLst/>
                        </a:rPr>
                        <a:t>)</a:t>
                      </a:r>
                      <a:endParaRPr lang="zh-CN" sz="14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FF"/>
                          </a:solidFill>
                          <a:effectLst/>
                        </a:rPr>
                        <a:t>False</a:t>
                      </a:r>
                      <a:endParaRPr lang="zh-CN" sz="1400" kern="100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29741" marR="29741" marT="0" marB="0"/>
                </a:tc>
                <a:extLst>
                  <a:ext uri="{0D108BD9-81ED-4DB2-BD59-A6C34878D82A}">
                    <a16:rowId xmlns:a16="http://schemas.microsoft.com/office/drawing/2014/main" val="1821610692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3227990"/>
              </p:ext>
            </p:extLst>
          </p:nvPr>
        </p:nvGraphicFramePr>
        <p:xfrm>
          <a:off x="7969813" y="534744"/>
          <a:ext cx="4026201" cy="597408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4026201">
                  <a:extLst>
                    <a:ext uri="{9D8B030D-6E8A-4147-A177-3AD203B41FA5}">
                      <a16:colId xmlns:a16="http://schemas.microsoft.com/office/drawing/2014/main" val="3939574359"/>
                    </a:ext>
                  </a:extLst>
                </a:gridCol>
              </a:tblGrid>
              <a:tr h="597094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&gt;&gt;&gt; </a:t>
                      </a:r>
                      <a:r>
                        <a:rPr lang="en-US" sz="1400" b="1" kern="100" dirty="0">
                          <a:effectLst/>
                        </a:rPr>
                        <a:t>p = print</a:t>
                      </a:r>
                      <a:endParaRPr lang="zh-CN" sz="14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&gt;&gt;&gt; </a:t>
                      </a:r>
                      <a:r>
                        <a:rPr lang="en-US" sz="1400" b="1" kern="100" dirty="0">
                          <a:effectLst/>
                        </a:rPr>
                        <a:t>type(p)</a:t>
                      </a:r>
                      <a:endParaRPr lang="zh-CN" sz="14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FF"/>
                          </a:solidFill>
                          <a:effectLst/>
                        </a:rPr>
                        <a:t>&lt;class '</a:t>
                      </a:r>
                      <a:r>
                        <a:rPr lang="en-US" sz="1400" kern="100" dirty="0" err="1">
                          <a:solidFill>
                            <a:srgbClr val="0000FF"/>
                          </a:solidFill>
                          <a:effectLst/>
                        </a:rPr>
                        <a:t>builtin_function_or_method</a:t>
                      </a:r>
                      <a:r>
                        <a:rPr lang="en-US" sz="1400" kern="100" dirty="0">
                          <a:solidFill>
                            <a:srgbClr val="0000FF"/>
                          </a:solidFill>
                          <a:effectLst/>
                        </a:rPr>
                        <a:t>'&gt;</a:t>
                      </a:r>
                      <a:endParaRPr lang="zh-CN" sz="1400" kern="100" dirty="0">
                        <a:solidFill>
                          <a:srgbClr val="0000FF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&gt;&gt;&gt; </a:t>
                      </a:r>
                      <a:r>
                        <a:rPr lang="en-US" sz="1400" b="1" kern="100" dirty="0">
                          <a:effectLst/>
                        </a:rPr>
                        <a:t>import types</a:t>
                      </a:r>
                      <a:endParaRPr lang="zh-CN" sz="14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&gt;&gt;&gt; </a:t>
                      </a:r>
                      <a:r>
                        <a:rPr lang="en-US" sz="1400" b="1" kern="100" dirty="0">
                          <a:effectLst/>
                        </a:rPr>
                        <a:t>type(p) == </a:t>
                      </a:r>
                      <a:r>
                        <a:rPr lang="en-US" sz="1400" b="1" kern="100" dirty="0" err="1">
                          <a:effectLst/>
                        </a:rPr>
                        <a:t>types.BuiltinFunctionType</a:t>
                      </a:r>
                      <a:endParaRPr lang="zh-CN" sz="14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FF"/>
                          </a:solidFill>
                          <a:effectLst/>
                        </a:rPr>
                        <a:t>True</a:t>
                      </a:r>
                      <a:endParaRPr lang="zh-CN" sz="1400" kern="100" dirty="0">
                        <a:solidFill>
                          <a:srgbClr val="0000FF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&gt;&gt;&gt; </a:t>
                      </a:r>
                      <a:r>
                        <a:rPr lang="en-US" sz="1400" b="1" kern="100" dirty="0" err="1">
                          <a:effectLst/>
                        </a:rPr>
                        <a:t>isinstance</a:t>
                      </a:r>
                      <a:r>
                        <a:rPr lang="en-US" sz="1400" b="1" kern="100" dirty="0">
                          <a:effectLst/>
                        </a:rPr>
                        <a:t>(p, </a:t>
                      </a:r>
                      <a:r>
                        <a:rPr lang="en-US" sz="1400" b="1" kern="100" dirty="0" err="1">
                          <a:effectLst/>
                        </a:rPr>
                        <a:t>types.BuiltinFunctionType</a:t>
                      </a:r>
                      <a:r>
                        <a:rPr lang="en-US" sz="1400" b="1" kern="100" dirty="0">
                          <a:effectLst/>
                        </a:rPr>
                        <a:t>)</a:t>
                      </a:r>
                      <a:endParaRPr lang="zh-CN" sz="14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FF"/>
                          </a:solidFill>
                          <a:effectLst/>
                        </a:rPr>
                        <a:t>True</a:t>
                      </a:r>
                      <a:endParaRPr lang="zh-CN" sz="1400" kern="100" dirty="0">
                        <a:solidFill>
                          <a:srgbClr val="0000FF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&gt;&gt;&gt; </a:t>
                      </a:r>
                      <a:r>
                        <a:rPr lang="en-US" sz="1400" b="1" kern="100" dirty="0" err="1">
                          <a:effectLst/>
                        </a:rPr>
                        <a:t>isinstance</a:t>
                      </a:r>
                      <a:r>
                        <a:rPr lang="en-US" sz="1400" b="1" kern="100" dirty="0">
                          <a:effectLst/>
                        </a:rPr>
                        <a:t>(p, </a:t>
                      </a:r>
                      <a:r>
                        <a:rPr lang="en-US" sz="1400" b="1" kern="100" dirty="0" err="1">
                          <a:effectLst/>
                        </a:rPr>
                        <a:t>types.FunctionType</a:t>
                      </a:r>
                      <a:r>
                        <a:rPr lang="en-US" sz="1400" b="1" kern="100" dirty="0">
                          <a:effectLst/>
                        </a:rPr>
                        <a:t>)</a:t>
                      </a:r>
                      <a:endParaRPr lang="zh-CN" sz="14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FF"/>
                          </a:solidFill>
                          <a:effectLst/>
                        </a:rPr>
                        <a:t>False</a:t>
                      </a:r>
                      <a:endParaRPr lang="zh-CN" sz="1400" kern="100" dirty="0">
                        <a:solidFill>
                          <a:srgbClr val="0000FF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&gt;&gt;&gt; </a:t>
                      </a:r>
                      <a:r>
                        <a:rPr lang="en-US" sz="1400" b="1" kern="100" dirty="0">
                          <a:effectLst/>
                        </a:rPr>
                        <a:t>import math</a:t>
                      </a:r>
                      <a:endParaRPr lang="zh-CN" sz="14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&gt;&gt;&gt; </a:t>
                      </a:r>
                      <a:r>
                        <a:rPr lang="en-US" sz="1400" b="1" kern="100" dirty="0">
                          <a:effectLst/>
                        </a:rPr>
                        <a:t>m = math</a:t>
                      </a:r>
                      <a:endParaRPr lang="zh-CN" sz="14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&gt;&gt;&gt; </a:t>
                      </a:r>
                      <a:r>
                        <a:rPr lang="en-US" sz="1400" b="1" kern="100" dirty="0">
                          <a:effectLst/>
                        </a:rPr>
                        <a:t>type(m)</a:t>
                      </a:r>
                      <a:endParaRPr lang="zh-CN" sz="14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FF"/>
                          </a:solidFill>
                          <a:effectLst/>
                        </a:rPr>
                        <a:t>&lt;class 'module'&gt;</a:t>
                      </a:r>
                      <a:endParaRPr lang="zh-CN" sz="1400" kern="100" dirty="0">
                        <a:solidFill>
                          <a:srgbClr val="0000FF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&gt;&gt;&gt; </a:t>
                      </a:r>
                      <a:r>
                        <a:rPr lang="en-US" sz="1400" b="1" kern="100" dirty="0">
                          <a:effectLst/>
                        </a:rPr>
                        <a:t>type(m) == </a:t>
                      </a:r>
                      <a:r>
                        <a:rPr lang="en-US" sz="1400" b="1" kern="100" dirty="0" err="1">
                          <a:effectLst/>
                        </a:rPr>
                        <a:t>types.ModuleType</a:t>
                      </a:r>
                      <a:endParaRPr lang="zh-CN" sz="14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FF"/>
                          </a:solidFill>
                          <a:effectLst/>
                        </a:rPr>
                        <a:t>True</a:t>
                      </a:r>
                      <a:endParaRPr lang="zh-CN" sz="1400" kern="100" dirty="0">
                        <a:solidFill>
                          <a:srgbClr val="0000FF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&gt;&gt;&gt; </a:t>
                      </a:r>
                      <a:r>
                        <a:rPr lang="en-US" sz="1400" b="1" kern="100" dirty="0" err="1">
                          <a:effectLst/>
                        </a:rPr>
                        <a:t>isinstance</a:t>
                      </a:r>
                      <a:r>
                        <a:rPr lang="en-US" sz="1400" b="1" kern="100" dirty="0">
                          <a:effectLst/>
                        </a:rPr>
                        <a:t>(m, </a:t>
                      </a:r>
                      <a:r>
                        <a:rPr lang="en-US" sz="1400" b="1" kern="100" dirty="0" err="1">
                          <a:effectLst/>
                        </a:rPr>
                        <a:t>types.ModuleType</a:t>
                      </a:r>
                      <a:r>
                        <a:rPr lang="en-US" sz="1400" b="1" kern="100" dirty="0">
                          <a:effectLst/>
                        </a:rPr>
                        <a:t>)</a:t>
                      </a:r>
                      <a:endParaRPr lang="zh-CN" sz="14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FF"/>
                          </a:solidFill>
                          <a:effectLst/>
                        </a:rPr>
                        <a:t>True</a:t>
                      </a:r>
                      <a:endParaRPr lang="zh-CN" sz="1400" kern="100" dirty="0">
                        <a:solidFill>
                          <a:srgbClr val="0000FF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&gt;&gt;&gt; </a:t>
                      </a:r>
                      <a:r>
                        <a:rPr lang="en-US" sz="1400" b="1" kern="100" dirty="0" err="1">
                          <a:effectLst/>
                        </a:rPr>
                        <a:t>isinstance</a:t>
                      </a:r>
                      <a:r>
                        <a:rPr lang="en-US" sz="1400" b="1" kern="100" dirty="0">
                          <a:effectLst/>
                        </a:rPr>
                        <a:t>(m, </a:t>
                      </a:r>
                      <a:r>
                        <a:rPr lang="en-US" sz="1400" b="1" kern="100" dirty="0" err="1">
                          <a:effectLst/>
                        </a:rPr>
                        <a:t>types.MethodType</a:t>
                      </a:r>
                      <a:r>
                        <a:rPr lang="en-US" sz="1400" b="1" kern="100" dirty="0">
                          <a:effectLst/>
                        </a:rPr>
                        <a:t>)</a:t>
                      </a:r>
                      <a:endParaRPr lang="zh-CN" sz="14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FF"/>
                          </a:solidFill>
                          <a:effectLst/>
                        </a:rPr>
                        <a:t>False</a:t>
                      </a:r>
                      <a:endParaRPr lang="zh-CN" sz="1400" kern="100" dirty="0">
                        <a:solidFill>
                          <a:srgbClr val="0000FF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&gt;&gt;&gt; </a:t>
                      </a:r>
                      <a:r>
                        <a:rPr lang="en-US" sz="1400" b="1" kern="100" dirty="0">
                          <a:effectLst/>
                        </a:rPr>
                        <a:t>f = open("D:\\mydata\\books.txt", "r")</a:t>
                      </a:r>
                      <a:endParaRPr lang="zh-CN" sz="14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&gt;&gt;&gt; </a:t>
                      </a:r>
                      <a:r>
                        <a:rPr lang="en-US" sz="1400" b="1" kern="100" dirty="0">
                          <a:effectLst/>
                        </a:rPr>
                        <a:t>type(f)</a:t>
                      </a:r>
                      <a:endParaRPr lang="zh-CN" sz="14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FF"/>
                          </a:solidFill>
                          <a:effectLst/>
                        </a:rPr>
                        <a:t>&lt;class '_</a:t>
                      </a:r>
                      <a:r>
                        <a:rPr lang="en-US" sz="1400" kern="100" dirty="0" err="1">
                          <a:solidFill>
                            <a:srgbClr val="0000FF"/>
                          </a:solidFill>
                          <a:effectLst/>
                        </a:rPr>
                        <a:t>io.TextIOWrapper</a:t>
                      </a:r>
                      <a:r>
                        <a:rPr lang="en-US" sz="1400" kern="100" dirty="0">
                          <a:solidFill>
                            <a:srgbClr val="0000FF"/>
                          </a:solidFill>
                          <a:effectLst/>
                        </a:rPr>
                        <a:t>'&gt;</a:t>
                      </a:r>
                      <a:endParaRPr lang="zh-CN" sz="1400" kern="100" dirty="0">
                        <a:solidFill>
                          <a:srgbClr val="0000FF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&gt;&gt;&gt; </a:t>
                      </a:r>
                      <a:r>
                        <a:rPr lang="en-US" sz="1400" b="1" kern="100" dirty="0">
                          <a:effectLst/>
                        </a:rPr>
                        <a:t>import </a:t>
                      </a:r>
                      <a:r>
                        <a:rPr lang="en-US" sz="1400" b="1" kern="100" dirty="0" err="1">
                          <a:effectLst/>
                        </a:rPr>
                        <a:t>io</a:t>
                      </a:r>
                      <a:endParaRPr lang="zh-CN" sz="14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&gt;&gt;&gt; </a:t>
                      </a:r>
                      <a:r>
                        <a:rPr lang="en-US" sz="1400" b="1" kern="100" dirty="0">
                          <a:effectLst/>
                        </a:rPr>
                        <a:t>type(f) == </a:t>
                      </a:r>
                      <a:r>
                        <a:rPr lang="en-US" sz="1400" b="1" kern="100" dirty="0" err="1">
                          <a:effectLst/>
                        </a:rPr>
                        <a:t>io.TextIOWrapper</a:t>
                      </a:r>
                      <a:endParaRPr lang="zh-CN" sz="14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FF"/>
                          </a:solidFill>
                          <a:effectLst/>
                        </a:rPr>
                        <a:t>True</a:t>
                      </a:r>
                      <a:endParaRPr lang="zh-CN" sz="1400" kern="100" dirty="0">
                        <a:solidFill>
                          <a:srgbClr val="0000FF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&gt;&gt;&gt; </a:t>
                      </a:r>
                      <a:r>
                        <a:rPr lang="en-US" sz="1400" b="1" kern="100" dirty="0" err="1">
                          <a:effectLst/>
                        </a:rPr>
                        <a:t>isinstance</a:t>
                      </a:r>
                      <a:r>
                        <a:rPr lang="en-US" sz="1400" b="1" kern="100" dirty="0">
                          <a:effectLst/>
                        </a:rPr>
                        <a:t>(f, </a:t>
                      </a:r>
                      <a:r>
                        <a:rPr lang="en-US" sz="1400" b="1" kern="100" dirty="0" err="1">
                          <a:effectLst/>
                        </a:rPr>
                        <a:t>io.IOBase</a:t>
                      </a:r>
                      <a:r>
                        <a:rPr lang="en-US" sz="1400" b="1" kern="100" dirty="0">
                          <a:effectLst/>
                        </a:rPr>
                        <a:t>) 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FF"/>
                          </a:solidFill>
                          <a:effectLst/>
                        </a:rPr>
                        <a:t>True</a:t>
                      </a:r>
                      <a:endParaRPr lang="zh-CN" sz="1400" kern="100" dirty="0">
                        <a:solidFill>
                          <a:srgbClr val="0000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9741" marR="29741" marT="0" marB="0"/>
                </a:tc>
                <a:extLst>
                  <a:ext uri="{0D108BD9-81ED-4DB2-BD59-A6C34878D82A}">
                    <a16:rowId xmlns:a16="http://schemas.microsoft.com/office/drawing/2014/main" val="18216106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26703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等值与等同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等值判断 </a:t>
            </a:r>
            <a:r>
              <a:rPr lang="en-US" altLang="zh-CN" dirty="0"/>
              <a:t>(==</a:t>
            </a:r>
            <a:r>
              <a:rPr lang="zh-CN" altLang="zh-CN" dirty="0"/>
              <a:t>、</a:t>
            </a:r>
            <a:r>
              <a:rPr lang="en-US" altLang="zh-CN" dirty="0"/>
              <a:t>!=)</a:t>
            </a:r>
          </a:p>
          <a:p>
            <a:r>
              <a:rPr lang="zh-CN" altLang="zh-CN" dirty="0"/>
              <a:t>等同判断</a:t>
            </a:r>
            <a:r>
              <a:rPr lang="en-US" altLang="zh-CN" dirty="0"/>
              <a:t>(is</a:t>
            </a:r>
            <a:r>
              <a:rPr lang="zh-CN" altLang="zh-CN" dirty="0"/>
              <a:t>、</a:t>
            </a:r>
            <a:r>
              <a:rPr lang="en-US" altLang="zh-CN" dirty="0"/>
              <a:t>is not </a:t>
            </a:r>
            <a:r>
              <a:rPr lang="zh-CN" altLang="en-US" dirty="0"/>
              <a:t>或者 </a:t>
            </a:r>
            <a:r>
              <a:rPr lang="en-US" altLang="zh-CN" dirty="0"/>
              <a:t>id(.)</a:t>
            </a:r>
            <a:r>
              <a:rPr lang="zh-CN" altLang="en-US" dirty="0"/>
              <a:t>是否相等</a:t>
            </a:r>
            <a:r>
              <a:rPr lang="en-US" altLang="zh-CN" dirty="0"/>
              <a:t>)</a:t>
            </a:r>
          </a:p>
          <a:p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6317661"/>
              </p:ext>
            </p:extLst>
          </p:nvPr>
        </p:nvGraphicFramePr>
        <p:xfrm>
          <a:off x="8278311" y="345815"/>
          <a:ext cx="3003706" cy="60960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003706">
                  <a:extLst>
                    <a:ext uri="{9D8B030D-6E8A-4147-A177-3AD203B41FA5}">
                      <a16:colId xmlns:a16="http://schemas.microsoft.com/office/drawing/2014/main" val="2329445278"/>
                    </a:ext>
                  </a:extLst>
                </a:gridCol>
              </a:tblGrid>
              <a:tr h="388620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>
                          <a:effectLst/>
                        </a:rPr>
                        <a:t>x = 4.6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>
                          <a:effectLst/>
                        </a:rPr>
                        <a:t>y = 4.6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>
                          <a:effectLst/>
                        </a:rPr>
                        <a:t>z = y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>
                          <a:effectLst/>
                        </a:rPr>
                        <a:t>x == y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00FF"/>
                          </a:solidFill>
                          <a:effectLst/>
                        </a:rPr>
                        <a:t>True</a:t>
                      </a:r>
                      <a:endParaRPr lang="zh-CN" sz="1600" kern="100" dirty="0">
                        <a:solidFill>
                          <a:srgbClr val="0000FF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>
                          <a:effectLst/>
                        </a:rPr>
                        <a:t>x is y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00FF"/>
                          </a:solidFill>
                          <a:effectLst/>
                        </a:rPr>
                        <a:t>False</a:t>
                      </a:r>
                      <a:endParaRPr lang="zh-CN" sz="1600" kern="100" dirty="0">
                        <a:solidFill>
                          <a:srgbClr val="0000FF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>
                          <a:effectLst/>
                        </a:rPr>
                        <a:t>id(x) != id(y)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00FF"/>
                          </a:solidFill>
                          <a:effectLst/>
                        </a:rPr>
                        <a:t>True</a:t>
                      </a:r>
                      <a:endParaRPr lang="zh-CN" sz="1600" kern="100" dirty="0">
                        <a:solidFill>
                          <a:srgbClr val="0000FF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>
                          <a:effectLst/>
                        </a:rPr>
                        <a:t>x == z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00FF"/>
                          </a:solidFill>
                          <a:effectLst/>
                        </a:rPr>
                        <a:t>True</a:t>
                      </a:r>
                      <a:endParaRPr lang="zh-CN" sz="1600" kern="100" dirty="0">
                        <a:solidFill>
                          <a:srgbClr val="0000FF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>
                          <a:effectLst/>
                        </a:rPr>
                        <a:t>x is z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00FF"/>
                          </a:solidFill>
                          <a:effectLst/>
                        </a:rPr>
                        <a:t>False</a:t>
                      </a:r>
                      <a:endParaRPr lang="zh-CN" sz="1600" kern="100" dirty="0">
                        <a:solidFill>
                          <a:srgbClr val="0000FF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>
                          <a:effectLst/>
                        </a:rPr>
                        <a:t>id(x) == id(z)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00FF"/>
                          </a:solidFill>
                          <a:effectLst/>
                        </a:rPr>
                        <a:t>False</a:t>
                      </a:r>
                      <a:endParaRPr lang="zh-CN" sz="1600" kern="100" dirty="0">
                        <a:solidFill>
                          <a:srgbClr val="0000FF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>
                          <a:effectLst/>
                        </a:rPr>
                        <a:t>y == z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00FF"/>
                          </a:solidFill>
                          <a:effectLst/>
                        </a:rPr>
                        <a:t>True</a:t>
                      </a:r>
                      <a:endParaRPr lang="zh-CN" sz="1600" kern="100" dirty="0">
                        <a:solidFill>
                          <a:srgbClr val="0000FF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>
                          <a:effectLst/>
                        </a:rPr>
                        <a:t>y is z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00FF"/>
                          </a:solidFill>
                          <a:effectLst/>
                        </a:rPr>
                        <a:t>True</a:t>
                      </a:r>
                      <a:endParaRPr lang="zh-CN" sz="1600" kern="100" dirty="0">
                        <a:solidFill>
                          <a:srgbClr val="0000FF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>
                          <a:effectLst/>
                        </a:rPr>
                        <a:t>id(y) == id(z)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00FF"/>
                          </a:solidFill>
                          <a:effectLst/>
                        </a:rPr>
                        <a:t>True</a:t>
                      </a:r>
                      <a:endParaRPr lang="zh-CN" sz="1600" kern="100" dirty="0">
                        <a:solidFill>
                          <a:srgbClr val="0000FF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>
                          <a:effectLst/>
                        </a:rPr>
                        <a:t>y is not z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00FF"/>
                          </a:solidFill>
                          <a:effectLst/>
                        </a:rPr>
                        <a:t>False</a:t>
                      </a:r>
                      <a:endParaRPr lang="zh-CN" sz="1600" kern="100" dirty="0">
                        <a:solidFill>
                          <a:srgbClr val="0000FF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>
                          <a:effectLst/>
                        </a:rPr>
                        <a:t>id(y) != id(z)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00FF"/>
                          </a:solidFill>
                          <a:effectLst/>
                        </a:rPr>
                        <a:t>False</a:t>
                      </a:r>
                      <a:endParaRPr lang="zh-CN" sz="1600" kern="100" dirty="0">
                        <a:solidFill>
                          <a:srgbClr val="0000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21" marR="66621" marT="0" marB="0"/>
                </a:tc>
                <a:extLst>
                  <a:ext uri="{0D108BD9-81ED-4DB2-BD59-A6C34878D82A}">
                    <a16:rowId xmlns:a16="http://schemas.microsoft.com/office/drawing/2014/main" val="2529839847"/>
                  </a:ext>
                </a:extLst>
              </a:tr>
            </a:tbl>
          </a:graphicData>
        </a:graphic>
      </p:graphicFrame>
      <p:grpSp>
        <p:nvGrpSpPr>
          <p:cNvPr id="5" name="组合 4"/>
          <p:cNvGrpSpPr/>
          <p:nvPr/>
        </p:nvGrpSpPr>
        <p:grpSpPr>
          <a:xfrm>
            <a:off x="3566752" y="3631546"/>
            <a:ext cx="2213696" cy="2174664"/>
            <a:chOff x="2050581" y="1500114"/>
            <a:chExt cx="2213696" cy="2174664"/>
          </a:xfrm>
        </p:grpSpPr>
        <p:sp>
          <p:nvSpPr>
            <p:cNvPr id="6" name="矩形 5"/>
            <p:cNvSpPr/>
            <p:nvPr/>
          </p:nvSpPr>
          <p:spPr>
            <a:xfrm>
              <a:off x="2050581" y="1542037"/>
              <a:ext cx="291904" cy="48405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lang="en-US" sz="2200" kern="100" dirty="0">
                  <a:ln w="9525" cap="rnd" cmpd="sng" algn="ctr">
                    <a:solidFill>
                      <a:srgbClr val="000000"/>
                    </a:solidFill>
                    <a:prstDash val="solid"/>
                    <a:bevel/>
                  </a:ln>
                  <a:solidFill>
                    <a:srgbClr val="000000"/>
                  </a:solidFill>
                  <a:effectLst/>
                  <a:ea typeface="等线" panose="02010600030101010101" pitchFamily="2" charset="-122"/>
                  <a:cs typeface="Times New Roman" panose="02020603050405020304" pitchFamily="18" charset="0"/>
                </a:rPr>
                <a:t>x</a:t>
              </a:r>
              <a:endParaRPr lang="zh-CN" sz="1050" kern="100" dirty="0">
                <a:effectLst/>
                <a:ea typeface="等线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3508085" y="1500114"/>
              <a:ext cx="756192" cy="56790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lang="en-US" altLang="zh-CN" sz="2400" kern="100" dirty="0">
                  <a:solidFill>
                    <a:schemeClr val="tx1"/>
                  </a:solidFill>
                  <a:effectLst/>
                  <a:ea typeface="等线" panose="02010600030101010101" pitchFamily="2" charset="-122"/>
                  <a:cs typeface="Times New Roman" panose="02020603050405020304" pitchFamily="18" charset="0"/>
                </a:rPr>
                <a:t>4.6</a:t>
              </a:r>
              <a:endParaRPr lang="zh-CN" sz="2400" kern="100" dirty="0">
                <a:solidFill>
                  <a:schemeClr val="tx1"/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8" name="直接箭头连接符 7"/>
            <p:cNvCxnSpPr>
              <a:stCxn id="6" idx="3"/>
              <a:endCxn id="7" idx="1"/>
            </p:cNvCxnSpPr>
            <p:nvPr/>
          </p:nvCxnSpPr>
          <p:spPr>
            <a:xfrm>
              <a:off x="2342485" y="1784064"/>
              <a:ext cx="1165600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矩形 8"/>
            <p:cNvSpPr/>
            <p:nvPr/>
          </p:nvSpPr>
          <p:spPr>
            <a:xfrm>
              <a:off x="2050581" y="2422720"/>
              <a:ext cx="291904" cy="48405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lang="en-US" sz="2200" kern="100" dirty="0">
                  <a:ln w="9525" cap="rnd" cmpd="sng" algn="ctr">
                    <a:solidFill>
                      <a:srgbClr val="000000"/>
                    </a:solidFill>
                    <a:prstDash val="solid"/>
                    <a:bevel/>
                  </a:ln>
                  <a:solidFill>
                    <a:srgbClr val="000000"/>
                  </a:solidFill>
                  <a:effectLst/>
                  <a:ea typeface="等线" panose="02010600030101010101" pitchFamily="2" charset="-122"/>
                  <a:cs typeface="Times New Roman" panose="02020603050405020304" pitchFamily="18" charset="0"/>
                </a:rPr>
                <a:t>y</a:t>
              </a:r>
              <a:endParaRPr lang="zh-CN" sz="1050" kern="100" dirty="0">
                <a:effectLst/>
                <a:ea typeface="等线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3508085" y="2380797"/>
              <a:ext cx="756192" cy="56790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lang="en-US" altLang="zh-CN" sz="2400" kern="100" dirty="0">
                  <a:solidFill>
                    <a:schemeClr val="tx1"/>
                  </a:solidFill>
                  <a:effectLst/>
                  <a:ea typeface="等线" panose="02010600030101010101" pitchFamily="2" charset="-122"/>
                  <a:cs typeface="Times New Roman" panose="02020603050405020304" pitchFamily="18" charset="0"/>
                </a:rPr>
                <a:t>4.6</a:t>
              </a:r>
              <a:endParaRPr lang="zh-CN" sz="2400" kern="100" dirty="0">
                <a:solidFill>
                  <a:schemeClr val="tx1"/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1" name="直接箭头连接符 10"/>
            <p:cNvCxnSpPr>
              <a:stCxn id="9" idx="3"/>
              <a:endCxn id="10" idx="1"/>
            </p:cNvCxnSpPr>
            <p:nvPr/>
          </p:nvCxnSpPr>
          <p:spPr>
            <a:xfrm>
              <a:off x="2342485" y="2664747"/>
              <a:ext cx="1165600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矩形 11"/>
            <p:cNvSpPr/>
            <p:nvPr/>
          </p:nvSpPr>
          <p:spPr>
            <a:xfrm>
              <a:off x="2050581" y="3190724"/>
              <a:ext cx="291904" cy="48405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lang="en-US" sz="2200" kern="100" dirty="0">
                  <a:ln w="9525" cap="rnd" cmpd="sng" algn="ctr">
                    <a:solidFill>
                      <a:srgbClr val="000000"/>
                    </a:solidFill>
                    <a:prstDash val="solid"/>
                    <a:bevel/>
                  </a:ln>
                  <a:solidFill>
                    <a:srgbClr val="000000"/>
                  </a:solidFill>
                  <a:effectLst/>
                  <a:ea typeface="等线" panose="02010600030101010101" pitchFamily="2" charset="-122"/>
                  <a:cs typeface="Times New Roman" panose="02020603050405020304" pitchFamily="18" charset="0"/>
                </a:rPr>
                <a:t>z</a:t>
              </a:r>
              <a:endParaRPr lang="zh-CN" sz="1050" kern="100" dirty="0">
                <a:effectLst/>
                <a:ea typeface="等线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3" name="直接箭头连接符 12"/>
            <p:cNvCxnSpPr>
              <a:stCxn id="12" idx="3"/>
            </p:cNvCxnSpPr>
            <p:nvPr/>
          </p:nvCxnSpPr>
          <p:spPr>
            <a:xfrm flipV="1">
              <a:off x="2342485" y="2827685"/>
              <a:ext cx="1165600" cy="6050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2486302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缓存复用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闭区间</a:t>
            </a:r>
            <a:r>
              <a:rPr lang="en-US" altLang="zh-CN" dirty="0"/>
              <a:t>[-5, 256]</a:t>
            </a:r>
            <a:r>
              <a:rPr lang="zh-CN" altLang="zh-CN" dirty="0"/>
              <a:t>内的整数</a:t>
            </a:r>
            <a:endParaRPr lang="en-US" altLang="zh-CN" dirty="0"/>
          </a:p>
          <a:p>
            <a:r>
              <a:rPr lang="zh-CN" altLang="zh-CN" dirty="0"/>
              <a:t>逻辑值</a:t>
            </a:r>
            <a:r>
              <a:rPr lang="en-US" altLang="zh-CN" dirty="0"/>
              <a:t>(</a:t>
            </a:r>
            <a:r>
              <a:rPr lang="zh-CN" altLang="zh-CN" dirty="0"/>
              <a:t>即</a:t>
            </a:r>
            <a:r>
              <a:rPr lang="en-US" altLang="zh-CN" dirty="0"/>
              <a:t>True</a:t>
            </a:r>
            <a:r>
              <a:rPr lang="zh-CN" altLang="zh-CN" dirty="0"/>
              <a:t>与</a:t>
            </a:r>
            <a:r>
              <a:rPr lang="en-US" altLang="zh-CN" dirty="0"/>
              <a:t>False)</a:t>
            </a:r>
          </a:p>
          <a:p>
            <a:r>
              <a:rPr lang="zh-CN" altLang="zh-CN" dirty="0"/>
              <a:t>较短的字符串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4640328"/>
              </p:ext>
            </p:extLst>
          </p:nvPr>
        </p:nvGraphicFramePr>
        <p:xfrm>
          <a:off x="7500688" y="1905000"/>
          <a:ext cx="1999928" cy="195072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999928">
                  <a:extLst>
                    <a:ext uri="{9D8B030D-6E8A-4147-A177-3AD203B41FA5}">
                      <a16:colId xmlns:a16="http://schemas.microsoft.com/office/drawing/2014/main" val="10146421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>
                          <a:effectLst/>
                        </a:rPr>
                        <a:t>x = 100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>
                          <a:effectLst/>
                        </a:rPr>
                        <a:t>y = 100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>
                          <a:effectLst/>
                        </a:rPr>
                        <a:t>x == y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00FF"/>
                          </a:solidFill>
                          <a:effectLst/>
                        </a:rPr>
                        <a:t>True</a:t>
                      </a:r>
                      <a:endParaRPr lang="zh-CN" sz="1600" kern="100" dirty="0">
                        <a:solidFill>
                          <a:srgbClr val="0000FF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>
                          <a:effectLst/>
                        </a:rPr>
                        <a:t>x is y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00FF"/>
                          </a:solidFill>
                          <a:effectLst/>
                        </a:rPr>
                        <a:t>True</a:t>
                      </a:r>
                      <a:endParaRPr lang="zh-CN" sz="1600" kern="100" dirty="0">
                        <a:solidFill>
                          <a:srgbClr val="0000FF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>
                          <a:effectLst/>
                        </a:rPr>
                        <a:t>id(x) == id(y)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00FF"/>
                          </a:solidFill>
                          <a:effectLst/>
                        </a:rPr>
                        <a:t>True</a:t>
                      </a:r>
                      <a:endParaRPr lang="zh-CN" sz="1600" kern="100" dirty="0">
                        <a:solidFill>
                          <a:srgbClr val="0000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00577299"/>
                  </a:ext>
                </a:extLst>
              </a:tr>
            </a:tbl>
          </a:graphicData>
        </a:graphic>
      </p:graphicFrame>
      <p:grpSp>
        <p:nvGrpSpPr>
          <p:cNvPr id="14" name="组合 13"/>
          <p:cNvGrpSpPr/>
          <p:nvPr/>
        </p:nvGrpSpPr>
        <p:grpSpPr>
          <a:xfrm>
            <a:off x="3575896" y="4247053"/>
            <a:ext cx="2213696" cy="1293981"/>
            <a:chOff x="3575896" y="4247053"/>
            <a:chExt cx="2213696" cy="1293981"/>
          </a:xfrm>
        </p:grpSpPr>
        <p:sp>
          <p:nvSpPr>
            <p:cNvPr id="9" name="矩形 8"/>
            <p:cNvSpPr/>
            <p:nvPr/>
          </p:nvSpPr>
          <p:spPr>
            <a:xfrm>
              <a:off x="3575896" y="4288976"/>
              <a:ext cx="291904" cy="48405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lang="en-US" sz="2200" kern="100" dirty="0">
                  <a:ln w="9525" cap="rnd" cmpd="sng" algn="ctr">
                    <a:solidFill>
                      <a:srgbClr val="000000"/>
                    </a:solidFill>
                    <a:prstDash val="solid"/>
                    <a:bevel/>
                  </a:ln>
                  <a:solidFill>
                    <a:srgbClr val="000000"/>
                  </a:solidFill>
                  <a:effectLst/>
                  <a:ea typeface="等线" panose="02010600030101010101" pitchFamily="2" charset="-122"/>
                  <a:cs typeface="Times New Roman" panose="02020603050405020304" pitchFamily="18" charset="0"/>
                </a:rPr>
                <a:t>x</a:t>
              </a:r>
              <a:endParaRPr lang="zh-CN" sz="1050" kern="100" dirty="0">
                <a:effectLst/>
                <a:ea typeface="等线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5033400" y="4247053"/>
              <a:ext cx="756192" cy="56790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lang="en-US" altLang="zh-CN" sz="2400" kern="100" dirty="0">
                  <a:solidFill>
                    <a:schemeClr val="tx1"/>
                  </a:solidFill>
                  <a:ea typeface="等线" panose="02010600030101010101" pitchFamily="2" charset="-122"/>
                  <a:cs typeface="Times New Roman" panose="02020603050405020304" pitchFamily="18" charset="0"/>
                </a:rPr>
                <a:t>100</a:t>
              </a:r>
              <a:endParaRPr lang="zh-CN" sz="2400" kern="100" dirty="0">
                <a:solidFill>
                  <a:schemeClr val="tx1"/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1" name="直接箭头连接符 10"/>
            <p:cNvCxnSpPr>
              <a:stCxn id="9" idx="3"/>
              <a:endCxn id="10" idx="1"/>
            </p:cNvCxnSpPr>
            <p:nvPr/>
          </p:nvCxnSpPr>
          <p:spPr>
            <a:xfrm>
              <a:off x="3867800" y="4531003"/>
              <a:ext cx="1165600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矩形 11"/>
            <p:cNvSpPr/>
            <p:nvPr/>
          </p:nvSpPr>
          <p:spPr>
            <a:xfrm>
              <a:off x="3575896" y="5056980"/>
              <a:ext cx="291904" cy="48405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lang="en-US" sz="2200" kern="100" dirty="0">
                  <a:ln w="9525" cap="rnd" cmpd="sng" algn="ctr">
                    <a:solidFill>
                      <a:srgbClr val="000000"/>
                    </a:solidFill>
                    <a:prstDash val="solid"/>
                    <a:bevel/>
                  </a:ln>
                  <a:solidFill>
                    <a:srgbClr val="000000"/>
                  </a:solidFill>
                  <a:effectLst/>
                  <a:ea typeface="等线" panose="02010600030101010101" pitchFamily="2" charset="-122"/>
                  <a:cs typeface="Times New Roman" panose="02020603050405020304" pitchFamily="18" charset="0"/>
                </a:rPr>
                <a:t>y</a:t>
              </a:r>
              <a:endParaRPr lang="zh-CN" sz="1050" kern="100" dirty="0">
                <a:effectLst/>
                <a:ea typeface="等线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3" name="直接箭头连接符 12"/>
            <p:cNvCxnSpPr>
              <a:stCxn id="12" idx="3"/>
            </p:cNvCxnSpPr>
            <p:nvPr/>
          </p:nvCxnSpPr>
          <p:spPr>
            <a:xfrm flipV="1">
              <a:off x="3867800" y="4693941"/>
              <a:ext cx="1165600" cy="6050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14057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课堂练习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找出下面代码中的错误。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1414" y="2953512"/>
            <a:ext cx="5577804" cy="30765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280097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1.3 </a:t>
            </a:r>
            <a:r>
              <a:rPr lang="zh-CN" altLang="zh-CN" dirty="0"/>
              <a:t>程序规范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698279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模块导入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altLang="zh-CN" sz="2400" b="1" dirty="0">
                <a:solidFill>
                  <a:srgbClr val="0000FF"/>
                </a:solidFill>
              </a:rPr>
              <a:t>import</a:t>
            </a:r>
            <a:r>
              <a:rPr lang="en-US" altLang="zh-CN" sz="2400" dirty="0"/>
              <a:t> </a:t>
            </a:r>
            <a:r>
              <a:rPr lang="zh-CN" altLang="zh-CN" sz="2400" dirty="0"/>
              <a:t>模块名</a:t>
            </a:r>
          </a:p>
          <a:p>
            <a:pPr lvl="0"/>
            <a:r>
              <a:rPr lang="en-US" altLang="zh-CN" sz="2400" b="1" dirty="0">
                <a:solidFill>
                  <a:srgbClr val="0000FF"/>
                </a:solidFill>
              </a:rPr>
              <a:t>from</a:t>
            </a:r>
            <a:r>
              <a:rPr lang="en-US" altLang="zh-CN" sz="2400" dirty="0"/>
              <a:t> </a:t>
            </a:r>
            <a:r>
              <a:rPr lang="zh-CN" altLang="zh-CN" sz="2400" dirty="0"/>
              <a:t>模块名</a:t>
            </a:r>
            <a:r>
              <a:rPr lang="en-US" altLang="zh-CN" sz="2400" dirty="0"/>
              <a:t> </a:t>
            </a:r>
            <a:r>
              <a:rPr lang="en-US" altLang="zh-CN" sz="2400" b="1" dirty="0">
                <a:solidFill>
                  <a:srgbClr val="0000FF"/>
                </a:solidFill>
              </a:rPr>
              <a:t>import</a:t>
            </a:r>
            <a:r>
              <a:rPr lang="en-US" altLang="zh-CN" sz="2400" dirty="0"/>
              <a:t> </a:t>
            </a:r>
            <a:r>
              <a:rPr lang="zh-CN" altLang="zh-CN" sz="2400" dirty="0"/>
              <a:t>对象名</a:t>
            </a:r>
          </a:p>
          <a:p>
            <a:pPr lvl="0"/>
            <a:r>
              <a:rPr lang="en-US" altLang="zh-CN" sz="2400" b="1" dirty="0">
                <a:solidFill>
                  <a:srgbClr val="0000FF"/>
                </a:solidFill>
              </a:rPr>
              <a:t>from</a:t>
            </a:r>
            <a:r>
              <a:rPr lang="en-US" altLang="zh-CN" sz="2400" dirty="0"/>
              <a:t> </a:t>
            </a:r>
            <a:r>
              <a:rPr lang="zh-CN" altLang="zh-CN" sz="2400" dirty="0"/>
              <a:t>模块名 </a:t>
            </a:r>
            <a:r>
              <a:rPr lang="en-US" altLang="zh-CN" sz="2400" b="1" dirty="0">
                <a:solidFill>
                  <a:srgbClr val="0000FF"/>
                </a:solidFill>
              </a:rPr>
              <a:t>import</a:t>
            </a:r>
            <a:r>
              <a:rPr lang="en-US" altLang="zh-CN" sz="2400" dirty="0"/>
              <a:t> </a:t>
            </a:r>
            <a:r>
              <a:rPr lang="zh-CN" altLang="zh-CN" sz="2400" dirty="0"/>
              <a:t>对象名 </a:t>
            </a:r>
            <a:r>
              <a:rPr lang="en-US" altLang="zh-CN" sz="2400" b="1" dirty="0">
                <a:solidFill>
                  <a:srgbClr val="0000FF"/>
                </a:solidFill>
              </a:rPr>
              <a:t>as</a:t>
            </a:r>
            <a:r>
              <a:rPr lang="en-US" altLang="zh-CN" sz="2400" dirty="0"/>
              <a:t> </a:t>
            </a:r>
            <a:r>
              <a:rPr lang="zh-CN" altLang="zh-CN" sz="2400" dirty="0"/>
              <a:t>别名</a:t>
            </a:r>
          </a:p>
          <a:p>
            <a:endParaRPr lang="zh-CN" altLang="en-US" sz="2400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314817"/>
              </p:ext>
            </p:extLst>
          </p:nvPr>
        </p:nvGraphicFramePr>
        <p:xfrm>
          <a:off x="7249901" y="3875809"/>
          <a:ext cx="3889154" cy="25146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889154">
                  <a:extLst>
                    <a:ext uri="{9D8B030D-6E8A-4147-A177-3AD203B41FA5}">
                      <a16:colId xmlns:a16="http://schemas.microsoft.com/office/drawing/2014/main" val="3629425906"/>
                    </a:ext>
                  </a:extLst>
                </a:gridCol>
              </a:tblGrid>
              <a:tr h="251460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&gt;&gt;&gt; </a:t>
                      </a:r>
                      <a:r>
                        <a:rPr lang="en-US" sz="1800" b="1" kern="100" dirty="0">
                          <a:effectLst/>
                        </a:rPr>
                        <a:t>import math</a:t>
                      </a:r>
                      <a:endParaRPr lang="zh-CN" sz="18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&gt;&gt;&gt; </a:t>
                      </a:r>
                      <a:r>
                        <a:rPr lang="en-US" sz="1800" b="1" kern="100" dirty="0" err="1">
                          <a:effectLst/>
                        </a:rPr>
                        <a:t>math.sin</a:t>
                      </a:r>
                      <a:r>
                        <a:rPr lang="en-US" sz="1800" b="1" kern="100" dirty="0">
                          <a:effectLst/>
                        </a:rPr>
                        <a:t>(3)</a:t>
                      </a:r>
                      <a:endParaRPr lang="zh-CN" sz="18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0000FF"/>
                          </a:solidFill>
                          <a:effectLst/>
                        </a:rPr>
                        <a:t>0.1411200080598672</a:t>
                      </a:r>
                      <a:endParaRPr lang="zh-CN" sz="1800" kern="100" dirty="0">
                        <a:solidFill>
                          <a:srgbClr val="0000FF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&gt;&gt;&gt; </a:t>
                      </a:r>
                      <a:r>
                        <a:rPr lang="en-US" sz="1800" b="1" kern="100" dirty="0">
                          <a:effectLst/>
                        </a:rPr>
                        <a:t>from math import sin</a:t>
                      </a:r>
                      <a:endParaRPr lang="zh-CN" sz="18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&gt;&gt;&gt; </a:t>
                      </a:r>
                      <a:r>
                        <a:rPr lang="en-US" sz="1800" b="1" kern="100" dirty="0">
                          <a:effectLst/>
                        </a:rPr>
                        <a:t>sin(3)</a:t>
                      </a:r>
                      <a:endParaRPr lang="zh-CN" sz="18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0000FF"/>
                          </a:solidFill>
                          <a:effectLst/>
                        </a:rPr>
                        <a:t>0.1411200080598672</a:t>
                      </a:r>
                      <a:endParaRPr lang="zh-CN" sz="1800" kern="100" dirty="0">
                        <a:solidFill>
                          <a:srgbClr val="0000FF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&gt;&gt;&gt; </a:t>
                      </a:r>
                      <a:r>
                        <a:rPr lang="en-US" sz="1800" b="1" kern="100" dirty="0">
                          <a:effectLst/>
                        </a:rPr>
                        <a:t>from math import sin as f</a:t>
                      </a:r>
                      <a:endParaRPr lang="zh-CN" sz="18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&gt;&gt;&gt; </a:t>
                      </a:r>
                      <a:r>
                        <a:rPr lang="en-US" sz="1800" b="1" kern="100" dirty="0">
                          <a:effectLst/>
                        </a:rPr>
                        <a:t>f(3)</a:t>
                      </a:r>
                      <a:endParaRPr lang="zh-CN" sz="18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0000FF"/>
                          </a:solidFill>
                          <a:effectLst/>
                        </a:rPr>
                        <a:t>0.1411200080598672</a:t>
                      </a:r>
                      <a:endParaRPr lang="zh-CN" sz="1800" kern="100" dirty="0">
                        <a:solidFill>
                          <a:srgbClr val="0000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454435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94426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模块查找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zh-CN" dirty="0"/>
              <a:t>首先，在当前文件夹中查找模块源码文件；</a:t>
            </a:r>
          </a:p>
          <a:p>
            <a:pPr lvl="0"/>
            <a:r>
              <a:rPr lang="zh-CN" altLang="zh-CN" dirty="0"/>
              <a:t>其次，从</a:t>
            </a:r>
            <a:r>
              <a:rPr lang="en-US" altLang="zh-CN" dirty="0" err="1"/>
              <a:t>sys.path</a:t>
            </a:r>
            <a:r>
              <a:rPr lang="zh-CN" altLang="zh-CN" dirty="0"/>
              <a:t>所指定的多个文件夹中查找模块源码文件。</a:t>
            </a:r>
          </a:p>
          <a:p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9737961"/>
              </p:ext>
            </p:extLst>
          </p:nvPr>
        </p:nvGraphicFramePr>
        <p:xfrm>
          <a:off x="4885593" y="3134250"/>
          <a:ext cx="6330163" cy="350429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6330163">
                  <a:extLst>
                    <a:ext uri="{9D8B030D-6E8A-4147-A177-3AD203B41FA5}">
                      <a16:colId xmlns:a16="http://schemas.microsoft.com/office/drawing/2014/main" val="836108415"/>
                    </a:ext>
                  </a:extLst>
                </a:gridCol>
              </a:tblGrid>
              <a:tr h="350429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>
                          <a:effectLst/>
                        </a:rPr>
                        <a:t>import sys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 err="1">
                          <a:effectLst/>
                        </a:rPr>
                        <a:t>sys.path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00FF"/>
                          </a:solidFill>
                          <a:effectLst/>
                        </a:rPr>
                        <a:t>['', 'C:\\Program Files\\Python311\\Lib\\</a:t>
                      </a:r>
                      <a:r>
                        <a:rPr lang="en-US" sz="1600" kern="100" dirty="0" err="1">
                          <a:solidFill>
                            <a:srgbClr val="0000FF"/>
                          </a:solidFill>
                          <a:effectLst/>
                        </a:rPr>
                        <a:t>idlelib</a:t>
                      </a:r>
                      <a:r>
                        <a:rPr lang="en-US" sz="1600" kern="100" dirty="0">
                          <a:solidFill>
                            <a:srgbClr val="0000FF"/>
                          </a:solidFill>
                          <a:effectLst/>
                        </a:rPr>
                        <a:t>', 'C:\\Program Files\\Python311\\python311.zip', 'C:\\Program Files\\Python311\\DLLs', 'C:\\Program Files\\Python311\\Lib', 'C:\\Program Files\\Python311', 'C:\\Program Files\\Python311\\Lib\\site-packages']</a:t>
                      </a:r>
                      <a:endParaRPr lang="zh-CN" sz="1600" kern="100" dirty="0">
                        <a:solidFill>
                          <a:srgbClr val="0000FF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 err="1">
                          <a:effectLst/>
                        </a:rPr>
                        <a:t>sys.path.append</a:t>
                      </a:r>
                      <a:r>
                        <a:rPr lang="en-US" sz="1600" b="1" kern="100" dirty="0">
                          <a:effectLst/>
                        </a:rPr>
                        <a:t>("d:\\MyPythonLib")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 err="1">
                          <a:effectLst/>
                        </a:rPr>
                        <a:t>sys.path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00FF"/>
                          </a:solidFill>
                          <a:effectLst/>
                        </a:rPr>
                        <a:t>['', 'C:\\Program Files\\Python311\\Lib\\</a:t>
                      </a:r>
                      <a:r>
                        <a:rPr lang="en-US" sz="1600" kern="100" dirty="0" err="1">
                          <a:solidFill>
                            <a:srgbClr val="0000FF"/>
                          </a:solidFill>
                          <a:effectLst/>
                        </a:rPr>
                        <a:t>idlelib</a:t>
                      </a:r>
                      <a:r>
                        <a:rPr lang="en-US" sz="1600" kern="100" dirty="0">
                          <a:solidFill>
                            <a:srgbClr val="0000FF"/>
                          </a:solidFill>
                          <a:effectLst/>
                        </a:rPr>
                        <a:t>', 'C:\\Program Files\\Python311\\python311.zip', 'C:\\Program Files\\Python311\\DLLs', 'C:\\Program Files\\Python311\\Lib', 'C:\\Program Files\\Python311', 'C:\\Program Files\\Python311\\Lib\\site-packages', 'd:\\</a:t>
                      </a:r>
                      <a:r>
                        <a:rPr lang="en-US" sz="1600" kern="100" dirty="0" err="1">
                          <a:solidFill>
                            <a:srgbClr val="0000FF"/>
                          </a:solidFill>
                          <a:effectLst/>
                        </a:rPr>
                        <a:t>MyPythonLib</a:t>
                      </a:r>
                      <a:r>
                        <a:rPr lang="en-US" sz="1600" kern="100" dirty="0">
                          <a:solidFill>
                            <a:srgbClr val="0000FF"/>
                          </a:solidFill>
                          <a:effectLst/>
                        </a:rPr>
                        <a:t>']</a:t>
                      </a:r>
                      <a:endParaRPr lang="zh-CN" sz="1600" kern="100" dirty="0">
                        <a:solidFill>
                          <a:srgbClr val="0000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13044977"/>
                  </a:ext>
                </a:extLst>
              </a:tr>
            </a:tbl>
          </a:graphicData>
        </a:graphic>
      </p:graphicFrame>
      <p:grpSp>
        <p:nvGrpSpPr>
          <p:cNvPr id="7" name="组合 6"/>
          <p:cNvGrpSpPr/>
          <p:nvPr/>
        </p:nvGrpSpPr>
        <p:grpSpPr>
          <a:xfrm>
            <a:off x="6964616" y="4681630"/>
            <a:ext cx="3935445" cy="2015934"/>
            <a:chOff x="6964616" y="4681630"/>
            <a:chExt cx="3935445" cy="2015934"/>
          </a:xfrm>
        </p:grpSpPr>
        <p:sp>
          <p:nvSpPr>
            <p:cNvPr id="5" name="椭圆 4"/>
            <p:cNvSpPr/>
            <p:nvPr/>
          </p:nvSpPr>
          <p:spPr>
            <a:xfrm>
              <a:off x="8707164" y="6129431"/>
              <a:ext cx="2192897" cy="568133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椭圆 5"/>
            <p:cNvSpPr/>
            <p:nvPr/>
          </p:nvSpPr>
          <p:spPr>
            <a:xfrm>
              <a:off x="6964616" y="4681630"/>
              <a:ext cx="2192897" cy="568133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304439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__name__ </a:t>
            </a:r>
            <a:r>
              <a:rPr lang="zh-CN" altLang="en-US" dirty="0"/>
              <a:t>属性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每个</a:t>
            </a:r>
            <a:r>
              <a:rPr lang="en-US" altLang="zh-CN" dirty="0"/>
              <a:t>Python</a:t>
            </a:r>
            <a:r>
              <a:rPr lang="zh-CN" altLang="zh-CN" dirty="0"/>
              <a:t>源码文件在运行时都有一个名为</a:t>
            </a:r>
            <a:r>
              <a:rPr lang="en-US" altLang="zh-CN" dirty="0"/>
              <a:t>__name__</a:t>
            </a:r>
            <a:r>
              <a:rPr lang="zh-CN" altLang="zh-CN" dirty="0"/>
              <a:t>的属性。</a:t>
            </a:r>
            <a:endParaRPr lang="en-US" altLang="zh-CN" dirty="0"/>
          </a:p>
          <a:p>
            <a:r>
              <a:rPr lang="zh-CN" altLang="zh-CN" dirty="0"/>
              <a:t>如果该源码文件作为模块被</a:t>
            </a:r>
            <a:r>
              <a:rPr lang="en-US" altLang="zh-CN" dirty="0"/>
              <a:t>import</a:t>
            </a:r>
            <a:r>
              <a:rPr lang="zh-CN" altLang="zh-CN" dirty="0"/>
              <a:t>语句加载，则其</a:t>
            </a:r>
            <a:r>
              <a:rPr lang="en-US" altLang="zh-CN" dirty="0"/>
              <a:t>__name__</a:t>
            </a:r>
            <a:r>
              <a:rPr lang="zh-CN" altLang="zh-CN" dirty="0"/>
              <a:t>属性的值被设置为模块名，即文件名（不含后缀）；</a:t>
            </a:r>
            <a:endParaRPr lang="en-US" altLang="zh-CN" dirty="0"/>
          </a:p>
          <a:p>
            <a:r>
              <a:rPr lang="zh-CN" altLang="zh-CN" dirty="0"/>
              <a:t>如果该源码文件作为程序独立运行，则其</a:t>
            </a:r>
            <a:r>
              <a:rPr lang="en-US" altLang="zh-CN" dirty="0"/>
              <a:t>__name__</a:t>
            </a:r>
            <a:r>
              <a:rPr lang="zh-CN" altLang="zh-CN" dirty="0"/>
              <a:t>属性的值被设置为</a:t>
            </a:r>
            <a:r>
              <a:rPr lang="en-US" altLang="zh-CN" dirty="0"/>
              <a:t>"__main__"</a:t>
            </a:r>
            <a:r>
              <a:rPr lang="zh-CN" altLang="zh-CN" dirty="0"/>
              <a:t>。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9799918"/>
              </p:ext>
            </p:extLst>
          </p:nvPr>
        </p:nvGraphicFramePr>
        <p:xfrm>
          <a:off x="2994950" y="4270071"/>
          <a:ext cx="5267960" cy="54864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5267960">
                  <a:extLst>
                    <a:ext uri="{9D8B030D-6E8A-4147-A177-3AD203B41FA5}">
                      <a16:colId xmlns:a16="http://schemas.microsoft.com/office/drawing/2014/main" val="14967864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if __name__=="__main__":</a:t>
                      </a:r>
                      <a:endParaRPr lang="zh-CN" sz="1800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    fun()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438306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394735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5636" y="3886727"/>
            <a:ext cx="5419725" cy="25336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课堂练习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两个程序的运行结果是什么？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7907" y="1041350"/>
            <a:ext cx="5419725" cy="25336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8167462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代码注释</a:t>
            </a:r>
            <a:r>
              <a:rPr lang="en-US" altLang="zh-CN" dirty="0"/>
              <a:t> </a:t>
            </a:r>
            <a:r>
              <a:rPr lang="zh-CN" altLang="en-US" dirty="0"/>
              <a:t>（暗红色部分为注释）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行注释</a:t>
            </a:r>
            <a:endParaRPr lang="en-US" altLang="zh-CN" dirty="0"/>
          </a:p>
          <a:p>
            <a:pPr lvl="1"/>
            <a:r>
              <a:rPr lang="en-US" altLang="zh-CN" dirty="0"/>
              <a:t>#</a:t>
            </a:r>
          </a:p>
          <a:p>
            <a:r>
              <a:rPr lang="zh-CN" altLang="zh-CN" dirty="0"/>
              <a:t>块注释</a:t>
            </a:r>
            <a:endParaRPr lang="en-US" altLang="zh-CN" dirty="0"/>
          </a:p>
          <a:p>
            <a:pPr lvl="1"/>
            <a:r>
              <a:rPr lang="en-US" altLang="zh-CN" dirty="0"/>
              <a:t>''' </a:t>
            </a:r>
            <a:r>
              <a:rPr lang="zh-CN" altLang="en-US" dirty="0"/>
              <a:t>或者 </a:t>
            </a:r>
            <a:r>
              <a:rPr lang="en-US" altLang="zh-CN" dirty="0"/>
              <a:t>"""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2961846"/>
              </p:ext>
            </p:extLst>
          </p:nvPr>
        </p:nvGraphicFramePr>
        <p:xfrm>
          <a:off x="6118046" y="1986721"/>
          <a:ext cx="4787021" cy="2923607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4787021">
                  <a:extLst>
                    <a:ext uri="{9D8B030D-6E8A-4147-A177-3AD203B41FA5}">
                      <a16:colId xmlns:a16="http://schemas.microsoft.com/office/drawing/2014/main" val="2300883303"/>
                    </a:ext>
                  </a:extLst>
                </a:gridCol>
              </a:tblGrid>
              <a:tr h="292360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C00000"/>
                          </a:solidFill>
                          <a:effectLst/>
                        </a:rPr>
                        <a:t>#</a:t>
                      </a:r>
                      <a:r>
                        <a:rPr lang="zh-CN" sz="1800" kern="100" dirty="0">
                          <a:solidFill>
                            <a:srgbClr val="C00000"/>
                          </a:solidFill>
                          <a:effectLst/>
                        </a:rPr>
                        <a:t>这条语句显示</a:t>
                      </a:r>
                      <a:r>
                        <a:rPr lang="en-US" sz="1800" kern="100" dirty="0">
                          <a:solidFill>
                            <a:srgbClr val="C00000"/>
                          </a:solidFill>
                          <a:effectLst/>
                        </a:rPr>
                        <a:t>Hello World</a:t>
                      </a:r>
                      <a:endParaRPr lang="zh-CN" sz="1800" kern="100" dirty="0">
                        <a:solidFill>
                          <a:srgbClr val="C00000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print("Hello World")</a:t>
                      </a:r>
                      <a:endParaRPr lang="zh-CN" sz="18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C00000"/>
                          </a:solidFill>
                          <a:effectLst/>
                        </a:rPr>
                        <a:t>""" </a:t>
                      </a:r>
                      <a:r>
                        <a:rPr lang="zh-CN" sz="1800" kern="100" dirty="0">
                          <a:solidFill>
                            <a:srgbClr val="C00000"/>
                          </a:solidFill>
                          <a:effectLst/>
                        </a:rPr>
                        <a:t>函数</a:t>
                      </a:r>
                      <a:r>
                        <a:rPr lang="en-US" sz="1800" kern="100" dirty="0">
                          <a:solidFill>
                            <a:srgbClr val="C00000"/>
                          </a:solidFill>
                          <a:effectLst/>
                        </a:rPr>
                        <a:t>greet()</a:t>
                      </a:r>
                      <a:r>
                        <a:rPr lang="zh-CN" sz="1800" kern="100" dirty="0">
                          <a:solidFill>
                            <a:srgbClr val="C00000"/>
                          </a:solidFill>
                          <a:effectLst/>
                        </a:rPr>
                        <a:t>功能：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C00000"/>
                          </a:solidFill>
                          <a:effectLst/>
                        </a:rPr>
                        <a:t>    1.</a:t>
                      </a:r>
                      <a:r>
                        <a:rPr lang="zh-CN" sz="1800" kern="100" dirty="0">
                          <a:solidFill>
                            <a:srgbClr val="C00000"/>
                          </a:solidFill>
                          <a:effectLst/>
                        </a:rPr>
                        <a:t>接受用户输入的姓名，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C00000"/>
                          </a:solidFill>
                          <a:effectLst/>
                        </a:rPr>
                        <a:t>    2.</a:t>
                      </a:r>
                      <a:r>
                        <a:rPr lang="zh-CN" sz="1800" kern="100" dirty="0">
                          <a:solidFill>
                            <a:srgbClr val="C00000"/>
                          </a:solidFill>
                          <a:effectLst/>
                        </a:rPr>
                        <a:t>再显示欢迎信息。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C00000"/>
                          </a:solidFill>
                          <a:effectLst/>
                        </a:rPr>
                        <a:t>"""</a:t>
                      </a:r>
                      <a:endParaRPr lang="zh-CN" sz="1800" kern="100" dirty="0">
                        <a:solidFill>
                          <a:srgbClr val="C00000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 dirty="0" err="1">
                          <a:effectLst/>
                        </a:rPr>
                        <a:t>def</a:t>
                      </a:r>
                      <a:r>
                        <a:rPr lang="en-US" sz="1800" b="1" kern="100" dirty="0">
                          <a:effectLst/>
                        </a:rPr>
                        <a:t> greet():</a:t>
                      </a:r>
                      <a:endParaRPr lang="zh-CN" sz="18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	name = input("</a:t>
                      </a:r>
                      <a:r>
                        <a:rPr lang="zh-CN" sz="1800" b="1" kern="100" dirty="0">
                          <a:effectLst/>
                        </a:rPr>
                        <a:t>请输入你的姓名：</a:t>
                      </a:r>
                      <a:r>
                        <a:rPr lang="en-US" sz="1800" b="1" kern="100" dirty="0">
                          <a:effectLst/>
                        </a:rPr>
                        <a:t>")</a:t>
                      </a:r>
                      <a:endParaRPr lang="zh-CN" sz="18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	print("Hello", name)</a:t>
                      </a:r>
                      <a:endParaRPr lang="zh-CN" sz="18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greet()</a:t>
                      </a:r>
                      <a:r>
                        <a:rPr lang="en-US" sz="1800" kern="100" dirty="0">
                          <a:effectLst/>
                        </a:rPr>
                        <a:t>   </a:t>
                      </a:r>
                      <a:r>
                        <a:rPr lang="en-US" sz="1800" kern="100" dirty="0">
                          <a:solidFill>
                            <a:srgbClr val="C00000"/>
                          </a:solidFill>
                          <a:effectLst/>
                        </a:rPr>
                        <a:t>#</a:t>
                      </a:r>
                      <a:r>
                        <a:rPr lang="zh-CN" sz="1800" kern="100" dirty="0">
                          <a:solidFill>
                            <a:srgbClr val="C00000"/>
                          </a:solidFill>
                          <a:effectLst/>
                        </a:rPr>
                        <a:t>调用</a:t>
                      </a:r>
                      <a:r>
                        <a:rPr lang="en-US" sz="1800" kern="100" dirty="0">
                          <a:solidFill>
                            <a:srgbClr val="C00000"/>
                          </a:solidFill>
                          <a:effectLst/>
                        </a:rPr>
                        <a:t>greet()</a:t>
                      </a:r>
                      <a:r>
                        <a:rPr lang="zh-CN" sz="1800" kern="100" dirty="0">
                          <a:solidFill>
                            <a:srgbClr val="C00000"/>
                          </a:solidFill>
                          <a:effectLst/>
                        </a:rPr>
                        <a:t>函数</a:t>
                      </a:r>
                      <a:endParaRPr lang="zh-CN" sz="1800" kern="100" dirty="0">
                        <a:solidFill>
                          <a:srgbClr val="C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68414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677048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程序结构 </a:t>
            </a:r>
            <a:r>
              <a:rPr lang="en-US" altLang="zh-CN" dirty="0"/>
              <a:t>(</a:t>
            </a:r>
            <a:r>
              <a:rPr lang="zh-CN" altLang="en-US" dirty="0"/>
              <a:t>推荐</a:t>
            </a:r>
            <a:r>
              <a:rPr lang="en-US" altLang="zh-CN" dirty="0"/>
              <a:t>, </a:t>
            </a:r>
            <a:r>
              <a:rPr lang="zh-CN" altLang="en-US" dirty="0"/>
              <a:t>非强制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45038" y="1493079"/>
            <a:ext cx="8915400" cy="377762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import</a:t>
            </a: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… …	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     #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导入外部模块</a:t>
            </a:r>
            <a:b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</a:b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import</a:t>
            </a: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… …</a:t>
            </a:r>
          </a:p>
          <a:p>
            <a:pPr marL="0" indent="0">
              <a:buNone/>
            </a:pPr>
            <a:r>
              <a:rPr lang="en-US" altLang="zh-CN" sz="24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def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2400" dirty="0" err="1">
                <a:latin typeface="华文楷体" panose="02010600040101010101" pitchFamily="2" charset="-122"/>
                <a:ea typeface="华文楷体" panose="02010600040101010101" pitchFamily="2" charset="-122"/>
              </a:rPr>
              <a:t>myFun</a:t>
            </a: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(...)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</a:t>
            </a: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#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自定义函数</a:t>
            </a:r>
            <a:endParaRPr lang="en-US" altLang="zh-CN" sz="2000" b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 ……</a:t>
            </a:r>
            <a:b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</a:b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 ……</a:t>
            </a:r>
          </a:p>
          <a:p>
            <a:pPr marL="0" indent="0">
              <a:buNone/>
            </a:pPr>
            <a:r>
              <a:rPr lang="en-US" altLang="zh-CN" sz="24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def</a:t>
            </a:r>
            <a:r>
              <a:rPr lang="en-US" altLang="zh-CN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2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main( )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          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#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主流程，亦是自定义函数，可以是其他函数名</a:t>
            </a:r>
            <a:endParaRPr lang="en-US" altLang="zh-CN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 ……</a:t>
            </a:r>
            <a:b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</a:b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 ……                  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#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调用 </a:t>
            </a:r>
            <a:r>
              <a:rPr lang="en-US" altLang="zh-CN" dirty="0" err="1">
                <a:latin typeface="华文楷体" panose="02010600040101010101" pitchFamily="2" charset="-122"/>
                <a:ea typeface="华文楷体" panose="02010600040101010101" pitchFamily="2" charset="-122"/>
              </a:rPr>
              <a:t>myFun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(.) 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等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 ……</a:t>
            </a: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if</a:t>
            </a: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__name__ == "__main__" 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</a:t>
            </a:r>
            <a:endParaRPr lang="en-US" altLang="zh-CN" sz="2400" b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 </a:t>
            </a:r>
            <a:r>
              <a:rPr lang="en-US" altLang="zh-CN" sz="2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main( ) </a:t>
            </a:r>
            <a:r>
              <a:rPr lang="en-US" altLang="zh-CN" sz="2400" b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	        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# 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执行主流程</a:t>
            </a:r>
            <a:endParaRPr lang="zh-CN" altLang="en-US" sz="2000" b="1" dirty="0">
              <a:solidFill>
                <a:srgbClr val="C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542929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程序错误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语法错误</a:t>
            </a:r>
          </a:p>
          <a:p>
            <a:r>
              <a:rPr lang="zh-CN" altLang="zh-CN" dirty="0"/>
              <a:t>逻辑错误</a:t>
            </a:r>
          </a:p>
          <a:p>
            <a:r>
              <a:rPr lang="zh-CN" altLang="en-US" dirty="0"/>
              <a:t>异常（</a:t>
            </a:r>
            <a:r>
              <a:rPr lang="zh-CN" altLang="zh-CN" dirty="0"/>
              <a:t>运行时错误</a:t>
            </a:r>
            <a:r>
              <a:rPr lang="zh-CN" altLang="en-US" dirty="0"/>
              <a:t>）</a:t>
            </a:r>
            <a:endParaRPr lang="zh-CN" altLang="zh-CN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5685" y="1264555"/>
            <a:ext cx="6034088" cy="487075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5955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课堂练习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简答题：</a:t>
            </a:r>
            <a:r>
              <a:rPr lang="en-US" altLang="zh-CN" dirty="0"/>
              <a:t>Python </a:t>
            </a:r>
            <a:r>
              <a:rPr lang="zh-CN" altLang="en-US" dirty="0"/>
              <a:t>变量命名区分大小写吗？ </a:t>
            </a:r>
            <a:endParaRPr lang="en-US" altLang="zh-CN" dirty="0"/>
          </a:p>
          <a:p>
            <a:r>
              <a:rPr lang="zh-CN" altLang="en-US" dirty="0"/>
              <a:t>简答题：导入模块有哪几种方式？</a:t>
            </a:r>
          </a:p>
        </p:txBody>
      </p:sp>
    </p:spTree>
    <p:extLst>
      <p:ext uri="{BB962C8B-B14F-4D97-AF65-F5344CB8AC3E}">
        <p14:creationId xmlns:p14="http://schemas.microsoft.com/office/powerpoint/2010/main" val="166133168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小结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526749" y="3658153"/>
            <a:ext cx="859182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zh-CN" dirty="0"/>
              <a:t>计算机是程序运行的载体，个人计算机包括台式机、手提电脑、平板电脑和智能手机。程序设计语言根据使用的难易程度分为机器语言、汇编语言和高级语言。</a:t>
            </a:r>
            <a:r>
              <a:rPr lang="en-US" altLang="zh-CN" dirty="0"/>
              <a:t>IDLE</a:t>
            </a:r>
            <a:r>
              <a:rPr lang="zh-CN" altLang="zh-CN" dirty="0"/>
              <a:t>是</a:t>
            </a:r>
            <a:r>
              <a:rPr lang="en-US" altLang="zh-CN" dirty="0"/>
              <a:t>Python</a:t>
            </a:r>
            <a:r>
              <a:rPr lang="zh-CN" altLang="zh-CN" dirty="0"/>
              <a:t>安装程序自带的集成开发环境，支持</a:t>
            </a:r>
            <a:r>
              <a:rPr lang="en-US" altLang="zh-CN" dirty="0"/>
              <a:t>Python</a:t>
            </a:r>
            <a:r>
              <a:rPr lang="zh-CN" altLang="zh-CN" dirty="0"/>
              <a:t>代码的两种运行模式：交互模式和脚本模式。对象是一块或一组内存区域，</a:t>
            </a:r>
            <a:r>
              <a:rPr lang="en-US" altLang="zh-CN" dirty="0"/>
              <a:t>Python</a:t>
            </a:r>
            <a:r>
              <a:rPr lang="zh-CN" altLang="zh-CN" dirty="0"/>
              <a:t>中一切数据包括函数、模块、文件均为对象。给变量赋值就是使得该变量引用某对象，变量的类型就是所引用对象的类型。两个变量可进行等值比较或者等同比较。为了提高开发效率，编写程序需要遵从一定的代码规范。</a:t>
            </a:r>
          </a:p>
        </p:txBody>
      </p:sp>
    </p:spTree>
    <p:extLst>
      <p:ext uri="{BB962C8B-B14F-4D97-AF65-F5344CB8AC3E}">
        <p14:creationId xmlns:p14="http://schemas.microsoft.com/office/powerpoint/2010/main" val="355329794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1.4 </a:t>
            </a:r>
            <a:r>
              <a:rPr lang="zh-CN" altLang="en-US"/>
              <a:t>作</a:t>
            </a:r>
            <a:r>
              <a:rPr lang="zh-CN" altLang="en-US" dirty="0"/>
              <a:t>业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744842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</a:t>
            </a:r>
            <a:r>
              <a:rPr lang="en-US" altLang="zh-CN" dirty="0"/>
              <a:t>1-1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89212" y="1905000"/>
            <a:ext cx="8915400" cy="3777622"/>
          </a:xfrm>
        </p:spPr>
        <p:txBody>
          <a:bodyPr>
            <a:normAutofit/>
          </a:bodyPr>
          <a:lstStyle/>
          <a:p>
            <a:pPr algn="just"/>
            <a:r>
              <a:rPr lang="zh-CN" altLang="en-US" sz="2000" dirty="0">
                <a:latin typeface="+mn-ea"/>
              </a:rPr>
              <a:t>根据附件</a:t>
            </a:r>
            <a:r>
              <a:rPr lang="en-US" altLang="zh-CN" sz="2000" dirty="0">
                <a:latin typeface="+mn-ea"/>
              </a:rPr>
              <a:t>《python</a:t>
            </a:r>
            <a:r>
              <a:rPr lang="zh-CN" altLang="en-US" sz="2000" dirty="0">
                <a:latin typeface="+mn-ea"/>
              </a:rPr>
              <a:t>作字符画</a:t>
            </a:r>
            <a:r>
              <a:rPr lang="en-US" altLang="zh-CN" sz="2000" dirty="0">
                <a:latin typeface="+mn-ea"/>
              </a:rPr>
              <a:t>.pptx》</a:t>
            </a:r>
            <a:r>
              <a:rPr lang="zh-CN" altLang="en-US" sz="2000" dirty="0">
                <a:latin typeface="+mn-ea"/>
              </a:rPr>
              <a:t>的中级方法，做出你的姓名的字符画。以马德华为例，运行结果如下。</a:t>
            </a:r>
            <a:endParaRPr lang="en-US" altLang="zh-CN" sz="2000" dirty="0">
              <a:latin typeface="+mn-ea"/>
            </a:endParaRPr>
          </a:p>
          <a:p>
            <a:pPr algn="just"/>
            <a:r>
              <a:rPr lang="zh-CN" altLang="en-US" sz="2000" dirty="0">
                <a:latin typeface="+mn-ea"/>
              </a:rPr>
              <a:t>此题不在</a:t>
            </a:r>
            <a:r>
              <a:rPr lang="en-US" altLang="zh-CN" sz="2000" dirty="0">
                <a:latin typeface="+mn-ea"/>
              </a:rPr>
              <a:t>elearning</a:t>
            </a:r>
            <a:r>
              <a:rPr lang="zh-CN" altLang="en-US" sz="2000" dirty="0">
                <a:latin typeface="+mn-ea"/>
              </a:rPr>
              <a:t>提交，在课程群提交你本人姓名的字符画，字体不限。</a:t>
            </a:r>
            <a:endParaRPr lang="en-US" altLang="zh-CN" sz="2000" dirty="0">
              <a:latin typeface="+mn-ea"/>
            </a:endParaRPr>
          </a:p>
          <a:p>
            <a:pPr algn="just"/>
            <a:endParaRPr lang="zh-CN" altLang="en-US" sz="2000" dirty="0">
              <a:latin typeface="+mn-ea"/>
            </a:endParaRPr>
          </a:p>
          <a:p>
            <a:pPr algn="just"/>
            <a:endParaRPr lang="en-US" altLang="zh-CN" sz="2000" dirty="0">
              <a:latin typeface="+mn-ea"/>
            </a:endParaRPr>
          </a:p>
          <a:p>
            <a:pPr marL="0" indent="0" algn="just">
              <a:buNone/>
            </a:pPr>
            <a:endParaRPr lang="en-US" altLang="zh-CN" sz="2000" dirty="0">
              <a:latin typeface="+mn-ea"/>
            </a:endParaRPr>
          </a:p>
          <a:p>
            <a:pPr marL="0" indent="0" algn="just">
              <a:buNone/>
            </a:pPr>
            <a:endParaRPr lang="en-US" altLang="zh-CN" sz="2000" dirty="0">
              <a:latin typeface="+mn-ea"/>
            </a:endParaRPr>
          </a:p>
          <a:p>
            <a:pPr marL="0" indent="0" algn="just">
              <a:buNone/>
            </a:pPr>
            <a:endParaRPr lang="en-US" altLang="zh-CN" sz="2000" dirty="0">
              <a:latin typeface="+mn-ea"/>
            </a:endParaRPr>
          </a:p>
          <a:p>
            <a:pPr marL="0" indent="0" algn="just">
              <a:buNone/>
            </a:pPr>
            <a:endParaRPr lang="en-US" altLang="zh-CN" sz="2000" dirty="0">
              <a:latin typeface="+mn-ea"/>
            </a:endParaRPr>
          </a:p>
          <a:p>
            <a:pPr marL="0" indent="0" algn="just">
              <a:buNone/>
            </a:pPr>
            <a:endParaRPr lang="en-US" altLang="zh-CN" sz="2000" dirty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50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2707" y="3260793"/>
            <a:ext cx="5385048" cy="14198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7846" y="5075218"/>
            <a:ext cx="5646766" cy="15074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4910672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</a:t>
            </a:r>
            <a:r>
              <a:rPr lang="en-US" altLang="zh-CN" dirty="0"/>
              <a:t>1-2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某国人口普查局基于如下假设来预测人口： </a:t>
            </a:r>
          </a:p>
          <a:p>
            <a:r>
              <a:rPr lang="zh-CN" altLang="en-US" dirty="0"/>
              <a:t>每</a:t>
            </a:r>
            <a:r>
              <a:rPr lang="en-US" altLang="zh-CN" dirty="0"/>
              <a:t>7</a:t>
            </a:r>
            <a:r>
              <a:rPr lang="zh-CN" altLang="en-US" dirty="0"/>
              <a:t>秒</a:t>
            </a:r>
            <a:r>
              <a:rPr lang="en-US" altLang="zh-CN" dirty="0"/>
              <a:t>1</a:t>
            </a:r>
            <a:r>
              <a:rPr lang="zh-CN" altLang="en-US" dirty="0"/>
              <a:t>人出生 </a:t>
            </a:r>
          </a:p>
          <a:p>
            <a:r>
              <a:rPr lang="zh-CN" altLang="en-US" dirty="0"/>
              <a:t>每</a:t>
            </a:r>
            <a:r>
              <a:rPr lang="en-US" altLang="zh-CN" dirty="0"/>
              <a:t>13</a:t>
            </a:r>
            <a:r>
              <a:rPr lang="zh-CN" altLang="en-US" dirty="0"/>
              <a:t>秒</a:t>
            </a:r>
            <a:r>
              <a:rPr lang="en-US" altLang="zh-CN" dirty="0"/>
              <a:t>1</a:t>
            </a:r>
            <a:r>
              <a:rPr lang="zh-CN" altLang="en-US" dirty="0"/>
              <a:t>人死亡 </a:t>
            </a:r>
          </a:p>
          <a:p>
            <a:r>
              <a:rPr lang="zh-CN" altLang="en-US" dirty="0"/>
              <a:t>每</a:t>
            </a:r>
            <a:r>
              <a:rPr lang="en-US" altLang="zh-CN" dirty="0"/>
              <a:t>45</a:t>
            </a:r>
            <a:r>
              <a:rPr lang="zh-CN" altLang="en-US" dirty="0"/>
              <a:t>秒</a:t>
            </a:r>
            <a:r>
              <a:rPr lang="en-US" altLang="zh-CN" dirty="0"/>
              <a:t>1</a:t>
            </a:r>
            <a:r>
              <a:rPr lang="zh-CN" altLang="en-US" dirty="0"/>
              <a:t>人移入 </a:t>
            </a:r>
          </a:p>
          <a:p>
            <a:r>
              <a:rPr lang="zh-CN" altLang="en-US" dirty="0"/>
              <a:t>每</a:t>
            </a:r>
            <a:r>
              <a:rPr lang="en-US" altLang="zh-CN" dirty="0"/>
              <a:t>79</a:t>
            </a:r>
            <a:r>
              <a:rPr lang="zh-CN" altLang="en-US" dirty="0"/>
              <a:t>秒</a:t>
            </a:r>
            <a:r>
              <a:rPr lang="en-US" altLang="zh-CN" dirty="0"/>
              <a:t>1</a:t>
            </a:r>
            <a:r>
              <a:rPr lang="zh-CN" altLang="en-US" dirty="0"/>
              <a:t>人移出 </a:t>
            </a:r>
          </a:p>
          <a:p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编写程序显示接下来</a:t>
            </a:r>
            <a:r>
              <a:rPr lang="en-US" altLang="zh-CN" dirty="0"/>
              <a:t>5 </a:t>
            </a:r>
            <a:r>
              <a:rPr lang="zh-CN" altLang="en-US" dirty="0"/>
              <a:t>年每一年的人口。假设当前的人口数是</a:t>
            </a:r>
            <a:r>
              <a:rPr lang="en-US" altLang="zh-CN" dirty="0"/>
              <a:t>3120324986</a:t>
            </a:r>
            <a:r>
              <a:rPr lang="zh-CN" altLang="en-US" dirty="0"/>
              <a:t>，每年有</a:t>
            </a:r>
            <a:r>
              <a:rPr lang="en-US" altLang="zh-CN" dirty="0"/>
              <a:t>365 </a:t>
            </a:r>
            <a:r>
              <a:rPr lang="zh-CN" altLang="en-US" dirty="0"/>
              <a:t>天。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要求：在</a:t>
            </a:r>
            <a:r>
              <a:rPr lang="en-US" altLang="zh-CN" dirty="0"/>
              <a:t>elearning</a:t>
            </a:r>
            <a:r>
              <a:rPr lang="zh-CN" altLang="en-US" dirty="0"/>
              <a:t>作业里提交源码文件及运行截图。解题思路见下一页。</a:t>
            </a:r>
          </a:p>
        </p:txBody>
      </p:sp>
    </p:spTree>
    <p:extLst>
      <p:ext uri="{BB962C8B-B14F-4D97-AF65-F5344CB8AC3E}">
        <p14:creationId xmlns:p14="http://schemas.microsoft.com/office/powerpoint/2010/main" val="7745136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解题思路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92925" y="1736435"/>
            <a:ext cx="7308457" cy="4830619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1400" dirty="0"/>
              <a:t>def predict(i): </a:t>
            </a:r>
          </a:p>
          <a:p>
            <a:pPr marL="0" indent="0">
              <a:buNone/>
            </a:pPr>
            <a:r>
              <a:rPr lang="en-US" altLang="zh-CN" sz="1400" dirty="0"/>
              <a:t>	#1.</a:t>
            </a:r>
            <a:r>
              <a:rPr lang="zh-CN" altLang="en-US" sz="1400" dirty="0"/>
              <a:t>从现在至第</a:t>
            </a:r>
            <a:r>
              <a:rPr lang="en-US" altLang="zh-CN" sz="1400" dirty="0"/>
              <a:t>i</a:t>
            </a:r>
            <a:r>
              <a:rPr lang="zh-CN" altLang="en-US" sz="1400" dirty="0"/>
              <a:t>年的总秒数</a:t>
            </a:r>
            <a:r>
              <a:rPr lang="en-US" altLang="zh-CN" sz="1400" dirty="0"/>
              <a:t>total</a:t>
            </a:r>
          </a:p>
          <a:p>
            <a:pPr marL="0" indent="0">
              <a:buNone/>
            </a:pPr>
            <a:r>
              <a:rPr lang="en-US" altLang="zh-CN" sz="1400" dirty="0"/>
              <a:t>	#2.total</a:t>
            </a:r>
            <a:r>
              <a:rPr lang="zh-CN" altLang="en-US" sz="1400" dirty="0"/>
              <a:t>秒内出生人数</a:t>
            </a:r>
            <a:r>
              <a:rPr lang="en-US" altLang="zh-CN" sz="1400" dirty="0"/>
              <a:t>a</a:t>
            </a:r>
          </a:p>
          <a:p>
            <a:pPr marL="0" indent="0">
              <a:buNone/>
            </a:pPr>
            <a:r>
              <a:rPr lang="en-US" altLang="zh-CN" sz="1400" dirty="0"/>
              <a:t>	#3.total</a:t>
            </a:r>
            <a:r>
              <a:rPr lang="zh-CN" altLang="en-US" sz="1400" dirty="0"/>
              <a:t>秒内死亡人数</a:t>
            </a:r>
            <a:r>
              <a:rPr lang="en-US" altLang="zh-CN" sz="1400" dirty="0"/>
              <a:t>b</a:t>
            </a:r>
          </a:p>
          <a:p>
            <a:pPr marL="0" indent="0">
              <a:buNone/>
            </a:pPr>
            <a:r>
              <a:rPr lang="en-US" altLang="zh-CN" sz="1400" dirty="0"/>
              <a:t>	#4.total</a:t>
            </a:r>
            <a:r>
              <a:rPr lang="zh-CN" altLang="en-US" sz="1400" dirty="0"/>
              <a:t>秒内移入人数</a:t>
            </a:r>
            <a:r>
              <a:rPr lang="en-US" altLang="zh-CN" sz="1400" dirty="0"/>
              <a:t>c</a:t>
            </a:r>
          </a:p>
          <a:p>
            <a:pPr marL="0" indent="0">
              <a:buNone/>
            </a:pPr>
            <a:r>
              <a:rPr lang="en-US" altLang="zh-CN" sz="1400" dirty="0"/>
              <a:t>	#5.total</a:t>
            </a:r>
            <a:r>
              <a:rPr lang="zh-CN" altLang="en-US" sz="1400" dirty="0"/>
              <a:t>秒内移出人数</a:t>
            </a:r>
            <a:r>
              <a:rPr lang="en-US" altLang="zh-CN" sz="1400" dirty="0"/>
              <a:t>d</a:t>
            </a:r>
          </a:p>
          <a:p>
            <a:pPr marL="0" indent="0">
              <a:buNone/>
            </a:pPr>
            <a:r>
              <a:rPr lang="en-US" altLang="zh-CN" sz="1400" dirty="0"/>
              <a:t>	#6.</a:t>
            </a:r>
            <a:r>
              <a:rPr lang="zh-CN" altLang="en-US" sz="1400" dirty="0"/>
              <a:t>第</a:t>
            </a:r>
            <a:r>
              <a:rPr lang="en-US" altLang="zh-CN" sz="1400" dirty="0"/>
              <a:t>i</a:t>
            </a:r>
            <a:r>
              <a:rPr lang="zh-CN" altLang="en-US" sz="1400" dirty="0"/>
              <a:t>年的人数 </a:t>
            </a:r>
            <a:r>
              <a:rPr lang="en-US" altLang="zh-CN" sz="1400" dirty="0"/>
              <a:t>= </a:t>
            </a:r>
            <a:r>
              <a:rPr lang="zh-CN" altLang="en-US" sz="1400" dirty="0"/>
              <a:t>现有人数 </a:t>
            </a:r>
            <a:r>
              <a:rPr lang="en-US" altLang="zh-CN" sz="1400" dirty="0"/>
              <a:t>+ a - b + c - d</a:t>
            </a:r>
          </a:p>
          <a:p>
            <a:pPr marL="0" indent="0">
              <a:buNone/>
            </a:pPr>
            <a:r>
              <a:rPr lang="en-US" altLang="zh-CN" sz="1400" dirty="0"/>
              <a:t>	#7.</a:t>
            </a:r>
            <a:r>
              <a:rPr lang="zh-CN" altLang="en-US" sz="1400" dirty="0"/>
              <a:t>显示第</a:t>
            </a:r>
            <a:r>
              <a:rPr lang="en-US" altLang="zh-CN" sz="1400" dirty="0"/>
              <a:t>i</a:t>
            </a:r>
            <a:r>
              <a:rPr lang="zh-CN" altLang="en-US" sz="1400" dirty="0"/>
              <a:t>年的人数</a:t>
            </a:r>
          </a:p>
          <a:p>
            <a:pPr marL="0" indent="0">
              <a:buNone/>
            </a:pPr>
            <a:endParaRPr lang="zh-CN" altLang="en-US" sz="1400" dirty="0"/>
          </a:p>
          <a:p>
            <a:pPr marL="0" indent="0">
              <a:buNone/>
            </a:pPr>
            <a:r>
              <a:rPr lang="en-US" altLang="zh-CN" sz="1400" dirty="0"/>
              <a:t>predict(1)</a:t>
            </a:r>
          </a:p>
          <a:p>
            <a:pPr marL="0" indent="0">
              <a:buNone/>
            </a:pPr>
            <a:r>
              <a:rPr lang="en-US" altLang="zh-CN" sz="1400" dirty="0"/>
              <a:t>predict(2)</a:t>
            </a:r>
          </a:p>
          <a:p>
            <a:pPr marL="0" indent="0">
              <a:buNone/>
            </a:pPr>
            <a:r>
              <a:rPr lang="en-US" altLang="zh-CN" sz="1400" dirty="0"/>
              <a:t>predict(3)</a:t>
            </a:r>
          </a:p>
          <a:p>
            <a:pPr marL="0" indent="0">
              <a:buNone/>
            </a:pPr>
            <a:r>
              <a:rPr lang="en-US" altLang="zh-CN" sz="1400" dirty="0"/>
              <a:t>predict(4)</a:t>
            </a:r>
          </a:p>
          <a:p>
            <a:pPr marL="0" indent="0">
              <a:buNone/>
            </a:pPr>
            <a:r>
              <a:rPr lang="en-US" altLang="zh-CN" sz="1400" dirty="0"/>
              <a:t>predict(5)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56173125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END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7646729"/>
      </p:ext>
    </p:extLst>
  </p:cSld>
  <p:clrMapOvr>
    <a:masterClrMapping/>
  </p:clrMapOvr>
</p:sld>
</file>

<file path=ppt/theme/theme1.xml><?xml version="1.0" encoding="utf-8"?>
<a:theme xmlns:a="http://schemas.openxmlformats.org/drawingml/2006/main" name="丝状">
  <a:themeElements>
    <a:clrScheme name="丝状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丝状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丝状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687</TotalTime>
  <Words>3177</Words>
  <Application>Microsoft Office PowerPoint</Application>
  <PresentationFormat>宽屏</PresentationFormat>
  <Paragraphs>592</Paragraphs>
  <Slides>53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53</vt:i4>
      </vt:variant>
    </vt:vector>
  </HeadingPairs>
  <TitlesOfParts>
    <vt:vector size="61" baseType="lpstr">
      <vt:lpstr>等线</vt:lpstr>
      <vt:lpstr>华文楷体</vt:lpstr>
      <vt:lpstr>宋体</vt:lpstr>
      <vt:lpstr>Arial</vt:lpstr>
      <vt:lpstr>Century Gothic</vt:lpstr>
      <vt:lpstr>Wingdings 3</vt:lpstr>
      <vt:lpstr>丝状</vt:lpstr>
      <vt:lpstr>幻灯片</vt:lpstr>
      <vt:lpstr>Python程序设计  — 01 程序设计概述</vt:lpstr>
      <vt:lpstr>课程的前置条件</vt:lpstr>
      <vt:lpstr>上课方式</vt:lpstr>
      <vt:lpstr>教材</vt:lpstr>
      <vt:lpstr>课程成绩评定</vt:lpstr>
      <vt:lpstr>教学网站</vt:lpstr>
      <vt:lpstr>提纲</vt:lpstr>
      <vt:lpstr>1.1 Python程序的运行</vt:lpstr>
      <vt:lpstr>Python语言</vt:lpstr>
      <vt:lpstr>Python安装</vt:lpstr>
      <vt:lpstr>Python 集成开发环境</vt:lpstr>
      <vt:lpstr>交互模式运行</vt:lpstr>
      <vt:lpstr>交互模式用于临时执行简单的语句</vt:lpstr>
      <vt:lpstr>课堂练习：交互模式下输入以下代码并查看结果</vt:lpstr>
      <vt:lpstr>脚本模式运行</vt:lpstr>
      <vt:lpstr>自定义函数并使用它</vt:lpstr>
      <vt:lpstr>做点变化再运行</vt:lpstr>
      <vt:lpstr>课堂练习</vt:lpstr>
      <vt:lpstr>用print()显示结果</vt:lpstr>
      <vt:lpstr>课堂练习</vt:lpstr>
      <vt:lpstr>1.2 对象基础</vt:lpstr>
      <vt:lpstr>对象的三个特性</vt:lpstr>
      <vt:lpstr>对象类型及示例</vt:lpstr>
      <vt:lpstr>对象就是内存中一块区域</vt:lpstr>
      <vt:lpstr>为变量赋值（=）</vt:lpstr>
      <vt:lpstr>变量赋值</vt:lpstr>
      <vt:lpstr>运算中不可变对象不会改变其数据</vt:lpstr>
      <vt:lpstr>变量命名规则</vt:lpstr>
      <vt:lpstr>Python关键字</vt:lpstr>
      <vt:lpstr>驼峰命名法</vt:lpstr>
      <vt:lpstr>课堂练习</vt:lpstr>
      <vt:lpstr>课堂练习</vt:lpstr>
      <vt:lpstr>赋值示例</vt:lpstr>
      <vt:lpstr>多变量赋值</vt:lpstr>
      <vt:lpstr>类型检查</vt:lpstr>
      <vt:lpstr>等值与等同</vt:lpstr>
      <vt:lpstr>缓存复用</vt:lpstr>
      <vt:lpstr>课堂练习</vt:lpstr>
      <vt:lpstr>1.3 程序规范</vt:lpstr>
      <vt:lpstr>模块导入</vt:lpstr>
      <vt:lpstr>模块查找</vt:lpstr>
      <vt:lpstr>__name__ 属性</vt:lpstr>
      <vt:lpstr>课堂练习</vt:lpstr>
      <vt:lpstr>代码注释 （暗红色部分为注释）</vt:lpstr>
      <vt:lpstr>Python程序结构 (推荐, 非强制)</vt:lpstr>
      <vt:lpstr>程序错误</vt:lpstr>
      <vt:lpstr>课堂练习</vt:lpstr>
      <vt:lpstr>小结</vt:lpstr>
      <vt:lpstr>1.4 作业</vt:lpstr>
      <vt:lpstr>作业1-1</vt:lpstr>
      <vt:lpstr>作业1-2</vt:lpstr>
      <vt:lpstr>解题思路</vt:lpstr>
      <vt:lpstr>END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Python程序设计基础教程 第1章</dc:title>
  <dc:creator>肖川</dc:creator>
  <cp:lastModifiedBy>River Alex</cp:lastModifiedBy>
  <cp:revision>206</cp:revision>
  <dcterms:created xsi:type="dcterms:W3CDTF">2023-09-29T07:15:57Z</dcterms:created>
  <dcterms:modified xsi:type="dcterms:W3CDTF">2026-09-07T00:54:03Z</dcterms:modified>
</cp:coreProperties>
</file>