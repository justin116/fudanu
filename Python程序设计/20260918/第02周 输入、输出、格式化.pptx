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256" r:id="rId2"/>
    <p:sldId id="257" r:id="rId3"/>
    <p:sldId id="258" r:id="rId4"/>
    <p:sldId id="260" r:id="rId5"/>
    <p:sldId id="261" r:id="rId6"/>
    <p:sldId id="262" r:id="rId7"/>
    <p:sldId id="266" r:id="rId8"/>
    <p:sldId id="267" r:id="rId9"/>
    <p:sldId id="265" r:id="rId10"/>
    <p:sldId id="259" r:id="rId11"/>
    <p:sldId id="271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7" r:id="rId20"/>
    <p:sldId id="280" r:id="rId21"/>
    <p:sldId id="318" r:id="rId22"/>
    <p:sldId id="282" r:id="rId23"/>
    <p:sldId id="283" r:id="rId24"/>
    <p:sldId id="284" r:id="rId25"/>
    <p:sldId id="286" r:id="rId26"/>
    <p:sldId id="290" r:id="rId27"/>
    <p:sldId id="292" r:id="rId28"/>
    <p:sldId id="287" r:id="rId29"/>
    <p:sldId id="293" r:id="rId30"/>
    <p:sldId id="295" r:id="rId31"/>
    <p:sldId id="294" r:id="rId32"/>
    <p:sldId id="285" r:id="rId33"/>
    <p:sldId id="308" r:id="rId34"/>
    <p:sldId id="296" r:id="rId35"/>
    <p:sldId id="297" r:id="rId36"/>
    <p:sldId id="298" r:id="rId37"/>
    <p:sldId id="299" r:id="rId38"/>
    <p:sldId id="300" r:id="rId39"/>
    <p:sldId id="301" r:id="rId40"/>
    <p:sldId id="281" r:id="rId41"/>
    <p:sldId id="311" r:id="rId42"/>
    <p:sldId id="312" r:id="rId43"/>
    <p:sldId id="313" r:id="rId44"/>
    <p:sldId id="314" r:id="rId45"/>
    <p:sldId id="315" r:id="rId46"/>
    <p:sldId id="302" r:id="rId47"/>
    <p:sldId id="303" r:id="rId48"/>
    <p:sldId id="309" r:id="rId49"/>
    <p:sldId id="310" r:id="rId50"/>
    <p:sldId id="278" r:id="rId51"/>
    <p:sldId id="279" r:id="rId52"/>
    <p:sldId id="316" r:id="rId53"/>
    <p:sldId id="317" r:id="rId5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57" autoAdjust="0"/>
    <p:restoredTop sz="95320" autoAdjust="0"/>
  </p:normalViewPr>
  <p:slideViewPr>
    <p:cSldViewPr snapToGrid="0">
      <p:cViewPr varScale="1">
        <p:scale>
          <a:sx n="111" d="100"/>
          <a:sy n="111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A2E3F-83E0-4B4C-BEA1-7FACFD25CBBE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8C90A-F8CA-430C-B580-AC1D14A3E0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814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 </a:t>
            </a:r>
            <a:r>
              <a:rPr lang="zh-CN" altLang="en-US" dirty="0"/>
              <a:t>显示 </a:t>
            </a:r>
            <a:r>
              <a:rPr lang="en-US" altLang="zh-CN" dirty="0"/>
              <a:t>This is Jack's book.</a:t>
            </a:r>
          </a:p>
          <a:p>
            <a:r>
              <a:rPr lang="en-US" altLang="zh-CN" dirty="0"/>
              <a:t>s =  "This is Jack's book."</a:t>
            </a:r>
          </a:p>
          <a:p>
            <a:r>
              <a:rPr lang="en-US" altLang="zh-CN" dirty="0"/>
              <a:t>print(s)</a:t>
            </a:r>
          </a:p>
          <a:p>
            <a:r>
              <a:rPr lang="en-US" altLang="zh-CN" dirty="0"/>
              <a:t>s = 'This is Jack\'s book.'</a:t>
            </a:r>
          </a:p>
          <a:p>
            <a:r>
              <a:rPr lang="en-US" altLang="zh-CN" dirty="0"/>
              <a:t>print(s)</a:t>
            </a:r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显示 </a:t>
            </a:r>
            <a:r>
              <a:rPr lang="en-US" altLang="zh-CN" dirty="0"/>
              <a:t>Tom said:"Let's go!".</a:t>
            </a:r>
          </a:p>
          <a:p>
            <a:r>
              <a:rPr lang="en-US" altLang="zh-CN" dirty="0"/>
              <a:t>s = '''Tom said:"Let's go!".'''</a:t>
            </a:r>
          </a:p>
          <a:p>
            <a:r>
              <a:rPr lang="en-US" altLang="zh-CN" dirty="0"/>
              <a:t>print(s)</a:t>
            </a:r>
          </a:p>
          <a:p>
            <a:r>
              <a:rPr lang="en-US" altLang="zh-CN" dirty="0"/>
              <a:t>s = "Tom said:\"Let's go!\"."</a:t>
            </a:r>
          </a:p>
          <a:p>
            <a:r>
              <a:rPr lang="en-US" altLang="zh-CN" dirty="0"/>
              <a:t>print(s)</a:t>
            </a:r>
          </a:p>
          <a:p>
            <a:endParaRPr lang="en-US" altLang="zh-CN" dirty="0"/>
          </a:p>
          <a:p>
            <a:r>
              <a:rPr lang="en-US" altLang="zh-CN" dirty="0"/>
              <a:t>print("Shanghai\nFudan")  #</a:t>
            </a:r>
            <a:r>
              <a:rPr lang="zh-CN" altLang="en-US" dirty="0"/>
              <a:t>显示什么？</a:t>
            </a:r>
          </a:p>
          <a:p>
            <a:endParaRPr lang="zh-CN" altLang="en-US" dirty="0"/>
          </a:p>
          <a:p>
            <a:r>
              <a:rPr lang="en-US" altLang="zh-CN" dirty="0"/>
              <a:t># </a:t>
            </a:r>
            <a:r>
              <a:rPr lang="zh-CN" altLang="en-US" dirty="0"/>
              <a:t>显示 </a:t>
            </a:r>
            <a:r>
              <a:rPr lang="en-US" altLang="zh-CN" dirty="0"/>
              <a:t>Shanghai\nFudan</a:t>
            </a:r>
          </a:p>
          <a:p>
            <a:r>
              <a:rPr lang="en-US" altLang="zh-CN" dirty="0"/>
              <a:t>s = "Shanghai\\nFudan"</a:t>
            </a:r>
          </a:p>
          <a:p>
            <a:r>
              <a:rPr lang="en-US" altLang="zh-CN" dirty="0"/>
              <a:t>print(s)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8C90A-F8CA-430C-B580-AC1D14A3E0E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801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 = 'This is Jack\'s book.'</a:t>
            </a:r>
          </a:p>
          <a:p>
            <a:r>
              <a:rPr lang="en-US" altLang="zh-CN" dirty="0"/>
              <a:t>print(s)</a:t>
            </a:r>
          </a:p>
          <a:p>
            <a:r>
              <a:rPr lang="en-US" altLang="zh-CN" dirty="0"/>
              <a:t>s = r'This is Jack\'s book.'</a:t>
            </a:r>
          </a:p>
          <a:p>
            <a:r>
              <a:rPr lang="en-US" altLang="zh-CN" dirty="0"/>
              <a:t>print(s)</a:t>
            </a:r>
          </a:p>
          <a:p>
            <a:endParaRPr lang="en-US" altLang="zh-CN" dirty="0"/>
          </a:p>
          <a:p>
            <a:r>
              <a:rPr lang="en-US" altLang="zh-CN" dirty="0"/>
              <a:t>s = "Tom said:\"Let's go!\"."</a:t>
            </a:r>
          </a:p>
          <a:p>
            <a:r>
              <a:rPr lang="en-US" altLang="zh-CN" dirty="0"/>
              <a:t>print(s)</a:t>
            </a:r>
          </a:p>
          <a:p>
            <a:r>
              <a:rPr lang="en-US" altLang="zh-CN" dirty="0"/>
              <a:t>s = r"Tom said:\"Let's go!\"."</a:t>
            </a:r>
          </a:p>
          <a:p>
            <a:r>
              <a:rPr lang="en-US" altLang="zh-CN" dirty="0"/>
              <a:t>print(s)</a:t>
            </a:r>
          </a:p>
          <a:p>
            <a:endParaRPr lang="en-US" altLang="zh-CN" dirty="0"/>
          </a:p>
          <a:p>
            <a:r>
              <a:rPr lang="en-US" altLang="zh-CN" dirty="0"/>
              <a:t>s = "Shanghai\nFudan"</a:t>
            </a:r>
          </a:p>
          <a:p>
            <a:r>
              <a:rPr lang="en-US" altLang="zh-CN" dirty="0"/>
              <a:t>print(s)</a:t>
            </a:r>
          </a:p>
          <a:p>
            <a:r>
              <a:rPr lang="en-US" altLang="zh-CN" dirty="0"/>
              <a:t>s = r"Shanghai\nFudan"</a:t>
            </a:r>
          </a:p>
          <a:p>
            <a:r>
              <a:rPr lang="en-US" altLang="zh-CN" dirty="0"/>
              <a:t>print(s)</a:t>
            </a:r>
          </a:p>
          <a:p>
            <a:r>
              <a:rPr lang="en-US" altLang="zh-CN" dirty="0"/>
              <a:t>s = "Shanghai\\nFudan"  </a:t>
            </a:r>
          </a:p>
          <a:p>
            <a:r>
              <a:rPr lang="en-US" altLang="zh-CN" dirty="0"/>
              <a:t>print(s)</a:t>
            </a:r>
          </a:p>
          <a:p>
            <a:r>
              <a:rPr lang="en-US" altLang="zh-CN" dirty="0"/>
              <a:t>s = r"Shanghai\\nFudan"</a:t>
            </a:r>
          </a:p>
          <a:p>
            <a:r>
              <a:rPr lang="en-US" altLang="zh-CN" dirty="0"/>
              <a:t>print(s)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8C90A-F8CA-430C-B580-AC1D14A3E0E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834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x = eval("123")</a:t>
            </a:r>
          </a:p>
          <a:p>
            <a:r>
              <a:rPr lang="en-US" altLang="zh-CN" dirty="0"/>
              <a:t>print(type(x))</a:t>
            </a:r>
          </a:p>
          <a:p>
            <a:r>
              <a:rPr lang="en-US" altLang="zh-CN" dirty="0"/>
              <a:t>print(x)</a:t>
            </a:r>
          </a:p>
          <a:p>
            <a:endParaRPr lang="en-US" altLang="zh-CN" dirty="0"/>
          </a:p>
          <a:p>
            <a:r>
              <a:rPr lang="en-US" altLang="zh-CN" dirty="0"/>
              <a:t>x = eval("-123.45")</a:t>
            </a:r>
          </a:p>
          <a:p>
            <a:r>
              <a:rPr lang="en-US" altLang="zh-CN" dirty="0"/>
              <a:t>print(type(x))</a:t>
            </a:r>
          </a:p>
          <a:p>
            <a:r>
              <a:rPr lang="en-US" altLang="zh-CN" dirty="0"/>
              <a:t>print(x)</a:t>
            </a:r>
          </a:p>
          <a:p>
            <a:endParaRPr lang="en-US" altLang="zh-CN" dirty="0"/>
          </a:p>
          <a:p>
            <a:r>
              <a:rPr lang="en-US" altLang="zh-CN" dirty="0"/>
              <a:t>x = eval('[1,2,3]')</a:t>
            </a:r>
          </a:p>
          <a:p>
            <a:r>
              <a:rPr lang="en-US" altLang="zh-CN" dirty="0"/>
              <a:t>print(type(x))</a:t>
            </a:r>
          </a:p>
          <a:p>
            <a:r>
              <a:rPr lang="en-US" altLang="zh-CN" dirty="0"/>
              <a:t>print(x)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8C90A-F8CA-430C-B580-AC1D14A3E0E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632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 = 3.4</a:t>
            </a:r>
          </a:p>
          <a:p>
            <a:r>
              <a:rPr lang="en-US" altLang="zh-CN" dirty="0"/>
              <a:t>x = eval("a")</a:t>
            </a:r>
          </a:p>
          <a:p>
            <a:r>
              <a:rPr lang="en-US" altLang="zh-CN" dirty="0"/>
              <a:t>print(type(x))</a:t>
            </a:r>
          </a:p>
          <a:p>
            <a:r>
              <a:rPr lang="en-US" altLang="zh-CN" dirty="0"/>
              <a:t>print(x)</a:t>
            </a:r>
          </a:p>
          <a:p>
            <a:endParaRPr lang="en-US" altLang="zh-CN" dirty="0"/>
          </a:p>
          <a:p>
            <a:r>
              <a:rPr lang="en-US" altLang="zh-CN" dirty="0"/>
              <a:t>x = eval("a*2+4")</a:t>
            </a:r>
          </a:p>
          <a:p>
            <a:r>
              <a:rPr lang="en-US" altLang="zh-CN" dirty="0"/>
              <a:t>print(type(x))</a:t>
            </a:r>
          </a:p>
          <a:p>
            <a:r>
              <a:rPr lang="en-US" altLang="zh-CN" dirty="0"/>
              <a:t>print(x)</a:t>
            </a:r>
          </a:p>
          <a:p>
            <a:endParaRPr lang="en-US" altLang="zh-CN" dirty="0"/>
          </a:p>
          <a:p>
            <a:r>
              <a:rPr lang="en-US" altLang="zh-CN" dirty="0"/>
              <a:t>x = eval("a*2&lt;=8")</a:t>
            </a:r>
          </a:p>
          <a:p>
            <a:r>
              <a:rPr lang="en-US" altLang="zh-CN" dirty="0"/>
              <a:t>print(type(x))</a:t>
            </a:r>
          </a:p>
          <a:p>
            <a:r>
              <a:rPr lang="en-US" altLang="zh-CN" dirty="0"/>
              <a:t>print(x)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8C90A-F8CA-430C-B580-AC1D14A3E0E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51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 = 3.4</a:t>
            </a:r>
          </a:p>
          <a:p>
            <a:r>
              <a:rPr lang="en-US" altLang="zh-CN" dirty="0"/>
              <a:t>x = eval("a=5.6") #</a:t>
            </a:r>
            <a:r>
              <a:rPr lang="zh-CN" altLang="en-US" dirty="0"/>
              <a:t>赋值出错</a:t>
            </a:r>
          </a:p>
          <a:p>
            <a:endParaRPr lang="zh-CN" altLang="en-US" dirty="0"/>
          </a:p>
          <a:p>
            <a:r>
              <a:rPr lang="en-US" altLang="zh-CN" dirty="0"/>
              <a:t>x = eval("b")     #</a:t>
            </a:r>
            <a:r>
              <a:rPr lang="zh-CN" altLang="en-US" dirty="0"/>
              <a:t>之前</a:t>
            </a:r>
            <a:r>
              <a:rPr lang="en-US" altLang="zh-CN" dirty="0"/>
              <a:t>b</a:t>
            </a:r>
            <a:r>
              <a:rPr lang="zh-CN" altLang="en-US" dirty="0"/>
              <a:t>未有定义</a:t>
            </a:r>
          </a:p>
          <a:p>
            <a:endParaRPr lang="zh-CN" altLang="en-US" dirty="0"/>
          </a:p>
          <a:p>
            <a:r>
              <a:rPr lang="en-US" altLang="zh-CN" dirty="0"/>
              <a:t>x = eval("b=1.2") #</a:t>
            </a:r>
            <a:r>
              <a:rPr lang="zh-CN" altLang="en-US" dirty="0"/>
              <a:t>赋值出错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8C90A-F8CA-430C-B580-AC1D14A3E0E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157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x = input("</a:t>
            </a:r>
            <a:r>
              <a:rPr lang="zh-CN" altLang="en-US" dirty="0"/>
              <a:t>请输入长方体三边</a:t>
            </a:r>
            <a:r>
              <a:rPr lang="en-US" altLang="zh-CN" dirty="0"/>
              <a:t>(</a:t>
            </a:r>
            <a:r>
              <a:rPr lang="zh-CN" altLang="en-US" dirty="0"/>
              <a:t>以逗号分隔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dirty="0"/>
              <a:t>")   # </a:t>
            </a:r>
            <a:r>
              <a:rPr lang="zh-CN" altLang="en-US" dirty="0"/>
              <a:t>字符串</a:t>
            </a:r>
          </a:p>
          <a:p>
            <a:endParaRPr lang="zh-CN" altLang="en-US" dirty="0"/>
          </a:p>
          <a:p>
            <a:r>
              <a:rPr lang="en-US" altLang="zh-CN" dirty="0"/>
              <a:t>x = eval(x)     # </a:t>
            </a:r>
            <a:r>
              <a:rPr lang="zh-CN" altLang="en-US" dirty="0"/>
              <a:t>元组</a:t>
            </a:r>
          </a:p>
          <a:p>
            <a:endParaRPr lang="zh-CN" altLang="en-US" dirty="0"/>
          </a:p>
          <a:p>
            <a:r>
              <a:rPr lang="en-US" altLang="zh-CN" dirty="0"/>
              <a:t>a, b, c = x     # </a:t>
            </a:r>
            <a:r>
              <a:rPr lang="zh-CN" altLang="en-US" dirty="0"/>
              <a:t>序列解包</a:t>
            </a:r>
          </a:p>
          <a:p>
            <a:endParaRPr lang="zh-CN" altLang="en-US" dirty="0"/>
          </a:p>
          <a:p>
            <a:r>
              <a:rPr lang="en-US" altLang="zh-CN" dirty="0"/>
              <a:t>v = a * b * c   # </a:t>
            </a:r>
            <a:r>
              <a:rPr lang="zh-CN" altLang="en-US" dirty="0"/>
              <a:t>计算体积</a:t>
            </a:r>
          </a:p>
          <a:p>
            <a:endParaRPr lang="zh-CN" altLang="en-US" dirty="0"/>
          </a:p>
          <a:p>
            <a:r>
              <a:rPr lang="en-US" altLang="zh-CN" dirty="0"/>
              <a:t>print(v)        # </a:t>
            </a:r>
            <a:r>
              <a:rPr lang="zh-CN" altLang="en-US" dirty="0"/>
              <a:t>显示体积值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8C90A-F8CA-430C-B580-AC1D14A3E0E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878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a, b, c = eval(input("</a:t>
            </a:r>
            <a:r>
              <a:rPr lang="zh-CN" altLang="en-US" dirty="0"/>
              <a:t>请输入长方体三边</a:t>
            </a:r>
            <a:r>
              <a:rPr lang="en-US" altLang="zh-CN" dirty="0"/>
              <a:t>(</a:t>
            </a:r>
            <a:r>
              <a:rPr lang="zh-CN" altLang="en-US" dirty="0"/>
              <a:t>以逗号分隔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dirty="0"/>
              <a:t>"))</a:t>
            </a:r>
          </a:p>
          <a:p>
            <a:endParaRPr lang="en-US" altLang="zh-CN" dirty="0"/>
          </a:p>
          <a:p>
            <a:r>
              <a:rPr lang="en-US" altLang="zh-CN" dirty="0"/>
              <a:t>print(a * b * c)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8C90A-F8CA-430C-B580-AC1D14A3E0E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366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a, b, c = 'Fudan', 'Univ.', 'Shanghai'</a:t>
            </a:r>
          </a:p>
          <a:p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方法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print(a, b, c)</a:t>
            </a:r>
          </a:p>
          <a:p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方法</a:t>
            </a:r>
            <a:r>
              <a:rPr lang="en-US" altLang="zh-CN" dirty="0"/>
              <a:t>2a</a:t>
            </a:r>
          </a:p>
          <a:p>
            <a:r>
              <a:rPr lang="en-US" altLang="zh-CN" dirty="0"/>
              <a:t>print(*[a,b,c])</a:t>
            </a:r>
          </a:p>
          <a:p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方法</a:t>
            </a:r>
            <a:r>
              <a:rPr lang="en-US" altLang="zh-CN" dirty="0"/>
              <a:t>2b</a:t>
            </a:r>
          </a:p>
          <a:p>
            <a:r>
              <a:rPr lang="en-US" altLang="zh-CN" dirty="0"/>
              <a:t>print(*(a,b,c))</a:t>
            </a:r>
          </a:p>
          <a:p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方法</a:t>
            </a:r>
            <a:r>
              <a:rPr lang="en-US" altLang="zh-CN" dirty="0"/>
              <a:t>3</a:t>
            </a:r>
          </a:p>
          <a:p>
            <a:r>
              <a:rPr lang="en-US" altLang="zh-CN" dirty="0"/>
              <a:t>print(a + ' ' + b + ' ' + c)</a:t>
            </a:r>
          </a:p>
          <a:p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方法</a:t>
            </a:r>
            <a:r>
              <a:rPr lang="en-US" altLang="zh-CN" dirty="0"/>
              <a:t>4</a:t>
            </a:r>
          </a:p>
          <a:p>
            <a:r>
              <a:rPr lang="en-US" altLang="zh-CN" dirty="0"/>
              <a:t>print("%s %s %s" % (a,b,c))</a:t>
            </a:r>
          </a:p>
          <a:p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方法</a:t>
            </a:r>
            <a:r>
              <a:rPr lang="en-US" altLang="zh-CN" dirty="0"/>
              <a:t>5</a:t>
            </a:r>
          </a:p>
          <a:p>
            <a:r>
              <a:rPr lang="en-US" altLang="zh-CN" dirty="0"/>
              <a:t>print(a, end=' ')</a:t>
            </a:r>
          </a:p>
          <a:p>
            <a:r>
              <a:rPr lang="en-US" altLang="zh-CN" dirty="0"/>
              <a:t>print(b, end=' ')</a:t>
            </a:r>
          </a:p>
          <a:p>
            <a:r>
              <a:rPr lang="en-US" altLang="zh-CN" dirty="0"/>
              <a:t>print(c)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8C90A-F8CA-430C-B580-AC1D14A3E0E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22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x = 99</a:t>
            </a:r>
          </a:p>
          <a:p>
            <a:endParaRPr lang="en-US" altLang="zh-CN" dirty="0"/>
          </a:p>
          <a:p>
            <a:r>
              <a:rPr lang="en-US" altLang="zh-CN" dirty="0"/>
              <a:t>spat = "</a:t>
            </a:r>
            <a:r>
              <a:rPr lang="zh-CN" altLang="en-US" dirty="0"/>
              <a:t>用</a:t>
            </a:r>
            <a:r>
              <a:rPr lang="en-US" altLang="zh-CN" dirty="0"/>
              <a:t>%%d</a:t>
            </a:r>
            <a:r>
              <a:rPr lang="zh-CN" altLang="en-US" dirty="0"/>
              <a:t>表示整数占位，如</a:t>
            </a:r>
            <a:r>
              <a:rPr lang="en-US" altLang="zh-CN" dirty="0"/>
              <a:t>x=%d."</a:t>
            </a:r>
          </a:p>
          <a:p>
            <a:endParaRPr lang="en-US" altLang="zh-CN" dirty="0"/>
          </a:p>
          <a:p>
            <a:r>
              <a:rPr lang="en-US" altLang="zh-CN" dirty="0"/>
              <a:t>s = spat % x</a:t>
            </a:r>
          </a:p>
          <a:p>
            <a:endParaRPr lang="en-US" altLang="zh-CN" dirty="0"/>
          </a:p>
          <a:p>
            <a:r>
              <a:rPr lang="en-US" altLang="zh-CN" dirty="0"/>
              <a:t>print(s)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8C90A-F8CA-430C-B580-AC1D14A3E0E2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509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a, b, c = 5.4, 98473, "</a:t>
            </a:r>
            <a:r>
              <a:rPr lang="en-US" altLang="zh-CN" dirty="0" err="1"/>
              <a:t>Fudan</a:t>
            </a:r>
            <a:r>
              <a:rPr lang="en-US" altLang="zh-CN" dirty="0"/>
              <a:t>"</a:t>
            </a:r>
          </a:p>
          <a:p>
            <a:endParaRPr lang="en-US" altLang="zh-CN" dirty="0"/>
          </a:p>
          <a:p>
            <a:r>
              <a:rPr lang="en-US" altLang="zh-CN" dirty="0"/>
              <a:t>s = f"</a:t>
            </a:r>
            <a:r>
              <a:rPr lang="zh-CN" altLang="en-US" dirty="0"/>
              <a:t>变量</a:t>
            </a:r>
            <a:r>
              <a:rPr lang="en-US" altLang="zh-CN" dirty="0"/>
              <a:t>a</a:t>
            </a:r>
            <a:r>
              <a:rPr lang="zh-CN" altLang="en-US" dirty="0"/>
              <a:t>为</a:t>
            </a:r>
            <a:r>
              <a:rPr lang="en-US" altLang="zh-CN" dirty="0"/>
              <a:t>{a}</a:t>
            </a:r>
            <a:r>
              <a:rPr lang="zh-CN" altLang="en-US" dirty="0"/>
              <a:t>或</a:t>
            </a:r>
            <a:r>
              <a:rPr lang="en-US" altLang="zh-CN" dirty="0"/>
              <a:t>{a:.3f},</a:t>
            </a:r>
            <a:r>
              <a:rPr lang="zh-CN" altLang="en-US" dirty="0"/>
              <a:t>其两倍值为</a:t>
            </a:r>
            <a:r>
              <a:rPr lang="en-US" altLang="zh-CN" dirty="0"/>
              <a:t>{2*a}\n"</a:t>
            </a:r>
          </a:p>
          <a:p>
            <a:r>
              <a:rPr lang="en-US" altLang="zh-CN" dirty="0"/>
              <a:t>print(s)</a:t>
            </a:r>
          </a:p>
          <a:p>
            <a:endParaRPr lang="en-US" altLang="zh-CN" dirty="0"/>
          </a:p>
          <a:p>
            <a:r>
              <a:rPr lang="en-US" altLang="zh-CN" dirty="0"/>
              <a:t>print(f"</a:t>
            </a:r>
            <a:r>
              <a:rPr lang="zh-CN" altLang="en-US" dirty="0"/>
              <a:t>变量</a:t>
            </a:r>
            <a:r>
              <a:rPr lang="en-US" altLang="zh-CN" dirty="0"/>
              <a:t>b</a:t>
            </a:r>
            <a:r>
              <a:rPr lang="zh-CN" altLang="en-US" dirty="0"/>
              <a:t>为</a:t>
            </a:r>
            <a:r>
              <a:rPr lang="en-US" altLang="zh-CN" dirty="0"/>
              <a:t>{b}</a:t>
            </a:r>
            <a:r>
              <a:rPr lang="zh-CN" altLang="en-US" dirty="0"/>
              <a:t>或</a:t>
            </a:r>
            <a:r>
              <a:rPr lang="en-US" altLang="zh-CN" dirty="0"/>
              <a:t>{b:,},</a:t>
            </a:r>
            <a:r>
              <a:rPr lang="zh-CN" altLang="en-US" dirty="0"/>
              <a:t>其相反数为</a:t>
            </a:r>
            <a:r>
              <a:rPr lang="en-US" altLang="zh-CN" dirty="0"/>
              <a:t>{-b:08,}\n")</a:t>
            </a:r>
          </a:p>
          <a:p>
            <a:endParaRPr lang="en-US" altLang="zh-CN" dirty="0"/>
          </a:p>
          <a:p>
            <a:r>
              <a:rPr lang="en-US" altLang="zh-CN" dirty="0"/>
              <a:t>print(f"</a:t>
            </a:r>
            <a:r>
              <a:rPr lang="zh-CN" altLang="en-US" dirty="0"/>
              <a:t>变量</a:t>
            </a:r>
            <a:r>
              <a:rPr lang="en-US" altLang="zh-CN" dirty="0"/>
              <a:t>c</a:t>
            </a:r>
            <a:r>
              <a:rPr lang="zh-CN" altLang="en-US" dirty="0"/>
              <a:t>为</a:t>
            </a:r>
            <a:r>
              <a:rPr lang="en-US" altLang="zh-CN" dirty="0"/>
              <a:t>{c}</a:t>
            </a:r>
            <a:r>
              <a:rPr lang="zh-CN" altLang="en-US" dirty="0"/>
              <a:t>，其前</a:t>
            </a:r>
            <a:r>
              <a:rPr lang="en-US" altLang="zh-CN" dirty="0"/>
              <a:t>3</a:t>
            </a:r>
            <a:r>
              <a:rPr lang="zh-CN" altLang="en-US" dirty="0"/>
              <a:t>个字符为</a:t>
            </a:r>
            <a:r>
              <a:rPr lang="en-US" altLang="zh-CN" dirty="0"/>
              <a:t>{c:.3}</a:t>
            </a:r>
            <a:r>
              <a:rPr lang="zh-CN" altLang="en-US" dirty="0"/>
              <a:t>，后</a:t>
            </a:r>
            <a:r>
              <a:rPr lang="en-US" altLang="zh-CN" dirty="0"/>
              <a:t>3</a:t>
            </a:r>
            <a:r>
              <a:rPr lang="zh-CN" altLang="en-US" dirty="0"/>
              <a:t>个字符为</a:t>
            </a:r>
            <a:r>
              <a:rPr lang="en-US" altLang="zh-CN" dirty="0"/>
              <a:t>{c[-3:]}\n")</a:t>
            </a:r>
          </a:p>
          <a:p>
            <a:endParaRPr lang="en-US" altLang="zh-CN" dirty="0"/>
          </a:p>
          <a:p>
            <a:r>
              <a:rPr lang="en-US" altLang="zh-CN" dirty="0"/>
              <a:t>import math</a:t>
            </a:r>
          </a:p>
          <a:p>
            <a:r>
              <a:rPr lang="en-US" altLang="zh-CN" dirty="0"/>
              <a:t>print(f"</a:t>
            </a:r>
            <a:r>
              <a:rPr lang="zh-CN" altLang="en-US" dirty="0"/>
              <a:t>数值有</a:t>
            </a:r>
            <a:r>
              <a:rPr lang="en-US" altLang="zh-CN" dirty="0"/>
              <a:t>{'</a:t>
            </a:r>
            <a:r>
              <a:rPr lang="en-US" altLang="zh-CN" dirty="0" err="1"/>
              <a:t>Fudan</a:t>
            </a:r>
            <a:r>
              <a:rPr lang="en-US" altLang="zh-CN" dirty="0"/>
              <a:t>':&gt;8.3},{2.3}</a:t>
            </a:r>
            <a:r>
              <a:rPr lang="zh-CN" altLang="en-US" dirty="0"/>
              <a:t>和</a:t>
            </a:r>
            <a:r>
              <a:rPr lang="en-US" altLang="zh-CN" dirty="0"/>
              <a:t>{</a:t>
            </a:r>
            <a:r>
              <a:rPr lang="en-US" altLang="zh-CN" dirty="0" err="1"/>
              <a:t>math.sqrt</a:t>
            </a:r>
            <a:r>
              <a:rPr lang="en-US" altLang="zh-CN" dirty="0"/>
              <a:t>(2.3):.4}</a:t>
            </a:r>
            <a:r>
              <a:rPr lang="zh-CN" altLang="en-US" dirty="0"/>
              <a:t>。</a:t>
            </a:r>
            <a:r>
              <a:rPr lang="en-US" altLang="zh-CN" dirty="0"/>
              <a:t>")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17F8C-F95E-44C6-A088-826A6CAD1884}" type="slidenum">
              <a:rPr lang="zh-CN" altLang="en-US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3753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a, b, c = 3.1415, 1234, "</a:t>
            </a:r>
            <a:r>
              <a:rPr lang="en-US" altLang="zh-CN" dirty="0" err="1"/>
              <a:t>Fudan</a:t>
            </a:r>
            <a:r>
              <a:rPr lang="en-US" altLang="zh-CN" dirty="0"/>
              <a:t>"</a:t>
            </a:r>
          </a:p>
          <a:p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方法</a:t>
            </a:r>
            <a:r>
              <a:rPr lang="en-US" altLang="zh-CN" dirty="0"/>
              <a:t>1</a:t>
            </a:r>
            <a:r>
              <a:rPr lang="zh-CN" altLang="en-US" dirty="0"/>
              <a:t>：用</a:t>
            </a:r>
            <a:r>
              <a:rPr lang="en-US" altLang="zh-CN" dirty="0"/>
              <a:t>%</a:t>
            </a:r>
            <a:r>
              <a:rPr lang="zh-CN" altLang="en-US" dirty="0"/>
              <a:t>运算作填充，占位符与值按位置对应</a:t>
            </a:r>
          </a:p>
          <a:p>
            <a:r>
              <a:rPr lang="en-US" altLang="zh-CN" dirty="0" err="1"/>
              <a:t>patStr</a:t>
            </a:r>
            <a:r>
              <a:rPr lang="en-US" altLang="zh-CN" dirty="0"/>
              <a:t> = "a=%-8.3f,b=%08d,\</a:t>
            </a:r>
            <a:r>
              <a:rPr lang="en-US" altLang="zh-CN" dirty="0" err="1"/>
              <a:t>tc</a:t>
            </a:r>
            <a:r>
              <a:rPr lang="en-US" altLang="zh-CN" dirty="0"/>
              <a:t>=%8.3s"</a:t>
            </a:r>
          </a:p>
          <a:p>
            <a:r>
              <a:rPr lang="en-US" altLang="zh-CN" dirty="0"/>
              <a:t>result = </a:t>
            </a:r>
            <a:r>
              <a:rPr lang="en-US" altLang="zh-CN" dirty="0" err="1"/>
              <a:t>patStr</a:t>
            </a:r>
            <a:r>
              <a:rPr lang="en-US" altLang="zh-CN" dirty="0"/>
              <a:t> % (a, b, c)</a:t>
            </a:r>
          </a:p>
          <a:p>
            <a:r>
              <a:rPr lang="en-US" altLang="zh-CN" dirty="0"/>
              <a:t>print(result)</a:t>
            </a:r>
          </a:p>
          <a:p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方法</a:t>
            </a:r>
            <a:r>
              <a:rPr lang="en-US" altLang="zh-CN" dirty="0"/>
              <a:t>2</a:t>
            </a:r>
            <a:r>
              <a:rPr lang="zh-CN" altLang="en-US" dirty="0"/>
              <a:t>：用</a:t>
            </a:r>
            <a:r>
              <a:rPr lang="en-US" altLang="zh-CN" dirty="0"/>
              <a:t>.format(.)</a:t>
            </a:r>
            <a:r>
              <a:rPr lang="zh-CN" altLang="en-US" dirty="0"/>
              <a:t>方法填充，占位符内写入值的序号</a:t>
            </a:r>
          </a:p>
          <a:p>
            <a:r>
              <a:rPr lang="en-US" altLang="zh-CN" dirty="0" err="1"/>
              <a:t>patStr</a:t>
            </a:r>
            <a:r>
              <a:rPr lang="en-US" altLang="zh-CN" dirty="0"/>
              <a:t> = "a={0:&lt;8.3f},b={1:08,d},\</a:t>
            </a:r>
            <a:r>
              <a:rPr lang="en-US" altLang="zh-CN" dirty="0" err="1"/>
              <a:t>tc</a:t>
            </a:r>
            <a:r>
              <a:rPr lang="en-US" altLang="zh-CN" dirty="0"/>
              <a:t>={2:&gt;8.3s}"</a:t>
            </a:r>
          </a:p>
          <a:p>
            <a:r>
              <a:rPr lang="en-US" altLang="zh-CN" dirty="0"/>
              <a:t>result = </a:t>
            </a:r>
            <a:r>
              <a:rPr lang="en-US" altLang="zh-CN" dirty="0" err="1"/>
              <a:t>patStr.format</a:t>
            </a:r>
            <a:r>
              <a:rPr lang="en-US" altLang="zh-CN" dirty="0"/>
              <a:t>(a, b, c) #</a:t>
            </a:r>
            <a:r>
              <a:rPr lang="zh-CN" altLang="en-US" dirty="0"/>
              <a:t>序号依次为</a:t>
            </a:r>
            <a:r>
              <a:rPr lang="en-US" altLang="zh-CN" dirty="0"/>
              <a:t>0,1,2</a:t>
            </a:r>
          </a:p>
          <a:p>
            <a:r>
              <a:rPr lang="en-US" altLang="zh-CN" dirty="0"/>
              <a:t>print(result)</a:t>
            </a:r>
          </a:p>
          <a:p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方法</a:t>
            </a:r>
            <a:r>
              <a:rPr lang="en-US" altLang="zh-CN" dirty="0"/>
              <a:t>3</a:t>
            </a:r>
            <a:r>
              <a:rPr lang="zh-CN" altLang="en-US" dirty="0"/>
              <a:t>：用</a:t>
            </a:r>
            <a:r>
              <a:rPr lang="en-US" altLang="zh-CN" dirty="0"/>
              <a:t>f</a:t>
            </a:r>
            <a:r>
              <a:rPr lang="zh-CN" altLang="en-US" dirty="0"/>
              <a:t>前缀，占位符内直接写入值</a:t>
            </a:r>
          </a:p>
          <a:p>
            <a:r>
              <a:rPr lang="en-US" altLang="zh-CN" dirty="0"/>
              <a:t>result = </a:t>
            </a:r>
            <a:r>
              <a:rPr lang="en-US" altLang="zh-CN" dirty="0" err="1"/>
              <a:t>f"a</a:t>
            </a:r>
            <a:r>
              <a:rPr lang="en-US" altLang="zh-CN" dirty="0"/>
              <a:t>={a:&lt;8.3f},b={b:08,d},\</a:t>
            </a:r>
            <a:r>
              <a:rPr lang="en-US" altLang="zh-CN" dirty="0" err="1"/>
              <a:t>tc</a:t>
            </a:r>
            <a:r>
              <a:rPr lang="en-US" altLang="zh-CN" dirty="0"/>
              <a:t>={c:&gt;8.3s}"</a:t>
            </a:r>
          </a:p>
          <a:p>
            <a:r>
              <a:rPr lang="en-US" altLang="zh-CN" dirty="0"/>
              <a:t>print(result)</a:t>
            </a:r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注：上述的“值”可以是常数、单个变量、或者运算式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17F8C-F95E-44C6-A088-826A6CAD1884}" type="slidenum">
              <a:rPr lang="zh-CN" altLang="en-US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906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839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518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437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239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32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57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908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437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464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292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2697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032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048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297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097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588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70717-2BB3-44FB-9F2D-DE6B7D71E223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B559F39-EB54-483B-9A21-992DCF5F7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022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程序设计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— </a:t>
            </a:r>
            <a:r>
              <a:rPr lang="en-US" altLang="zh-CN" sz="4400" dirty="0"/>
              <a:t>02 </a:t>
            </a:r>
            <a:r>
              <a:rPr lang="zh-CN" altLang="en-US" sz="4400" dirty="0"/>
              <a:t>输入、输出、格式化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复旦大学计算机基础教学组  肖川</a:t>
            </a:r>
          </a:p>
        </p:txBody>
      </p:sp>
    </p:spTree>
    <p:extLst>
      <p:ext uri="{BB962C8B-B14F-4D97-AF65-F5344CB8AC3E}">
        <p14:creationId xmlns:p14="http://schemas.microsoft.com/office/powerpoint/2010/main" val="2114477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字符串基础</a:t>
            </a:r>
            <a:endParaRPr lang="en-US" altLang="zh-CN" sz="2400" dirty="0"/>
          </a:p>
          <a:p>
            <a:r>
              <a:rPr lang="en-US" altLang="zh-CN" sz="2400" dirty="0"/>
              <a:t>input()</a:t>
            </a:r>
            <a:r>
              <a:rPr lang="zh-CN" altLang="en-US" sz="2400" dirty="0"/>
              <a:t>函数</a:t>
            </a:r>
            <a:r>
              <a:rPr lang="en-US" altLang="zh-CN" sz="2400" dirty="0"/>
              <a:t> + eval()</a:t>
            </a:r>
            <a:r>
              <a:rPr lang="zh-CN" altLang="en-US" sz="2400" dirty="0"/>
              <a:t>函数</a:t>
            </a:r>
            <a:endParaRPr lang="en-US" altLang="zh-CN" sz="2400" dirty="0"/>
          </a:p>
          <a:p>
            <a:r>
              <a:rPr lang="en-US" altLang="zh-CN" sz="2400" dirty="0"/>
              <a:t>print()</a:t>
            </a:r>
            <a:r>
              <a:rPr lang="zh-CN" altLang="en-US" sz="2400" dirty="0"/>
              <a:t>函数</a:t>
            </a:r>
            <a:r>
              <a:rPr lang="en-US" altLang="zh-CN" sz="2400" dirty="0"/>
              <a:t> + str()</a:t>
            </a:r>
            <a:r>
              <a:rPr lang="zh-CN" altLang="en-US" sz="2400" dirty="0"/>
              <a:t>函数</a:t>
            </a:r>
            <a:endParaRPr lang="en-US" altLang="zh-CN" sz="2400" dirty="0"/>
          </a:p>
          <a:p>
            <a:r>
              <a:rPr lang="zh-CN" altLang="en-US" sz="2400" dirty="0"/>
              <a:t>字符串格式化</a:t>
            </a:r>
            <a:endParaRPr lang="en-US" altLang="zh-CN" sz="2400" dirty="0"/>
          </a:p>
          <a:p>
            <a:r>
              <a:rPr lang="zh-CN" altLang="en-US" sz="2400" dirty="0"/>
              <a:t>作业</a:t>
            </a:r>
            <a:endParaRPr lang="en-US" altLang="zh-CN" sz="2400" dirty="0"/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390191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字符串基础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219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6916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>
                <a:latin typeface="Times New Roman" pitchFamily="18" charset="0"/>
              </a:rPr>
              <a:t>用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单引号</a:t>
            </a:r>
            <a:r>
              <a:rPr lang="zh-CN" altLang="en-US" dirty="0">
                <a:latin typeface="Times New Roman" pitchFamily="18" charset="0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双引号</a:t>
            </a:r>
            <a:r>
              <a:rPr lang="zh-CN" altLang="en-US" dirty="0">
                <a:latin typeface="Times New Roman" pitchFamily="18" charset="0"/>
              </a:rPr>
              <a:t>或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三引号</a:t>
            </a:r>
            <a:r>
              <a:rPr lang="zh-CN" altLang="en-US" dirty="0">
                <a:latin typeface="Times New Roman" pitchFamily="18" charset="0"/>
              </a:rPr>
              <a:t>括起来的符号序列称为字符串</a:t>
            </a:r>
          </a:p>
          <a:p>
            <a:pPr>
              <a:lnSpc>
                <a:spcPct val="160000"/>
              </a:lnSpc>
            </a:pPr>
            <a:r>
              <a:rPr lang="zh-CN" altLang="en-US" dirty="0">
                <a:latin typeface="Times New Roman" pitchFamily="18" charset="0"/>
              </a:rPr>
              <a:t>单引号、双引号、三单引号、三双引号可以互相嵌套，用来表示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复杂</a:t>
            </a:r>
            <a:r>
              <a:rPr lang="zh-CN" altLang="en-US" dirty="0">
                <a:latin typeface="Times New Roman" pitchFamily="18" charset="0"/>
              </a:rPr>
              <a:t>字符串。</a:t>
            </a:r>
          </a:p>
          <a:p>
            <a:pPr>
              <a:lnSpc>
                <a:spcPct val="160000"/>
              </a:lnSpc>
            </a:pPr>
            <a:r>
              <a:rPr lang="zh-CN" altLang="en-US" dirty="0">
                <a:latin typeface="Times New Roman" pitchFamily="18" charset="0"/>
              </a:rPr>
              <a:t>如 </a:t>
            </a:r>
            <a:r>
              <a:rPr lang="en-US" altLang="zh-CN" dirty="0">
                <a:latin typeface="Times New Roman" pitchFamily="18" charset="0"/>
              </a:rPr>
              <a:t>'abc'</a:t>
            </a:r>
            <a:r>
              <a:rPr lang="zh-CN" altLang="en-US" dirty="0">
                <a:latin typeface="Times New Roman" pitchFamily="18" charset="0"/>
              </a:rPr>
              <a:t>、</a:t>
            </a:r>
            <a:r>
              <a:rPr lang="en-US" altLang="zh-CN" dirty="0">
                <a:latin typeface="Times New Roman" pitchFamily="18" charset="0"/>
              </a:rPr>
              <a:t>'123'</a:t>
            </a:r>
            <a:r>
              <a:rPr lang="zh-CN" altLang="en-US" dirty="0">
                <a:latin typeface="Times New Roman" pitchFamily="18" charset="0"/>
              </a:rPr>
              <a:t>、</a:t>
            </a:r>
            <a:r>
              <a:rPr lang="en-US" altLang="zh-CN" dirty="0">
                <a:latin typeface="Times New Roman" pitchFamily="18" charset="0"/>
              </a:rPr>
              <a:t>'</a:t>
            </a:r>
            <a:r>
              <a:rPr lang="zh-CN" altLang="en-US" dirty="0">
                <a:latin typeface="Times New Roman" pitchFamily="18" charset="0"/>
              </a:rPr>
              <a:t>中国</a:t>
            </a:r>
            <a:r>
              <a:rPr lang="en-US" altLang="zh-CN" dirty="0">
                <a:latin typeface="Times New Roman" pitchFamily="18" charset="0"/>
              </a:rPr>
              <a:t>'</a:t>
            </a:r>
            <a:r>
              <a:rPr lang="zh-CN" altLang="en-US" dirty="0">
                <a:latin typeface="Times New Roman" pitchFamily="18" charset="0"/>
              </a:rPr>
              <a:t>、</a:t>
            </a:r>
            <a:r>
              <a:rPr lang="en-US" altLang="zh-CN" dirty="0">
                <a:latin typeface="Times New Roman" pitchFamily="18" charset="0"/>
              </a:rPr>
              <a:t>"Python"</a:t>
            </a:r>
            <a:r>
              <a:rPr lang="zh-CN" altLang="en-US" dirty="0">
                <a:latin typeface="Times New Roman" pitchFamily="18" charset="0"/>
              </a:rPr>
              <a:t>、</a:t>
            </a:r>
            <a:r>
              <a:rPr lang="en-US" altLang="zh-CN" dirty="0">
                <a:latin typeface="Times New Roman" pitchFamily="18" charset="0"/>
              </a:rPr>
              <a:t>"""</a:t>
            </a:r>
            <a:r>
              <a:rPr lang="zh-CN" altLang="en-US" dirty="0">
                <a:latin typeface="Times New Roman" pitchFamily="18" charset="0"/>
              </a:rPr>
              <a:t>复旦大学</a:t>
            </a:r>
            <a:r>
              <a:rPr lang="en-US" altLang="zh-CN" dirty="0">
                <a:latin typeface="Times New Roman" pitchFamily="18" charset="0"/>
              </a:rPr>
              <a:t>"""</a:t>
            </a:r>
            <a:r>
              <a:rPr lang="zh-CN" altLang="en-US" dirty="0">
                <a:latin typeface="Times New Roman" pitchFamily="18" charset="0"/>
              </a:rPr>
              <a:t>、</a:t>
            </a:r>
            <a:r>
              <a:rPr lang="en-US" altLang="zh-CN" dirty="0">
                <a:latin typeface="Times New Roman" pitchFamily="18" charset="0"/>
              </a:rPr>
              <a:t>'''200433'''    </a:t>
            </a:r>
            <a:endParaRPr lang="zh-CN" altLang="en-US" dirty="0">
              <a:latin typeface="Times New Roman" pitchFamily="18" charset="0"/>
            </a:endParaRPr>
          </a:p>
          <a:p>
            <a:pPr>
              <a:lnSpc>
                <a:spcPct val="160000"/>
              </a:lnSpc>
            </a:pPr>
            <a:r>
              <a:rPr lang="zh-CN" altLang="en-US" dirty="0">
                <a:latin typeface="Times New Roman" pitchFamily="18" charset="0"/>
              </a:rPr>
              <a:t>字符串属于不可变序列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6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空串表示为 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'''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'''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"""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"""</a:t>
            </a:r>
            <a:endParaRPr lang="en-GB" altLang="en-US" dirty="0">
              <a:solidFill>
                <a:srgbClr val="0000FF"/>
              </a:solidFill>
            </a:endParaRPr>
          </a:p>
          <a:p>
            <a:pPr>
              <a:lnSpc>
                <a:spcPct val="160000"/>
              </a:lnSpc>
            </a:pPr>
            <a:r>
              <a:rPr lang="zh-CN" altLang="en-US" dirty="0"/>
              <a:t>三引号'''或"""表示的字符串</a:t>
            </a:r>
            <a:r>
              <a:rPr lang="zh-CN" altLang="en-US" dirty="0">
                <a:solidFill>
                  <a:srgbClr val="FF0000"/>
                </a:solidFill>
              </a:rPr>
              <a:t>可以换行</a:t>
            </a:r>
            <a:r>
              <a:rPr lang="zh-CN" altLang="en-US" dirty="0"/>
              <a:t>，支持排版较为复杂的字符串；三引号还可以在程序中表示较长的注释。</a:t>
            </a:r>
            <a:endParaRPr lang="en-GB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578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425" y="180580"/>
            <a:ext cx="4330655" cy="6449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730117" y="180580"/>
            <a:ext cx="3598965" cy="322467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2" y="3997068"/>
            <a:ext cx="6625592" cy="18547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558" y="1268761"/>
            <a:ext cx="5897786" cy="18361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14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转义字符 </a:t>
            </a:r>
            <a:r>
              <a:rPr lang="en-US" altLang="zh-CN" dirty="0"/>
              <a:t>\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 dirty="0"/>
              <a:t>\n</a:t>
            </a:r>
            <a:r>
              <a:rPr lang="zh-CN" altLang="en-US" b="1" dirty="0"/>
              <a:t>：换行符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\t </a:t>
            </a:r>
            <a:r>
              <a:rPr lang="zh-CN" altLang="en-US" b="1" dirty="0"/>
              <a:t>：制表符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\' </a:t>
            </a:r>
            <a:r>
              <a:rPr lang="zh-CN" altLang="en-US" b="1" dirty="0"/>
              <a:t>：单引号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\" </a:t>
            </a:r>
            <a:r>
              <a:rPr lang="zh-CN" altLang="en-US" b="1" dirty="0"/>
              <a:t>：双引号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\\</a:t>
            </a:r>
            <a:r>
              <a:rPr lang="zh-CN" altLang="en-US" b="1" dirty="0"/>
              <a:t>：一个</a:t>
            </a:r>
            <a:r>
              <a:rPr lang="en-US" altLang="zh-CN" b="1" dirty="0"/>
              <a:t>\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\</a:t>
            </a:r>
            <a:r>
              <a:rPr lang="en-US" altLang="zh-CN" b="1" dirty="0" err="1">
                <a:solidFill>
                  <a:srgbClr val="C00000"/>
                </a:solidFill>
              </a:rPr>
              <a:t>ddd</a:t>
            </a:r>
            <a:r>
              <a:rPr lang="zh-CN" altLang="en-US" b="1" dirty="0"/>
              <a:t>：</a:t>
            </a:r>
            <a:r>
              <a:rPr lang="en-US" altLang="zh-CN" b="1" dirty="0"/>
              <a:t>3</a:t>
            </a:r>
            <a:r>
              <a:rPr lang="zh-CN" altLang="en-US" b="1" dirty="0"/>
              <a:t>位八进制数对应的字符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\</a:t>
            </a:r>
            <a:r>
              <a:rPr lang="en-US" altLang="zh-CN" b="1" dirty="0" err="1"/>
              <a:t>x</a:t>
            </a:r>
            <a:r>
              <a:rPr lang="en-US" altLang="zh-CN" b="1" dirty="0" err="1">
                <a:solidFill>
                  <a:srgbClr val="C00000"/>
                </a:solidFill>
              </a:rPr>
              <a:t>hh</a:t>
            </a:r>
            <a:r>
              <a:rPr lang="zh-CN" altLang="en-US" b="1" dirty="0"/>
              <a:t>：</a:t>
            </a:r>
            <a:r>
              <a:rPr lang="en-US" altLang="zh-CN" b="1" dirty="0"/>
              <a:t>2</a:t>
            </a:r>
            <a:r>
              <a:rPr lang="zh-CN" altLang="en-US" b="1" dirty="0"/>
              <a:t>位十六进制数对应的字符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008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165" y="624110"/>
            <a:ext cx="5685013" cy="57002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5914" y="2133600"/>
            <a:ext cx="4055820" cy="27340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1528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zh-CN" altLang="en-US" sz="2800" dirty="0"/>
              <a:t>字符串界定符前面</a:t>
            </a:r>
            <a:r>
              <a:rPr lang="zh-CN" altLang="en-US" sz="2800" b="1" dirty="0">
                <a:solidFill>
                  <a:srgbClr val="C00000"/>
                </a:solidFill>
              </a:rPr>
              <a:t>加字母 r </a:t>
            </a:r>
            <a:r>
              <a:rPr lang="zh-CN" altLang="en-US" sz="2800" dirty="0"/>
              <a:t>表示原始字符串，</a:t>
            </a:r>
            <a:br>
              <a:rPr lang="en-US" altLang="zh-CN" sz="2800" dirty="0"/>
            </a:br>
            <a:r>
              <a:rPr lang="zh-CN" altLang="en-US" sz="2800" dirty="0"/>
              <a:t>使得</a:t>
            </a:r>
            <a:r>
              <a:rPr lang="en-US" altLang="zh-CN" sz="2800" b="1" dirty="0">
                <a:solidFill>
                  <a:srgbClr val="0000FF"/>
                </a:solidFill>
              </a:rPr>
              <a:t>\</a:t>
            </a:r>
            <a:r>
              <a:rPr lang="zh-CN" altLang="en-US" sz="2800" b="1" dirty="0">
                <a:solidFill>
                  <a:srgbClr val="0000FF"/>
                </a:solidFill>
              </a:rPr>
              <a:t>的转义功能</a:t>
            </a:r>
            <a:r>
              <a:rPr lang="zh-CN" altLang="en-US" sz="2800" dirty="0"/>
              <a:t>失效</a:t>
            </a:r>
            <a:r>
              <a:rPr lang="en-US" altLang="zh-CN" sz="2800" dirty="0"/>
              <a:t>——</a:t>
            </a:r>
            <a:r>
              <a:rPr lang="zh-CN" altLang="en-US" sz="2800" dirty="0"/>
              <a:t>此时引号内就是字符串内容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008" y="1822704"/>
            <a:ext cx="3859743" cy="47334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559" y="2133600"/>
            <a:ext cx="4571053" cy="37632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爆炸形 1 5"/>
          <p:cNvSpPr/>
          <p:nvPr/>
        </p:nvSpPr>
        <p:spPr>
          <a:xfrm>
            <a:off x="8483709" y="4509655"/>
            <a:ext cx="3453107" cy="2176834"/>
          </a:xfrm>
          <a:prstGeom prst="irregularSeal1">
            <a:avLst/>
          </a:prstGeom>
          <a:solidFill>
            <a:srgbClr val="FFFFCC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b="1" dirty="0">
                <a:solidFill>
                  <a:schemeClr val="tx1"/>
                </a:solidFill>
              </a:rPr>
              <a:t>若引号内没有</a:t>
            </a:r>
            <a:r>
              <a:rPr lang="en-US" altLang="zh-CN" b="1" dirty="0">
                <a:solidFill>
                  <a:schemeClr val="tx1"/>
                </a:solidFill>
              </a:rPr>
              <a:t>\</a:t>
            </a:r>
            <a:r>
              <a:rPr lang="zh-CN" altLang="en-US" b="1" dirty="0">
                <a:solidFill>
                  <a:schemeClr val="tx1"/>
                </a:solidFill>
              </a:rPr>
              <a:t>，则有无前缀</a:t>
            </a:r>
            <a:r>
              <a:rPr lang="en-US" altLang="zh-CN" b="1" dirty="0">
                <a:solidFill>
                  <a:schemeClr val="tx1"/>
                </a:solidFill>
              </a:rPr>
              <a:t>r</a:t>
            </a:r>
            <a:r>
              <a:rPr lang="zh-CN" altLang="en-US" b="1" dirty="0">
                <a:solidFill>
                  <a:schemeClr val="tx1"/>
                </a:solidFill>
              </a:rPr>
              <a:t>效果都一样。</a:t>
            </a:r>
          </a:p>
        </p:txBody>
      </p:sp>
    </p:spTree>
    <p:extLst>
      <p:ext uri="{BB962C8B-B14F-4D97-AF65-F5344CB8AC3E}">
        <p14:creationId xmlns:p14="http://schemas.microsoft.com/office/powerpoint/2010/main" val="221861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字符串拼接运算 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012" y="1412776"/>
            <a:ext cx="6985381" cy="51845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863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input()</a:t>
            </a:r>
            <a:r>
              <a:rPr lang="zh-CN" altLang="en-US" dirty="0"/>
              <a:t>函数与</a:t>
            </a:r>
            <a:r>
              <a:rPr lang="en-US" altLang="zh-CN" dirty="0"/>
              <a:t>eval()</a:t>
            </a:r>
            <a:r>
              <a:rPr lang="zh-CN" altLang="en-US" dirty="0"/>
              <a:t>函数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180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786" y="2792989"/>
            <a:ext cx="3867150" cy="2514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输入函数</a:t>
            </a:r>
            <a:r>
              <a:rPr lang="en-US" altLang="zh-CN" dirty="0"/>
              <a:t>input(.)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92925" y="1710291"/>
            <a:ext cx="8915400" cy="3777622"/>
          </a:xfrm>
        </p:spPr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变量</a:t>
            </a:r>
            <a:r>
              <a:rPr lang="en-US" altLang="zh-CN" dirty="0"/>
              <a:t>&gt; = input('</a:t>
            </a:r>
            <a:r>
              <a:rPr lang="zh-CN" altLang="en-US" dirty="0"/>
              <a:t>提示信息</a:t>
            </a:r>
            <a:r>
              <a:rPr lang="en-US" altLang="zh-CN" dirty="0"/>
              <a:t>')</a:t>
            </a:r>
            <a:endParaRPr lang="zh-CN" altLang="en-US" dirty="0"/>
          </a:p>
          <a:p>
            <a:r>
              <a:rPr lang="zh-CN" altLang="en-US" dirty="0"/>
              <a:t>该函数返回用户键入的</a:t>
            </a:r>
            <a:r>
              <a:rPr lang="zh-CN" altLang="en-US" dirty="0">
                <a:solidFill>
                  <a:srgbClr val="FF0000"/>
                </a:solidFill>
              </a:rPr>
              <a:t>字符串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916" y="3497164"/>
            <a:ext cx="3924300" cy="2524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672" y="4221088"/>
            <a:ext cx="3933825" cy="2533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53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eval()</a:t>
            </a:r>
            <a:r>
              <a:rPr lang="zh-CN" altLang="en-US" dirty="0"/>
              <a:t>接收一个字符串作为参数，</a:t>
            </a:r>
            <a:br>
              <a:rPr lang="en-US" altLang="zh-CN" dirty="0"/>
            </a:br>
            <a:r>
              <a:rPr lang="zh-CN" altLang="en-US" dirty="0"/>
              <a:t>函数值为去掉参数的边界符的结果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213" y="2161857"/>
            <a:ext cx="3429244" cy="4145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912" y="2521251"/>
            <a:ext cx="4159045" cy="34266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9380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eval()</a:t>
            </a:r>
            <a:r>
              <a:rPr lang="zh-CN" altLang="en-US" dirty="0"/>
              <a:t>的参数字符串里可以有变量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083" y="1940502"/>
            <a:ext cx="3415971" cy="44611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119" y="2653964"/>
            <a:ext cx="3699427" cy="30342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2056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这里三次</a:t>
            </a:r>
            <a:r>
              <a:rPr lang="en-US" altLang="zh-CN" dirty="0"/>
              <a:t>eval()</a:t>
            </a:r>
            <a:r>
              <a:rPr lang="zh-CN" altLang="en-US" dirty="0"/>
              <a:t>的调用都出错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212" y="2133600"/>
            <a:ext cx="8864455" cy="3777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4911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一组数的表示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759" y="2133600"/>
            <a:ext cx="5136163" cy="3777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7" name="组合 6"/>
          <p:cNvGrpSpPr/>
          <p:nvPr/>
        </p:nvGrpSpPr>
        <p:grpSpPr>
          <a:xfrm>
            <a:off x="3221183" y="1028700"/>
            <a:ext cx="7659976" cy="3792682"/>
            <a:chOff x="3844636" y="1028700"/>
            <a:chExt cx="7659976" cy="3792682"/>
          </a:xfrm>
        </p:grpSpPr>
        <p:sp>
          <p:nvSpPr>
            <p:cNvPr id="5" name="矩形 4"/>
            <p:cNvSpPr/>
            <p:nvPr/>
          </p:nvSpPr>
          <p:spPr>
            <a:xfrm>
              <a:off x="3844636" y="4405745"/>
              <a:ext cx="1558637" cy="415637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云形标注 5"/>
            <p:cNvSpPr/>
            <p:nvPr/>
          </p:nvSpPr>
          <p:spPr>
            <a:xfrm>
              <a:off x="7725375" y="1028700"/>
              <a:ext cx="3779237" cy="1849582"/>
            </a:xfrm>
            <a:prstGeom prst="cloudCallout">
              <a:avLst>
                <a:gd name="adj1" fmla="val -107166"/>
                <a:gd name="adj2" fmla="val 132725"/>
              </a:avLst>
            </a:prstGeom>
            <a:solidFill>
              <a:srgbClr val="FFFFCC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chemeClr val="tx1"/>
                  </a:solidFill>
                </a:rPr>
                <a:t>可来自</a:t>
              </a:r>
              <a:r>
                <a:rPr lang="en-US" altLang="zh-CN" sz="2800" dirty="0">
                  <a:solidFill>
                    <a:schemeClr val="tx1"/>
                  </a:solidFill>
                </a:rPr>
                <a:t>eval("4,2,1,3")</a:t>
              </a:r>
              <a:endParaRPr lang="zh-CN" altLang="en-US" sz="2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505987" y="2990682"/>
            <a:ext cx="4391603" cy="2920540"/>
            <a:chOff x="7505987" y="2990682"/>
            <a:chExt cx="4391603" cy="292054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05987" y="4310892"/>
              <a:ext cx="4391603" cy="160033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下箭头 8"/>
            <p:cNvSpPr/>
            <p:nvPr/>
          </p:nvSpPr>
          <p:spPr>
            <a:xfrm>
              <a:off x="8991540" y="2990682"/>
              <a:ext cx="1285069" cy="1040220"/>
            </a:xfrm>
            <a:prstGeom prst="downArrow">
              <a:avLst>
                <a:gd name="adj1" fmla="val 64555"/>
                <a:gd name="adj2" fmla="val 3701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363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eval()</a:t>
            </a:r>
            <a:r>
              <a:rPr lang="zh-CN" altLang="en-US" dirty="0"/>
              <a:t>与</a:t>
            </a:r>
            <a:r>
              <a:rPr lang="en-US" altLang="zh-CN" dirty="0"/>
              <a:t>input()</a:t>
            </a:r>
            <a:r>
              <a:rPr lang="zh-CN" altLang="en-US" dirty="0"/>
              <a:t>组合：得到一组输入值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1" y="2133600"/>
            <a:ext cx="7774973" cy="41736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2490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eval()</a:t>
            </a:r>
            <a:r>
              <a:rPr lang="zh-CN" altLang="en-US" dirty="0"/>
              <a:t>与</a:t>
            </a:r>
            <a:r>
              <a:rPr lang="en-US" altLang="zh-CN" dirty="0"/>
              <a:t>input()</a:t>
            </a:r>
            <a:r>
              <a:rPr lang="zh-CN" altLang="en-US" dirty="0"/>
              <a:t>搭配输入一组数时两个注意事项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98167" y="2313818"/>
            <a:ext cx="8915400" cy="3777622"/>
          </a:xfrm>
        </p:spPr>
        <p:txBody>
          <a:bodyPr/>
          <a:lstStyle/>
          <a:p>
            <a:r>
              <a:rPr lang="zh-CN" altLang="en-US" dirty="0"/>
              <a:t>输入时各数之间必须以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en-US" dirty="0"/>
              <a:t>半角逗号分隔</a:t>
            </a:r>
            <a:endParaRPr lang="en-US" altLang="zh-CN" dirty="0"/>
          </a:p>
          <a:p>
            <a:r>
              <a:rPr lang="zh-CN" altLang="en-US" dirty="0"/>
              <a:t>输入时不必都是数值，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</a:t>
            </a:r>
            <a:r>
              <a:rPr lang="zh-CN" altLang="en-US" dirty="0"/>
              <a:t>可以有其他类型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294" y="1905000"/>
            <a:ext cx="6904318" cy="45952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矩形 4"/>
          <p:cNvSpPr/>
          <p:nvPr/>
        </p:nvSpPr>
        <p:spPr>
          <a:xfrm>
            <a:off x="7471064" y="1905000"/>
            <a:ext cx="4208318" cy="398264"/>
          </a:xfrm>
          <a:prstGeom prst="rect">
            <a:avLst/>
          </a:prstGeom>
          <a:solidFill>
            <a:srgbClr val="FF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字符串</a:t>
            </a:r>
            <a:r>
              <a:rPr lang="en-US" altLang="zh-CN" b="1" dirty="0">
                <a:solidFill>
                  <a:srgbClr val="C00000"/>
                </a:solidFill>
              </a:rPr>
              <a:t>"4 2 1 3"</a:t>
            </a:r>
            <a:r>
              <a:rPr lang="zh-CN" altLang="en-US" dirty="0">
                <a:solidFill>
                  <a:schemeClr val="tx1"/>
                </a:solidFill>
              </a:rPr>
              <a:t>来自用户输入的</a:t>
            </a:r>
            <a:r>
              <a:rPr lang="en-US" altLang="zh-CN" b="1" dirty="0">
                <a:solidFill>
                  <a:srgbClr val="0000FF"/>
                </a:solidFill>
              </a:rPr>
              <a:t>4 2 1 3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7471064" y="5309754"/>
            <a:ext cx="4208318" cy="398264"/>
          </a:xfrm>
          <a:prstGeom prst="rect">
            <a:avLst/>
          </a:prstGeom>
          <a:solidFill>
            <a:srgbClr val="FF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C00000"/>
                </a:solidFill>
              </a:rPr>
              <a:t>"'abc', 'efg', 3, 4"</a:t>
            </a:r>
            <a:r>
              <a:rPr lang="zh-CN" altLang="en-US" sz="1400" b="1" dirty="0">
                <a:solidFill>
                  <a:schemeClr val="tx1"/>
                </a:solidFill>
              </a:rPr>
              <a:t>来自用户输入的</a:t>
            </a:r>
            <a:r>
              <a:rPr lang="en-US" altLang="zh-CN" sz="1400" b="1" dirty="0">
                <a:solidFill>
                  <a:srgbClr val="0000FF"/>
                </a:solidFill>
              </a:rPr>
              <a:t>'abc', 'efg', 3, 4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54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序列解包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666" y="2133600"/>
            <a:ext cx="4601297" cy="37903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850" y="1683830"/>
            <a:ext cx="3115420" cy="46898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爆炸形 1 6"/>
          <p:cNvSpPr/>
          <p:nvPr/>
        </p:nvSpPr>
        <p:spPr>
          <a:xfrm>
            <a:off x="3799739" y="4028769"/>
            <a:ext cx="3730338" cy="2431473"/>
          </a:xfrm>
          <a:prstGeom prst="irregularSeal1">
            <a:avLst/>
          </a:prstGeom>
          <a:solidFill>
            <a:srgbClr val="FF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b="1" dirty="0">
                <a:solidFill>
                  <a:schemeClr val="tx1"/>
                </a:solidFill>
              </a:rPr>
              <a:t>序列解包也适用于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just"/>
            <a:r>
              <a:rPr lang="zh-CN" altLang="en-US" b="1" dirty="0">
                <a:solidFill>
                  <a:schemeClr val="tx1"/>
                </a:solidFill>
              </a:rPr>
              <a:t>列表、字典、集合、字符串等</a:t>
            </a:r>
          </a:p>
        </p:txBody>
      </p:sp>
    </p:spTree>
    <p:extLst>
      <p:ext uri="{BB962C8B-B14F-4D97-AF65-F5344CB8AC3E}">
        <p14:creationId xmlns:p14="http://schemas.microsoft.com/office/powerpoint/2010/main" val="117317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eval() + input() + </a:t>
            </a:r>
            <a:r>
              <a:rPr lang="zh-CN" altLang="en-US" dirty="0"/>
              <a:t>序列解包</a:t>
            </a:r>
            <a:br>
              <a:rPr lang="en-US" altLang="zh-CN" dirty="0"/>
            </a:br>
            <a:r>
              <a:rPr lang="en-US" altLang="zh-CN" dirty="0"/>
              <a:t>—— </a:t>
            </a:r>
            <a:r>
              <a:rPr lang="zh-CN" altLang="en-US" dirty="0"/>
              <a:t>计算长方体体积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403" y="2133600"/>
            <a:ext cx="9048606" cy="35563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202" y="5918574"/>
            <a:ext cx="5387807" cy="7011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59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eval() + input() + </a:t>
            </a:r>
            <a:r>
              <a:rPr lang="zh-CN" altLang="en-US" dirty="0"/>
              <a:t>序列解包</a:t>
            </a:r>
            <a:br>
              <a:rPr lang="en-US" altLang="zh-CN" dirty="0"/>
            </a:br>
            <a:r>
              <a:rPr lang="en-US" altLang="zh-CN" dirty="0"/>
              <a:t>—— </a:t>
            </a:r>
            <a:r>
              <a:rPr lang="zh-CN" altLang="en-US" dirty="0"/>
              <a:t>合并代码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558" y="2133600"/>
            <a:ext cx="9105054" cy="12994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7" name="组合 6"/>
          <p:cNvGrpSpPr/>
          <p:nvPr/>
        </p:nvGrpSpPr>
        <p:grpSpPr>
          <a:xfrm>
            <a:off x="3594464" y="3066447"/>
            <a:ext cx="6715242" cy="3595256"/>
            <a:chOff x="3594464" y="3066447"/>
            <a:chExt cx="6715242" cy="359525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94464" y="4022411"/>
              <a:ext cx="6715242" cy="263929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上箭头 5"/>
            <p:cNvSpPr/>
            <p:nvPr/>
          </p:nvSpPr>
          <p:spPr>
            <a:xfrm>
              <a:off x="6401366" y="3066447"/>
              <a:ext cx="1101437" cy="966355"/>
            </a:xfrm>
            <a:prstGeom prst="upArrow">
              <a:avLst>
                <a:gd name="adj1" fmla="val 50000"/>
                <a:gd name="adj2" fmla="val 370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769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708" y="1730631"/>
            <a:ext cx="2455937" cy="1330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1338730"/>
            <a:ext cx="4429125" cy="211455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944" y="5759152"/>
            <a:ext cx="4838700" cy="838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3861049"/>
            <a:ext cx="6819900" cy="1552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右箭头 4"/>
          <p:cNvSpPr/>
          <p:nvPr/>
        </p:nvSpPr>
        <p:spPr>
          <a:xfrm>
            <a:off x="6816080" y="1978219"/>
            <a:ext cx="864096" cy="835575"/>
          </a:xfrm>
          <a:prstGeom prst="rightArrow">
            <a:avLst>
              <a:gd name="adj1" fmla="val 6849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919537" y="1338731"/>
            <a:ext cx="4429125" cy="161352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直角上箭头 3"/>
          <p:cNvSpPr/>
          <p:nvPr/>
        </p:nvSpPr>
        <p:spPr>
          <a:xfrm rot="5400000">
            <a:off x="4508970" y="5560493"/>
            <a:ext cx="910210" cy="967705"/>
          </a:xfrm>
          <a:prstGeom prst="bentUpArrow">
            <a:avLst>
              <a:gd name="adj1" fmla="val 36978"/>
              <a:gd name="adj2" fmla="val 31654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919536" y="3861049"/>
            <a:ext cx="6819900" cy="1065125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爆炸形 1 5"/>
          <p:cNvSpPr/>
          <p:nvPr/>
        </p:nvSpPr>
        <p:spPr>
          <a:xfrm>
            <a:off x="8472265" y="3861048"/>
            <a:ext cx="2022295" cy="2073238"/>
          </a:xfrm>
          <a:prstGeom prst="irregularSeal1">
            <a:avLst/>
          </a:prstGeom>
          <a:solidFill>
            <a:srgbClr val="FFFFCC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其它的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分隔符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怎么处理？</a:t>
            </a:r>
          </a:p>
        </p:txBody>
      </p:sp>
    </p:spTree>
    <p:extLst>
      <p:ext uri="{BB962C8B-B14F-4D97-AF65-F5344CB8AC3E}">
        <p14:creationId xmlns:p14="http://schemas.microsoft.com/office/powerpoint/2010/main" val="341397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print()</a:t>
            </a:r>
            <a:r>
              <a:rPr lang="zh-CN" altLang="en-US" dirty="0"/>
              <a:t>函数和</a:t>
            </a:r>
            <a:r>
              <a:rPr lang="en-US" altLang="zh-CN" dirty="0"/>
              <a:t>str()</a:t>
            </a:r>
            <a:r>
              <a:rPr lang="zh-CN" altLang="en-US" dirty="0"/>
              <a:t>函数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300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输出单个对象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776" y="1905000"/>
            <a:ext cx="3810330" cy="45952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696" y="1905000"/>
            <a:ext cx="6097082" cy="45952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8284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输出多个对象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显示时各输出项间自动以空格分隔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133600"/>
            <a:ext cx="6285456" cy="3777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08949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zh-CN" altLang="en-US" dirty="0"/>
              <a:t>输出时用</a:t>
            </a:r>
            <a:r>
              <a:rPr lang="en-US" altLang="zh-CN" dirty="0"/>
              <a:t>*</a:t>
            </a:r>
            <a:r>
              <a:rPr lang="zh-CN" altLang="en-US" dirty="0"/>
              <a:t>解包序列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370699"/>
            <a:ext cx="4793725" cy="62600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爆炸形 1 4"/>
          <p:cNvSpPr/>
          <p:nvPr/>
        </p:nvSpPr>
        <p:spPr>
          <a:xfrm>
            <a:off x="7578605" y="4073237"/>
            <a:ext cx="3789050" cy="2557504"/>
          </a:xfrm>
          <a:prstGeom prst="irregularSeal1">
            <a:avLst/>
          </a:prstGeom>
          <a:solidFill>
            <a:srgbClr val="FF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b="1" dirty="0">
                <a:solidFill>
                  <a:schemeClr val="tx1"/>
                </a:solidFill>
              </a:rPr>
              <a:t>print(*b)</a:t>
            </a:r>
            <a:r>
              <a:rPr lang="zh-CN" altLang="en-US" b="1" dirty="0">
                <a:solidFill>
                  <a:schemeClr val="tx1"/>
                </a:solidFill>
              </a:rPr>
              <a:t>将报错，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just"/>
            <a:r>
              <a:rPr lang="zh-CN" altLang="en-US" b="1" dirty="0">
                <a:solidFill>
                  <a:schemeClr val="tx1"/>
                </a:solidFill>
              </a:rPr>
              <a:t>因为</a:t>
            </a:r>
            <a:r>
              <a:rPr lang="en-US" altLang="zh-CN" b="1" dirty="0">
                <a:solidFill>
                  <a:schemeClr val="tx1"/>
                </a:solidFill>
              </a:rPr>
              <a:t>b</a:t>
            </a:r>
            <a:r>
              <a:rPr lang="zh-CN" altLang="en-US" b="1" dirty="0">
                <a:solidFill>
                  <a:schemeClr val="tx1"/>
                </a:solidFill>
              </a:rPr>
              <a:t>不是序列，无法解包。</a:t>
            </a:r>
          </a:p>
        </p:txBody>
      </p:sp>
    </p:spTree>
    <p:extLst>
      <p:ext uri="{BB962C8B-B14F-4D97-AF65-F5344CB8AC3E}">
        <p14:creationId xmlns:p14="http://schemas.microsoft.com/office/powerpoint/2010/main" val="16314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89212" y="270819"/>
            <a:ext cx="8911687" cy="128089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设置输出项之间的间隔符号</a:t>
            </a:r>
            <a:br>
              <a:rPr lang="en-US" altLang="zh-CN" sz="3200" dirty="0"/>
            </a:br>
            <a:r>
              <a:rPr lang="en-US" altLang="zh-CN" sz="3200" dirty="0"/>
              <a:t>——</a:t>
            </a:r>
            <a:r>
              <a:rPr lang="zh-CN" altLang="en-US" sz="3200" dirty="0"/>
              <a:t>不论是否使用解包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499754"/>
            <a:ext cx="5090601" cy="52658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75364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输出函数</a:t>
            </a:r>
            <a:r>
              <a:rPr lang="en-US" altLang="zh-CN" dirty="0"/>
              <a:t>print()</a:t>
            </a:r>
            <a:r>
              <a:rPr lang="zh-CN" altLang="en-US" dirty="0"/>
              <a:t>自动换行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696" y="1772816"/>
            <a:ext cx="4651717" cy="41764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2276873"/>
            <a:ext cx="3816424" cy="31869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022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zh-CN" altLang="en-US" dirty="0"/>
              <a:t>设置</a:t>
            </a:r>
            <a:r>
              <a:rPr lang="en-US" altLang="zh-CN" dirty="0"/>
              <a:t>end</a:t>
            </a:r>
            <a:r>
              <a:rPr lang="zh-CN" altLang="en-US" dirty="0"/>
              <a:t>参数</a:t>
            </a:r>
            <a:br>
              <a:rPr lang="en-US" altLang="zh-CN" dirty="0"/>
            </a:br>
            <a:r>
              <a:rPr lang="zh-CN" altLang="en-US" dirty="0"/>
              <a:t>取消输出时的自动换行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050" y="174786"/>
            <a:ext cx="4882689" cy="43187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906" y="4838715"/>
            <a:ext cx="8095216" cy="17281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6240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课堂练习：在同一行输出多项值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213" y="2133601"/>
            <a:ext cx="8915400" cy="7687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5911" y="5218775"/>
            <a:ext cx="9462001" cy="10664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下箭头 7"/>
          <p:cNvSpPr/>
          <p:nvPr/>
        </p:nvSpPr>
        <p:spPr>
          <a:xfrm>
            <a:off x="6174074" y="3130968"/>
            <a:ext cx="1745673" cy="1939796"/>
          </a:xfrm>
          <a:prstGeom prst="downArrow">
            <a:avLst>
              <a:gd name="adj1" fmla="val 58429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500" dirty="0"/>
              <a:t>？</a:t>
            </a:r>
          </a:p>
        </p:txBody>
      </p:sp>
      <p:sp>
        <p:nvSpPr>
          <p:cNvPr id="9" name="爆炸形 1 8"/>
          <p:cNvSpPr/>
          <p:nvPr/>
        </p:nvSpPr>
        <p:spPr>
          <a:xfrm>
            <a:off x="7287701" y="3130968"/>
            <a:ext cx="2022295" cy="2073238"/>
          </a:xfrm>
          <a:prstGeom prst="irregularSeal1">
            <a:avLst/>
          </a:prstGeom>
          <a:solidFill>
            <a:srgbClr val="FFFFCC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参见备注</a:t>
            </a:r>
          </a:p>
        </p:txBody>
      </p:sp>
    </p:spTree>
    <p:extLst>
      <p:ext uri="{BB962C8B-B14F-4D97-AF65-F5344CB8AC3E}">
        <p14:creationId xmlns:p14="http://schemas.microsoft.com/office/powerpoint/2010/main" val="309201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print()</a:t>
            </a:r>
            <a:r>
              <a:rPr lang="zh-CN" altLang="en-US" dirty="0"/>
              <a:t>的</a:t>
            </a:r>
            <a:r>
              <a:rPr lang="en-US" altLang="zh-CN" dirty="0"/>
              <a:t>end</a:t>
            </a:r>
            <a:r>
              <a:rPr lang="zh-CN" altLang="en-US" dirty="0"/>
              <a:t>参数值也是输出内容之一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133600"/>
            <a:ext cx="8915400" cy="36286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8117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str( )</a:t>
            </a:r>
            <a:br>
              <a:rPr lang="en-US" altLang="zh-CN" dirty="0"/>
            </a:br>
            <a:r>
              <a:rPr lang="en-US" altLang="zh-CN" dirty="0"/>
              <a:t>——eval()</a:t>
            </a:r>
            <a:r>
              <a:rPr lang="zh-CN" altLang="en-US" dirty="0"/>
              <a:t>反函数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latin typeface="宋体" pitchFamily="2" charset="-122"/>
              </a:rPr>
              <a:t>str()直接将其任意类型参数转换为字符串。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054" y="2669543"/>
            <a:ext cx="3477327" cy="38822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90928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字符串格式化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三种格式化方法</a:t>
            </a:r>
          </a:p>
        </p:txBody>
      </p:sp>
    </p:spTree>
    <p:extLst>
      <p:ext uri="{BB962C8B-B14F-4D97-AF65-F5344CB8AC3E}">
        <p14:creationId xmlns:p14="http://schemas.microsoft.com/office/powerpoint/2010/main" val="27798662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一种需求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1" y="2133598"/>
            <a:ext cx="7581248" cy="3394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爆炸形 1 7"/>
          <p:cNvSpPr/>
          <p:nvPr/>
        </p:nvSpPr>
        <p:spPr>
          <a:xfrm>
            <a:off x="7046912" y="2398480"/>
            <a:ext cx="3789050" cy="2557504"/>
          </a:xfrm>
          <a:prstGeom prst="irregularSeal1">
            <a:avLst/>
          </a:prstGeom>
          <a:solidFill>
            <a:srgbClr val="FF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b="1" dirty="0">
                <a:solidFill>
                  <a:schemeClr val="tx1"/>
                </a:solidFill>
              </a:rPr>
              <a:t>能否将</a:t>
            </a:r>
            <a:r>
              <a:rPr lang="en-US" altLang="zh-CN" b="1" dirty="0">
                <a:solidFill>
                  <a:schemeClr val="tx1"/>
                </a:solidFill>
              </a:rPr>
              <a:t>a</a:t>
            </a:r>
            <a:r>
              <a:rPr lang="zh-CN" altLang="en-US" b="1" dirty="0">
                <a:solidFill>
                  <a:schemeClr val="tx1"/>
                </a:solidFill>
              </a:rPr>
              <a:t>、</a:t>
            </a:r>
            <a:r>
              <a:rPr lang="en-US" altLang="zh-CN" b="1" dirty="0">
                <a:solidFill>
                  <a:schemeClr val="tx1"/>
                </a:solidFill>
              </a:rPr>
              <a:t>b</a:t>
            </a:r>
            <a:r>
              <a:rPr lang="zh-CN" altLang="en-US" b="1" dirty="0">
                <a:solidFill>
                  <a:schemeClr val="tx1"/>
                </a:solidFill>
              </a:rPr>
              <a:t>、</a:t>
            </a:r>
            <a:r>
              <a:rPr lang="en-US" altLang="zh-CN" b="1" dirty="0">
                <a:solidFill>
                  <a:schemeClr val="tx1"/>
                </a:solidFill>
              </a:rPr>
              <a:t>c</a:t>
            </a:r>
            <a:r>
              <a:rPr lang="zh-CN" altLang="en-US" b="1" dirty="0">
                <a:solidFill>
                  <a:schemeClr val="tx1"/>
                </a:solidFill>
              </a:rPr>
              <a:t>的值代入字符串中？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164" y="5884188"/>
            <a:ext cx="5328295" cy="6740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64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构造某种模式的字符串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3" y="1268760"/>
            <a:ext cx="8041131" cy="31683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4591186"/>
            <a:ext cx="8640960" cy="10700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0" y="5805264"/>
            <a:ext cx="8640960" cy="981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738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字符串格式化 </a:t>
            </a:r>
            <a:r>
              <a:rPr lang="en-US" altLang="zh-CN" dirty="0">
                <a:solidFill>
                  <a:srgbClr val="FF0000"/>
                </a:solidFill>
              </a:rPr>
              <a:t>%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占位符与数值个数要对应，格式化可用于产生特定模式的字符串。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078" y="2852937"/>
            <a:ext cx="8686315" cy="32389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337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206" y="1079350"/>
            <a:ext cx="8984116" cy="50859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下箭头 3"/>
          <p:cNvSpPr/>
          <p:nvPr/>
        </p:nvSpPr>
        <p:spPr>
          <a:xfrm flipV="1">
            <a:off x="7392144" y="3887662"/>
            <a:ext cx="1080120" cy="14401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857" y="2178842"/>
            <a:ext cx="5508619" cy="16910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80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格式符（占位符）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%c		</a:t>
            </a:r>
            <a:r>
              <a:rPr lang="zh-CN" altLang="en-US" dirty="0"/>
              <a:t>字符</a:t>
            </a:r>
            <a:endParaRPr lang="en-US" altLang="zh-CN" dirty="0"/>
          </a:p>
          <a:p>
            <a:r>
              <a:rPr lang="en-US" altLang="zh-CN" dirty="0"/>
              <a:t>%d		</a:t>
            </a:r>
            <a:r>
              <a:rPr lang="zh-CN" altLang="en-US" dirty="0"/>
              <a:t>整数</a:t>
            </a:r>
            <a:endParaRPr lang="en-US" altLang="zh-CN" dirty="0"/>
          </a:p>
          <a:p>
            <a:r>
              <a:rPr lang="en-US" altLang="zh-CN" dirty="0"/>
              <a:t>%f		</a:t>
            </a:r>
            <a:r>
              <a:rPr lang="zh-CN" altLang="en-US" dirty="0"/>
              <a:t>浮点数</a:t>
            </a:r>
            <a:endParaRPr lang="en-US" altLang="zh-CN" dirty="0"/>
          </a:p>
          <a:p>
            <a:r>
              <a:rPr lang="en-US" altLang="zh-CN" dirty="0"/>
              <a:t>%s		</a:t>
            </a:r>
            <a:r>
              <a:rPr lang="zh-CN" altLang="en-US" dirty="0"/>
              <a:t>字符串</a:t>
            </a:r>
            <a:endParaRPr lang="en-US" altLang="zh-CN" dirty="0"/>
          </a:p>
          <a:p>
            <a:r>
              <a:rPr lang="en-US" altLang="zh-CN" dirty="0"/>
              <a:t>%%	        %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20" y="1504195"/>
            <a:ext cx="5040320" cy="24720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20" y="4042566"/>
            <a:ext cx="5040320" cy="8265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658" y="5338872"/>
            <a:ext cx="8823237" cy="13304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520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269FEB53-F0D7-450C-964F-BD857A41B600}" type="slidenum">
              <a:rPr lang="en-US" altLang="zh-CN" sz="1400"/>
              <a:pPr eaLnBrk="1" hangingPunct="1"/>
              <a:t>38</a:t>
            </a:fld>
            <a:endParaRPr lang="en-US" altLang="zh-CN" sz="1400"/>
          </a:p>
        </p:txBody>
      </p:sp>
      <p:sp>
        <p:nvSpPr>
          <p:cNvPr id="58372" name="TextBox 4"/>
          <p:cNvSpPr txBox="1">
            <a:spLocks noChangeArrowheads="1"/>
          </p:cNvSpPr>
          <p:nvPr/>
        </p:nvSpPr>
        <p:spPr bwMode="auto">
          <a:xfrm>
            <a:off x="1608138" y="107950"/>
            <a:ext cx="87030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</a:rPr>
              <a:t>键盘上每个字符在计算机内部都存储为一个整数，这个整数值就是字符的</a:t>
            </a:r>
            <a:r>
              <a:rPr lang="en-US" altLang="zh-CN" sz="1800" b="1" dirty="0">
                <a:solidFill>
                  <a:srgbClr val="FF0000"/>
                </a:solidFill>
              </a:rPr>
              <a:t>ASCII</a:t>
            </a:r>
            <a:r>
              <a:rPr lang="zh-CN" altLang="en-US" sz="1800" b="1" dirty="0">
                <a:solidFill>
                  <a:srgbClr val="FF0000"/>
                </a:solidFill>
              </a:rPr>
              <a:t>码：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608138" y="549276"/>
            <a:ext cx="8951912" cy="6264275"/>
            <a:chOff x="84138" y="549275"/>
            <a:chExt cx="8951912" cy="6264275"/>
          </a:xfrm>
        </p:grpSpPr>
        <p:pic>
          <p:nvPicPr>
            <p:cNvPr id="58371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138" y="549275"/>
              <a:ext cx="8951912" cy="62642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3936" y="1484784"/>
              <a:ext cx="426757" cy="1254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00609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39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244" y="3284984"/>
            <a:ext cx="7689093" cy="25904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243" y="6202694"/>
            <a:ext cx="7689093" cy="4651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401333"/>
              </p:ext>
            </p:extLst>
          </p:nvPr>
        </p:nvGraphicFramePr>
        <p:xfrm>
          <a:off x="2226243" y="260648"/>
          <a:ext cx="7718583" cy="27651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0534">
                  <a:extLst>
                    <a:ext uri="{9D8B030D-6E8A-4147-A177-3AD203B41FA5}">
                      <a16:colId xmlns:a16="http://schemas.microsoft.com/office/drawing/2014/main" val="545281992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860547196"/>
                    </a:ext>
                  </a:extLst>
                </a:gridCol>
                <a:gridCol w="2206498">
                  <a:extLst>
                    <a:ext uri="{9D8B030D-6E8A-4147-A177-3AD203B41FA5}">
                      <a16:colId xmlns:a16="http://schemas.microsoft.com/office/drawing/2014/main" val="1778704216"/>
                    </a:ext>
                  </a:extLst>
                </a:gridCol>
                <a:gridCol w="1385454">
                  <a:extLst>
                    <a:ext uri="{9D8B030D-6E8A-4147-A177-3AD203B41FA5}">
                      <a16:colId xmlns:a16="http://schemas.microsoft.com/office/drawing/2014/main" val="1078467946"/>
                    </a:ext>
                  </a:extLst>
                </a:gridCol>
                <a:gridCol w="1271881">
                  <a:extLst>
                    <a:ext uri="{9D8B030D-6E8A-4147-A177-3AD203B41FA5}">
                      <a16:colId xmlns:a16="http://schemas.microsoft.com/office/drawing/2014/main" val="197729025"/>
                    </a:ext>
                  </a:extLst>
                </a:gridCol>
              </a:tblGrid>
              <a:tr h="460851">
                <a:tc rowSpan="2">
                  <a:txBody>
                    <a:bodyPr/>
                    <a:lstStyle/>
                    <a:p>
                      <a:pPr algn="r"/>
                      <a:r>
                        <a:rPr lang="zh-CN" altLang="en-US" sz="1200" dirty="0"/>
                        <a:t>占位符</a:t>
                      </a:r>
                      <a:endParaRPr lang="en-US" altLang="zh-CN" sz="1200" dirty="0"/>
                    </a:p>
                    <a:p>
                      <a:pPr algn="ctr"/>
                      <a:endParaRPr lang="en-US" altLang="zh-CN" sz="1400" dirty="0"/>
                    </a:p>
                    <a:p>
                      <a:pPr algn="ctr"/>
                      <a:endParaRPr lang="en-US" altLang="zh-CN" sz="1400" dirty="0"/>
                    </a:p>
                    <a:p>
                      <a:pPr algn="l"/>
                      <a:r>
                        <a:rPr lang="zh-CN" altLang="en-US" sz="1200" dirty="0"/>
                        <a:t>修饰符</a:t>
                      </a:r>
                      <a:endParaRPr lang="en-US" altLang="zh-CN" sz="1200" dirty="0"/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整数占位符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浮点数占位符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字符串占位符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</a:rPr>
                        <a:t>字符占位符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322387"/>
                  </a:ext>
                </a:extLst>
              </a:tr>
              <a:tr h="460851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%</a:t>
                      </a:r>
                      <a:r>
                        <a:rPr lang="en-US" altLang="zh-CN" b="1" dirty="0">
                          <a:solidFill>
                            <a:srgbClr val="0000FF"/>
                          </a:solidFill>
                        </a:rPr>
                        <a:t>+-w.p</a:t>
                      </a: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%</a:t>
                      </a:r>
                      <a:r>
                        <a:rPr lang="en-US" altLang="zh-CN" b="1" dirty="0">
                          <a:solidFill>
                            <a:srgbClr val="0000FF"/>
                          </a:solidFill>
                        </a:rPr>
                        <a:t>+-w.p</a:t>
                      </a: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%</a:t>
                      </a:r>
                      <a:r>
                        <a:rPr lang="en-US" altLang="zh-CN" b="1" dirty="0">
                          <a:solidFill>
                            <a:srgbClr val="0000FF"/>
                          </a:solidFill>
                        </a:rPr>
                        <a:t>+-w.p</a:t>
                      </a: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s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%</a:t>
                      </a:r>
                      <a:r>
                        <a:rPr lang="en-US" altLang="zh-CN" b="1" dirty="0">
                          <a:solidFill>
                            <a:srgbClr val="0000FF"/>
                          </a:solidFill>
                        </a:rPr>
                        <a:t>+-w.p</a:t>
                      </a: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067115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+</a:t>
                      </a:r>
                      <a:endParaRPr lang="zh-CN" altLang="en-US" sz="240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正数会显示正号；若无</a:t>
                      </a:r>
                      <a:r>
                        <a:rPr lang="en-US" altLang="zh-CN" sz="1200" dirty="0"/>
                        <a:t>+</a:t>
                      </a:r>
                      <a:r>
                        <a:rPr lang="zh-CN" altLang="en-US" sz="1200" dirty="0"/>
                        <a:t>，则正数无正号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无意义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501664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-</a:t>
                      </a:r>
                      <a:endParaRPr lang="zh-CN" altLang="en-US" sz="240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在右边补足空格；若无 </a:t>
                      </a:r>
                      <a:r>
                        <a:rPr lang="en-US" altLang="zh-CN" sz="1600" dirty="0"/>
                        <a:t>-</a:t>
                      </a:r>
                      <a:r>
                        <a:rPr lang="en-US" altLang="zh-CN" sz="1200" dirty="0"/>
                        <a:t> </a:t>
                      </a:r>
                      <a:r>
                        <a:rPr lang="zh-CN" altLang="en-US" sz="1200" dirty="0"/>
                        <a:t>，则在左边补空格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59156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w</a:t>
                      </a:r>
                      <a:endParaRPr lang="zh-CN" altLang="en-US" sz="240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占位符在屏幕上所占字符总个数，包括正负号、小数点、数字、文字；个数仍不足则补充空格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595094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.p</a:t>
                      </a:r>
                      <a:endParaRPr lang="zh-CN" altLang="en-US" sz="240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整数的位数；</a:t>
                      </a:r>
                      <a:endParaRPr lang="en-US" altLang="zh-CN" sz="1200" dirty="0"/>
                    </a:p>
                    <a:p>
                      <a:pPr algn="ctr"/>
                      <a:r>
                        <a:rPr lang="zh-CN" altLang="en-US" sz="1200" dirty="0"/>
                        <a:t>若位数不足则在前面补</a:t>
                      </a:r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小数的位数，默认</a:t>
                      </a:r>
                      <a:r>
                        <a:rPr lang="en-US" altLang="zh-CN" sz="1200" dirty="0"/>
                        <a:t>p=6</a:t>
                      </a:r>
                      <a:r>
                        <a:rPr lang="zh-CN" altLang="en-US" sz="1200" dirty="0"/>
                        <a:t>；</a:t>
                      </a:r>
                      <a:endParaRPr lang="en-US" altLang="zh-CN" sz="1200" dirty="0"/>
                    </a:p>
                    <a:p>
                      <a:pPr algn="ctr"/>
                      <a:r>
                        <a:rPr lang="zh-CN" altLang="en-US" sz="1200" dirty="0"/>
                        <a:t>不足则补</a:t>
                      </a:r>
                      <a:r>
                        <a:rPr lang="en-US" altLang="zh-CN" sz="1200" dirty="0"/>
                        <a:t>0</a:t>
                      </a:r>
                      <a:r>
                        <a:rPr lang="zh-CN" altLang="en-US" sz="1200" dirty="0"/>
                        <a:t>，超出则四舍五入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显示字符串</a:t>
                      </a:r>
                      <a:endParaRPr lang="en-US" altLang="zh-CN" sz="1200" dirty="0"/>
                    </a:p>
                    <a:p>
                      <a:pPr algn="ctr"/>
                      <a:r>
                        <a:rPr lang="zh-CN" altLang="en-US" sz="1200" dirty="0"/>
                        <a:t>左端</a:t>
                      </a:r>
                      <a:r>
                        <a:rPr lang="en-US" altLang="zh-CN" sz="1200" dirty="0"/>
                        <a:t>p</a:t>
                      </a:r>
                      <a:r>
                        <a:rPr lang="zh-CN" altLang="en-US" sz="1200" dirty="0"/>
                        <a:t>个字符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无意义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703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17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212" y="2133600"/>
            <a:ext cx="7829149" cy="3777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矩形 4"/>
          <p:cNvSpPr/>
          <p:nvPr/>
        </p:nvSpPr>
        <p:spPr>
          <a:xfrm>
            <a:off x="4187537" y="3044536"/>
            <a:ext cx="6130636" cy="872836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tx1"/>
                </a:solidFill>
              </a:rPr>
              <a:t>？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120" y="5282147"/>
            <a:ext cx="4599053" cy="399494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4759036" y="5242769"/>
            <a:ext cx="736222" cy="438872"/>
          </a:xfrm>
          <a:prstGeom prst="rightArrow">
            <a:avLst>
              <a:gd name="adj1" fmla="val 50000"/>
              <a:gd name="adj2" fmla="val 778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62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．字符串的</a:t>
            </a:r>
            <a:r>
              <a:rPr lang="en-US" altLang="zh-CN" dirty="0"/>
              <a:t>.format(.)</a:t>
            </a:r>
            <a:r>
              <a:rPr lang="zh-CN" altLang="en-US" dirty="0"/>
              <a:t>方法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717937-0AFC-DC0B-77A9-366735C5F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22438"/>
            <a:ext cx="8915400" cy="42114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字符串自带的</a:t>
            </a:r>
            <a:r>
              <a:rPr lang="en-US" altLang="zh-CN" dirty="0">
                <a:solidFill>
                  <a:srgbClr val="C00000"/>
                </a:solidFill>
              </a:rPr>
              <a:t>format()</a:t>
            </a:r>
            <a:r>
              <a:rPr lang="zh-CN" altLang="en-US" dirty="0">
                <a:solidFill>
                  <a:srgbClr val="C00000"/>
                </a:solidFill>
              </a:rPr>
              <a:t>方法</a:t>
            </a:r>
            <a:r>
              <a:rPr lang="zh-CN" altLang="en-US" dirty="0">
                <a:solidFill>
                  <a:schemeClr val="tx1"/>
                </a:solidFill>
              </a:rPr>
              <a:t>也实</a:t>
            </a:r>
            <a:r>
              <a:rPr lang="zh-CN" altLang="en-US" dirty="0"/>
              <a:t>现模式串填充。它允许在字符串中插入变量、表达式和其他字符串，以创建更灵活和动态的字符串格式。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format()</a:t>
            </a:r>
            <a:r>
              <a:rPr lang="zh-CN" altLang="en-US" dirty="0"/>
              <a:t>方法的</a:t>
            </a:r>
            <a:r>
              <a:rPr lang="zh-CN" altLang="en-US" dirty="0">
                <a:solidFill>
                  <a:srgbClr val="C00000"/>
                </a:solidFill>
              </a:rPr>
              <a:t>基本语法</a:t>
            </a:r>
            <a:r>
              <a:rPr lang="zh-CN" altLang="en-US" dirty="0"/>
              <a:t>如下：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	formatted_string = </a:t>
            </a:r>
            <a:r>
              <a:rPr lang="en-US" altLang="zh-CN" b="1" dirty="0">
                <a:solidFill>
                  <a:srgbClr val="0000FF"/>
                </a:solidFill>
              </a:rPr>
              <a:t>"Some text with { } and { }."</a:t>
            </a:r>
            <a:r>
              <a:rPr lang="en-US" altLang="zh-CN" b="1" dirty="0">
                <a:solidFill>
                  <a:srgbClr val="FF0000"/>
                </a:solidFill>
              </a:rPr>
              <a:t>.format</a:t>
            </a:r>
            <a:r>
              <a:rPr lang="en-US" altLang="zh-CN" dirty="0"/>
              <a:t>(</a:t>
            </a:r>
            <a:r>
              <a:rPr lang="en-US" altLang="zh-CN" b="1" dirty="0"/>
              <a:t>value1</a:t>
            </a:r>
            <a:r>
              <a:rPr lang="en-US" altLang="zh-CN" dirty="0"/>
              <a:t>, </a:t>
            </a:r>
            <a:r>
              <a:rPr lang="en-US" altLang="zh-CN" b="1" dirty="0"/>
              <a:t>value2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其中：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花括号</a:t>
            </a:r>
            <a:r>
              <a:rPr lang="en-US" altLang="zh-CN" b="1" dirty="0">
                <a:solidFill>
                  <a:srgbClr val="0000FF"/>
                </a:solidFill>
              </a:rPr>
              <a:t>{ }</a:t>
            </a:r>
            <a:r>
              <a:rPr lang="zh-CN" altLang="en-US" dirty="0">
                <a:solidFill>
                  <a:srgbClr val="C00000"/>
                </a:solidFill>
              </a:rPr>
              <a:t>表示占位符</a:t>
            </a:r>
            <a:r>
              <a:rPr lang="zh-CN" altLang="en-US" dirty="0"/>
              <a:t>，它们会被</a:t>
            </a:r>
            <a:r>
              <a:rPr lang="en-US" altLang="zh-CN" dirty="0"/>
              <a:t>.format()</a:t>
            </a:r>
            <a:r>
              <a:rPr lang="zh-CN" altLang="en-US" dirty="0"/>
              <a:t>方法的参数</a:t>
            </a:r>
            <a:r>
              <a:rPr lang="en-US" altLang="zh-CN" dirty="0"/>
              <a:t>value1</a:t>
            </a:r>
            <a:r>
              <a:rPr lang="zh-CN" altLang="en-US" dirty="0"/>
              <a:t>、</a:t>
            </a:r>
            <a:r>
              <a:rPr lang="en-US" altLang="zh-CN" dirty="0"/>
              <a:t>value2</a:t>
            </a:r>
            <a:r>
              <a:rPr lang="zh-CN" altLang="en-US" dirty="0"/>
              <a:t>等替换。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.format()</a:t>
            </a:r>
            <a:r>
              <a:rPr lang="zh-CN" altLang="en-US" dirty="0"/>
              <a:t>可看作是</a:t>
            </a:r>
            <a:r>
              <a:rPr lang="en-US" altLang="zh-CN" dirty="0"/>
              <a:t>%</a:t>
            </a:r>
            <a:r>
              <a:rPr lang="zh-CN" altLang="en-US" dirty="0"/>
              <a:t>运算的升级版。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411052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.format()</a:t>
            </a:r>
            <a:r>
              <a:rPr lang="zh-CN" altLang="en-US" dirty="0"/>
              <a:t>方法举例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96A9366-9855-084E-6A6D-E9544DA3B14A}"/>
              </a:ext>
            </a:extLst>
          </p:cNvPr>
          <p:cNvGraphicFramePr>
            <a:graphicFrameLocks noGrp="1"/>
          </p:cNvGraphicFramePr>
          <p:nvPr/>
        </p:nvGraphicFramePr>
        <p:xfrm>
          <a:off x="3379703" y="1697862"/>
          <a:ext cx="7334418" cy="443833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334418">
                  <a:extLst>
                    <a:ext uri="{9D8B030D-6E8A-4147-A177-3AD203B41FA5}">
                      <a16:colId xmlns:a16="http://schemas.microsoft.com/office/drawing/2014/main" val="2032880895"/>
                    </a:ext>
                  </a:extLst>
                </a:gridCol>
              </a:tblGrid>
              <a:tr h="207488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例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：不指定位置，按默认顺序替换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你好，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{}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同学，你的成绩是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{}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.format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('Mike', 90)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你好，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Mike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同学，你的成绩是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例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：指定位置参数，按指定位置替换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你好，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{0}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同学，你的成绩是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{1}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.format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('Mike', 90)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你好，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Mike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同学，你的成绩是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你好，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{0}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同学，你的成绩是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{1}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。继续加油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{0}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!"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.format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('Mike', 90)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你好，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Mike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同学，你的成绩是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。继续加油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Mike!'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例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：指定位置参数，通过列表索引取值替换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my_list = ["Mike", 90]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你好，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{0[0]}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同学，你的成绩是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{0[1]}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.format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(my_list)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你好，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Mike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同学，你的成绩是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8103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4056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.format()</a:t>
            </a:r>
            <a:r>
              <a:rPr lang="zh-CN" altLang="en-US" dirty="0"/>
              <a:t>方法举例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96A9366-9855-084E-6A6D-E9544DA3B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007732"/>
              </p:ext>
            </p:extLst>
          </p:nvPr>
        </p:nvGraphicFramePr>
        <p:xfrm>
          <a:off x="3381559" y="2121895"/>
          <a:ext cx="7334418" cy="283110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334418">
                  <a:extLst>
                    <a:ext uri="{9D8B030D-6E8A-4147-A177-3AD203B41FA5}">
                      <a16:colId xmlns:a16="http://schemas.microsoft.com/office/drawing/2014/main" val="2032880895"/>
                    </a:ext>
                  </a:extLst>
                </a:gridCol>
              </a:tblGrid>
              <a:tr h="28311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例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：指定关键字，按关键字参数替换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"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你好，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{name}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同学，你的成绩是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{score}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.format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(name='Mike', score=90)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你好，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Mike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同学，你的成绩是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例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：指定关键字，通过字典替换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my_dict = {"name":"Mike", "score":90}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你好，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{name}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同学，你的成绩是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{score}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.format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(**my_dict)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你好，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Mike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同学，你的成绩是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zh-CN" altLang="zh-CN" sz="1400" dirty="0">
                          <a:effectLst/>
                        </a:rPr>
                        <a:t> </a:t>
                      </a:r>
                      <a:endParaRPr lang="en-US" altLang="zh-CN" sz="1400" kern="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8103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88387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C8F060-21C3-5041-6C22-2D81451B7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42739"/>
            <a:ext cx="8915400" cy="4168483"/>
          </a:xfrm>
        </p:spPr>
        <p:txBody>
          <a:bodyPr/>
          <a:lstStyle/>
          <a:p>
            <a:pPr algn="just"/>
            <a:r>
              <a:rPr lang="en-US" altLang="zh-CN" dirty="0"/>
              <a:t>format()</a:t>
            </a:r>
            <a:r>
              <a:rPr lang="zh-CN" altLang="en-US" dirty="0"/>
              <a:t>方法可以在花括号定义的占位符内加上“</a:t>
            </a:r>
            <a:r>
              <a:rPr lang="en-US" altLang="zh-CN" dirty="0"/>
              <a:t>:</a:t>
            </a:r>
            <a:r>
              <a:rPr lang="zh-CN" altLang="en-US" dirty="0"/>
              <a:t>”来约定转换和输出格式。下面的例子是将变量</a:t>
            </a:r>
            <a:r>
              <a:rPr lang="en-US" altLang="zh-CN" dirty="0"/>
              <a:t>pi</a:t>
            </a:r>
            <a:r>
              <a:rPr lang="zh-CN" altLang="en-US" dirty="0"/>
              <a:t>填充到格式串中，并将其格式化为保留</a:t>
            </a:r>
            <a:r>
              <a:rPr lang="en-US" altLang="zh-CN" dirty="0"/>
              <a:t>2</a:t>
            </a:r>
            <a:r>
              <a:rPr lang="zh-CN" altLang="en-US" dirty="0"/>
              <a:t>位小数的浮点数输出。</a:t>
            </a:r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algn="just"/>
            <a:r>
              <a:rPr lang="zh-CN" altLang="en-US" dirty="0"/>
              <a:t>再如，我们可以利用</a:t>
            </a:r>
            <a:r>
              <a:rPr lang="en-US" altLang="zh-CN" dirty="0"/>
              <a:t>datetime</a:t>
            </a:r>
            <a:r>
              <a:rPr lang="zh-CN" altLang="en-US" dirty="0"/>
              <a:t>模块的</a:t>
            </a:r>
            <a:r>
              <a:rPr lang="en-US" altLang="zh-CN" dirty="0"/>
              <a:t>now()</a:t>
            </a:r>
            <a:r>
              <a:rPr lang="zh-CN" altLang="en-US" dirty="0"/>
              <a:t>函数获得当前时间，并将其格式化输出为年月日的格式。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.format()</a:t>
            </a:r>
            <a:r>
              <a:rPr lang="zh-CN" altLang="en-US" dirty="0"/>
              <a:t>方法举例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96A9366-9855-084E-6A6D-E9544DA3B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213071"/>
              </p:ext>
            </p:extLst>
          </p:nvPr>
        </p:nvGraphicFramePr>
        <p:xfrm>
          <a:off x="3021115" y="2631036"/>
          <a:ext cx="7334418" cy="11959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334418">
                  <a:extLst>
                    <a:ext uri="{9D8B030D-6E8A-4147-A177-3AD203B41FA5}">
                      <a16:colId xmlns:a16="http://schemas.microsoft.com/office/drawing/2014/main" val="2032880895"/>
                    </a:ext>
                  </a:extLst>
                </a:gridCol>
              </a:tblGrid>
              <a:tr h="11959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 = 3.14159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formatted_number = "The value of pi is 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{:.2f}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.format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(pi)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print(formatted_number)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value of pi is 3.14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</a:t>
                      </a:r>
                      <a:r>
                        <a:rPr lang="zh-CN" altLang="zh-CN" sz="1400" dirty="0">
                          <a:effectLst/>
                        </a:rPr>
                        <a:t> 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8103158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41D6F54-9FFD-588E-B40C-AB0ADA159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364370"/>
              </p:ext>
            </p:extLst>
          </p:nvPr>
        </p:nvGraphicFramePr>
        <p:xfrm>
          <a:off x="3021115" y="4922640"/>
          <a:ext cx="7334418" cy="13538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334418">
                  <a:extLst>
                    <a:ext uri="{9D8B030D-6E8A-4147-A177-3AD203B41FA5}">
                      <a16:colId xmlns:a16="http://schemas.microsoft.com/office/drawing/2014/main" val="2032880895"/>
                    </a:ext>
                  </a:extLst>
                </a:gridCol>
              </a:tblGrid>
              <a:tr h="1353802">
                <a:tc>
                  <a:txBody>
                    <a:bodyPr/>
                    <a:lstStyle/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 datetime import datetime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today = datetime.now()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formatted_date = "Today is </a:t>
                      </a:r>
                      <a:r>
                        <a:rPr lang="en-US" altLang="zh-CN" sz="1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{:%Y-%m-%d}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.format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(today)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print(formatted_date)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Today is 2023-12-11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</a:t>
                      </a:r>
                      <a:r>
                        <a:rPr lang="zh-CN" altLang="zh-CN" sz="1400" dirty="0">
                          <a:effectLst/>
                        </a:rPr>
                        <a:t> 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8103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1880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140" y="1128069"/>
            <a:ext cx="9029761" cy="55458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16" y="3556170"/>
            <a:ext cx="6601382" cy="687022"/>
          </a:xfrm>
          <a:prstGeom prst="rect">
            <a:avLst/>
          </a:prstGeom>
          <a:noFill/>
          <a:ln w="9525" cmpd="sng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115" y="5876949"/>
            <a:ext cx="6601382" cy="691192"/>
          </a:xfrm>
          <a:prstGeom prst="rect">
            <a:avLst/>
          </a:prstGeom>
          <a:noFill/>
          <a:ln w="9525" cmpd="sng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570064" y="365030"/>
            <a:ext cx="8911687" cy="1280890"/>
          </a:xfrm>
        </p:spPr>
        <p:txBody>
          <a:bodyPr/>
          <a:lstStyle/>
          <a:p>
            <a:r>
              <a:rPr lang="en-US" altLang="zh-CN" dirty="0"/>
              <a:t>% </a:t>
            </a:r>
            <a:r>
              <a:rPr lang="zh-CN" altLang="en-US" dirty="0"/>
              <a:t>与 </a:t>
            </a:r>
            <a:r>
              <a:rPr lang="en-US" altLang="zh-CN" dirty="0"/>
              <a:t>.format(.)</a:t>
            </a:r>
            <a:r>
              <a:rPr lang="zh-CN" altLang="en-US" dirty="0"/>
              <a:t>方法的差异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7E05-95E0-41D7-9084-BAF9AB078363}" type="slidenum">
              <a:rPr lang="zh-CN" altLang="zh-CN" smtClean="0"/>
              <a:pPr/>
              <a:t>45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218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．</a:t>
            </a:r>
            <a:r>
              <a:rPr lang="en-US" altLang="zh-CN" dirty="0"/>
              <a:t>f-string</a:t>
            </a:r>
            <a:r>
              <a:rPr lang="zh-CN" altLang="en-US" dirty="0"/>
              <a:t>字面量字符串格式化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717937-0AFC-DC0B-77A9-366735C5F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22438"/>
            <a:ext cx="8915400" cy="42114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</a:rPr>
              <a:t>f-string</a:t>
            </a:r>
            <a:r>
              <a:rPr lang="zh-CN" altLang="en-US" dirty="0"/>
              <a:t>是</a:t>
            </a:r>
            <a:r>
              <a:rPr lang="en-US" altLang="zh-CN" dirty="0"/>
              <a:t>Python 3.6</a:t>
            </a:r>
            <a:r>
              <a:rPr lang="zh-CN" altLang="en-US" dirty="0"/>
              <a:t>版本之后新增的一种格式化字符串的语法，称之为</a:t>
            </a:r>
            <a:r>
              <a:rPr lang="zh-CN" altLang="en-US" dirty="0">
                <a:solidFill>
                  <a:srgbClr val="C00000"/>
                </a:solidFill>
              </a:rPr>
              <a:t>字面量格式化字符串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f-string</a:t>
            </a:r>
            <a:r>
              <a:rPr lang="zh-CN" altLang="en-US" dirty="0"/>
              <a:t>格式化字符串</a:t>
            </a:r>
            <a:r>
              <a:rPr lang="zh-CN" altLang="en-US" dirty="0">
                <a:solidFill>
                  <a:srgbClr val="C00000"/>
                </a:solidFill>
              </a:rPr>
              <a:t>以</a:t>
            </a:r>
            <a:r>
              <a:rPr lang="en-US" altLang="zh-CN" dirty="0">
                <a:solidFill>
                  <a:srgbClr val="C00000"/>
                </a:solidFill>
              </a:rPr>
              <a:t>f</a:t>
            </a:r>
            <a:r>
              <a:rPr lang="zh-CN" altLang="en-US" dirty="0">
                <a:solidFill>
                  <a:srgbClr val="C00000"/>
                </a:solidFill>
              </a:rPr>
              <a:t>开头</a:t>
            </a:r>
            <a:r>
              <a:rPr lang="zh-CN" altLang="en-US" dirty="0"/>
              <a:t>，后面跟着字符串（格式串）。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格式字符串中使</a:t>
            </a:r>
            <a:r>
              <a:rPr lang="zh-CN" altLang="en-US" dirty="0">
                <a:solidFill>
                  <a:srgbClr val="C00000"/>
                </a:solidFill>
              </a:rPr>
              <a:t>用</a:t>
            </a:r>
            <a:r>
              <a:rPr lang="zh-CN" altLang="en-US" b="1" dirty="0">
                <a:solidFill>
                  <a:srgbClr val="0000FF"/>
                </a:solidFill>
              </a:rPr>
              <a:t>花括号</a:t>
            </a:r>
            <a:r>
              <a:rPr lang="en-US" altLang="zh-CN" b="1" dirty="0">
                <a:solidFill>
                  <a:srgbClr val="0000FF"/>
                </a:solidFill>
              </a:rPr>
              <a:t>{}</a:t>
            </a:r>
            <a:r>
              <a:rPr lang="zh-CN" altLang="en-US" dirty="0">
                <a:solidFill>
                  <a:srgbClr val="C00000"/>
                </a:solidFill>
              </a:rPr>
              <a:t>来表示占位符</a:t>
            </a:r>
            <a:r>
              <a:rPr lang="zh-CN" altLang="en-US" dirty="0"/>
              <a:t>，它会将变量或表达式计算后的值来替换</a:t>
            </a:r>
            <a:r>
              <a:rPr lang="en-US" altLang="zh-CN" dirty="0"/>
              <a:t>{}</a:t>
            </a:r>
            <a:r>
              <a:rPr lang="zh-CN" altLang="en-US" dirty="0"/>
              <a:t>中的内容。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{}</a:t>
            </a:r>
            <a:r>
              <a:rPr lang="zh-CN" altLang="en-US" dirty="0"/>
              <a:t>中可以是变量名或一个表达式。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可以在花括号定义的占位符内加上“</a:t>
            </a:r>
            <a:r>
              <a:rPr lang="en-US" altLang="zh-CN" dirty="0"/>
              <a:t>:</a:t>
            </a:r>
            <a:r>
              <a:rPr lang="zh-CN" altLang="en-US" dirty="0"/>
              <a:t>”来约定转换和输出格式。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34730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f-string</a:t>
            </a:r>
            <a:r>
              <a:rPr lang="zh-CN" altLang="en-US" dirty="0"/>
              <a:t>举例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717937-0AFC-DC0B-77A9-366735C5F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22438"/>
            <a:ext cx="8915400" cy="42114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C00000"/>
                </a:solidFill>
              </a:rPr>
              <a:t>f-string</a:t>
            </a:r>
            <a:r>
              <a:rPr lang="zh-CN" altLang="en-US"/>
              <a:t>举例</a:t>
            </a:r>
            <a:endParaRPr lang="en-US" altLang="zh-CN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C6B979B-5021-6263-FD5E-FEC1F8EA9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332443"/>
              </p:ext>
            </p:extLst>
          </p:nvPr>
        </p:nvGraphicFramePr>
        <p:xfrm>
          <a:off x="2465199" y="2741484"/>
          <a:ext cx="4734019" cy="36184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734019">
                  <a:extLst>
                    <a:ext uri="{9D8B030D-6E8A-4147-A177-3AD203B41FA5}">
                      <a16:colId xmlns:a16="http://schemas.microsoft.com/office/drawing/2014/main" val="2032880895"/>
                    </a:ext>
                  </a:extLst>
                </a:gridCol>
              </a:tblGrid>
              <a:tr h="347321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 =  'Mike'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f'Hello {name}'      </a:t>
                      </a:r>
                      <a:r>
                        <a:rPr lang="en-US" altLang="zh-CN" sz="16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zh-CN" altLang="zh-CN" sz="16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替换变量</a:t>
                      </a:r>
                      <a:endParaRPr lang="zh-CN" altLang="zh-CN" sz="1600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'Hello Mike'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f'1+2={1+2}'           </a:t>
                      </a:r>
                      <a:r>
                        <a:rPr lang="en-US" altLang="zh-CN" sz="16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zh-CN" altLang="zh-CN" sz="16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使用表达式</a:t>
                      </a:r>
                      <a:endParaRPr lang="zh-CN" altLang="zh-CN" sz="1600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'1+2=3'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x,y = 1,2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f'x+y = {x+y}'         </a:t>
                      </a:r>
                      <a:r>
                        <a:rPr lang="en-US" altLang="zh-CN" sz="16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zh-CN" altLang="zh-CN" sz="16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使用变量和表达式</a:t>
                      </a:r>
                      <a:endParaRPr lang="zh-CN" altLang="zh-CN" sz="1600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'x+y = 3'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&gt;&gt;&gt; 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f‘x+y = {x+y</a:t>
                      </a:r>
                      <a:r>
                        <a:rPr lang="en-US" altLang="zh-CN" sz="16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:.2f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}’    </a:t>
                      </a:r>
                      <a:r>
                        <a:rPr lang="en-US" altLang="zh-CN" sz="16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zh-CN" altLang="zh-CN" sz="16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指定格式</a:t>
                      </a:r>
                      <a:r>
                        <a:rPr lang="zh-CN" altLang="en-US" sz="16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，对应</a:t>
                      </a:r>
                      <a:r>
                        <a:rPr lang="en-US" altLang="zh-CN" sz="16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%.2f</a:t>
                      </a:r>
                      <a:endParaRPr lang="zh-CN" altLang="zh-CN" sz="16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'x+y = 3.00'</a:t>
                      </a:r>
                      <a:r>
                        <a:rPr lang="zh-CN" altLang="zh-CN" sz="1600" dirty="0">
                          <a:effectLst/>
                        </a:rPr>
                        <a:t> </a:t>
                      </a:r>
                      <a:endParaRPr lang="en-US" altLang="zh-CN" sz="1600" kern="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810315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CA54364-17C1-13EF-E1E1-4AA8F904656C}"/>
              </a:ext>
            </a:extLst>
          </p:cNvPr>
          <p:cNvSpPr txBox="1"/>
          <p:nvPr/>
        </p:nvSpPr>
        <p:spPr>
          <a:xfrm>
            <a:off x="7512630" y="2818542"/>
            <a:ext cx="4115995" cy="32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/>
              <a:t>f-string这种字符串格式化方式具有非常强的灵活性，可以将格式串的内容替换为变量或表达式，同时还能指定格式。例如上例中的</a:t>
            </a:r>
            <a:r>
              <a:rPr lang="zh-CN" altLang="en-US" sz="1400" b="1" dirty="0"/>
              <a:t>{x+y</a:t>
            </a:r>
            <a:r>
              <a:rPr lang="zh-CN" altLang="en-US" sz="1400" b="1" dirty="0">
                <a:solidFill>
                  <a:srgbClr val="FF0000"/>
                </a:solidFill>
              </a:rPr>
              <a:t>:.2f</a:t>
            </a:r>
            <a:r>
              <a:rPr lang="zh-CN" altLang="en-US" sz="1400" b="1" dirty="0"/>
              <a:t>}</a:t>
            </a:r>
            <a:r>
              <a:rPr lang="zh-CN" altLang="en-US" sz="1400" dirty="0"/>
              <a:t>表示将表达式的值格式化输出为浮点数，且保留2位小数。</a:t>
            </a:r>
            <a:endParaRPr lang="en-US" altLang="zh-CN" sz="1400" dirty="0"/>
          </a:p>
          <a:p>
            <a:pPr algn="just">
              <a:lnSpc>
                <a:spcPct val="150000"/>
              </a:lnSpc>
            </a:pPr>
            <a:endParaRPr lang="en-US" altLang="zh-CN" sz="1400" dirty="0"/>
          </a:p>
          <a:p>
            <a:pPr algn="just">
              <a:lnSpc>
                <a:spcPct val="150000"/>
              </a:lnSpc>
            </a:pPr>
            <a:r>
              <a:rPr lang="zh-CN" altLang="en-US" sz="1400" b="1" dirty="0"/>
              <a:t>常见的格式说明符</a:t>
            </a:r>
            <a:r>
              <a:rPr lang="zh-CN" altLang="en-US" sz="1400" dirty="0"/>
              <a:t>包括：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/>
              <a:t>:s </a:t>
            </a:r>
            <a:r>
              <a:rPr lang="zh-CN" altLang="en-US" sz="1400" dirty="0"/>
              <a:t>表示字符串。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/>
              <a:t>:d </a:t>
            </a:r>
            <a:r>
              <a:rPr lang="zh-CN" altLang="en-US" sz="1400" dirty="0"/>
              <a:t>表示整数。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/>
              <a:t>:f </a:t>
            </a:r>
            <a:r>
              <a:rPr lang="zh-CN" altLang="en-US" sz="1400" dirty="0"/>
              <a:t>表示浮点数。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/>
              <a:t>:x </a:t>
            </a:r>
            <a:r>
              <a:rPr lang="zh-CN" altLang="en-US" sz="1400" dirty="0"/>
              <a:t>表示十六进制整数。</a:t>
            </a:r>
          </a:p>
        </p:txBody>
      </p:sp>
      <p:sp>
        <p:nvSpPr>
          <p:cNvPr id="7" name="爆炸形 1 6"/>
          <p:cNvSpPr/>
          <p:nvPr/>
        </p:nvSpPr>
        <p:spPr>
          <a:xfrm>
            <a:off x="4779726" y="832755"/>
            <a:ext cx="3789050" cy="2557504"/>
          </a:xfrm>
          <a:prstGeom prst="irregularSeal1">
            <a:avLst/>
          </a:prstGeom>
          <a:solidFill>
            <a:srgbClr val="FF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b="1" dirty="0">
                <a:solidFill>
                  <a:schemeClr val="tx1"/>
                </a:solidFill>
              </a:rPr>
              <a:t>前缀</a:t>
            </a:r>
            <a:r>
              <a:rPr lang="en-US" altLang="zh-CN" b="1" dirty="0">
                <a:solidFill>
                  <a:schemeClr val="tx1"/>
                </a:solidFill>
              </a:rPr>
              <a:t>f</a:t>
            </a:r>
            <a:r>
              <a:rPr lang="zh-CN" altLang="en-US" b="1" dirty="0">
                <a:solidFill>
                  <a:schemeClr val="tx1"/>
                </a:solidFill>
              </a:rPr>
              <a:t>使得字符串内的 </a:t>
            </a:r>
            <a:r>
              <a:rPr lang="en-US" altLang="zh-CN" b="1" dirty="0">
                <a:solidFill>
                  <a:schemeClr val="tx1"/>
                </a:solidFill>
              </a:rPr>
              <a:t>{...} </a:t>
            </a:r>
            <a:r>
              <a:rPr lang="zh-CN" altLang="en-US" b="1" dirty="0">
                <a:solidFill>
                  <a:schemeClr val="tx1"/>
                </a:solidFill>
              </a:rPr>
              <a:t>具有占位的作用。</a:t>
            </a:r>
            <a:endParaRPr lang="en-US" altLang="zh-C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2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f-string</a:t>
            </a:r>
            <a:r>
              <a:rPr lang="zh-CN" altLang="en-US" dirty="0"/>
              <a:t>举例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7E05-95E0-41D7-9084-BAF9AB078363}" type="slidenum">
              <a:rPr lang="zh-CN" altLang="zh-CN" smtClean="0"/>
              <a:pPr/>
              <a:t>48</a:t>
            </a:fld>
            <a:endParaRPr lang="zh-CN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25" y="1275748"/>
            <a:ext cx="4216400" cy="1424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075" y="2997844"/>
            <a:ext cx="8705850" cy="3105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30626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7E05-95E0-41D7-9084-BAF9AB078363}" type="slidenum">
              <a:rPr lang="zh-CN" altLang="zh-CN" smtClean="0"/>
              <a:pPr/>
              <a:t>49</a:t>
            </a:fld>
            <a:endParaRPr lang="zh-CN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709" y="122238"/>
            <a:ext cx="8421235" cy="55563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1" y="5589342"/>
            <a:ext cx="4791075" cy="1123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023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作业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8444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2-1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CN" altLang="en-US" sz="2000" dirty="0"/>
              <a:t>编写一个程序，提示用户输入以兆位每秒（</a:t>
            </a:r>
            <a:r>
              <a:rPr lang="en-US" altLang="zh-CN" sz="2000" dirty="0"/>
              <a:t>Mb/s</a:t>
            </a:r>
            <a:r>
              <a:rPr lang="zh-CN" altLang="en-US" sz="2000" dirty="0"/>
              <a:t>）为单位的下载速度和以兆字节（</a:t>
            </a:r>
            <a:r>
              <a:rPr lang="en-US" altLang="zh-CN" sz="2000" dirty="0"/>
              <a:t>MB</a:t>
            </a:r>
            <a:r>
              <a:rPr lang="zh-CN" altLang="en-US" sz="2000" dirty="0"/>
              <a:t>）为单位的文件大小。程序计算文件的下载时间（以分为单位，显示时保留小数点后两位）。说明：</a:t>
            </a:r>
            <a:r>
              <a:rPr lang="en-US" altLang="zh-CN" sz="2000" dirty="0"/>
              <a:t>1</a:t>
            </a:r>
            <a:r>
              <a:rPr lang="zh-CN" altLang="en-US" sz="2000" dirty="0"/>
              <a:t>字节等于</a:t>
            </a:r>
            <a:r>
              <a:rPr lang="en-US" altLang="zh-CN" sz="2000" dirty="0"/>
              <a:t>8</a:t>
            </a:r>
            <a:r>
              <a:rPr lang="zh-CN" altLang="en-US" sz="2000" dirty="0"/>
              <a:t>位。</a:t>
            </a:r>
          </a:p>
        </p:txBody>
      </p:sp>
    </p:spTree>
    <p:extLst>
      <p:ext uri="{BB962C8B-B14F-4D97-AF65-F5344CB8AC3E}">
        <p14:creationId xmlns:p14="http://schemas.microsoft.com/office/powerpoint/2010/main" val="12072771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2-2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提示用户输入一个整数，程序显示有规则的数字矩形。</a:t>
            </a:r>
            <a:endParaRPr lang="en-US" altLang="zh-CN" dirty="0"/>
          </a:p>
          <a:p>
            <a:r>
              <a:rPr lang="zh-CN" altLang="en-US" dirty="0"/>
              <a:t>程序三次运行的截图如下，黑色为用户输入，蓝色为程序输出，两列间隔</a:t>
            </a:r>
            <a:r>
              <a:rPr lang="en-US" altLang="zh-CN" dirty="0"/>
              <a:t>8</a:t>
            </a:r>
            <a:r>
              <a:rPr lang="zh-CN" altLang="en-US" dirty="0"/>
              <a:t>个字符。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91" y="3197689"/>
            <a:ext cx="3703847" cy="22136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594" y="3197689"/>
            <a:ext cx="3703847" cy="22257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8197" y="3209700"/>
            <a:ext cx="3714937" cy="22136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02625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17778"/>
      </p:ext>
    </p:extLst>
  </p:cSld>
  <p:clrMapOvr>
    <a:masterClrMapping/>
  </p:clrMapOvr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769</TotalTime>
  <Words>2700</Words>
  <Application>Microsoft Office PowerPoint</Application>
  <PresentationFormat>宽屏</PresentationFormat>
  <Paragraphs>361</Paragraphs>
  <Slides>53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1" baseType="lpstr">
      <vt:lpstr>DengXian</vt:lpstr>
      <vt:lpstr>DengXian</vt:lpstr>
      <vt:lpstr>宋体</vt:lpstr>
      <vt:lpstr>Arial</vt:lpstr>
      <vt:lpstr>Century Gothic</vt:lpstr>
      <vt:lpstr>Times New Roman</vt:lpstr>
      <vt:lpstr>Wingdings 3</vt:lpstr>
      <vt:lpstr>丝状</vt:lpstr>
      <vt:lpstr>Python程序设计  — 02 输入、输出、格式化</vt:lpstr>
      <vt:lpstr>提纲</vt:lpstr>
      <vt:lpstr>2.1 字符串基础</vt:lpstr>
      <vt:lpstr>字符串</vt:lpstr>
      <vt:lpstr>PowerPoint 演示文稿</vt:lpstr>
      <vt:lpstr>转义字符 \</vt:lpstr>
      <vt:lpstr>PowerPoint 演示文稿</vt:lpstr>
      <vt:lpstr>字符串界定符前面加字母 r 表示原始字符串， 使得\的转义功能失效——此时引号内就是字符串内容</vt:lpstr>
      <vt:lpstr>字符串拼接运算 +</vt:lpstr>
      <vt:lpstr>2.2 input()函数与eval()函数</vt:lpstr>
      <vt:lpstr>输入函数input(.)</vt:lpstr>
      <vt:lpstr>eval()接收一个字符串作为参数， 函数值为去掉参数的边界符的结果</vt:lpstr>
      <vt:lpstr>eval()的参数字符串里可以有变量</vt:lpstr>
      <vt:lpstr>这里三次eval()的调用都出错</vt:lpstr>
      <vt:lpstr>一组数的表示</vt:lpstr>
      <vt:lpstr>eval()与input()组合：得到一组输入值</vt:lpstr>
      <vt:lpstr>用eval()与input()搭配输入一组数时两个注意事项</vt:lpstr>
      <vt:lpstr>序列解包</vt:lpstr>
      <vt:lpstr>eval() + input() + 序列解包 —— 计算长方体体积</vt:lpstr>
      <vt:lpstr>eval() + input() + 序列解包 —— 合并代码</vt:lpstr>
      <vt:lpstr>课堂练习</vt:lpstr>
      <vt:lpstr>2.3 print()函数和str()函数</vt:lpstr>
      <vt:lpstr>输出单个对象</vt:lpstr>
      <vt:lpstr>输出多个对象 ——显示时各输出项间自动以空格分隔</vt:lpstr>
      <vt:lpstr>输出时用*解包序列</vt:lpstr>
      <vt:lpstr>设置输出项之间的间隔符号 ——不论是否使用解包</vt:lpstr>
      <vt:lpstr>输出函数print()自动换行</vt:lpstr>
      <vt:lpstr>设置end参数 取消输出时的自动换行</vt:lpstr>
      <vt:lpstr>课堂练习：在同一行输出多项值</vt:lpstr>
      <vt:lpstr>print()的end参数值也是输出内容之一</vt:lpstr>
      <vt:lpstr>str( ) ——eval()反函数</vt:lpstr>
      <vt:lpstr>2.4 字符串格式化</vt:lpstr>
      <vt:lpstr>一种需求</vt:lpstr>
      <vt:lpstr>构造某种模式的字符串</vt:lpstr>
      <vt:lpstr>字符串格式化 %</vt:lpstr>
      <vt:lpstr>PowerPoint 演示文稿</vt:lpstr>
      <vt:lpstr>格式符（占位符）</vt:lpstr>
      <vt:lpstr>PowerPoint 演示文稿</vt:lpstr>
      <vt:lpstr>PowerPoint 演示文稿</vt:lpstr>
      <vt:lpstr>课堂练习</vt:lpstr>
      <vt:lpstr>2．字符串的.format(.)方法</vt:lpstr>
      <vt:lpstr>.format()方法举例</vt:lpstr>
      <vt:lpstr>.format()方法举例</vt:lpstr>
      <vt:lpstr>.format()方法举例</vt:lpstr>
      <vt:lpstr>% 与 .format(.)方法的差异</vt:lpstr>
      <vt:lpstr>3．f-string字面量字符串格式化</vt:lpstr>
      <vt:lpstr>f-string举例</vt:lpstr>
      <vt:lpstr>f-string举例</vt:lpstr>
      <vt:lpstr>PowerPoint 演示文稿</vt:lpstr>
      <vt:lpstr>2.5 作业</vt:lpstr>
      <vt:lpstr>作业2-1</vt:lpstr>
      <vt:lpstr>作业2-2</vt:lpstr>
      <vt:lpstr>END</vt:lpstr>
    </vt:vector>
  </TitlesOfParts>
  <Company>F.D.U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Python程序设计（AIB110002）  — 02 输入与输出</dc:title>
  <dc:creator>river</dc:creator>
  <cp:lastModifiedBy>River Alex</cp:lastModifiedBy>
  <cp:revision>172</cp:revision>
  <dcterms:created xsi:type="dcterms:W3CDTF">2024-09-03T01:33:40Z</dcterms:created>
  <dcterms:modified xsi:type="dcterms:W3CDTF">2026-09-11T23:59:30Z</dcterms:modified>
</cp:coreProperties>
</file>