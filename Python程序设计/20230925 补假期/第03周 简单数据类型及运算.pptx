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256" r:id="rId2"/>
    <p:sldId id="257" r:id="rId3"/>
    <p:sldId id="261" r:id="rId4"/>
    <p:sldId id="258" r:id="rId5"/>
    <p:sldId id="262" r:id="rId6"/>
    <p:sldId id="265" r:id="rId7"/>
    <p:sldId id="291" r:id="rId8"/>
    <p:sldId id="267" r:id="rId9"/>
    <p:sldId id="292" r:id="rId10"/>
    <p:sldId id="294" r:id="rId11"/>
    <p:sldId id="268" r:id="rId12"/>
    <p:sldId id="269" r:id="rId13"/>
    <p:sldId id="270" r:id="rId14"/>
    <p:sldId id="293" r:id="rId15"/>
    <p:sldId id="273" r:id="rId16"/>
    <p:sldId id="300" r:id="rId17"/>
    <p:sldId id="260" r:id="rId18"/>
    <p:sldId id="303" r:id="rId19"/>
    <p:sldId id="304" r:id="rId20"/>
    <p:sldId id="309" r:id="rId21"/>
    <p:sldId id="310" r:id="rId22"/>
    <p:sldId id="312" r:id="rId23"/>
    <p:sldId id="313" r:id="rId24"/>
    <p:sldId id="314" r:id="rId25"/>
    <p:sldId id="315" r:id="rId26"/>
    <p:sldId id="316" r:id="rId27"/>
    <p:sldId id="317" r:id="rId28"/>
    <p:sldId id="334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277" r:id="rId38"/>
    <p:sldId id="279" r:id="rId39"/>
    <p:sldId id="305" r:id="rId40"/>
    <p:sldId id="307" r:id="rId41"/>
    <p:sldId id="308" r:id="rId42"/>
    <p:sldId id="329" r:id="rId43"/>
    <p:sldId id="352" r:id="rId44"/>
    <p:sldId id="327" r:id="rId45"/>
    <p:sldId id="286" r:id="rId46"/>
    <p:sldId id="282" r:id="rId47"/>
    <p:sldId id="330" r:id="rId48"/>
    <p:sldId id="347" r:id="rId49"/>
    <p:sldId id="348" r:id="rId50"/>
    <p:sldId id="287" r:id="rId51"/>
    <p:sldId id="331" r:id="rId52"/>
    <p:sldId id="345" r:id="rId53"/>
    <p:sldId id="346" r:id="rId54"/>
    <p:sldId id="332" r:id="rId55"/>
    <p:sldId id="333" r:id="rId56"/>
    <p:sldId id="338" r:id="rId57"/>
    <p:sldId id="341" r:id="rId58"/>
    <p:sldId id="351" r:id="rId59"/>
    <p:sldId id="285" r:id="rId60"/>
    <p:sldId id="336" r:id="rId61"/>
    <p:sldId id="349" r:id="rId62"/>
    <p:sldId id="344" r:id="rId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5" autoAdjust="0"/>
    <p:restoredTop sz="95262" autoAdjust="0"/>
  </p:normalViewPr>
  <p:slideViewPr>
    <p:cSldViewPr snapToGrid="0">
      <p:cViewPr varScale="1">
        <p:scale>
          <a:sx n="83" d="100"/>
          <a:sy n="8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43B96-08A7-42F3-8A8B-AB99A8462ACE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2866B-DCEC-47F0-A148-9E5CA32B2E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93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en-US" altLang="zh-CN" dirty="0" smtClean="0"/>
              <a:t>num = 0x8F9 + 0o563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print(num)                    #2668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print("%i, %d" % (num, num))  #2668, 2668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print("%o, %#o" % (num, num)) #5154, 0o5154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print("%x, %#x" % (num, num)) #a6c, 0xa6c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print("%X, %#X" % (num, num)) #A6C, 0XA6C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print(f"{num:b}")             #101001101100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382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num = 0x8F9 + 0o563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print(num)      #2668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print(str(num)) #2668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print(oct(num)) #0o5154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print(hex(num)) #0xa6c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print(bin(num)) #0b101001101100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35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# 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eval()</a:t>
            </a:r>
            <a:r>
              <a:rPr lang="zh-CN" altLang="en-US" dirty="0" smtClean="0"/>
              <a:t>的方法</a:t>
            </a:r>
          </a:p>
          <a:p>
            <a:r>
              <a:rPr lang="en-US" altLang="zh-CN" dirty="0" smtClean="0"/>
              <a:t>num = input("</a:t>
            </a:r>
            <a:r>
              <a:rPr lang="zh-CN" altLang="en-US" dirty="0" smtClean="0"/>
              <a:t>请输入十六进制串：</a:t>
            </a:r>
            <a:r>
              <a:rPr lang="en-US" altLang="zh-CN" dirty="0" smtClean="0"/>
              <a:t>")</a:t>
            </a:r>
          </a:p>
          <a:p>
            <a:r>
              <a:rPr lang="en-US" altLang="zh-CN" dirty="0" smtClean="0"/>
              <a:t>num = eval("0x" + num)  # </a:t>
            </a:r>
            <a:r>
              <a:rPr lang="zh-CN" altLang="en-US" dirty="0" smtClean="0"/>
              <a:t>把输入串转换成十六进制数值</a:t>
            </a:r>
          </a:p>
          <a:p>
            <a:r>
              <a:rPr lang="en-US" altLang="zh-CN" dirty="0" smtClean="0"/>
              <a:t>num = 2 * num           # </a:t>
            </a:r>
            <a:r>
              <a:rPr lang="zh-CN" altLang="en-US" dirty="0" smtClean="0"/>
              <a:t>直接乘以</a:t>
            </a:r>
            <a:r>
              <a:rPr lang="en-US" altLang="zh-CN" dirty="0" smtClean="0"/>
              <a:t>2</a:t>
            </a:r>
          </a:p>
          <a:p>
            <a:r>
              <a:rPr lang="en-US" altLang="zh-CN" dirty="0" smtClean="0"/>
              <a:t>print("</a:t>
            </a:r>
            <a:r>
              <a:rPr lang="zh-CN" altLang="en-US" dirty="0" smtClean="0"/>
              <a:t>该数的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倍是</a:t>
            </a:r>
            <a:r>
              <a:rPr lang="en-US" altLang="zh-CN" dirty="0" smtClean="0"/>
              <a:t>%X" % num) # </a:t>
            </a:r>
            <a:r>
              <a:rPr lang="zh-CN" altLang="en-US" dirty="0" smtClean="0"/>
              <a:t>以十六进制显示结果</a:t>
            </a:r>
          </a:p>
          <a:p>
            <a:endParaRPr lang="zh-CN" altLang="en-US" dirty="0" smtClean="0"/>
          </a:p>
          <a:p>
            <a:r>
              <a:rPr lang="en-US" altLang="zh-CN" dirty="0" smtClean="0"/>
              <a:t># 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int()</a:t>
            </a:r>
            <a:r>
              <a:rPr lang="zh-CN" altLang="en-US" dirty="0" smtClean="0"/>
              <a:t>的方法</a:t>
            </a:r>
          </a:p>
          <a:p>
            <a:r>
              <a:rPr lang="en-US" altLang="zh-CN" dirty="0" smtClean="0"/>
              <a:t>num = input("</a:t>
            </a:r>
            <a:r>
              <a:rPr lang="zh-CN" altLang="en-US" dirty="0" smtClean="0"/>
              <a:t>请输入十六进制串：</a:t>
            </a:r>
            <a:r>
              <a:rPr lang="en-US" altLang="zh-CN" dirty="0" smtClean="0"/>
              <a:t>")</a:t>
            </a:r>
          </a:p>
          <a:p>
            <a:r>
              <a:rPr lang="en-US" altLang="zh-CN" dirty="0" smtClean="0"/>
              <a:t>num = int(num, 16)      # </a:t>
            </a:r>
            <a:r>
              <a:rPr lang="zh-CN" altLang="en-US" dirty="0" smtClean="0"/>
              <a:t>把输入串转换成十六进制数值</a:t>
            </a:r>
          </a:p>
          <a:p>
            <a:r>
              <a:rPr lang="en-US" altLang="zh-CN" dirty="0" smtClean="0"/>
              <a:t>num = 2 * num           # </a:t>
            </a:r>
            <a:r>
              <a:rPr lang="zh-CN" altLang="en-US" dirty="0" smtClean="0"/>
              <a:t>直接乘以</a:t>
            </a:r>
            <a:r>
              <a:rPr lang="en-US" altLang="zh-CN" dirty="0" smtClean="0"/>
              <a:t>2</a:t>
            </a:r>
          </a:p>
          <a:p>
            <a:r>
              <a:rPr lang="en-US" altLang="zh-CN" dirty="0" smtClean="0"/>
              <a:t>print("</a:t>
            </a:r>
            <a:r>
              <a:rPr lang="zh-CN" altLang="en-US" dirty="0" smtClean="0"/>
              <a:t>该数的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倍是</a:t>
            </a:r>
            <a:r>
              <a:rPr lang="en-US" altLang="zh-CN" dirty="0" smtClean="0"/>
              <a:t>%X" % num) # </a:t>
            </a:r>
            <a:r>
              <a:rPr lang="zh-CN" altLang="en-US" dirty="0" smtClean="0"/>
              <a:t>以十六进制显示结果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231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num1, num2 = 234.5, 43.45e-4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print(num1, ",", num2)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print(str(num1), ",", str(num2))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print("%f, %F" % (num1, num2))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print("%e, %E" % (num1, num2))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24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s, t = "-123.4", "23.145e-3"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num1, num2 = eval(s), eval(t)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print(num1, num2) #-123.4  0.023145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num1, num2 = float(s), float(t)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print(num1, num2) #-123.4  0.023145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08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 = "-123.4 + 23.145e-3"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num1 = eval(s)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print(num1) # -123.376855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num2 = float(s) # </a:t>
            </a:r>
            <a:r>
              <a:rPr lang="zh-CN" altLang="en-US" dirty="0" smtClean="0"/>
              <a:t>报错：</a:t>
            </a:r>
            <a:r>
              <a:rPr lang="en-US" altLang="zh-CN" dirty="0" smtClean="0"/>
              <a:t>could not convert string to float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print(num2)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088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C5252-401E-47EC-B9EA-313A0BAE78E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64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C5252-401E-47EC-B9EA-313A0BAE78E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16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x</a:t>
            </a:r>
            <a:r>
              <a:rPr lang="en-US" altLang="zh-CN" dirty="0" smtClean="0"/>
              <a:t>, y = eval(input("</a:t>
            </a:r>
            <a:r>
              <a:rPr lang="zh-CN" altLang="en-US" dirty="0" smtClean="0"/>
              <a:t>请输入两个整数：</a:t>
            </a:r>
            <a:r>
              <a:rPr lang="en-US" altLang="zh-CN" dirty="0" smtClean="0"/>
              <a:t>"))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if y!=0 and x%y==0: #</a:t>
            </a:r>
            <a:r>
              <a:rPr lang="zh-CN" altLang="en-US" dirty="0" smtClean="0"/>
              <a:t>不能写成</a:t>
            </a:r>
            <a:r>
              <a:rPr lang="en-US" altLang="zh-CN" dirty="0" smtClean="0"/>
              <a:t>x%y==0 and y!=0  </a:t>
            </a:r>
          </a:p>
          <a:p>
            <a:r>
              <a:rPr lang="en-US" altLang="zh-CN" dirty="0" smtClean="0"/>
              <a:t>    print("</a:t>
            </a:r>
            <a:r>
              <a:rPr lang="zh-CN" altLang="en-US" dirty="0" smtClean="0"/>
              <a:t>能整除！</a:t>
            </a:r>
            <a:r>
              <a:rPr lang="en-US" altLang="zh-CN" dirty="0" smtClean="0"/>
              <a:t>")</a:t>
            </a:r>
          </a:p>
          <a:p>
            <a:r>
              <a:rPr lang="en-US" altLang="zh-CN" dirty="0" smtClean="0"/>
              <a:t>else:</a:t>
            </a:r>
          </a:p>
          <a:p>
            <a:r>
              <a:rPr lang="en-US" altLang="zh-CN" dirty="0" smtClean="0"/>
              <a:t>    print("</a:t>
            </a:r>
            <a:r>
              <a:rPr lang="zh-CN" altLang="en-US" dirty="0" smtClean="0"/>
              <a:t>不能整除！</a:t>
            </a:r>
            <a:r>
              <a:rPr lang="en-US" altLang="zh-CN" dirty="0" smtClean="0"/>
              <a:t>")</a:t>
            </a:r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D2866B-DCEC-47F0-A148-9E5CA32B2E7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9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90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85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71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26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55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8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66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01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36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3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2821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62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772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032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202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8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02167" y="1600200"/>
            <a:ext cx="11387667" cy="4498975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7097A-3736-43B9-B282-106197BF4321}" type="datetime1">
              <a:rPr lang="zh-CN" altLang="en-US" smtClean="0"/>
              <a:t>2024/9/13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31828-4638-4BEB-B471-3399533110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3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02167" y="228601"/>
            <a:ext cx="11387667" cy="5870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92D3D-CB92-4CC4-BAC7-04683F147105}" type="datetime1">
              <a:rPr lang="zh-CN" altLang="en-US" smtClean="0"/>
              <a:t>2024/9/13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71318-526B-4CBE-9E35-35391AB950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89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3EE3C-6945-4565-91BF-6D827E5AD2F2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385D705-1EC8-4AE7-96CA-E381F520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15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程序设计（</a:t>
            </a:r>
            <a:r>
              <a:rPr lang="en-US" altLang="zh-CN" dirty="0"/>
              <a:t>AIB110002</a:t>
            </a:r>
            <a:r>
              <a:rPr lang="zh-CN" altLang="en-US" dirty="0"/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— </a:t>
            </a:r>
            <a:r>
              <a:rPr lang="en-US" altLang="zh-CN" sz="4400" dirty="0" smtClean="0"/>
              <a:t>03 </a:t>
            </a:r>
            <a:r>
              <a:rPr lang="zh-CN" altLang="en-US" sz="4400" dirty="0" smtClean="0"/>
              <a:t>简单数据类型及运算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复旦大学计算机基础教学组  肖</a:t>
            </a:r>
            <a:r>
              <a:rPr lang="zh-CN" altLang="en-US" dirty="0" smtClean="0"/>
              <a:t>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85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整数</a:t>
            </a:r>
            <a:endParaRPr lang="en-US" altLang="zh-CN" sz="2800" dirty="0" smtClean="0"/>
          </a:p>
          <a:p>
            <a:r>
              <a:rPr lang="zh-CN" altLang="en-US" sz="2800" dirty="0"/>
              <a:t>浮点</a:t>
            </a:r>
            <a:r>
              <a:rPr lang="zh-CN" altLang="en-US" sz="2800" dirty="0" smtClean="0"/>
              <a:t>数</a:t>
            </a:r>
            <a:endParaRPr lang="en-US" altLang="zh-CN" sz="2800" dirty="0" smtClean="0"/>
          </a:p>
          <a:p>
            <a:r>
              <a:rPr lang="zh-CN" altLang="en-US" sz="2800" dirty="0"/>
              <a:t>算</a:t>
            </a:r>
            <a:r>
              <a:rPr lang="zh-CN" altLang="en-US" sz="2800" dirty="0" smtClean="0"/>
              <a:t>术运算</a:t>
            </a:r>
            <a:endParaRPr lang="en-US" altLang="zh-CN" sz="2800" dirty="0" smtClean="0"/>
          </a:p>
          <a:p>
            <a:r>
              <a:rPr lang="zh-CN" altLang="en-US" sz="2800" dirty="0"/>
              <a:t>布尔</a:t>
            </a:r>
            <a:r>
              <a:rPr lang="zh-CN" altLang="en-US" sz="2800" dirty="0" smtClean="0"/>
              <a:t>值</a:t>
            </a:r>
            <a:endParaRPr lang="en-US" altLang="zh-CN" sz="2800" dirty="0" smtClean="0"/>
          </a:p>
          <a:p>
            <a:r>
              <a:rPr lang="zh-CN" altLang="en-US" sz="2800" dirty="0"/>
              <a:t>关</a:t>
            </a:r>
            <a:r>
              <a:rPr lang="zh-CN" altLang="en-US" sz="2800" dirty="0" smtClean="0"/>
              <a:t>系运算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复合赋值</a:t>
            </a:r>
            <a:endParaRPr lang="en-US" altLang="zh-CN" sz="2800" dirty="0" smtClean="0"/>
          </a:p>
          <a:p>
            <a:r>
              <a:rPr lang="zh-CN" altLang="en-US" sz="2800" dirty="0" smtClean="0"/>
              <a:t>表达式与运算优先级</a:t>
            </a:r>
            <a:endParaRPr lang="en-US" altLang="zh-CN" sz="2800" dirty="0" smtClean="0"/>
          </a:p>
          <a:p>
            <a:r>
              <a:rPr lang="zh-CN" altLang="en-US" sz="2800" dirty="0" smtClean="0"/>
              <a:t>作业</a:t>
            </a:r>
            <a:endParaRPr lang="en-US" altLang="zh-CN" sz="2800" dirty="0" smtClean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5410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sz="4000" dirty="0"/>
              <a:t/>
            </a:r>
            <a:br>
              <a:rPr lang="en-US" altLang="zh-CN" sz="4000" dirty="0"/>
            </a:br>
            <a:r>
              <a:rPr lang="en-US" altLang="zh-CN" sz="27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27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作为一种擅长数据处理的程序设计语言，有着丰富的数据类型。包</a:t>
            </a:r>
            <a:r>
              <a:rPr lang="zh-CN" altLang="zh-CN" sz="27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括</a:t>
            </a:r>
            <a:r>
              <a:rPr lang="zh-CN" altLang="en-US" sz="27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但不限于</a:t>
            </a:r>
            <a:r>
              <a:rPr lang="zh-CN" altLang="zh-CN" sz="27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2589212" y="2558142"/>
            <a:ext cx="4313864" cy="335307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简单数据类型</a:t>
            </a:r>
            <a:endParaRPr lang="en-US" altLang="zh-CN" sz="2800" dirty="0"/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</a:rPr>
              <a:t>整</a:t>
            </a:r>
            <a:r>
              <a:rPr lang="zh-CN" altLang="en-US" sz="2400" b="1" dirty="0">
                <a:solidFill>
                  <a:srgbClr val="0000FF"/>
                </a:solidFill>
              </a:rPr>
              <a:t>数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浮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点数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布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尔值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复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数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7190747" y="2558142"/>
            <a:ext cx="4313864" cy="334570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序列</a:t>
            </a:r>
            <a:r>
              <a:rPr lang="zh-CN" altLang="en-US" sz="2800" dirty="0" smtClean="0"/>
              <a:t>数</a:t>
            </a:r>
            <a:r>
              <a:rPr lang="zh-CN" altLang="en-US" sz="2800" dirty="0"/>
              <a:t>据类</a:t>
            </a:r>
            <a:r>
              <a:rPr lang="zh-CN" altLang="en-US" sz="2800" dirty="0" smtClean="0"/>
              <a:t>型</a:t>
            </a:r>
            <a:endParaRPr lang="en-US" altLang="zh-CN" sz="2800" dirty="0" smtClean="0"/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字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符串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</a:rPr>
              <a:t>元</a:t>
            </a:r>
            <a:r>
              <a:rPr lang="zh-CN" altLang="en-US" sz="2400" b="1" dirty="0">
                <a:solidFill>
                  <a:srgbClr val="0000FF"/>
                </a:solidFill>
              </a:rPr>
              <a:t>组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</a:rPr>
              <a:t>列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表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400" b="1" dirty="0" smtClean="0">
                <a:solidFill>
                  <a:srgbClr val="FF0000"/>
                </a:solidFill>
              </a:rPr>
              <a:t>字</a:t>
            </a:r>
            <a:r>
              <a:rPr lang="zh-CN" altLang="en-US" sz="2400" b="1" dirty="0">
                <a:solidFill>
                  <a:srgbClr val="FF0000"/>
                </a:solidFill>
              </a:rPr>
              <a:t>典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FF0000"/>
                </a:solidFill>
              </a:rPr>
              <a:t>集合</a:t>
            </a:r>
          </a:p>
        </p:txBody>
      </p:sp>
      <p:sp>
        <p:nvSpPr>
          <p:cNvPr id="2" name="云形 1"/>
          <p:cNvSpPr/>
          <p:nvPr/>
        </p:nvSpPr>
        <p:spPr>
          <a:xfrm>
            <a:off x="4729316" y="4906297"/>
            <a:ext cx="2461431" cy="1386348"/>
          </a:xfrm>
          <a:prstGeom prst="cloud">
            <a:avLst/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solidFill>
                  <a:schemeClr val="tx1"/>
                </a:solidFill>
              </a:rPr>
              <a:t>蓝</a:t>
            </a:r>
            <a:r>
              <a:rPr lang="zh-CN" altLang="en-US" dirty="0" smtClean="0">
                <a:solidFill>
                  <a:schemeClr val="tx1"/>
                </a:solidFill>
              </a:rPr>
              <a:t>色为不可变对象，红色为可变对象。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0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7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整数</a:t>
            </a:r>
            <a:r>
              <a:rPr lang="zh-CN" altLang="en-US" dirty="0" smtClean="0"/>
              <a:t>的写法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199" y="1600200"/>
            <a:ext cx="10051473" cy="4686320"/>
          </a:xfrm>
        </p:spPr>
        <p:txBody>
          <a:bodyPr>
            <a:normAutofit/>
          </a:bodyPr>
          <a:lstStyle/>
          <a:p>
            <a:r>
              <a:rPr lang="zh-CN" altLang="en-US" sz="2400" b="1" dirty="0" smtClean="0"/>
              <a:t>十进制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0~9 </a:t>
            </a:r>
            <a:r>
              <a:rPr lang="zh-CN" altLang="en-US" sz="2400" dirty="0" smtClean="0"/>
              <a:t>十个基本计数符号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b="1" dirty="0" smtClean="0"/>
              <a:t>八进制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0~7 </a:t>
            </a:r>
            <a:r>
              <a:rPr lang="zh-CN" altLang="en-US" sz="2400" dirty="0" smtClean="0"/>
              <a:t>八个基本计数符号，以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0o</a:t>
            </a:r>
            <a:r>
              <a:rPr lang="zh-CN" altLang="en-US" sz="2400" dirty="0" smtClean="0"/>
              <a:t>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0O</a:t>
            </a:r>
            <a:r>
              <a:rPr lang="zh-CN" altLang="en-US" sz="2400" dirty="0" smtClean="0"/>
              <a:t>开头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b="1" dirty="0" smtClean="0"/>
              <a:t>十六进制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0~9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a~f</a:t>
            </a:r>
            <a:r>
              <a:rPr lang="en-US" altLang="zh-CN" sz="2400" dirty="0" smtClean="0"/>
              <a:t> (A~F)</a:t>
            </a:r>
            <a:r>
              <a:rPr lang="zh-CN" altLang="en-US" sz="2400" dirty="0" smtClean="0"/>
              <a:t>十六个基本计数符号，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以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0x</a:t>
            </a:r>
            <a:r>
              <a:rPr lang="zh-CN" altLang="en-US" sz="2400" dirty="0" smtClean="0"/>
              <a:t>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0X</a:t>
            </a:r>
            <a:r>
              <a:rPr lang="zh-CN" altLang="en-US" sz="2400" dirty="0" smtClean="0"/>
              <a:t>开头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b="1" dirty="0" smtClean="0"/>
              <a:t>二进制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两个基本计数符号，以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0b</a:t>
            </a:r>
            <a:r>
              <a:rPr lang="zh-CN" altLang="en-US" sz="2400" dirty="0" smtClean="0"/>
              <a:t>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0B</a:t>
            </a:r>
            <a:r>
              <a:rPr lang="zh-CN" altLang="en-US" sz="2400" dirty="0" smtClean="0"/>
              <a:t>开头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52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257" y="2825517"/>
            <a:ext cx="3994289" cy="3774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404664"/>
            <a:ext cx="5400600" cy="1991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2825517"/>
            <a:ext cx="3816424" cy="2503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云形标注 5"/>
          <p:cNvSpPr/>
          <p:nvPr/>
        </p:nvSpPr>
        <p:spPr>
          <a:xfrm>
            <a:off x="8304212" y="184301"/>
            <a:ext cx="3115398" cy="1935444"/>
          </a:xfrm>
          <a:prstGeom prst="cloudCallout">
            <a:avLst>
              <a:gd name="adj1" fmla="val -57710"/>
              <a:gd name="adj2" fmla="val 67500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 smtClean="0">
                <a:solidFill>
                  <a:schemeClr val="tx1"/>
                </a:solidFill>
              </a:rPr>
              <a:t>不论</a:t>
            </a:r>
            <a:r>
              <a:rPr lang="en-US" altLang="zh-CN" dirty="0" smtClean="0">
                <a:solidFill>
                  <a:schemeClr val="tx1"/>
                </a:solidFill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</a:rPr>
              <a:t>以何种进制表示，在计算机内部均以二进制存在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91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print()</a:t>
            </a:r>
            <a:r>
              <a:rPr lang="zh-CN" altLang="en-US" dirty="0" smtClean="0"/>
              <a:t>显示整数的不同进制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599"/>
            <a:ext cx="6845733" cy="3786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云形标注 4"/>
          <p:cNvSpPr/>
          <p:nvPr/>
        </p:nvSpPr>
        <p:spPr>
          <a:xfrm>
            <a:off x="8792585" y="189763"/>
            <a:ext cx="2543897" cy="1935444"/>
          </a:xfrm>
          <a:prstGeom prst="cloudCallout">
            <a:avLst>
              <a:gd name="adj1" fmla="val -57710"/>
              <a:gd name="adj2" fmla="val 67500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 smtClean="0">
                <a:solidFill>
                  <a:schemeClr val="tx1"/>
                </a:solidFill>
              </a:rPr>
              <a:t>请尝试使用另两种格式化方法输出整数。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9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</a:t>
            </a:r>
            <a:r>
              <a:rPr lang="zh-CN" altLang="en-US" dirty="0" smtClean="0"/>
              <a:t>制的转换函数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6476" y="1780309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CN" sz="2400" b="1" dirty="0" smtClean="0"/>
              <a:t>oct</a:t>
            </a:r>
            <a:r>
              <a:rPr lang="en-US" altLang="zh-CN" sz="2400" dirty="0" smtClean="0"/>
              <a:t>(x), </a:t>
            </a:r>
            <a:r>
              <a:rPr lang="en-US" altLang="zh-CN" sz="2400" b="1" dirty="0" smtClean="0"/>
              <a:t>hex</a:t>
            </a:r>
            <a:r>
              <a:rPr lang="en-US" altLang="zh-CN" sz="2400" dirty="0" smtClean="0"/>
              <a:t>(x), </a:t>
            </a:r>
            <a:r>
              <a:rPr lang="en-US" altLang="zh-CN" sz="2400" b="1" dirty="0" smtClean="0"/>
              <a:t>bin</a:t>
            </a:r>
            <a:r>
              <a:rPr lang="en-US" altLang="zh-CN" sz="2400" dirty="0" smtClean="0"/>
              <a:t>(x), </a:t>
            </a:r>
            <a:r>
              <a:rPr lang="en-US" altLang="zh-CN" sz="2400" b="1" dirty="0" smtClean="0"/>
              <a:t>str</a:t>
            </a:r>
            <a:r>
              <a:rPr lang="en-US" altLang="zh-CN" sz="2400" dirty="0" smtClean="0"/>
              <a:t>(x)</a:t>
            </a:r>
          </a:p>
          <a:p>
            <a:pPr lvl="1"/>
            <a:r>
              <a:rPr lang="en-US" altLang="zh-CN" sz="2000" dirty="0" smtClean="0"/>
              <a:t>x</a:t>
            </a:r>
            <a:r>
              <a:rPr lang="zh-CN" altLang="en-US" sz="2000" dirty="0" smtClean="0"/>
              <a:t>为一个整数，支持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种进制写法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函数返回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对应进制的表示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字符串</a:t>
            </a:r>
            <a:r>
              <a:rPr lang="en-US" altLang="zh-CN" sz="2000" dirty="0" smtClean="0"/>
              <a:t>)</a:t>
            </a:r>
            <a:endParaRPr lang="en-US" altLang="zh-CN" sz="20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0" y="3501008"/>
            <a:ext cx="3367033" cy="280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306" y="3501008"/>
            <a:ext cx="2830252" cy="280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43" y="3501008"/>
            <a:ext cx="3466203" cy="280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75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另一种显示整数不同进制的方法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600"/>
            <a:ext cx="5955960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915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从字符串转换成整</a:t>
            </a:r>
            <a:r>
              <a:rPr lang="zh-CN" altLang="en-US" dirty="0" smtClean="0"/>
              <a:t>数 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eval()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305" y="2133600"/>
            <a:ext cx="5507931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02" y="2133600"/>
            <a:ext cx="3619673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858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从字符串转换成整数 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int()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790700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CN" sz="2400" b="1" dirty="0" smtClean="0"/>
              <a:t>int</a:t>
            </a:r>
            <a:r>
              <a:rPr lang="en-US" altLang="zh-CN" sz="2400" dirty="0" smtClean="0"/>
              <a:t>(str, i=10)</a:t>
            </a:r>
          </a:p>
          <a:p>
            <a:pPr lvl="1"/>
            <a:r>
              <a:rPr lang="en-US" altLang="zh-CN" sz="2000" dirty="0" err="1" smtClean="0"/>
              <a:t>str</a:t>
            </a:r>
            <a:r>
              <a:rPr lang="zh-CN" altLang="en-US" sz="2000" dirty="0" smtClean="0"/>
              <a:t>是数字串，</a:t>
            </a:r>
            <a:r>
              <a:rPr lang="en-US" altLang="zh-CN" sz="2000" dirty="0" err="1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是进制值，</a:t>
            </a:r>
            <a:r>
              <a:rPr lang="en-US" altLang="zh-CN" sz="2000" dirty="0" err="1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默认值等于</a:t>
            </a:r>
            <a:r>
              <a:rPr lang="en-US" altLang="zh-CN" sz="2000" dirty="0" smtClean="0"/>
              <a:t>10</a:t>
            </a:r>
          </a:p>
          <a:p>
            <a:pPr lvl="1"/>
            <a:r>
              <a:rPr lang="zh-CN" altLang="en-US" sz="2000" dirty="0" smtClean="0"/>
              <a:t>函数返回 </a:t>
            </a:r>
            <a:r>
              <a:rPr lang="en-US" altLang="zh-CN" sz="2000" dirty="0" err="1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进制数字</a:t>
            </a:r>
            <a:r>
              <a:rPr lang="zh-CN" altLang="en-US" sz="2000" dirty="0" smtClean="0"/>
              <a:t>串</a:t>
            </a:r>
            <a:r>
              <a:rPr lang="en-US" altLang="zh-CN" sz="2000" dirty="0" smtClean="0"/>
              <a:t>str</a:t>
            </a:r>
            <a:r>
              <a:rPr lang="zh-CN" altLang="en-US" sz="2000" dirty="0" smtClean="0"/>
              <a:t>的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整数值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该值若直接显示则为十进制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3326122"/>
            <a:ext cx="3856803" cy="2960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748" y="3326122"/>
            <a:ext cx="3870701" cy="2960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云形标注 6"/>
          <p:cNvSpPr/>
          <p:nvPr/>
        </p:nvSpPr>
        <p:spPr>
          <a:xfrm>
            <a:off x="9061594" y="1056410"/>
            <a:ext cx="2899497" cy="1468580"/>
          </a:xfrm>
          <a:prstGeom prst="cloudCallout">
            <a:avLst>
              <a:gd name="adj1" fmla="val -51976"/>
              <a:gd name="adj2" fmla="val 106494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dirty="0" smtClean="0">
                <a:solidFill>
                  <a:schemeClr val="tx1"/>
                </a:solidFill>
              </a:rPr>
              <a:t>任何整数在</a:t>
            </a:r>
            <a:r>
              <a:rPr lang="zh-CN" altLang="en-US" sz="2000" dirty="0" smtClean="0">
                <a:solidFill>
                  <a:schemeClr val="tx1"/>
                </a:solidFill>
              </a:rPr>
              <a:t>计算机内部均以二进制存在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08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</a:t>
            </a:r>
            <a:r>
              <a:rPr lang="zh-CN" altLang="en-US" dirty="0" smtClean="0"/>
              <a:t>制的转换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647728" y="1772816"/>
            <a:ext cx="648072" cy="648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74293" y="4941168"/>
            <a:ext cx="648072" cy="648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8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5303801" y="4941168"/>
            <a:ext cx="648072" cy="648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3647728" y="3501008"/>
            <a:ext cx="648072" cy="6480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10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5" idx="4"/>
            <a:endCxn id="8" idx="0"/>
          </p:cNvCxnSpPr>
          <p:nvPr/>
        </p:nvCxnSpPr>
        <p:spPr>
          <a:xfrm>
            <a:off x="3971764" y="2420888"/>
            <a:ext cx="0" cy="10801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8" idx="3"/>
            <a:endCxn id="6" idx="7"/>
          </p:cNvCxnSpPr>
          <p:nvPr/>
        </p:nvCxnSpPr>
        <p:spPr>
          <a:xfrm flipH="1">
            <a:off x="2627458" y="4054172"/>
            <a:ext cx="1115179" cy="98190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8" idx="5"/>
            <a:endCxn id="7" idx="1"/>
          </p:cNvCxnSpPr>
          <p:nvPr/>
        </p:nvCxnSpPr>
        <p:spPr>
          <a:xfrm>
            <a:off x="4200893" y="4054172"/>
            <a:ext cx="1197817" cy="98190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3"/>
            <a:endCxn id="6" idx="0"/>
          </p:cNvCxnSpPr>
          <p:nvPr/>
        </p:nvCxnSpPr>
        <p:spPr>
          <a:xfrm flipH="1">
            <a:off x="2398330" y="2325980"/>
            <a:ext cx="1344307" cy="26151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5" idx="5"/>
            <a:endCxn id="7" idx="0"/>
          </p:cNvCxnSpPr>
          <p:nvPr/>
        </p:nvCxnSpPr>
        <p:spPr>
          <a:xfrm>
            <a:off x="4200893" y="2325980"/>
            <a:ext cx="1426945" cy="26151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6" idx="6"/>
            <a:endCxn id="7" idx="2"/>
          </p:cNvCxnSpPr>
          <p:nvPr/>
        </p:nvCxnSpPr>
        <p:spPr>
          <a:xfrm>
            <a:off x="2722365" y="5265204"/>
            <a:ext cx="25814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093" y="2312876"/>
            <a:ext cx="3829766" cy="2376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75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 </a:t>
            </a:r>
            <a:r>
              <a:rPr lang="en-US" altLang="zh-CN" dirty="0" err="1" smtClean="0">
                <a:solidFill>
                  <a:srgbClr val="0000FF"/>
                </a:solidFill>
              </a:rPr>
              <a:t>int</a:t>
            </a:r>
            <a:r>
              <a:rPr lang="en-US" altLang="zh-CN" dirty="0" smtClean="0">
                <a:solidFill>
                  <a:srgbClr val="0000FF"/>
                </a:solidFill>
              </a:rPr>
              <a:t>(.)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的另一用法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直接丢弃小数，保留整数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2734196"/>
            <a:ext cx="3922404" cy="2278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577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—— </a:t>
            </a:r>
            <a:r>
              <a:rPr lang="zh-CN" altLang="en-US" dirty="0" smtClean="0"/>
              <a:t>提示：使用</a:t>
            </a:r>
            <a:r>
              <a:rPr lang="en-US" altLang="zh-CN" dirty="0" smtClean="0"/>
              <a:t>eval()</a:t>
            </a:r>
            <a:r>
              <a:rPr lang="zh-CN" altLang="en-US" dirty="0" smtClean="0"/>
              <a:t>或者</a:t>
            </a:r>
            <a:r>
              <a:rPr lang="en-US" altLang="zh-CN" dirty="0" smtClean="0"/>
              <a:t>int()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用户输入一个十六进制字符串，程序显示该数</a:t>
            </a:r>
            <a:r>
              <a:rPr lang="en-US" altLang="zh-CN" dirty="0" smtClean="0"/>
              <a:t>2</a:t>
            </a:r>
            <a:r>
              <a:rPr lang="zh-CN" altLang="en-US" dirty="0" smtClean="0"/>
              <a:t>倍的值</a:t>
            </a:r>
            <a:r>
              <a:rPr lang="en-US" altLang="zh-CN" dirty="0" smtClean="0"/>
              <a:t>(</a:t>
            </a:r>
            <a:r>
              <a:rPr lang="zh-CN" altLang="en-US" dirty="0" smtClean="0"/>
              <a:t>十六进制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界面如下，黑色为用户输入，蓝色为程序输出。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B588-28DB-4F69-95B9-120338143C00}" type="slidenum">
              <a:rPr lang="zh-CN" altLang="zh-CN" smtClean="0"/>
              <a:pPr/>
              <a:t>14</a:t>
            </a:fld>
            <a:endParaRPr lang="zh-CN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3449462"/>
            <a:ext cx="7585617" cy="253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182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86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浮点数</a:t>
            </a:r>
            <a:r>
              <a:rPr lang="zh-CN" altLang="en-US" dirty="0" smtClean="0"/>
              <a:t>的写法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759528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CN" sz="2400" b="1" dirty="0" smtClean="0"/>
              <a:t>.3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1.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15.0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0.37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-12.45</a:t>
            </a:r>
            <a:endParaRPr lang="en-US" altLang="zh-CN" sz="2400" dirty="0" smtClean="0"/>
          </a:p>
          <a:p>
            <a:r>
              <a:rPr lang="en-US" altLang="zh-CN" sz="2400" b="1" dirty="0" smtClean="0"/>
              <a:t>1.2e3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1.2E3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3141.59e-3</a:t>
            </a:r>
            <a:r>
              <a:rPr lang="zh-CN" altLang="en-US" sz="2400" dirty="0" smtClean="0"/>
              <a:t>、</a:t>
            </a:r>
            <a:r>
              <a:rPr lang="en-US" altLang="zh-CN" sz="2400" b="1" dirty="0" smtClean="0"/>
              <a:t>3.1415E0</a:t>
            </a:r>
          </a:p>
          <a:p>
            <a:r>
              <a:rPr lang="zh-CN" altLang="en-US" sz="2400" dirty="0" smtClean="0"/>
              <a:t>只能十进制表示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en-US" altLang="zh-CN" sz="24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013" y="2832154"/>
            <a:ext cx="3710880" cy="3730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云形标注 5"/>
          <p:cNvSpPr/>
          <p:nvPr/>
        </p:nvSpPr>
        <p:spPr>
          <a:xfrm>
            <a:off x="2589212" y="4257259"/>
            <a:ext cx="3457864" cy="2415309"/>
          </a:xfrm>
          <a:prstGeom prst="cloudCallout">
            <a:avLst>
              <a:gd name="adj1" fmla="val 87552"/>
              <a:gd name="adj2" fmla="val -67206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 smtClean="0">
                <a:solidFill>
                  <a:schemeClr val="tx1"/>
                </a:solidFill>
              </a:rPr>
              <a:t>不</a:t>
            </a:r>
            <a:r>
              <a:rPr lang="zh-CN" altLang="en-US" dirty="0" smtClean="0">
                <a:solidFill>
                  <a:schemeClr val="tx1"/>
                </a:solidFill>
              </a:rPr>
              <a:t>论</a:t>
            </a:r>
            <a:r>
              <a:rPr lang="zh-CN" altLang="en-US" dirty="0">
                <a:solidFill>
                  <a:schemeClr val="tx1"/>
                </a:solidFill>
              </a:rPr>
              <a:t>浮点</a:t>
            </a:r>
            <a:r>
              <a:rPr lang="zh-CN" altLang="en-US" dirty="0" smtClean="0">
                <a:solidFill>
                  <a:schemeClr val="tx1"/>
                </a:solidFill>
              </a:rPr>
              <a:t>数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zh-CN" altLang="en-US" dirty="0" smtClean="0">
                <a:solidFill>
                  <a:schemeClr val="tx1"/>
                </a:solidFill>
              </a:rPr>
              <a:t>否采用科学计数法</a:t>
            </a:r>
            <a:r>
              <a:rPr lang="zh-CN" altLang="en-US" dirty="0" smtClean="0">
                <a:solidFill>
                  <a:schemeClr val="tx1"/>
                </a:solidFill>
              </a:rPr>
              <a:t>表</a:t>
            </a:r>
            <a:r>
              <a:rPr lang="zh-CN" altLang="en-US" dirty="0" smtClean="0">
                <a:solidFill>
                  <a:schemeClr val="tx1"/>
                </a:solidFill>
              </a:rPr>
              <a:t>示，在计算机内部均以二进制存</a:t>
            </a:r>
            <a:r>
              <a:rPr lang="zh-CN" altLang="en-US" dirty="0" smtClean="0">
                <a:solidFill>
                  <a:schemeClr val="tx1"/>
                </a:solidFill>
              </a:rPr>
              <a:t>在，若直接显示则为普通小数格式。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6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浮点数输出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云形标注 7"/>
          <p:cNvSpPr/>
          <p:nvPr/>
        </p:nvSpPr>
        <p:spPr>
          <a:xfrm>
            <a:off x="8792585" y="189763"/>
            <a:ext cx="2543897" cy="1935444"/>
          </a:xfrm>
          <a:prstGeom prst="cloudCallout">
            <a:avLst>
              <a:gd name="adj1" fmla="val -57710"/>
              <a:gd name="adj2" fmla="val 67500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 smtClean="0">
                <a:solidFill>
                  <a:schemeClr val="tx1"/>
                </a:solidFill>
              </a:rPr>
              <a:t>请尝试使用另两种格式化方法输出浮点数。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09" y="2133600"/>
            <a:ext cx="6566706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81" y="3247282"/>
            <a:ext cx="5133823" cy="1550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173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从字符串转换</a:t>
            </a:r>
            <a:r>
              <a:rPr lang="zh-CN" altLang="en-US" dirty="0" smtClean="0"/>
              <a:t>成</a:t>
            </a:r>
            <a:r>
              <a:rPr lang="zh-CN" altLang="en-US" dirty="0"/>
              <a:t>浮点</a:t>
            </a:r>
            <a:r>
              <a:rPr lang="zh-CN" altLang="en-US" dirty="0" smtClean="0"/>
              <a:t>数：</a:t>
            </a:r>
            <a:r>
              <a:rPr lang="en-US" altLang="zh-CN" dirty="0" smtClean="0"/>
              <a:t>eval()</a:t>
            </a:r>
            <a:r>
              <a:rPr lang="zh-CN" altLang="en-US" dirty="0" smtClean="0"/>
              <a:t>或</a:t>
            </a:r>
            <a:r>
              <a:rPr lang="en-US" altLang="zh-CN" dirty="0" smtClean="0"/>
              <a:t>float()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600"/>
            <a:ext cx="7355183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546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r>
              <a:rPr lang="en-US" altLang="zh-CN" dirty="0" smtClean="0"/>
              <a:t>val() </a:t>
            </a:r>
            <a:r>
              <a:rPr lang="en-US" altLang="zh-CN" i="1" dirty="0" smtClean="0"/>
              <a:t>v.s.</a:t>
            </a:r>
            <a:r>
              <a:rPr lang="en-US" altLang="zh-CN" dirty="0" smtClean="0"/>
              <a:t> </a:t>
            </a:r>
            <a:r>
              <a:rPr lang="en-US" altLang="zh-CN" dirty="0"/>
              <a:t>f</a:t>
            </a:r>
            <a:r>
              <a:rPr lang="en-US" altLang="zh-CN" dirty="0" smtClean="0"/>
              <a:t>loat()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96" y="1898647"/>
            <a:ext cx="10443216" cy="349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396" y="5618997"/>
            <a:ext cx="3570010" cy="968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599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复数的写法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由实部和虚部构成，使用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j</a:t>
            </a:r>
            <a:r>
              <a:rPr lang="zh-CN" altLang="en-US" sz="2400" dirty="0" smtClean="0"/>
              <a:t>或者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J</a:t>
            </a:r>
            <a:r>
              <a:rPr lang="zh-CN" altLang="en-US" sz="2400" dirty="0" smtClean="0"/>
              <a:t>来表示虚部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786" y="2657603"/>
            <a:ext cx="5912428" cy="40197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11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738745"/>
            <a:ext cx="8915400" cy="3777622"/>
          </a:xfrm>
        </p:spPr>
        <p:txBody>
          <a:bodyPr/>
          <a:lstStyle/>
          <a:p>
            <a:r>
              <a:rPr lang="zh-CN" altLang="en-US" dirty="0" smtClean="0"/>
              <a:t>下列数值写法在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中是否正确？</a:t>
            </a:r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1" y="2348880"/>
            <a:ext cx="7995217" cy="3888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600057" y="2348880"/>
            <a:ext cx="3530721" cy="3888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43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5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2008910"/>
            <a:ext cx="8915400" cy="377762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加法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</a:rPr>
              <a:t>：  </a:t>
            </a:r>
            <a:r>
              <a:rPr lang="en-US" altLang="zh-CN" sz="2400" dirty="0">
                <a:latin typeface="Times New Roman" panose="02020603050405020304" pitchFamily="18" charset="0"/>
              </a:rPr>
              <a:t>35+4    2.5 + 3.5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减法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：  </a:t>
            </a:r>
            <a:r>
              <a:rPr lang="en-US" altLang="zh-CN" sz="2400" dirty="0">
                <a:latin typeface="Times New Roman" panose="02020603050405020304" pitchFamily="18" charset="0"/>
              </a:rPr>
              <a:t>35-4    2.5 - 3.5      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乘法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</a:rPr>
              <a:t>： </a:t>
            </a:r>
            <a:r>
              <a:rPr lang="en-US" altLang="zh-CN" sz="2400" dirty="0">
                <a:latin typeface="Times New Roman" panose="02020603050405020304" pitchFamily="18" charset="0"/>
              </a:rPr>
              <a:t>(35+4)</a:t>
            </a:r>
            <a:r>
              <a:rPr lang="zh-CN" altLang="en-US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</a:rPr>
              <a:t> ，</a:t>
            </a:r>
            <a:r>
              <a:rPr lang="en-US" altLang="zh-CN" sz="2400" dirty="0">
                <a:latin typeface="Times New Roman" panose="02020603050405020304" pitchFamily="18" charset="0"/>
              </a:rPr>
              <a:t>3.4</a:t>
            </a:r>
            <a:r>
              <a:rPr lang="zh-CN" altLang="en-US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</a:rPr>
              <a:t>5.2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     注意*不能省略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除法：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整除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//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向下取整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         5//2 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 因为 </a:t>
            </a:r>
            <a:r>
              <a:rPr lang="en-US" altLang="zh-CN" dirty="0">
                <a:latin typeface="Times New Roman" panose="02020603050405020304" pitchFamily="18" charset="0"/>
              </a:rPr>
              <a:t>5=2</a:t>
            </a:r>
            <a:r>
              <a:rPr lang="zh-CN" altLang="en-US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；   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</a:rPr>
              <a:t>5//2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-3</a:t>
            </a:r>
            <a:r>
              <a:rPr lang="zh-CN" altLang="en-US" dirty="0">
                <a:latin typeface="Times New Roman" panose="02020603050405020304" pitchFamily="18" charset="0"/>
              </a:rPr>
              <a:t>  因为 </a:t>
            </a:r>
            <a:r>
              <a:rPr lang="en-US" altLang="zh-CN" dirty="0">
                <a:latin typeface="Times New Roman" panose="02020603050405020304" pitchFamily="18" charset="0"/>
              </a:rPr>
              <a:t>-5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(-3)+1 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浮点除法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</a:rPr>
              <a:t>  （也称“真除法”），结果为</a:t>
            </a:r>
            <a:r>
              <a:rPr lang="zh-CN" altLang="en-US" b="1" dirty="0">
                <a:latin typeface="Times New Roman" panose="02020603050405020304" pitchFamily="18" charset="0"/>
              </a:rPr>
              <a:t>浮点数</a:t>
            </a:r>
            <a:r>
              <a:rPr lang="zh-CN" altLang="en-US" dirty="0">
                <a:latin typeface="Times New Roman" panose="02020603050405020304" pitchFamily="18" charset="0"/>
              </a:rPr>
              <a:t>：    </a:t>
            </a:r>
            <a:r>
              <a:rPr lang="en-US" altLang="zh-CN" dirty="0">
                <a:latin typeface="Times New Roman" panose="02020603050405020304" pitchFamily="18" charset="0"/>
              </a:rPr>
              <a:t>5/2 = </a:t>
            </a:r>
            <a:r>
              <a:rPr lang="en-US" altLang="zh-CN" dirty="0" smtClean="0">
                <a:latin typeface="Times New Roman" panose="02020603050405020304" pitchFamily="18" charset="0"/>
              </a:rPr>
              <a:t>2.5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r>
              <a:rPr lang="en-US" altLang="zh-CN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    </a:t>
            </a:r>
            <a:r>
              <a:rPr lang="en-US" altLang="zh-CN" dirty="0" smtClean="0">
                <a:latin typeface="Times New Roman" panose="02020603050405020304" pitchFamily="18" charset="0"/>
              </a:rPr>
              <a:t>10/3.2</a:t>
            </a:r>
            <a:r>
              <a:rPr lang="zh-CN" altLang="en-US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3.125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幂运算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** </a:t>
            </a:r>
            <a:r>
              <a:rPr lang="zh-CN" altLang="en-US" sz="2400" dirty="0">
                <a:latin typeface="Times New Roman" panose="02020603050405020304" pitchFamily="18" charset="0"/>
              </a:rPr>
              <a:t>：     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**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**</a:t>
            </a:r>
            <a:r>
              <a:rPr lang="en-US" altLang="zh-CN" sz="2400" dirty="0">
                <a:latin typeface="Times New Roman" panose="02020603050405020304" pitchFamily="18" charset="0"/>
              </a:rPr>
              <a:t>0.5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2.0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取余（求模）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%</a:t>
            </a:r>
            <a:r>
              <a:rPr lang="zh-CN" altLang="en-US" sz="2400" dirty="0">
                <a:latin typeface="Times New Roman" panose="02020603050405020304" pitchFamily="18" charset="0"/>
              </a:rPr>
              <a:t>：  </a:t>
            </a:r>
            <a:r>
              <a:rPr lang="en-US" altLang="zh-CN" sz="2400" dirty="0">
                <a:latin typeface="Times New Roman" panose="02020603050405020304" pitchFamily="18" charset="0"/>
              </a:rPr>
              <a:t>10%5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</a:rPr>
              <a:t>20%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</a:rPr>
              <a:t>-20%3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=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一元的改符号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+8 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-8   </a:t>
            </a:r>
          </a:p>
        </p:txBody>
      </p:sp>
    </p:spTree>
    <p:extLst>
      <p:ext uri="{BB962C8B-B14F-4D97-AF65-F5344CB8AC3E}">
        <p14:creationId xmlns:p14="http://schemas.microsoft.com/office/powerpoint/2010/main" val="130316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998518"/>
            <a:ext cx="8915400" cy="377762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优先级顺序，下面四组从低到高，同级的左结合运算：  </a:t>
            </a:r>
            <a:r>
              <a:rPr lang="en-US" altLang="zh-CN" dirty="0">
                <a:latin typeface="Times New Roman" panose="02020603050405020304" pitchFamily="18" charset="0"/>
              </a:rPr>
              <a:t>3-4**2+10%5+8*6//7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-  </a:t>
            </a:r>
            <a:r>
              <a:rPr lang="zh-CN" altLang="en-US" dirty="0">
                <a:latin typeface="Times New Roman" panose="02020603050405020304" pitchFamily="18" charset="0"/>
              </a:rPr>
              <a:t> 加减最低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//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%</a:t>
            </a: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一元的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-  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**   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幂最高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通过小括号改变运算顺序 ，可嵌套，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注意：中括号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[ ]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和大括号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{}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不用于数学计算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上述运算符支持两个不同的数字类型的对象之间的运算，即混合运算，比如浮点数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</a:rPr>
              <a:t>整数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如果其中包含</a:t>
            </a:r>
            <a:r>
              <a:rPr lang="en-US" altLang="zh-CN" dirty="0">
                <a:latin typeface="Times New Roman" panose="02020603050405020304" pitchFamily="18" charset="0"/>
              </a:rPr>
              <a:t>complex</a:t>
            </a:r>
            <a:r>
              <a:rPr lang="zh-CN" altLang="en-US" dirty="0">
                <a:latin typeface="Times New Roman" panose="02020603050405020304" pitchFamily="18" charset="0"/>
              </a:rPr>
              <a:t>对象，则其他数字类型转换为</a:t>
            </a:r>
            <a:r>
              <a:rPr lang="en-US" altLang="zh-CN" dirty="0">
                <a:latin typeface="Times New Roman" panose="02020603050405020304" pitchFamily="18" charset="0"/>
              </a:rPr>
              <a:t>complex</a:t>
            </a:r>
            <a:r>
              <a:rPr lang="zh-CN" altLang="en-US" dirty="0">
                <a:latin typeface="Times New Roman" panose="02020603050405020304" pitchFamily="18" charset="0"/>
              </a:rPr>
              <a:t>对象，结果为</a:t>
            </a:r>
            <a:r>
              <a:rPr lang="en-US" altLang="zh-CN" dirty="0">
                <a:latin typeface="Times New Roman" panose="02020603050405020304" pitchFamily="18" charset="0"/>
              </a:rPr>
              <a:t>complex</a:t>
            </a:r>
            <a:r>
              <a:rPr lang="zh-CN" altLang="en-US" dirty="0">
                <a:latin typeface="Times New Roman" panose="02020603050405020304" pitchFamily="18" charset="0"/>
              </a:rPr>
              <a:t>对象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如果其中包含</a:t>
            </a:r>
            <a:r>
              <a:rPr lang="en-US" altLang="zh-CN" dirty="0">
                <a:latin typeface="Times New Roman" panose="02020603050405020304" pitchFamily="18" charset="0"/>
              </a:rPr>
              <a:t>float</a:t>
            </a:r>
            <a:r>
              <a:rPr lang="zh-CN" altLang="en-US" dirty="0">
                <a:latin typeface="Times New Roman" panose="02020603050405020304" pitchFamily="18" charset="0"/>
              </a:rPr>
              <a:t>对象，则其他数字类型转换为</a:t>
            </a:r>
            <a:r>
              <a:rPr lang="en-US" altLang="zh-CN" dirty="0">
                <a:latin typeface="Times New Roman" panose="02020603050405020304" pitchFamily="18" charset="0"/>
              </a:rPr>
              <a:t>float</a:t>
            </a:r>
            <a:r>
              <a:rPr lang="zh-CN" altLang="en-US" dirty="0">
                <a:latin typeface="Times New Roman" panose="02020603050405020304" pitchFamily="18" charset="0"/>
              </a:rPr>
              <a:t>对象，结果为</a:t>
            </a:r>
            <a:r>
              <a:rPr lang="en-US" altLang="zh-CN" dirty="0">
                <a:latin typeface="Times New Roman" panose="02020603050405020304" pitchFamily="18" charset="0"/>
              </a:rPr>
              <a:t>float</a:t>
            </a:r>
            <a:r>
              <a:rPr lang="zh-CN" altLang="en-US" dirty="0">
                <a:latin typeface="Times New Roman" panose="02020603050405020304" pitchFamily="18" charset="0"/>
              </a:rPr>
              <a:t>对象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4" name="直线箭头连接符 10">
            <a:extLst>
              <a:ext uri="{FF2B5EF4-FFF2-40B4-BE49-F238E27FC236}">
                <a16:creationId xmlns:a16="http://schemas.microsoft.com/office/drawing/2014/main" id="{150C6776-57E2-7978-162C-5691A5B46F79}"/>
              </a:ext>
            </a:extLst>
          </p:cNvPr>
          <p:cNvCxnSpPr/>
          <p:nvPr/>
        </p:nvCxnSpPr>
        <p:spPr>
          <a:xfrm>
            <a:off x="5476998" y="2568039"/>
            <a:ext cx="0" cy="1515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32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内置数学函数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810691"/>
              </p:ext>
            </p:extLst>
          </p:nvPr>
        </p:nvGraphicFramePr>
        <p:xfrm>
          <a:off x="1919536" y="1589809"/>
          <a:ext cx="8824663" cy="5174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220">
                  <a:extLst>
                    <a:ext uri="{9D8B030D-6E8A-4147-A177-3AD203B41FA5}">
                      <a16:colId xmlns:a16="http://schemas.microsoft.com/office/drawing/2014/main" val="1844711016"/>
                    </a:ext>
                  </a:extLst>
                </a:gridCol>
                <a:gridCol w="2506946">
                  <a:extLst>
                    <a:ext uri="{9D8B030D-6E8A-4147-A177-3AD203B41FA5}">
                      <a16:colId xmlns:a16="http://schemas.microsoft.com/office/drawing/2014/main" val="2168908031"/>
                    </a:ext>
                  </a:extLst>
                </a:gridCol>
                <a:gridCol w="2165945">
                  <a:extLst>
                    <a:ext uri="{9D8B030D-6E8A-4147-A177-3AD203B41FA5}">
                      <a16:colId xmlns:a16="http://schemas.microsoft.com/office/drawing/2014/main" val="875978486"/>
                    </a:ext>
                  </a:extLst>
                </a:gridCol>
                <a:gridCol w="1831552">
                  <a:extLst>
                    <a:ext uri="{9D8B030D-6E8A-4147-A177-3AD203B41FA5}">
                      <a16:colId xmlns:a16="http://schemas.microsoft.com/office/drawing/2014/main" val="3389807113"/>
                    </a:ext>
                  </a:extLst>
                </a:gridCol>
              </a:tblGrid>
              <a:tr h="446809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函数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含义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实例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结果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5513171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abs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的绝对值。如果</a:t>
                      </a:r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为复数，则返回其模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abs(-1.2)</a:t>
                      </a:r>
                    </a:p>
                    <a:p>
                      <a:r>
                        <a:rPr lang="en-US" altLang="zh-CN" sz="1400" dirty="0" smtClean="0"/>
                        <a:t>abs(1-2j)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1.2</a:t>
                      </a:r>
                    </a:p>
                    <a:p>
                      <a:r>
                        <a:rPr lang="en-US" altLang="zh-CN" sz="1400" dirty="0" smtClean="0"/>
                        <a:t>2.23606797749979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34986685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divmod</a:t>
                      </a:r>
                      <a:r>
                        <a:rPr lang="en-US" altLang="zh-CN" sz="1400" dirty="0" smtClean="0"/>
                        <a:t>(a, b)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返回</a:t>
                      </a:r>
                      <a:r>
                        <a:rPr lang="en-US" altLang="zh-CN" sz="1400" dirty="0" smtClean="0"/>
                        <a:t>a</a:t>
                      </a:r>
                      <a:r>
                        <a:rPr lang="zh-CN" altLang="en-US" sz="1400" dirty="0" smtClean="0"/>
                        <a:t>除以</a:t>
                      </a:r>
                      <a:r>
                        <a:rPr lang="en-US" altLang="zh-CN" sz="1400" dirty="0" smtClean="0"/>
                        <a:t>b</a:t>
                      </a:r>
                      <a:r>
                        <a:rPr lang="zh-CN" altLang="en-US" sz="1400" dirty="0" smtClean="0"/>
                        <a:t>的商和余数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divmod</a:t>
                      </a:r>
                      <a:r>
                        <a:rPr lang="en-US" altLang="zh-CN" sz="1400" dirty="0" smtClean="0"/>
                        <a:t>(5,3)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(1,2)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97056378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pow</a:t>
                      </a:r>
                      <a:r>
                        <a:rPr lang="en-US" altLang="zh-CN" sz="1400" dirty="0" smtClean="0"/>
                        <a:t>(x,y [,z])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返回</a:t>
                      </a:r>
                      <a:r>
                        <a:rPr lang="en-US" altLang="zh-CN" sz="1400" dirty="0" smtClean="0"/>
                        <a:t>x**y</a:t>
                      </a:r>
                      <a:r>
                        <a:rPr lang="zh-CN" altLang="en-US" sz="1400" dirty="0" smtClean="0"/>
                        <a:t>。如果</a:t>
                      </a:r>
                      <a:r>
                        <a:rPr lang="en-US" altLang="zh-CN" sz="1400" dirty="0" smtClean="0"/>
                        <a:t>z</a:t>
                      </a:r>
                      <a:r>
                        <a:rPr lang="zh-CN" altLang="en-US" sz="1400" dirty="0" smtClean="0"/>
                        <a:t>有，则为</a:t>
                      </a:r>
                      <a:r>
                        <a:rPr lang="en-US" altLang="zh-CN" sz="1400" dirty="0" smtClean="0"/>
                        <a:t>pow(</a:t>
                      </a:r>
                      <a:r>
                        <a:rPr lang="en-US" altLang="zh-CN" sz="1400" dirty="0" err="1" smtClean="0"/>
                        <a:t>x,y</a:t>
                      </a:r>
                      <a:r>
                        <a:rPr lang="en-US" altLang="zh-CN" sz="1400" dirty="0" smtClean="0"/>
                        <a:t>)%z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pow(2,10)</a:t>
                      </a:r>
                    </a:p>
                    <a:p>
                      <a:r>
                        <a:rPr lang="en-US" altLang="zh-CN" sz="1400" dirty="0" smtClean="0"/>
                        <a:t>pow(2,10,10)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1024</a:t>
                      </a:r>
                    </a:p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58384371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round</a:t>
                      </a:r>
                      <a:r>
                        <a:rPr lang="en-US" altLang="zh-CN" sz="1400" dirty="0" smtClean="0"/>
                        <a:t>(number [,ndigits])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四舍五入取整，如果</a:t>
                      </a:r>
                      <a:r>
                        <a:rPr lang="en-US" altLang="zh-CN" sz="1400" dirty="0" err="1" smtClean="0"/>
                        <a:t>ndigits</a:t>
                      </a:r>
                      <a:r>
                        <a:rPr lang="zh-CN" altLang="en-US" sz="1400" dirty="0" smtClean="0"/>
                        <a:t>则保留</a:t>
                      </a:r>
                      <a:r>
                        <a:rPr lang="en-US" altLang="zh-CN" sz="1400" dirty="0" err="1" smtClean="0"/>
                        <a:t>ndigits</a:t>
                      </a:r>
                      <a:r>
                        <a:rPr lang="zh-CN" altLang="en-US" sz="1400" dirty="0" smtClean="0"/>
                        <a:t>小数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round(3.14159)</a:t>
                      </a:r>
                    </a:p>
                    <a:p>
                      <a:r>
                        <a:rPr lang="en-US" altLang="zh-CN" sz="1400" dirty="0" smtClean="0"/>
                        <a:t>round(3.14159,  4)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</a:p>
                    <a:p>
                      <a:r>
                        <a:rPr lang="en-US" altLang="zh-CN" sz="1400" dirty="0" smtClean="0"/>
                        <a:t>3.1416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3284791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max</a:t>
                      </a:r>
                      <a:r>
                        <a:rPr lang="en-US" altLang="zh-CN" sz="1400" dirty="0" smtClean="0"/>
                        <a:t>(arg1,arg2, *args)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取最大值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max(1,7,3,15,14)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max( [1,7,3,15,14] 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669744617"/>
                  </a:ext>
                </a:extLst>
              </a:tr>
              <a:tr h="66355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min</a:t>
                      </a:r>
                      <a:r>
                        <a:rPr lang="en-US" altLang="zh-CN" sz="1400" dirty="0" smtClean="0"/>
                        <a:t>(arg1,arg2, *args)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取最小值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min(1,7,3,15,14)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min( [1,7,3,15,14] 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15733780"/>
                  </a:ext>
                </a:extLst>
              </a:tr>
              <a:tr h="746466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sum</a:t>
                      </a:r>
                      <a:r>
                        <a:rPr lang="en-US" altLang="zh-CN" sz="1400" dirty="0" smtClean="0"/>
                        <a:t>(iterable [,start])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求和，</a:t>
                      </a:r>
                      <a:r>
                        <a:rPr lang="en-US" altLang="zh-CN" sz="1400" dirty="0" smtClean="0"/>
                        <a:t>start</a:t>
                      </a:r>
                      <a:r>
                        <a:rPr lang="zh-CN" altLang="en-US" sz="1400" dirty="0" smtClean="0"/>
                        <a:t>如果有表示加上</a:t>
                      </a:r>
                      <a:r>
                        <a:rPr lang="en-US" altLang="zh-CN" sz="1400" dirty="0" smtClean="0"/>
                        <a:t>start</a:t>
                      </a:r>
                      <a:endParaRPr lang="zh-CN" altLang="en-US" sz="1400" dirty="0" smtClean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sum( [1,2,3]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sum( [1,2,3], 44)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 smtClean="0">
                          <a:solidFill>
                            <a:srgbClr val="FF0000"/>
                          </a:solidFill>
                        </a:rPr>
                        <a:t>此处不能写成</a:t>
                      </a:r>
                      <a:r>
                        <a:rPr lang="en-US" altLang="zh-CN" sz="1400" b="0" dirty="0" smtClean="0">
                          <a:solidFill>
                            <a:srgbClr val="FF0000"/>
                          </a:solidFill>
                        </a:rPr>
                        <a:t>sum(1,2,3)</a:t>
                      </a:r>
                      <a:endParaRPr lang="zh-CN" altLang="en-US" sz="1400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</a:p>
                    <a:p>
                      <a:r>
                        <a:rPr lang="en-US" altLang="zh-CN" sz="1400" dirty="0" smtClean="0"/>
                        <a:t>50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6174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57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math</a:t>
            </a:r>
            <a:r>
              <a:rPr lang="zh-CN" altLang="en-US" dirty="0" smtClean="0"/>
              <a:t>模块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1500" b="1" dirty="0">
                    <a:solidFill>
                      <a:srgbClr val="FF0000"/>
                    </a:solidFill>
                  </a:rPr>
                  <a:t>import math  </a:t>
                </a:r>
                <a:r>
                  <a:rPr lang="zh-CN" altLang="en-US" sz="1500" dirty="0"/>
                  <a:t>或者   </a:t>
                </a:r>
                <a:r>
                  <a:rPr lang="en-US" altLang="zh-CN" sz="1500" b="1" dirty="0">
                    <a:solidFill>
                      <a:srgbClr val="0000FF"/>
                    </a:solidFill>
                  </a:rPr>
                  <a:t>from math import * </a:t>
                </a:r>
              </a:p>
              <a:p>
                <a:r>
                  <a:rPr lang="en-US" altLang="zh-CN" sz="1500" dirty="0"/>
                  <a:t>math.pi: </a:t>
                </a:r>
                <a:r>
                  <a:rPr lang="zh-CN" altLang="en-US" sz="1500" dirty="0"/>
                  <a:t>表示数学常量</a:t>
                </a:r>
                <a14:m>
                  <m:oMath xmlns:m="http://schemas.openxmlformats.org/officeDocument/2006/math"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1500" dirty="0"/>
                  <a:t>      </a:t>
                </a:r>
                <a:r>
                  <a:rPr lang="en-US" altLang="zh-CN" sz="1500" dirty="0"/>
                  <a:t>math.pi  = 3.141592653589793</a:t>
                </a:r>
              </a:p>
              <a:p>
                <a:r>
                  <a:rPr lang="en-US" altLang="zh-CN" sz="1500" dirty="0"/>
                  <a:t>math.e:  </a:t>
                </a:r>
                <a:r>
                  <a:rPr lang="zh-CN" altLang="en-US" sz="1500" dirty="0"/>
                  <a:t>表示数学常量</a:t>
                </a:r>
                <a:r>
                  <a:rPr lang="en-US" altLang="zh-CN" sz="1500" dirty="0"/>
                  <a:t>e      math.e = 2.718281828459045</a:t>
                </a:r>
              </a:p>
              <a:p>
                <a:endParaRPr lang="zh-CN" altLang="en-US" sz="15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33278"/>
              </p:ext>
            </p:extLst>
          </p:nvPr>
        </p:nvGraphicFramePr>
        <p:xfrm>
          <a:off x="1981200" y="2895227"/>
          <a:ext cx="9105899" cy="378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903">
                  <a:extLst>
                    <a:ext uri="{9D8B030D-6E8A-4147-A177-3AD203B41FA5}">
                      <a16:colId xmlns:a16="http://schemas.microsoft.com/office/drawing/2014/main" val="1864179750"/>
                    </a:ext>
                  </a:extLst>
                </a:gridCol>
                <a:gridCol w="2773176">
                  <a:extLst>
                    <a:ext uri="{9D8B030D-6E8A-4147-A177-3AD203B41FA5}">
                      <a16:colId xmlns:a16="http://schemas.microsoft.com/office/drawing/2014/main" val="2406703817"/>
                    </a:ext>
                  </a:extLst>
                </a:gridCol>
                <a:gridCol w="2516957">
                  <a:extLst>
                    <a:ext uri="{9D8B030D-6E8A-4147-A177-3AD203B41FA5}">
                      <a16:colId xmlns:a16="http://schemas.microsoft.com/office/drawing/2014/main" val="2180703463"/>
                    </a:ext>
                  </a:extLst>
                </a:gridCol>
                <a:gridCol w="2338863">
                  <a:extLst>
                    <a:ext uri="{9D8B030D-6E8A-4147-A177-3AD203B41FA5}">
                      <a16:colId xmlns:a16="http://schemas.microsoft.com/office/drawing/2014/main" val="1229795425"/>
                    </a:ext>
                  </a:extLst>
                </a:gridCol>
              </a:tblGrid>
              <a:tr h="38805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函数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含义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实例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结果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314960412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x-none" altLang="zh-CN" sz="1400" b="1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fabs</a:t>
                      </a:r>
                      <a:r>
                        <a:rPr lang="x-none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绝对值，返回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fabs</a:t>
                      </a:r>
                      <a:r>
                        <a:rPr lang="en-US" altLang="zh-CN" sz="1400" dirty="0" smtClean="0"/>
                        <a:t>(-3)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3.0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44210336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ceil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大于等于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的最小的整数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ceil(1.2), ceil(-1.6)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2, -1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795245386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kern="1200" dirty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floor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小于等于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zh-CN" altLang="zh-C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的最大的整数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floor(1.8), floor(-2.1)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1, -3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156457943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trunc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截取为最接近</a:t>
                      </a:r>
                      <a:r>
                        <a:rPr lang="en-US" altLang="zh-CN" sz="1400" dirty="0" smtClean="0"/>
                        <a:t>0</a:t>
                      </a:r>
                      <a:r>
                        <a:rPr lang="zh-CN" altLang="en-US" sz="1400" dirty="0" smtClean="0"/>
                        <a:t>的整数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trunc(1.2), trunc(-2.8)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1, -2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46818468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factorial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整数</a:t>
                      </a:r>
                      <a:r>
                        <a:rPr lang="en-US" altLang="zh-CN" sz="1400" dirty="0" smtClean="0"/>
                        <a:t>x(&gt;=0)</a:t>
                      </a:r>
                      <a:r>
                        <a:rPr lang="zh-CN" altLang="en-US" sz="1400" dirty="0" smtClean="0"/>
                        <a:t>的阶乘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factorial(5)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3696255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sqrt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x(&gt;=0)</a:t>
                      </a:r>
                      <a:r>
                        <a:rPr lang="zh-CN" altLang="en-US" sz="1400" dirty="0" smtClean="0"/>
                        <a:t>的平方根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sqrt</a:t>
                      </a:r>
                      <a:r>
                        <a:rPr lang="en-US" altLang="zh-CN" sz="1400" dirty="0" smtClean="0"/>
                        <a:t>(2)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1.4142135623730951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971631161"/>
                  </a:ext>
                </a:extLst>
              </a:tr>
              <a:tr h="388052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exp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e**x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exp</a:t>
                      </a:r>
                      <a:r>
                        <a:rPr lang="en-US" altLang="zh-CN" sz="1400" dirty="0" smtClean="0"/>
                        <a:t>(5)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148.4131591025766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83373415"/>
                  </a:ext>
                </a:extLst>
              </a:tr>
              <a:tr h="681712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log</a:t>
                      </a:r>
                      <a:r>
                        <a:rPr lang="en-US" altLang="zh-CN" sz="1400" dirty="0" smtClean="0"/>
                        <a:t>(x [,base])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以</a:t>
                      </a:r>
                      <a:r>
                        <a:rPr lang="en-US" altLang="zh-CN" sz="1400" dirty="0" smtClean="0"/>
                        <a:t>base</a:t>
                      </a:r>
                      <a:r>
                        <a:rPr lang="zh-CN" altLang="en-US" sz="1400" dirty="0" smtClean="0"/>
                        <a:t>为底的对数，</a:t>
                      </a:r>
                      <a:r>
                        <a:rPr lang="en-US" altLang="zh-CN" sz="1400" dirty="0" smtClean="0"/>
                        <a:t>base</a:t>
                      </a:r>
                      <a:r>
                        <a:rPr lang="zh-CN" altLang="en-US" sz="1400" dirty="0" smtClean="0"/>
                        <a:t>没有则为以</a:t>
                      </a:r>
                      <a:r>
                        <a:rPr lang="en-US" altLang="zh-CN" sz="1400" dirty="0" smtClean="0"/>
                        <a:t>e</a:t>
                      </a:r>
                      <a:r>
                        <a:rPr lang="zh-CN" altLang="en-US" sz="1400" dirty="0" smtClean="0"/>
                        <a:t>为底的自然对数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log(</a:t>
                      </a:r>
                      <a:r>
                        <a:rPr lang="en-US" altLang="zh-CN" sz="1400" dirty="0" err="1" smtClean="0"/>
                        <a:t>math.e</a:t>
                      </a:r>
                      <a:r>
                        <a:rPr lang="en-US" altLang="zh-CN" sz="1400" dirty="0" smtClean="0"/>
                        <a:t>**2), log(4,2)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2.0, 2.0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4206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math</a:t>
            </a:r>
            <a:r>
              <a:rPr lang="zh-CN" altLang="en-US" dirty="0" smtClean="0"/>
              <a:t>模块</a:t>
            </a:r>
            <a:r>
              <a:rPr lang="en-US" altLang="zh-CN" dirty="0" smtClean="0"/>
              <a:t>:</a:t>
            </a:r>
            <a:r>
              <a:rPr lang="zh-CN" altLang="en-US" dirty="0" smtClean="0"/>
              <a:t>三角函数和角度转换 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585607"/>
              </p:ext>
            </p:extLst>
          </p:nvPr>
        </p:nvGraphicFramePr>
        <p:xfrm>
          <a:off x="1981200" y="2132857"/>
          <a:ext cx="9064336" cy="428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928">
                  <a:extLst>
                    <a:ext uri="{9D8B030D-6E8A-4147-A177-3AD203B41FA5}">
                      <a16:colId xmlns:a16="http://schemas.microsoft.com/office/drawing/2014/main" val="1699632889"/>
                    </a:ext>
                  </a:extLst>
                </a:gridCol>
                <a:gridCol w="2957240">
                  <a:extLst>
                    <a:ext uri="{9D8B030D-6E8A-4147-A177-3AD203B41FA5}">
                      <a16:colId xmlns:a16="http://schemas.microsoft.com/office/drawing/2014/main" val="3629315182"/>
                    </a:ext>
                  </a:extLst>
                </a:gridCol>
                <a:gridCol w="2348889">
                  <a:extLst>
                    <a:ext uri="{9D8B030D-6E8A-4147-A177-3AD203B41FA5}">
                      <a16:colId xmlns:a16="http://schemas.microsoft.com/office/drawing/2014/main" val="2152504605"/>
                    </a:ext>
                  </a:extLst>
                </a:gridCol>
                <a:gridCol w="2183279">
                  <a:extLst>
                    <a:ext uri="{9D8B030D-6E8A-4147-A177-3AD203B41FA5}">
                      <a16:colId xmlns:a16="http://schemas.microsoft.com/office/drawing/2014/main" val="1465298960"/>
                    </a:ext>
                  </a:extLst>
                </a:gridCol>
              </a:tblGrid>
              <a:tr h="35659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函数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含义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实例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结果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680682865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sin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的正弦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sin(pi/2)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3054717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cos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的余弦</a:t>
                      </a:r>
                      <a:r>
                        <a:rPr lang="zh-CN" altLang="en-US" sz="1400" baseline="0" dirty="0" smtClean="0"/>
                        <a:t>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cos(2*pi)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704699307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tan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的正切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tan(pi/4)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0.9999999999999999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6259290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asin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的反正弦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asin</a:t>
                      </a:r>
                      <a:r>
                        <a:rPr lang="en-US" altLang="zh-CN" sz="1400" dirty="0" smtClean="0"/>
                        <a:t>(1)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1.5707963267948966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29679968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acos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的反余弦</a:t>
                      </a:r>
                      <a:r>
                        <a:rPr lang="zh-CN" altLang="en-US" sz="1400" baseline="0" dirty="0" smtClean="0"/>
                        <a:t>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acos</a:t>
                      </a:r>
                      <a:r>
                        <a:rPr lang="en-US" altLang="zh-CN" sz="1400" dirty="0" smtClean="0"/>
                        <a:t>(1)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0.0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3737132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err="1" smtClean="0">
                          <a:solidFill>
                            <a:srgbClr val="0000FF"/>
                          </a:solidFill>
                        </a:rPr>
                        <a:t>atan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的反正切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atan</a:t>
                      </a:r>
                      <a:r>
                        <a:rPr lang="en-US" altLang="zh-CN" sz="1400" dirty="0" smtClean="0"/>
                        <a:t>(1)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0.7853981633974483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52858599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degrees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从弧度转换为角度</a:t>
                      </a:r>
                      <a:r>
                        <a:rPr lang="zh-CN" altLang="en-US" sz="1400" baseline="0" dirty="0" smtClean="0"/>
                        <a:t>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degrees(pi)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180.0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03666435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0000FF"/>
                          </a:solidFill>
                        </a:rPr>
                        <a:t>radians</a:t>
                      </a:r>
                      <a:r>
                        <a:rPr lang="en-US" altLang="zh-CN" sz="1400" dirty="0" smtClean="0"/>
                        <a:t>(x)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x</a:t>
                      </a:r>
                      <a:r>
                        <a:rPr lang="zh-CN" altLang="en-US" sz="1400" dirty="0" smtClean="0"/>
                        <a:t>从角度转换为弧度 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radians(90)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1.5707963267948966</a:t>
                      </a:r>
                      <a:endParaRPr lang="zh-CN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279917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41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</a:t>
            </a:r>
            <a:r>
              <a:rPr lang="zh-CN" altLang="en-US" dirty="0" smtClean="0"/>
              <a:t>意运算结果的数据类型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1" y="2133599"/>
            <a:ext cx="4855297" cy="4262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018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EA1E74-0587-442C-BC7D-6C7490CE6750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400"/>
          </a:p>
        </p:txBody>
      </p:sp>
      <p:sp>
        <p:nvSpPr>
          <p:cNvPr id="10752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课堂练习</a:t>
            </a:r>
          </a:p>
        </p:txBody>
      </p:sp>
      <p:sp>
        <p:nvSpPr>
          <p:cNvPr id="107524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试用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语言表达式描述以下数学计算式</a:t>
            </a:r>
          </a:p>
          <a:p>
            <a:pPr eaLnBrk="1" hangingPunct="1"/>
            <a:endParaRPr lang="en-US" altLang="zh-CN" dirty="0" smtClean="0"/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7526" name="Rectangle 7"/>
          <p:cNvSpPr>
            <a:spLocks noChangeArrowheads="1"/>
          </p:cNvSpPr>
          <p:nvPr/>
        </p:nvSpPr>
        <p:spPr bwMode="auto">
          <a:xfrm>
            <a:off x="1524001" y="28552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3955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1CC2E5-4686-4D99-B149-19937CDB9956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400"/>
          </a:p>
        </p:txBody>
      </p:sp>
      <p:graphicFrame>
        <p:nvGraphicFramePr>
          <p:cNvPr id="10854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935414" y="333376"/>
          <a:ext cx="40147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公式" r:id="rId3" imgW="825500" imgH="203200" progId="Equation.3">
                  <p:embed/>
                </p:oleObj>
              </mc:Choice>
              <mc:Fallback>
                <p:oleObj name="公式" r:id="rId3" imgW="825500" imgH="203200" progId="Equation.3">
                  <p:embed/>
                  <p:pic>
                    <p:nvPicPr>
                      <p:cNvPr id="1085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333376"/>
                        <a:ext cx="40147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1628800"/>
            <a:ext cx="8288921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063552" y="3212976"/>
            <a:ext cx="8061814" cy="108012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6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1CC2E5-4686-4D99-B149-19937CDB9956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400"/>
          </a:p>
        </p:txBody>
      </p:sp>
      <p:graphicFrame>
        <p:nvGraphicFramePr>
          <p:cNvPr id="10854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935414" y="333376"/>
          <a:ext cx="40147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公式" r:id="rId3" imgW="825500" imgH="203200" progId="Equation.3">
                  <p:embed/>
                </p:oleObj>
              </mc:Choice>
              <mc:Fallback>
                <p:oleObj name="公式" r:id="rId3" imgW="825500" imgH="203200" progId="Equation.3">
                  <p:embed/>
                  <p:pic>
                    <p:nvPicPr>
                      <p:cNvPr id="10854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333376"/>
                        <a:ext cx="40147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340768"/>
            <a:ext cx="8361158" cy="3456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919536" y="2492896"/>
            <a:ext cx="8061814" cy="108012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619" y="4887494"/>
            <a:ext cx="8358076" cy="548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618" y="5539165"/>
            <a:ext cx="8358076" cy="509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6162184"/>
            <a:ext cx="7128792" cy="494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37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795E8D-E605-4B1E-B78E-6B16049DD964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400"/>
          </a:p>
        </p:txBody>
      </p:sp>
      <p:graphicFrame>
        <p:nvGraphicFramePr>
          <p:cNvPr id="109571" name="Object 4"/>
          <p:cNvGraphicFramePr>
            <a:graphicFrameLocks noGrp="1" noChangeAspect="1"/>
          </p:cNvGraphicFramePr>
          <p:nvPr>
            <p:ph/>
            <p:extLst/>
          </p:nvPr>
        </p:nvGraphicFramePr>
        <p:xfrm>
          <a:off x="3925888" y="455614"/>
          <a:ext cx="3516312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公式" r:id="rId3" imgW="1523880" imgH="672840" progId="Equation.3">
                  <p:embed/>
                </p:oleObj>
              </mc:Choice>
              <mc:Fallback>
                <p:oleObj name="公式" r:id="rId3" imgW="1523880" imgH="672840" progId="Equation.3">
                  <p:embed/>
                  <p:pic>
                    <p:nvPicPr>
                      <p:cNvPr id="1095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88" y="455614"/>
                        <a:ext cx="3516312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548" y="2420888"/>
            <a:ext cx="4691598" cy="316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2420889"/>
            <a:ext cx="4176464" cy="3174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33230" y="5805265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算术平均？几何平均？</a:t>
            </a:r>
          </a:p>
        </p:txBody>
      </p:sp>
      <p:sp>
        <p:nvSpPr>
          <p:cNvPr id="7" name="矩形 6"/>
          <p:cNvSpPr/>
          <p:nvPr/>
        </p:nvSpPr>
        <p:spPr>
          <a:xfrm>
            <a:off x="2639616" y="3717032"/>
            <a:ext cx="3456384" cy="93610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08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AF6C2F-969E-4585-B3C1-0ED9B31AC9F4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400"/>
          </a:p>
        </p:txBody>
      </p:sp>
      <p:graphicFrame>
        <p:nvGraphicFramePr>
          <p:cNvPr id="110595" name="Object 4"/>
          <p:cNvGraphicFramePr>
            <a:graphicFrameLocks noChangeAspect="1"/>
          </p:cNvGraphicFramePr>
          <p:nvPr/>
        </p:nvGraphicFramePr>
        <p:xfrm>
          <a:off x="3863975" y="188914"/>
          <a:ext cx="41036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公式" r:id="rId3" imgW="926698" imgH="203112" progId="Equation.3">
                  <p:embed/>
                </p:oleObj>
              </mc:Choice>
              <mc:Fallback>
                <p:oleObj name="公式" r:id="rId3" imgW="926698" imgH="203112" progId="Equation.3">
                  <p:embed/>
                  <p:pic>
                    <p:nvPicPr>
                      <p:cNvPr id="1105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188914"/>
                        <a:ext cx="41036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Text Box 9"/>
          <p:cNvSpPr txBox="1">
            <a:spLocks noChangeArrowheads="1"/>
          </p:cNvSpPr>
          <p:nvPr/>
        </p:nvSpPr>
        <p:spPr bwMode="auto">
          <a:xfrm>
            <a:off x="3014663" y="51450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或</a:t>
            </a:r>
          </a:p>
        </p:txBody>
      </p:sp>
      <p:sp>
        <p:nvSpPr>
          <p:cNvPr id="110599" name="Rectangle 11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920" y="3860471"/>
            <a:ext cx="4752528" cy="2865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1" y="1196753"/>
            <a:ext cx="4437087" cy="23482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639616" y="1902841"/>
            <a:ext cx="3456384" cy="93610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B395C6-6B61-46A3-A802-362F34E16F34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400"/>
          </a:p>
        </p:txBody>
      </p:sp>
      <p:sp>
        <p:nvSpPr>
          <p:cNvPr id="111619" name="Rectangle 5"/>
          <p:cNvSpPr>
            <a:spLocks noChangeArrowheads="1"/>
          </p:cNvSpPr>
          <p:nvPr/>
        </p:nvSpPr>
        <p:spPr bwMode="auto">
          <a:xfrm>
            <a:off x="1524001" y="3037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11620" name="Object 4"/>
          <p:cNvGraphicFramePr>
            <a:graphicFrameLocks noChangeAspect="1"/>
          </p:cNvGraphicFramePr>
          <p:nvPr>
            <p:extLst/>
          </p:nvPr>
        </p:nvGraphicFramePr>
        <p:xfrm>
          <a:off x="4079875" y="116632"/>
          <a:ext cx="37084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4" name="公式" r:id="rId3" imgW="850531" imgH="317362" progId="Equation.3">
                  <p:embed/>
                </p:oleObj>
              </mc:Choice>
              <mc:Fallback>
                <p:oleObj name="公式" r:id="rId3" imgW="850531" imgH="317362" progId="Equation.3">
                  <p:embed/>
                  <p:pic>
                    <p:nvPicPr>
                      <p:cNvPr id="1116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116632"/>
                        <a:ext cx="3708400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1" name="Rectangle 7"/>
          <p:cNvSpPr>
            <a:spLocks noChangeArrowheads="1"/>
          </p:cNvSpPr>
          <p:nvPr/>
        </p:nvSpPr>
        <p:spPr bwMode="auto">
          <a:xfrm>
            <a:off x="1524001" y="30949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226310" name="Object 6"/>
          <p:cNvGraphicFramePr>
            <a:graphicFrameLocks noChangeAspect="1"/>
          </p:cNvGraphicFramePr>
          <p:nvPr>
            <p:extLst/>
          </p:nvPr>
        </p:nvGraphicFramePr>
        <p:xfrm>
          <a:off x="6672263" y="1484784"/>
          <a:ext cx="374491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5" name="公式" r:id="rId5" imgW="1358310" imgH="203112" progId="Equation.3">
                  <p:embed/>
                </p:oleObj>
              </mc:Choice>
              <mc:Fallback>
                <p:oleObj name="公式" r:id="rId5" imgW="1358310" imgH="203112" progId="Equation.3">
                  <p:embed/>
                  <p:pic>
                    <p:nvPicPr>
                      <p:cNvPr id="2263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1484784"/>
                        <a:ext cx="374491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582" y="2132856"/>
            <a:ext cx="7524836" cy="4281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582" y="4762722"/>
            <a:ext cx="6714746" cy="668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3359696" y="4684651"/>
            <a:ext cx="5832648" cy="97659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65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B395C6-6B61-46A3-A802-362F34E16F34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400"/>
          </a:p>
        </p:txBody>
      </p:sp>
      <p:sp>
        <p:nvSpPr>
          <p:cNvPr id="111619" name="Rectangle 5"/>
          <p:cNvSpPr>
            <a:spLocks noChangeArrowheads="1"/>
          </p:cNvSpPr>
          <p:nvPr/>
        </p:nvSpPr>
        <p:spPr bwMode="auto">
          <a:xfrm>
            <a:off x="1524001" y="3037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11620" name="Object 4"/>
          <p:cNvGraphicFramePr>
            <a:graphicFrameLocks noChangeAspect="1"/>
          </p:cNvGraphicFramePr>
          <p:nvPr>
            <p:extLst/>
          </p:nvPr>
        </p:nvGraphicFramePr>
        <p:xfrm>
          <a:off x="4079875" y="116632"/>
          <a:ext cx="37084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8" name="公式" r:id="rId3" imgW="850531" imgH="317362" progId="Equation.3">
                  <p:embed/>
                </p:oleObj>
              </mc:Choice>
              <mc:Fallback>
                <p:oleObj name="公式" r:id="rId3" imgW="850531" imgH="317362" progId="Equation.3">
                  <p:embed/>
                  <p:pic>
                    <p:nvPicPr>
                      <p:cNvPr id="1116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116632"/>
                        <a:ext cx="3708400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1" name="Rectangle 7"/>
          <p:cNvSpPr>
            <a:spLocks noChangeArrowheads="1"/>
          </p:cNvSpPr>
          <p:nvPr/>
        </p:nvSpPr>
        <p:spPr bwMode="auto">
          <a:xfrm>
            <a:off x="1524001" y="30949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226310" name="Object 6"/>
          <p:cNvGraphicFramePr>
            <a:graphicFrameLocks noChangeAspect="1"/>
          </p:cNvGraphicFramePr>
          <p:nvPr>
            <p:extLst/>
          </p:nvPr>
        </p:nvGraphicFramePr>
        <p:xfrm>
          <a:off x="6672263" y="1484784"/>
          <a:ext cx="374491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" name="公式" r:id="rId5" imgW="1358310" imgH="203112" progId="Equation.3">
                  <p:embed/>
                </p:oleObj>
              </mc:Choice>
              <mc:Fallback>
                <p:oleObj name="公式" r:id="rId5" imgW="1358310" imgH="203112" progId="Equation.3">
                  <p:embed/>
                  <p:pic>
                    <p:nvPicPr>
                      <p:cNvPr id="2263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1484784"/>
                        <a:ext cx="374491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2069710"/>
            <a:ext cx="6768752" cy="4597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503712" y="2615536"/>
            <a:ext cx="4896544" cy="1029489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18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3C0869-3BD2-4FB9-9A3B-F872A93A36FF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400"/>
          </a:p>
        </p:txBody>
      </p:sp>
      <p:sp>
        <p:nvSpPr>
          <p:cNvPr id="112643" name="Rectangle 5"/>
          <p:cNvSpPr>
            <a:spLocks noChangeArrowheads="1"/>
          </p:cNvSpPr>
          <p:nvPr/>
        </p:nvSpPr>
        <p:spPr bwMode="auto">
          <a:xfrm>
            <a:off x="1524001" y="28981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4079876" y="-1588"/>
          <a:ext cx="3960813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6" name="公式" r:id="rId3" imgW="901309" imgH="317362" progId="Equation.3">
                  <p:embed/>
                </p:oleObj>
              </mc:Choice>
              <mc:Fallback>
                <p:oleObj name="公式" r:id="rId3" imgW="901309" imgH="317362" progId="Equation.3">
                  <p:embed/>
                  <p:pic>
                    <p:nvPicPr>
                      <p:cNvPr id="1126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-1588"/>
                        <a:ext cx="3960813" cy="141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130" y="1950393"/>
            <a:ext cx="8750154" cy="27747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495600" y="3388235"/>
            <a:ext cx="7848872" cy="55649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57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布尔值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True  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  False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6046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布尔值参加算术运算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1"/>
            <a:ext cx="3633437" cy="3777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云形标注 4"/>
          <p:cNvSpPr/>
          <p:nvPr/>
        </p:nvSpPr>
        <p:spPr>
          <a:xfrm>
            <a:off x="7737154" y="1264555"/>
            <a:ext cx="2543897" cy="1935444"/>
          </a:xfrm>
          <a:prstGeom prst="cloudCallout">
            <a:avLst>
              <a:gd name="adj1" fmla="val -90387"/>
              <a:gd name="adj2" fmla="val 61594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400" dirty="0" smtClean="0">
                <a:solidFill>
                  <a:schemeClr val="tx1"/>
                </a:solidFill>
              </a:rPr>
              <a:t>True   </a:t>
            </a:r>
            <a:r>
              <a:rPr lang="en-US" altLang="zh-CN" sz="24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1</a:t>
            </a:r>
          </a:p>
          <a:p>
            <a:pPr algn="just"/>
            <a:r>
              <a:rPr lang="en-US" altLang="zh-CN" sz="2400" dirty="0" smtClean="0">
                <a:solidFill>
                  <a:schemeClr val="tx1"/>
                </a:solidFill>
                <a:sym typeface="Wingdings" panose="05000000000000000000" pitchFamily="2" charset="2"/>
              </a:rPr>
              <a:t>False   0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2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逻辑值与数值相互转换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—— bool()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int()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float()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55271"/>
          <a:stretch/>
        </p:blipFill>
        <p:spPr>
          <a:xfrm>
            <a:off x="2589212" y="2407393"/>
            <a:ext cx="3495353" cy="32300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44499" b="1"/>
          <a:stretch/>
        </p:blipFill>
        <p:spPr>
          <a:xfrm>
            <a:off x="7499370" y="2072772"/>
            <a:ext cx="3400694" cy="3899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648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257800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nd </a:t>
            </a:r>
            <a:r>
              <a:rPr lang="en-US" altLang="zh-CN" sz="2400" dirty="0" smtClean="0"/>
              <a:t> (</a:t>
            </a:r>
            <a:r>
              <a:rPr lang="zh-CN" altLang="en-US" sz="2400" dirty="0" smtClean="0"/>
              <a:t>并且</a:t>
            </a:r>
            <a:r>
              <a:rPr lang="en-US" altLang="zh-CN" sz="2400" dirty="0" smtClean="0"/>
              <a:t>)</a:t>
            </a:r>
          </a:p>
          <a:p>
            <a:pPr lvl="1"/>
            <a:r>
              <a:rPr lang="zh-CN" altLang="en-US" sz="2000" b="1" dirty="0" smtClean="0"/>
              <a:t>表达式</a:t>
            </a:r>
            <a:r>
              <a:rPr lang="en-US" altLang="zh-CN" sz="2000" b="1" dirty="0" smtClean="0"/>
              <a:t>1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and</a:t>
            </a:r>
            <a:r>
              <a:rPr lang="en-US" altLang="zh-CN" sz="2000" b="1" dirty="0" smtClean="0"/>
              <a:t>  </a:t>
            </a:r>
            <a:r>
              <a:rPr lang="zh-CN" altLang="en-US" sz="2000" b="1" dirty="0" smtClean="0"/>
              <a:t>表达式</a:t>
            </a:r>
            <a:r>
              <a:rPr lang="en-US" altLang="zh-CN" sz="2000" b="1" dirty="0" smtClean="0"/>
              <a:t>2</a:t>
            </a:r>
          </a:p>
          <a:p>
            <a:pPr lvl="1"/>
            <a:r>
              <a:rPr lang="zh-CN" altLang="en-US" sz="2000" dirty="0" smtClean="0"/>
              <a:t>只要有一个表达式为</a:t>
            </a:r>
            <a:r>
              <a:rPr lang="en-US" altLang="zh-CN" sz="2000" dirty="0" smtClean="0"/>
              <a:t>False</a:t>
            </a:r>
            <a:r>
              <a:rPr lang="zh-CN" altLang="en-US" sz="2000" dirty="0" smtClean="0"/>
              <a:t>，结果</a:t>
            </a:r>
            <a:r>
              <a:rPr lang="zh-CN" altLang="en-US" sz="2000" dirty="0"/>
              <a:t>就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False</a:t>
            </a:r>
          </a:p>
          <a:p>
            <a:pPr lvl="1"/>
            <a:r>
              <a:rPr lang="zh-CN" altLang="en-US" sz="2000" dirty="0" smtClean="0"/>
              <a:t>必须两个表达式均为</a:t>
            </a:r>
            <a:r>
              <a:rPr lang="en-US" altLang="zh-CN" sz="2000" dirty="0" smtClean="0"/>
              <a:t>True</a:t>
            </a:r>
            <a:r>
              <a:rPr lang="zh-CN" altLang="en-US" sz="2000" dirty="0" smtClean="0"/>
              <a:t>，结果才为</a:t>
            </a:r>
            <a:r>
              <a:rPr lang="en-US" altLang="zh-CN" sz="2000" dirty="0" smtClean="0"/>
              <a:t>True</a:t>
            </a:r>
            <a:endParaRPr lang="en-US" altLang="zh-CN" sz="2000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o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r</a:t>
            </a:r>
            <a:r>
              <a:rPr lang="en-US" altLang="zh-CN" sz="2400" dirty="0" smtClean="0"/>
              <a:t>  (</a:t>
            </a:r>
            <a:r>
              <a:rPr lang="zh-CN" altLang="en-US" sz="2400" dirty="0" smtClean="0"/>
              <a:t>或者</a:t>
            </a:r>
            <a:r>
              <a:rPr lang="en-US" altLang="zh-CN" sz="2400" dirty="0" smtClean="0"/>
              <a:t>)</a:t>
            </a:r>
          </a:p>
          <a:p>
            <a:pPr lvl="1"/>
            <a:r>
              <a:rPr lang="zh-CN" altLang="en-US" sz="2000" b="1" dirty="0"/>
              <a:t>表达式</a:t>
            </a:r>
            <a:r>
              <a:rPr lang="en-US" altLang="zh-CN" sz="2000" b="1" dirty="0"/>
              <a:t>1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or  </a:t>
            </a:r>
            <a:r>
              <a:rPr lang="zh-CN" altLang="en-US" sz="2000" b="1" dirty="0"/>
              <a:t>表达式</a:t>
            </a:r>
            <a:r>
              <a:rPr lang="en-US" altLang="zh-CN" sz="2000" b="1" dirty="0"/>
              <a:t>2</a:t>
            </a:r>
          </a:p>
          <a:p>
            <a:pPr lvl="1"/>
            <a:r>
              <a:rPr lang="zh-CN" altLang="en-US" sz="2000" dirty="0"/>
              <a:t>只要有一个表达式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True</a:t>
            </a:r>
            <a:r>
              <a:rPr lang="zh-CN" altLang="en-US" sz="2000" dirty="0" smtClean="0"/>
              <a:t>，结果就为</a:t>
            </a:r>
            <a:r>
              <a:rPr lang="en-US" altLang="zh-CN" sz="2000" dirty="0" smtClean="0"/>
              <a:t>True</a:t>
            </a:r>
          </a:p>
          <a:p>
            <a:pPr lvl="1"/>
            <a:r>
              <a:rPr lang="zh-CN" altLang="en-US" sz="2000" dirty="0" smtClean="0"/>
              <a:t>必须两个表达式均为</a:t>
            </a:r>
            <a:r>
              <a:rPr lang="en-US" altLang="zh-CN" sz="2000" dirty="0" smtClean="0"/>
              <a:t>False</a:t>
            </a:r>
            <a:r>
              <a:rPr lang="zh-CN" altLang="en-US" sz="2000" dirty="0" smtClean="0"/>
              <a:t>，结果才为</a:t>
            </a:r>
            <a:r>
              <a:rPr lang="en-US" altLang="zh-CN" sz="2000" dirty="0" smtClean="0"/>
              <a:t>False</a:t>
            </a:r>
            <a:endParaRPr lang="en-US" altLang="zh-CN" sz="2000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n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ot</a:t>
            </a:r>
            <a:r>
              <a:rPr lang="en-US" altLang="zh-CN" sz="2400" dirty="0" smtClean="0"/>
              <a:t>  (</a:t>
            </a:r>
            <a:r>
              <a:rPr lang="zh-CN" altLang="en-US" sz="2400" dirty="0" smtClean="0"/>
              <a:t>否定</a:t>
            </a:r>
            <a:r>
              <a:rPr lang="en-US" altLang="zh-CN" sz="2400" dirty="0" smtClean="0"/>
              <a:t>)</a:t>
            </a:r>
          </a:p>
          <a:p>
            <a:pPr lvl="1"/>
            <a:r>
              <a:rPr lang="en-US" altLang="zh-CN" sz="2000" b="1" dirty="0">
                <a:solidFill>
                  <a:srgbClr val="FF0000"/>
                </a:solidFill>
              </a:rPr>
              <a:t>n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ot  </a:t>
            </a:r>
            <a:r>
              <a:rPr lang="zh-CN" altLang="en-US" sz="2000" b="1" dirty="0" smtClean="0"/>
              <a:t>表达式</a:t>
            </a:r>
            <a:endParaRPr lang="en-US" altLang="zh-CN" sz="2000" b="1" dirty="0" smtClean="0"/>
          </a:p>
          <a:p>
            <a:pPr lvl="1"/>
            <a:r>
              <a:rPr lang="zh-CN" altLang="en-US" sz="2000" dirty="0" smtClean="0"/>
              <a:t>结果与表达式的布尔值相反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3353-9371-4039-B692-C669DE521740}" type="slidenum">
              <a:rPr lang="zh-CN" altLang="zh-CN" smtClean="0"/>
              <a:pPr/>
              <a:t>40</a:t>
            </a:fld>
            <a:endParaRPr lang="zh-CN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0D80E3-1299-5464-7CDE-E1E828B877DE}"/>
              </a:ext>
            </a:extLst>
          </p:cNvPr>
          <p:cNvSpPr txBox="1"/>
          <p:nvPr/>
        </p:nvSpPr>
        <p:spPr>
          <a:xfrm>
            <a:off x="6096001" y="676720"/>
            <a:ext cx="5032663" cy="707886"/>
          </a:xfrm>
          <a:prstGeom prst="rect">
            <a:avLst/>
          </a:prstGeom>
          <a:solidFill>
            <a:srgbClr val="FFFFCC"/>
          </a:solidFill>
          <a:ln w="635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逻辑运算符的优先</a:t>
            </a:r>
            <a:r>
              <a:rPr lang="zh-CN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级按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照</a:t>
            </a:r>
            <a:r>
              <a:rPr lang="zh-CN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高</a:t>
            </a:r>
            <a:r>
              <a:rPr lang="zh-CN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zh-CN" altLang="en-US" sz="2000" kern="100" dirty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低</a:t>
            </a:r>
            <a:r>
              <a:rPr lang="zh-CN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排</a:t>
            </a:r>
            <a:r>
              <a:rPr lang="zh-CN" altLang="zh-CN" sz="20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列是</a:t>
            </a:r>
            <a:r>
              <a:rPr lang="zh-CN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000" kern="100" dirty="0" smtClean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 smtClean="0"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ot &gt; and &gt; or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33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Group 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39700454"/>
              </p:ext>
            </p:extLst>
          </p:nvPr>
        </p:nvGraphicFramePr>
        <p:xfrm>
          <a:off x="1867772" y="250265"/>
          <a:ext cx="8424862" cy="2119948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and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表达式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表达式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2918" name="Group 38"/>
          <p:cNvGraphicFramePr>
            <a:graphicFrameLocks noGrp="1"/>
          </p:cNvGraphicFramePr>
          <p:nvPr>
            <p:ph idx="1"/>
            <p:extLst/>
          </p:nvPr>
        </p:nvGraphicFramePr>
        <p:xfrm>
          <a:off x="1867772" y="5236268"/>
          <a:ext cx="8424862" cy="1295400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not</a:t>
                      </a: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      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表达式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3051903" y="250266"/>
            <a:ext cx="1551709" cy="758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867773" y="579743"/>
            <a:ext cx="2735839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Group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444882"/>
              </p:ext>
            </p:extLst>
          </p:nvPr>
        </p:nvGraphicFramePr>
        <p:xfrm>
          <a:off x="1867767" y="2752159"/>
          <a:ext cx="8424862" cy="2119948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or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   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表达式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表达式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8" name="直接连接符 17"/>
          <p:cNvCxnSpPr/>
          <p:nvPr/>
        </p:nvCxnSpPr>
        <p:spPr>
          <a:xfrm>
            <a:off x="3051897" y="2752160"/>
            <a:ext cx="1551714" cy="758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867767" y="3081638"/>
            <a:ext cx="2735844" cy="429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650121" y="5223389"/>
            <a:ext cx="1953491" cy="656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09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短</a:t>
            </a:r>
            <a:r>
              <a:rPr lang="zh-CN" altLang="en-US" dirty="0" smtClean="0"/>
              <a:t>路运算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4412" y="1976582"/>
            <a:ext cx="8915400" cy="3777622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or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是个短路运算符，如果</a:t>
            </a:r>
            <a:r>
              <a:rPr lang="zh-CN" altLang="zh-CN" sz="3200" b="1" kern="1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左操作数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True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，则跳过右操作数的计算，直接得出结果为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True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。只有在左操作数为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False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时才会计算右操作数的值。</a:t>
            </a:r>
            <a:endParaRPr lang="en-US" altLang="zh-CN" sz="3200" kern="100" dirty="0"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and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也是个短路运算符，如果</a:t>
            </a:r>
            <a:r>
              <a:rPr lang="zh-CN" altLang="zh-CN" sz="3200" b="1" kern="1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左操作数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False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，则跳过右操作数的计算，直接得出结果为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False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。只有在左操作数为</a:t>
            </a:r>
            <a:r>
              <a:rPr lang="en-US" altLang="zh-CN" sz="3200" kern="100" dirty="0">
                <a:latin typeface="+mn-ea"/>
                <a:cs typeface="Times New Roman" panose="02020603050405020304" pitchFamily="18" charset="0"/>
              </a:rPr>
              <a:t>True</a:t>
            </a:r>
            <a:r>
              <a:rPr lang="zh-CN" altLang="zh-CN" sz="3200" kern="100" dirty="0">
                <a:latin typeface="+mn-ea"/>
                <a:cs typeface="Times New Roman" panose="02020603050405020304" pitchFamily="18" charset="0"/>
              </a:rPr>
              <a:t>时才会计算右操作数的值</a:t>
            </a:r>
            <a:r>
              <a:rPr lang="zh-CN" altLang="zh-CN" sz="3200" kern="100" dirty="0" smtClean="0">
                <a:latin typeface="+mn-ea"/>
                <a:cs typeface="Times New Roman" panose="02020603050405020304" pitchFamily="18" charset="0"/>
              </a:rPr>
              <a:t>。</a:t>
            </a:r>
            <a:r>
              <a:rPr lang="zh-CN" altLang="zh-CN" sz="4400" dirty="0" smtClean="0">
                <a:latin typeface="+mn-ea"/>
              </a:rPr>
              <a:t> </a:t>
            </a:r>
            <a:endParaRPr lang="zh-CN" altLang="zh-CN" sz="6000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9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2133599"/>
            <a:ext cx="8041510" cy="2272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15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968038-9069-3622-7816-6D57D9C71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6705" y="444995"/>
            <a:ext cx="9818915" cy="5965042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zh-CN" altLang="zh-CN" sz="4600" kern="100" dirty="0">
                <a:latin typeface="+mn-ea"/>
                <a:cs typeface="Times New Roman" panose="02020603050405020304" pitchFamily="18" charset="0"/>
              </a:rPr>
              <a:t>短路运算可以节省不必要的计算时间，而且</a:t>
            </a:r>
            <a:r>
              <a:rPr lang="en-US" altLang="zh-CN" sz="4600" kern="100" dirty="0">
                <a:latin typeface="+mn-ea"/>
                <a:cs typeface="Times New Roman" panose="02020603050405020304" pitchFamily="18" charset="0"/>
              </a:rPr>
              <a:t>Python</a:t>
            </a:r>
            <a:r>
              <a:rPr lang="zh-CN" altLang="zh-CN" sz="4600" kern="100" dirty="0">
                <a:latin typeface="+mn-ea"/>
                <a:cs typeface="Times New Roman" panose="02020603050405020304" pitchFamily="18" charset="0"/>
              </a:rPr>
              <a:t>会按照“最省事”的方式进行短路，以至于看上去违反了优先级次序</a:t>
            </a:r>
            <a:r>
              <a:rPr lang="zh-CN" altLang="zh-CN" sz="4600" kern="100" dirty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4600" kern="100" dirty="0"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zh-CN" sz="2800" kern="100" dirty="0" smtClean="0">
              <a:effectLst/>
              <a:latin typeface="宋体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a,b,c = 1,2,3</a:t>
            </a:r>
            <a:endParaRPr lang="zh-CN" altLang="zh-CN" sz="3300" kern="100" dirty="0">
              <a:solidFill>
                <a:srgbClr val="0000FF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3300" b="1" kern="10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a==1 </a:t>
            </a: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or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b==2 </a:t>
            </a: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c==3</a:t>
            </a:r>
            <a:endParaRPr lang="zh-CN" altLang="zh-CN" sz="3300" b="1" kern="100" dirty="0">
              <a:solidFill>
                <a:srgbClr val="0000FF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zh-CN" sz="3300" b="1" kern="100" dirty="0">
              <a:solidFill>
                <a:srgbClr val="C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这个例子中，</a:t>
            </a:r>
            <a:r>
              <a:rPr lang="en-US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300" b="1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b== </a:t>
            </a:r>
            <a:r>
              <a:rPr lang="en-US" altLang="zh-CN" sz="3300" b="1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 and c == </a:t>
            </a:r>
            <a:r>
              <a:rPr lang="en-US" altLang="zh-CN" sz="3300" b="1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zh-CN" sz="33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个被短路，并不会因为优先级高而先计算</a:t>
            </a:r>
            <a:r>
              <a:rPr lang="en-US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33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zh-CN" sz="3300" kern="100" dirty="0">
              <a:effectLst/>
              <a:latin typeface="DengXian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4500" kern="100" dirty="0">
                <a:latin typeface="+mn-ea"/>
                <a:cs typeface="Times New Roman" panose="02020603050405020304" pitchFamily="18" charset="0"/>
              </a:rPr>
              <a:t>证明方法是把上面的例子改写成下面的形式。</a:t>
            </a:r>
          </a:p>
          <a:p>
            <a:pPr marL="0" indent="0" algn="just">
              <a:buNone/>
            </a:pP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3300" b="1" kern="10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equal(x,v):</a:t>
            </a: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# 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定义一个比较相等函数</a:t>
            </a:r>
            <a:endParaRPr lang="zh-CN" altLang="zh-CN" sz="33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300" b="1" kern="10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print(x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	# 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如果函数被执行，先打印</a:t>
            </a:r>
            <a:endParaRPr lang="zh-CN" altLang="zh-CN" sz="33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300" kern="100" dirty="0" smtClean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300" b="1" kern="100" dirty="0" smtClean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return 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x == v</a:t>
            </a:r>
            <a:endParaRPr lang="zh-CN" altLang="zh-CN" sz="3300" kern="100" dirty="0">
              <a:solidFill>
                <a:srgbClr val="0000FF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33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kern="100" dirty="0"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&gt;&gt;&gt; 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a==1 </a:t>
            </a: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or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equal(b,2) </a:t>
            </a: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en-US" altLang="zh-CN" sz="3300" b="1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equal(c,3)</a:t>
            </a:r>
            <a:endParaRPr lang="zh-CN" altLang="zh-CN" sz="3300" b="1" kern="100" dirty="0">
              <a:solidFill>
                <a:srgbClr val="0000FF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300" b="1" kern="100" dirty="0">
                <a:solidFill>
                  <a:srgbClr val="C00000"/>
                </a:solidFill>
                <a:effectLst/>
                <a:latin typeface="宋体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True</a:t>
            </a:r>
            <a:endParaRPr lang="zh-CN" altLang="zh-CN" sz="3300" b="1" kern="100" dirty="0">
              <a:solidFill>
                <a:srgbClr val="C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equal(.)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并没有被执行，说明了</a:t>
            </a:r>
            <a:r>
              <a:rPr lang="en-US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equal(b,2) and equal(c,3)</a:t>
            </a:r>
            <a:r>
              <a:rPr lang="zh-CN" altLang="zh-CN" sz="33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全都被短路了。</a:t>
            </a:r>
            <a:endParaRPr lang="zh-CN" altLang="zh-CN" sz="33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8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</a:t>
            </a:r>
            <a:r>
              <a:rPr lang="zh-CN" altLang="en-US" dirty="0" smtClean="0"/>
              <a:t>运算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——</a:t>
            </a:r>
            <a:r>
              <a:rPr lang="zh-CN" altLang="en-US" dirty="0" smtClean="0"/>
              <a:t>运算结果为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或者</a:t>
            </a:r>
            <a:r>
              <a:rPr lang="en-US" altLang="zh-CN" dirty="0" smtClean="0"/>
              <a:t>False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87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</a:t>
            </a:r>
            <a:r>
              <a:rPr lang="zh-CN" altLang="en-US" dirty="0" smtClean="0"/>
              <a:t>系运算符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4899CD-687B-8958-574C-413519F4C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425513"/>
              </p:ext>
            </p:extLst>
          </p:nvPr>
        </p:nvGraphicFramePr>
        <p:xfrm>
          <a:off x="2098965" y="1918843"/>
          <a:ext cx="9548152" cy="4599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4310">
                  <a:extLst>
                    <a:ext uri="{9D8B030D-6E8A-4147-A177-3AD203B41FA5}">
                      <a16:colId xmlns:a16="http://schemas.microsoft.com/office/drawing/2014/main" val="1352800034"/>
                    </a:ext>
                  </a:extLst>
                </a:gridCol>
                <a:gridCol w="1831626">
                  <a:extLst>
                    <a:ext uri="{9D8B030D-6E8A-4147-A177-3AD203B41FA5}">
                      <a16:colId xmlns:a16="http://schemas.microsoft.com/office/drawing/2014/main" val="4169420828"/>
                    </a:ext>
                  </a:extLst>
                </a:gridCol>
                <a:gridCol w="6732216">
                  <a:extLst>
                    <a:ext uri="{9D8B030D-6E8A-4147-A177-3AD203B41FA5}">
                      <a16:colId xmlns:a16="http://schemas.microsoft.com/office/drawing/2014/main" val="105277413"/>
                    </a:ext>
                  </a:extLst>
                </a:gridCol>
              </a:tblGrid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运算符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描述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实例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4555139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&gt; 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大于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&gt;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smtClean="0">
                          <a:effectLst/>
                        </a:rPr>
                        <a:t>12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smtClean="0">
                          <a:effectLst/>
                        </a:rPr>
                        <a:t>False  </a:t>
                      </a:r>
                      <a:r>
                        <a:rPr lang="en-US" sz="1600" kern="100" dirty="0">
                          <a:effectLst/>
                        </a:rPr>
                        <a:t>,  '5'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&gt;</a:t>
                      </a:r>
                      <a:r>
                        <a:rPr lang="en-US" sz="1600" kern="100" dirty="0">
                          <a:effectLst/>
                        </a:rPr>
                        <a:t> '12'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2579771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&gt;=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大于或等于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'a'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&gt;=</a:t>
                      </a:r>
                      <a:r>
                        <a:rPr lang="en-US" sz="1600" kern="100" dirty="0">
                          <a:effectLst/>
                        </a:rPr>
                        <a:t> 'A'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  ,  'ab'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&gt;=</a:t>
                      </a:r>
                      <a:r>
                        <a:rPr lang="en-US" sz="1600" kern="100" dirty="0">
                          <a:effectLst/>
                        </a:rPr>
                        <a:t> 'a'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8512695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&lt; 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小于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&lt;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smtClean="0">
                          <a:effectLst/>
                        </a:rPr>
                        <a:t>12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altLang="zh-CN" sz="1600" kern="100" dirty="0" smtClean="0">
                          <a:effectLst/>
                        </a:rPr>
                        <a:t>True</a:t>
                      </a:r>
                      <a:r>
                        <a:rPr lang="en-US" sz="1600" kern="100" dirty="0" smtClean="0">
                          <a:effectLst/>
                        </a:rPr>
                        <a:t>  </a:t>
                      </a:r>
                      <a:r>
                        <a:rPr lang="en-US" sz="1600" kern="100" dirty="0">
                          <a:effectLst/>
                        </a:rPr>
                        <a:t>,  '5'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&lt;</a:t>
                      </a:r>
                      <a:r>
                        <a:rPr lang="en-US" sz="1600" kern="100" dirty="0">
                          <a:effectLst/>
                        </a:rPr>
                        <a:t> '12'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5611274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&lt;=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小于或等于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'a'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&lt;=</a:t>
                      </a:r>
                      <a:r>
                        <a:rPr lang="en-US" sz="1600" kern="100" dirty="0">
                          <a:effectLst/>
                        </a:rPr>
                        <a:t> 'A'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  ,  'ab'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&lt;=</a:t>
                      </a:r>
                      <a:r>
                        <a:rPr lang="en-US" sz="1600" kern="100" dirty="0">
                          <a:effectLst/>
                        </a:rPr>
                        <a:t> 'a'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7183720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==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等于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==</a:t>
                      </a:r>
                      <a:r>
                        <a:rPr lang="en-US" sz="1600" kern="100" dirty="0">
                          <a:effectLst/>
                        </a:rPr>
                        <a:t> 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  ,  '5'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==</a:t>
                      </a:r>
                      <a:r>
                        <a:rPr lang="en-US" sz="1600" kern="100" dirty="0">
                          <a:effectLst/>
                        </a:rPr>
                        <a:t> 5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4062821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!=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不等于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!=</a:t>
                      </a:r>
                      <a:r>
                        <a:rPr lang="en-US" sz="1600" kern="100" dirty="0">
                          <a:effectLst/>
                        </a:rPr>
                        <a:t> 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  ,   '5'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!=</a:t>
                      </a:r>
                      <a:r>
                        <a:rPr lang="en-US" sz="1600" kern="100" dirty="0">
                          <a:effectLst/>
                        </a:rPr>
                        <a:t> 5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9519507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is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等同于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altLang="zh-CN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is</a:t>
                      </a:r>
                      <a:r>
                        <a:rPr lang="en-US" sz="1600" kern="100" dirty="0" smtClean="0"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  ,  '5' </a:t>
                      </a:r>
                      <a:r>
                        <a:rPr lang="en-US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is</a:t>
                      </a:r>
                      <a:r>
                        <a:rPr lang="en-US" sz="1600" kern="100" dirty="0" smtClean="0"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5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False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93827706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is not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不等同于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is</a:t>
                      </a:r>
                      <a:r>
                        <a:rPr lang="en-US" sz="1600" b="1" kern="100" baseline="0" dirty="0" smtClean="0">
                          <a:solidFill>
                            <a:srgbClr val="0000FF"/>
                          </a:solidFill>
                          <a:effectLst/>
                        </a:rPr>
                        <a:t> not</a:t>
                      </a:r>
                      <a:r>
                        <a:rPr lang="en-US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2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  ,  '5' </a:t>
                      </a:r>
                      <a:r>
                        <a:rPr lang="en-US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is</a:t>
                      </a:r>
                      <a:r>
                        <a:rPr lang="en-US" sz="1600" b="1" kern="100" baseline="0" dirty="0" smtClean="0">
                          <a:solidFill>
                            <a:srgbClr val="0000FF"/>
                          </a:solidFill>
                          <a:effectLst/>
                        </a:rPr>
                        <a:t> not</a:t>
                      </a:r>
                      <a:r>
                        <a:rPr lang="en-US" sz="16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n-US" sz="1600" kern="100" dirty="0">
                          <a:effectLst/>
                        </a:rPr>
                        <a:t>5 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1243761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in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成员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5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in</a:t>
                      </a:r>
                      <a:r>
                        <a:rPr lang="en-US" sz="1600" kern="100" dirty="0">
                          <a:effectLst/>
                        </a:rPr>
                        <a:t> [1, 3, 5]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38850759"/>
                  </a:ext>
                </a:extLst>
              </a:tr>
              <a:tr h="418156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not in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非成员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2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not in </a:t>
                      </a:r>
                      <a:r>
                        <a:rPr lang="en-US" sz="1600" kern="100" dirty="0">
                          <a:effectLst/>
                        </a:rPr>
                        <a:t>[1, 3, 5] </a:t>
                      </a:r>
                      <a:r>
                        <a:rPr lang="zh-CN" sz="1600" kern="100" dirty="0">
                          <a:effectLst/>
                        </a:rPr>
                        <a:t>返回</a:t>
                      </a:r>
                      <a:r>
                        <a:rPr lang="en-US" sz="1600" kern="100" dirty="0">
                          <a:effectLst/>
                        </a:rPr>
                        <a:t> True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934484"/>
                  </a:ext>
                </a:extLst>
              </a:tr>
            </a:tbl>
          </a:graphicData>
        </a:graphic>
      </p:graphicFrame>
      <p:sp>
        <p:nvSpPr>
          <p:cNvPr id="5" name="云形标注 4"/>
          <p:cNvSpPr/>
          <p:nvPr/>
        </p:nvSpPr>
        <p:spPr>
          <a:xfrm>
            <a:off x="9010794" y="289591"/>
            <a:ext cx="2045133" cy="1501097"/>
          </a:xfrm>
          <a:prstGeom prst="cloudCallout">
            <a:avLst>
              <a:gd name="adj1" fmla="val -59314"/>
              <a:gd name="adj2" fmla="val 77431"/>
            </a:avLst>
          </a:prstGeom>
          <a:solidFill>
            <a:srgbClr val="FFFFCC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 smtClean="0">
                <a:solidFill>
                  <a:schemeClr val="tx1"/>
                </a:solidFill>
              </a:rPr>
              <a:t>数值比大小，字符比先后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0D80E3-1299-5464-7CDE-E1E828B877DE}"/>
              </a:ext>
            </a:extLst>
          </p:cNvPr>
          <p:cNvSpPr txBox="1"/>
          <p:nvPr/>
        </p:nvSpPr>
        <p:spPr>
          <a:xfrm>
            <a:off x="2693121" y="1411355"/>
            <a:ext cx="5032663" cy="400110"/>
          </a:xfrm>
          <a:prstGeom prst="rect">
            <a:avLst/>
          </a:prstGeom>
          <a:solidFill>
            <a:srgbClr val="FFFFCC"/>
          </a:solidFill>
          <a:ln w="635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000" dirty="0" smtClean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所有关系测试运算符的优先级相同。</a:t>
            </a:r>
            <a:endParaRPr lang="zh-CN" altLang="zh-CN" sz="20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73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69FEB53-F0D7-450C-964F-BD857A41B600}" type="slidenum">
              <a:rPr lang="en-US" altLang="zh-CN" sz="1400"/>
              <a:pPr eaLnBrk="1" hangingPunct="1"/>
              <a:t>47</a:t>
            </a:fld>
            <a:endParaRPr lang="en-US" altLang="zh-CN" sz="1400"/>
          </a:p>
        </p:txBody>
      </p:sp>
      <p:sp>
        <p:nvSpPr>
          <p:cNvPr id="58372" name="TextBox 4"/>
          <p:cNvSpPr txBox="1">
            <a:spLocks noChangeArrowheads="1"/>
          </p:cNvSpPr>
          <p:nvPr/>
        </p:nvSpPr>
        <p:spPr bwMode="auto">
          <a:xfrm>
            <a:off x="1608138" y="107950"/>
            <a:ext cx="87030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</a:rPr>
              <a:t>键盘上每个字符在计算机内部都存储为一个整数，这个整数值就是字符的</a:t>
            </a:r>
            <a:r>
              <a:rPr lang="en-US" altLang="zh-CN" sz="1800" b="1" dirty="0">
                <a:solidFill>
                  <a:srgbClr val="FF0000"/>
                </a:solidFill>
              </a:rPr>
              <a:t>ASCII</a:t>
            </a:r>
            <a:r>
              <a:rPr lang="zh-CN" altLang="en-US" sz="1800" b="1" dirty="0">
                <a:solidFill>
                  <a:srgbClr val="FF0000"/>
                </a:solidFill>
              </a:rPr>
              <a:t>码：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608138" y="549276"/>
            <a:ext cx="8951912" cy="6264275"/>
            <a:chOff x="84138" y="549275"/>
            <a:chExt cx="8951912" cy="6264275"/>
          </a:xfrm>
        </p:grpSpPr>
        <p:pic>
          <p:nvPicPr>
            <p:cNvPr id="5837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38" y="549275"/>
              <a:ext cx="8951912" cy="6264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3936" y="1484784"/>
              <a:ext cx="426757" cy="12544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2036861" y="658090"/>
            <a:ext cx="8094466" cy="369332"/>
          </a:xfrm>
          <a:prstGeom prst="rect">
            <a:avLst/>
          </a:prstGeom>
          <a:solidFill>
            <a:schemeClr val="accent1">
              <a:tint val="20000"/>
            </a:schemeClr>
          </a:solidFill>
          <a:ln w="31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zh-CN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常用字符</a:t>
            </a:r>
            <a:r>
              <a:rPr lang="zh-CN" altLang="zh-CN" b="1" kern="100" dirty="0" smtClean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kern="100" dirty="0" smtClean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大小</a:t>
            </a:r>
            <a:r>
              <a:rPr lang="zh-CN" altLang="zh-CN" b="1" kern="100" dirty="0" smtClean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</a:t>
            </a:r>
            <a:r>
              <a:rPr lang="zh-CN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系为：空字符 </a:t>
            </a:r>
            <a:r>
              <a:rPr lang="en-US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zh-CN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空格 </a:t>
            </a:r>
            <a:r>
              <a:rPr lang="en-US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 '0' ~ '9' &lt; 'A'~ 'Z' &lt; 'a'~ 'z' &lt; </a:t>
            </a:r>
            <a:r>
              <a:rPr lang="zh-CN" altLang="zh-CN" b="1" kern="100" dirty="0">
                <a:solidFill>
                  <a:srgbClr val="0000FF"/>
                </a:solidFill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汉字。</a:t>
            </a:r>
            <a:endParaRPr lang="zh-CN" altLang="zh-CN" b="1" kern="100" dirty="0">
              <a:solidFill>
                <a:srgbClr val="0000FF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1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</a:t>
            </a:r>
            <a:r>
              <a:rPr lang="en-US" altLang="zh-CN" dirty="0" err="1" smtClean="0"/>
              <a:t>rd</a:t>
            </a:r>
            <a:r>
              <a:rPr lang="en-US" altLang="zh-CN" dirty="0" smtClean="0"/>
              <a:t>( ) 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chr</a:t>
            </a:r>
            <a:r>
              <a:rPr lang="en-US" altLang="zh-CN" dirty="0" smtClean="0"/>
              <a:t>( 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宋体" pitchFamily="2" charset="-122"/>
              </a:rPr>
              <a:t>ord()和chr()是一对功能相反的</a:t>
            </a:r>
            <a:r>
              <a:rPr lang="zh-CN" altLang="zh-CN" dirty="0" smtClean="0">
                <a:latin typeface="宋体" pitchFamily="2" charset="-122"/>
              </a:rPr>
              <a:t>函数</a:t>
            </a:r>
            <a:endParaRPr lang="en-US" altLang="zh-CN" dirty="0" smtClean="0">
              <a:latin typeface="宋体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dirty="0" smtClean="0">
                <a:latin typeface="宋体" pitchFamily="2" charset="-122"/>
              </a:rPr>
              <a:t>ord</a:t>
            </a:r>
            <a:r>
              <a:rPr lang="zh-CN" altLang="zh-CN" dirty="0">
                <a:latin typeface="宋体" pitchFamily="2" charset="-122"/>
              </a:rPr>
              <a:t>()用来返回单个字符</a:t>
            </a:r>
            <a:r>
              <a:rPr lang="zh-CN" altLang="zh-CN" dirty="0" smtClean="0">
                <a:latin typeface="宋体" pitchFamily="2" charset="-122"/>
              </a:rPr>
              <a:t>的ASCII码</a:t>
            </a:r>
            <a:endParaRPr lang="en-US" altLang="zh-CN" dirty="0">
              <a:latin typeface="宋体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dirty="0" smtClean="0">
                <a:latin typeface="宋体" pitchFamily="2" charset="-122"/>
              </a:rPr>
              <a:t>chr()用来</a:t>
            </a:r>
            <a:r>
              <a:rPr lang="zh-CN" altLang="zh-CN" dirty="0">
                <a:latin typeface="宋体" pitchFamily="2" charset="-122"/>
              </a:rPr>
              <a:t>返回介于0到255之间的</a:t>
            </a:r>
            <a:r>
              <a:rPr lang="zh-CN" altLang="zh-CN" dirty="0" smtClean="0">
                <a:latin typeface="宋体" pitchFamily="2" charset="-122"/>
              </a:rPr>
              <a:t>某</a:t>
            </a:r>
            <a:r>
              <a:rPr lang="en-US" altLang="zh-CN" dirty="0" smtClean="0">
                <a:latin typeface="宋体" pitchFamily="2" charset="-122"/>
              </a:rPr>
              <a:t>ASCII</a:t>
            </a:r>
            <a:r>
              <a:rPr lang="zh-CN" altLang="en-US" dirty="0" smtClean="0">
                <a:latin typeface="宋体" pitchFamily="2" charset="-122"/>
              </a:rPr>
              <a:t>码</a:t>
            </a:r>
            <a:r>
              <a:rPr lang="zh-CN" altLang="zh-CN" dirty="0" smtClean="0">
                <a:latin typeface="宋体" pitchFamily="2" charset="-122"/>
              </a:rPr>
              <a:t>对应</a:t>
            </a:r>
            <a:r>
              <a:rPr lang="zh-CN" altLang="zh-CN" dirty="0">
                <a:latin typeface="宋体" pitchFamily="2" charset="-122"/>
              </a:rPr>
              <a:t>的</a:t>
            </a:r>
            <a:r>
              <a:rPr lang="zh-CN" altLang="zh-CN" dirty="0" smtClean="0">
                <a:latin typeface="宋体" pitchFamily="2" charset="-122"/>
              </a:rPr>
              <a:t>字符</a:t>
            </a:r>
            <a:r>
              <a:rPr lang="zh-CN" altLang="en-US" dirty="0" smtClean="0">
                <a:latin typeface="宋体" pitchFamily="2" charset="-122"/>
              </a:rPr>
              <a:t>。</a:t>
            </a:r>
            <a:endParaRPr lang="en-US" altLang="zh-CN" dirty="0" smtClean="0">
              <a:latin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300" y="3723658"/>
            <a:ext cx="2808312" cy="2757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615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大小写字母转换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1539892"/>
            <a:ext cx="8210899" cy="16233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377" y="2793108"/>
            <a:ext cx="1057275" cy="923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3791744" y="2054051"/>
            <a:ext cx="6264696" cy="55649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4656218"/>
            <a:ext cx="8208913" cy="16147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377" y="5826968"/>
            <a:ext cx="1038225" cy="91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1558926" y="4197414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9826402" y="4234484"/>
            <a:ext cx="742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002060"/>
                </a:solidFill>
              </a:rPr>
              <a:t>ASCII</a:t>
            </a:r>
            <a:r>
              <a:rPr lang="zh-CN" altLang="en-US" sz="1200" b="1" dirty="0">
                <a:solidFill>
                  <a:srgbClr val="002060"/>
                </a:solidFill>
              </a:rPr>
              <a:t>值</a:t>
            </a: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3075725" y="412597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5294511" y="4132327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7142575" y="4131744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9340406" y="4121028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2824901" y="3831594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‘A’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5069086" y="3831594"/>
            <a:ext cx="45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‘Z’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6922488" y="3837052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‘a’</a:t>
            </a: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9132161" y="3837052"/>
            <a:ext cx="425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‘z’</a:t>
            </a:r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9846839" y="3912364"/>
            <a:ext cx="5934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 </a:t>
            </a:r>
            <a:r>
              <a:rPr lang="zh-CN" altLang="en-US" sz="1400" b="1" dirty="0">
                <a:solidFill>
                  <a:srgbClr val="FF0000"/>
                </a:solidFill>
              </a:rPr>
              <a:t>字符</a:t>
            </a:r>
            <a:endParaRPr lang="en-US" altLang="zh-CN" sz="1400" b="1" dirty="0">
              <a:solidFill>
                <a:srgbClr val="FF0000"/>
              </a:solidFill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2720625" y="4239324"/>
            <a:ext cx="6848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 err="1">
                <a:solidFill>
                  <a:srgbClr val="000099"/>
                </a:solidFill>
              </a:rPr>
              <a:t>ord</a:t>
            </a:r>
            <a:r>
              <a:rPr lang="en-US" altLang="zh-CN" sz="1100" b="1" dirty="0">
                <a:solidFill>
                  <a:srgbClr val="000099"/>
                </a:solidFill>
              </a:rPr>
              <a:t>(‘A’)</a:t>
            </a:r>
          </a:p>
        </p:txBody>
      </p:sp>
      <p:sp>
        <p:nvSpPr>
          <p:cNvPr id="42" name="Line 32"/>
          <p:cNvSpPr>
            <a:spLocks noChangeShapeType="1"/>
          </p:cNvSpPr>
          <p:nvPr/>
        </p:nvSpPr>
        <p:spPr bwMode="auto">
          <a:xfrm flipV="1">
            <a:off x="3063027" y="4193983"/>
            <a:ext cx="2231485" cy="3431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 flipV="1">
            <a:off x="7147965" y="4197414"/>
            <a:ext cx="2192441" cy="2352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4952110" y="4241600"/>
            <a:ext cx="66877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 err="1">
                <a:solidFill>
                  <a:srgbClr val="000099"/>
                </a:solidFill>
              </a:rPr>
              <a:t>ord</a:t>
            </a:r>
            <a:r>
              <a:rPr lang="en-US" altLang="zh-CN" sz="1100" b="1" dirty="0">
                <a:solidFill>
                  <a:srgbClr val="000099"/>
                </a:solidFill>
              </a:rPr>
              <a:t>(‘Z’)</a:t>
            </a: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6783815" y="4235803"/>
            <a:ext cx="6607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 err="1">
                <a:solidFill>
                  <a:srgbClr val="000099"/>
                </a:solidFill>
              </a:rPr>
              <a:t>ord</a:t>
            </a:r>
            <a:r>
              <a:rPr lang="en-US" altLang="zh-CN" sz="1100" b="1" dirty="0">
                <a:solidFill>
                  <a:srgbClr val="000099"/>
                </a:solidFill>
              </a:rPr>
              <a:t>(‘a’)</a:t>
            </a:r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9043658" y="4245947"/>
            <a:ext cx="6527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100" b="1" dirty="0" err="1">
                <a:solidFill>
                  <a:srgbClr val="000099"/>
                </a:solidFill>
              </a:rPr>
              <a:t>ord</a:t>
            </a:r>
            <a:r>
              <a:rPr lang="en-US" altLang="zh-CN" sz="1100" b="1" dirty="0">
                <a:solidFill>
                  <a:srgbClr val="000099"/>
                </a:solidFill>
              </a:rPr>
              <a:t>(‘z’)</a:t>
            </a:r>
          </a:p>
        </p:txBody>
      </p:sp>
      <p:sp>
        <p:nvSpPr>
          <p:cNvPr id="47" name="椭圆 46"/>
          <p:cNvSpPr/>
          <p:nvPr/>
        </p:nvSpPr>
        <p:spPr>
          <a:xfrm>
            <a:off x="3822263" y="4150194"/>
            <a:ext cx="72008" cy="91280"/>
          </a:xfrm>
          <a:prstGeom prst="ellips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7950814" y="4149377"/>
            <a:ext cx="72008" cy="91280"/>
          </a:xfrm>
          <a:prstGeom prst="ellips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曲线连接符 49"/>
          <p:cNvCxnSpPr>
            <a:stCxn id="47" idx="7"/>
            <a:endCxn id="48" idx="1"/>
          </p:cNvCxnSpPr>
          <p:nvPr/>
        </p:nvCxnSpPr>
        <p:spPr>
          <a:xfrm rot="5400000" flipH="1" flipV="1">
            <a:off x="5922135" y="2124339"/>
            <a:ext cx="817" cy="4077633"/>
          </a:xfrm>
          <a:prstGeom prst="curvedConnector3">
            <a:avLst>
              <a:gd name="adj1" fmla="val 84191799"/>
            </a:avLst>
          </a:prstGeom>
          <a:ln w="19050">
            <a:solidFill>
              <a:srgbClr val="0070C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45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浮点数的等值比较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321358" y="1905000"/>
            <a:ext cx="8915400" cy="3777622"/>
          </a:xfrm>
        </p:spPr>
        <p:txBody>
          <a:bodyPr>
            <a:normAutofit/>
          </a:bodyPr>
          <a:lstStyle/>
          <a:p>
            <a:r>
              <a:rPr lang="zh-CN" altLang="zh-CN" sz="2000" kern="100" dirty="0">
                <a:latin typeface="+mn-ea"/>
                <a:cs typeface="Times New Roman" panose="02020603050405020304" pitchFamily="18" charset="0"/>
              </a:rPr>
              <a:t>浮点数比较是否相等时要注意：因为有精度误差，可能产生本应相等但比较结果却不相等的情况。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94" y="3072622"/>
            <a:ext cx="4486433" cy="25318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组合 9"/>
          <p:cNvGrpSpPr/>
          <p:nvPr/>
        </p:nvGrpSpPr>
        <p:grpSpPr>
          <a:xfrm>
            <a:off x="5788239" y="3396151"/>
            <a:ext cx="6132711" cy="1875974"/>
            <a:chOff x="5788239" y="3396151"/>
            <a:chExt cx="6132711" cy="1875974"/>
          </a:xfrm>
        </p:grpSpPr>
        <p:sp>
          <p:nvSpPr>
            <p:cNvPr id="8" name="右箭头 7"/>
            <p:cNvSpPr/>
            <p:nvPr/>
          </p:nvSpPr>
          <p:spPr>
            <a:xfrm>
              <a:off x="5788239" y="4022411"/>
              <a:ext cx="1258673" cy="623455"/>
            </a:xfrm>
            <a:prstGeom prst="rightArrow">
              <a:avLst>
                <a:gd name="adj1" fmla="val 73333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5645" y="3396151"/>
              <a:ext cx="4845305" cy="187597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2439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链式比较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/>
              <a:t>x </a:t>
            </a:r>
            <a:r>
              <a:rPr lang="en-US" altLang="zh-CN" sz="3200" dirty="0"/>
              <a:t>&lt; y &lt; </a:t>
            </a:r>
            <a:r>
              <a:rPr lang="en-US" altLang="zh-CN" sz="3200" dirty="0" smtClean="0"/>
              <a:t>z</a:t>
            </a:r>
            <a:endParaRPr lang="zh-CN" altLang="en-US" sz="3200" dirty="0"/>
          </a:p>
          <a:p>
            <a:pPr lvl="1"/>
            <a:r>
              <a:rPr lang="zh-CN" altLang="en-US" sz="2800" dirty="0"/>
              <a:t>相当</a:t>
            </a:r>
            <a:r>
              <a:rPr lang="zh-CN" altLang="en-US" sz="2800" dirty="0" smtClean="0"/>
              <a:t>于 </a:t>
            </a:r>
            <a:r>
              <a:rPr lang="en-US" altLang="zh-CN" sz="2800" dirty="0" smtClean="0"/>
              <a:t>x </a:t>
            </a:r>
            <a:r>
              <a:rPr lang="en-US" altLang="zh-CN" sz="2800" dirty="0"/>
              <a:t>&lt; y and y &lt; </a:t>
            </a:r>
            <a:r>
              <a:rPr lang="en-US" altLang="zh-CN" sz="2800" dirty="0" smtClean="0"/>
              <a:t>z</a:t>
            </a:r>
            <a:endParaRPr lang="zh-CN" altLang="en-US" sz="2800" dirty="0"/>
          </a:p>
          <a:p>
            <a:r>
              <a:rPr lang="en-US" altLang="zh-CN" sz="3200" dirty="0" smtClean="0"/>
              <a:t>x </a:t>
            </a:r>
            <a:r>
              <a:rPr lang="en-US" altLang="zh-CN" sz="3200" dirty="0"/>
              <a:t>&lt; y &gt; </a:t>
            </a:r>
            <a:r>
              <a:rPr lang="en-US" altLang="zh-CN" sz="3200" dirty="0" smtClean="0"/>
              <a:t>z</a:t>
            </a:r>
            <a:endParaRPr lang="zh-CN" altLang="en-US" sz="3200" dirty="0"/>
          </a:p>
          <a:p>
            <a:pPr lvl="1"/>
            <a:r>
              <a:rPr lang="zh-CN" altLang="en-US" sz="2800" dirty="0"/>
              <a:t>相当</a:t>
            </a:r>
            <a:r>
              <a:rPr lang="zh-CN" altLang="en-US" sz="2800" dirty="0" smtClean="0"/>
              <a:t>于 </a:t>
            </a:r>
            <a:r>
              <a:rPr lang="en-US" altLang="zh-CN" sz="2800" dirty="0" smtClean="0"/>
              <a:t>x </a:t>
            </a:r>
            <a:r>
              <a:rPr lang="en-US" altLang="zh-CN" sz="2800" dirty="0"/>
              <a:t>&lt; y and y &gt; </a:t>
            </a:r>
            <a:r>
              <a:rPr lang="en-US" altLang="zh-CN" sz="2800" dirty="0" smtClean="0"/>
              <a:t>z</a:t>
            </a:r>
            <a:endParaRPr lang="zh-CN" altLang="en-US" sz="2800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304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</a:t>
            </a:r>
            <a:r>
              <a:rPr lang="zh-CN" altLang="en-US" dirty="0" smtClean="0"/>
              <a:t>见的复合条件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84064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2800" dirty="0"/>
              <a:t>x</a:t>
            </a:r>
            <a:r>
              <a:rPr lang="zh-CN" altLang="en-US" sz="2800" dirty="0"/>
              <a:t>等于</a:t>
            </a:r>
            <a:r>
              <a:rPr lang="en-US" altLang="zh-CN" sz="2800" dirty="0"/>
              <a:t>2</a:t>
            </a:r>
            <a:r>
              <a:rPr lang="zh-CN" altLang="en-US" sz="2800" dirty="0"/>
              <a:t>与</a:t>
            </a:r>
            <a:r>
              <a:rPr lang="en-US" altLang="zh-CN" sz="2800" dirty="0"/>
              <a:t>y</a:t>
            </a:r>
            <a:r>
              <a:rPr lang="zh-CN" altLang="en-US" sz="2800" dirty="0"/>
              <a:t>等于</a:t>
            </a:r>
            <a:r>
              <a:rPr lang="en-US" altLang="zh-CN" sz="2800" dirty="0"/>
              <a:t>3</a:t>
            </a:r>
            <a:r>
              <a:rPr lang="zh-CN" altLang="en-US" sz="2800" dirty="0">
                <a:solidFill>
                  <a:srgbClr val="C00000"/>
                </a:solidFill>
              </a:rPr>
              <a:t>至少有一个</a:t>
            </a:r>
            <a:r>
              <a:rPr lang="zh-CN" altLang="en-US" sz="2800" dirty="0"/>
              <a:t>成立</a:t>
            </a:r>
            <a:endParaRPr lang="en-US" altLang="zh-CN" sz="2800" dirty="0"/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x</a:t>
            </a:r>
            <a:r>
              <a:rPr lang="en-US" altLang="zh-CN" sz="2200" dirty="0">
                <a:latin typeface="Comic Sans MS" panose="030F0702030302020204" pitchFamily="66" charset="0"/>
              </a:rPr>
              <a:t>==2 </a:t>
            </a:r>
            <a:r>
              <a:rPr lang="en-US" altLang="zh-CN" sz="2200" dirty="0">
                <a:solidFill>
                  <a:srgbClr val="0000FF"/>
                </a:solidFill>
                <a:latin typeface="Comic Sans MS" panose="030F0702030302020204" pitchFamily="66" charset="0"/>
              </a:rPr>
              <a:t>or</a:t>
            </a:r>
            <a:r>
              <a:rPr lang="en-US" altLang="zh-CN" sz="2200" dirty="0">
                <a:latin typeface="Comic Sans MS" panose="030F0702030302020204" pitchFamily="66" charset="0"/>
              </a:rPr>
              <a:t> y==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3</a:t>
            </a:r>
            <a:endParaRPr lang="en-US" altLang="zh-CN" sz="2200" dirty="0">
              <a:latin typeface="Comic Sans MS" panose="030F0702030302020204" pitchFamily="66" charset="0"/>
            </a:endParaRPr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(</a:t>
            </a:r>
            <a:r>
              <a:rPr lang="en-US" altLang="zh-CN" sz="2200" dirty="0">
                <a:latin typeface="Comic Sans MS" panose="030F0702030302020204" pitchFamily="66" charset="0"/>
              </a:rPr>
              <a:t>x==2) + (y==3)  != 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0     </a:t>
            </a:r>
            <a:endParaRPr lang="en-US" altLang="zh-CN" sz="2200" dirty="0">
              <a:latin typeface="Comic Sans MS" panose="030F0702030302020204" pitchFamily="66" charset="0"/>
            </a:endParaRPr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sum</a:t>
            </a:r>
            <a:r>
              <a:rPr lang="en-US" altLang="zh-CN" sz="2200" dirty="0">
                <a:latin typeface="Comic Sans MS" panose="030F0702030302020204" pitchFamily="66" charset="0"/>
              </a:rPr>
              <a:t>( [x==2, y==3] )  &gt; 0 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       # </a:t>
            </a:r>
            <a:r>
              <a:rPr lang="zh-CN" altLang="en-US" sz="2200" dirty="0">
                <a:latin typeface="Comic Sans MS" panose="030F0702030302020204" pitchFamily="66" charset="0"/>
              </a:rPr>
              <a:t>即 </a:t>
            </a:r>
            <a:r>
              <a:rPr lang="en-US" altLang="zh-CN" sz="2200" dirty="0">
                <a:latin typeface="Comic Sans MS" panose="030F0702030302020204" pitchFamily="66" charset="0"/>
              </a:rPr>
              <a:t>sum(.) </a:t>
            </a:r>
            <a:r>
              <a:rPr lang="zh-CN" altLang="en-US" sz="2200" dirty="0">
                <a:latin typeface="Comic Sans MS" panose="030F0702030302020204" pitchFamily="66" charset="0"/>
              </a:rPr>
              <a:t>等于 </a:t>
            </a:r>
            <a:r>
              <a:rPr lang="en-US" altLang="zh-CN" sz="2200" dirty="0">
                <a:latin typeface="Comic Sans MS" panose="030F0702030302020204" pitchFamily="66" charset="0"/>
              </a:rPr>
              <a:t>1</a:t>
            </a:r>
            <a:r>
              <a:rPr lang="zh-CN" altLang="en-US" sz="2200" dirty="0">
                <a:latin typeface="Comic Sans MS" panose="030F0702030302020204" pitchFamily="66" charset="0"/>
              </a:rPr>
              <a:t>、</a:t>
            </a:r>
            <a:r>
              <a:rPr lang="en-US" altLang="zh-CN" sz="2200" dirty="0">
                <a:latin typeface="Comic Sans MS" panose="030F0702030302020204" pitchFamily="66" charset="0"/>
              </a:rPr>
              <a:t>2</a:t>
            </a:r>
            <a:endParaRPr lang="en-US" altLang="zh-CN" sz="2400" dirty="0">
              <a:latin typeface="Comic Sans MS" panose="030F0702030302020204" pitchFamily="66" charset="0"/>
            </a:endParaRPr>
          </a:p>
          <a:p>
            <a:endParaRPr lang="en-US" altLang="zh-CN" sz="2800" dirty="0"/>
          </a:p>
          <a:p>
            <a:r>
              <a:rPr lang="en-US" altLang="zh-CN" sz="2800" dirty="0"/>
              <a:t>x</a:t>
            </a:r>
            <a:r>
              <a:rPr lang="zh-CN" altLang="en-US" sz="2800" dirty="0"/>
              <a:t>等于</a:t>
            </a:r>
            <a:r>
              <a:rPr lang="en-US" altLang="zh-CN" sz="2800" dirty="0"/>
              <a:t>2</a:t>
            </a:r>
            <a:r>
              <a:rPr lang="zh-CN" altLang="en-US" sz="2800" dirty="0"/>
              <a:t>与</a:t>
            </a:r>
            <a:r>
              <a:rPr lang="en-US" altLang="zh-CN" sz="2800" dirty="0"/>
              <a:t>y</a:t>
            </a:r>
            <a:r>
              <a:rPr lang="zh-CN" altLang="en-US" sz="2800" dirty="0"/>
              <a:t>等于</a:t>
            </a:r>
            <a:r>
              <a:rPr lang="en-US" altLang="zh-CN" sz="2800" dirty="0"/>
              <a:t>3</a:t>
            </a:r>
            <a:r>
              <a:rPr lang="zh-CN" altLang="en-US" sz="2800" dirty="0">
                <a:solidFill>
                  <a:srgbClr val="C00000"/>
                </a:solidFill>
              </a:rPr>
              <a:t>两个都</a:t>
            </a:r>
            <a:r>
              <a:rPr lang="zh-CN" altLang="en-US" sz="2800" dirty="0"/>
              <a:t>成立</a:t>
            </a:r>
            <a:endParaRPr lang="en-US" altLang="zh-CN" sz="2800" dirty="0"/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x</a:t>
            </a:r>
            <a:r>
              <a:rPr lang="en-US" altLang="zh-CN" sz="2200" dirty="0">
                <a:latin typeface="Comic Sans MS" panose="030F0702030302020204" pitchFamily="66" charset="0"/>
              </a:rPr>
              <a:t>==2 </a:t>
            </a:r>
            <a:r>
              <a:rPr lang="en-US" altLang="zh-CN" sz="2200" dirty="0">
                <a:solidFill>
                  <a:srgbClr val="0000FF"/>
                </a:solidFill>
                <a:latin typeface="Comic Sans MS" panose="030F0702030302020204" pitchFamily="66" charset="0"/>
              </a:rPr>
              <a:t>and</a:t>
            </a:r>
            <a:r>
              <a:rPr lang="en-US" altLang="zh-CN" sz="2200" dirty="0">
                <a:latin typeface="Comic Sans MS" panose="030F0702030302020204" pitchFamily="66" charset="0"/>
              </a:rPr>
              <a:t> y==3 </a:t>
            </a:r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(</a:t>
            </a:r>
            <a:r>
              <a:rPr lang="en-US" altLang="zh-CN" sz="2200" dirty="0">
                <a:latin typeface="Comic Sans MS" panose="030F0702030302020204" pitchFamily="66" charset="0"/>
              </a:rPr>
              <a:t>x==2) * (y==3)  != 0 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 </a:t>
            </a:r>
            <a:endParaRPr lang="en-US" altLang="zh-CN" sz="2200" dirty="0">
              <a:latin typeface="Comic Sans MS" panose="030F0702030302020204" pitchFamily="66" charset="0"/>
            </a:endParaRPr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(</a:t>
            </a:r>
            <a:r>
              <a:rPr lang="en-US" altLang="zh-CN" sz="2200" dirty="0">
                <a:latin typeface="Comic Sans MS" panose="030F0702030302020204" pitchFamily="66" charset="0"/>
              </a:rPr>
              <a:t>x==2) + (y==3) == 2 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 </a:t>
            </a:r>
            <a:endParaRPr lang="en-US" altLang="zh-CN" sz="2200" dirty="0">
              <a:latin typeface="Comic Sans MS" panose="030F0702030302020204" pitchFamily="66" charset="0"/>
            </a:endParaRPr>
          </a:p>
          <a:p>
            <a:pPr lvl="1"/>
            <a:r>
              <a:rPr lang="en-US" altLang="zh-CN" sz="2200" dirty="0" smtClean="0">
                <a:latin typeface="Comic Sans MS" panose="030F0702030302020204" pitchFamily="66" charset="0"/>
              </a:rPr>
              <a:t>sum</a:t>
            </a:r>
            <a:r>
              <a:rPr lang="en-US" altLang="zh-CN" sz="2200" dirty="0">
                <a:latin typeface="Comic Sans MS" panose="030F0702030302020204" pitchFamily="66" charset="0"/>
              </a:rPr>
              <a:t>( [x==2, y==3] )  == 2 </a:t>
            </a:r>
            <a:r>
              <a:rPr lang="en-US" altLang="zh-CN" sz="2200" dirty="0" smtClean="0">
                <a:latin typeface="Comic Sans MS" panose="030F0702030302020204" pitchFamily="66" charset="0"/>
              </a:rPr>
              <a:t>     # </a:t>
            </a:r>
            <a:r>
              <a:rPr lang="zh-CN" altLang="en-US" sz="2200" dirty="0">
                <a:latin typeface="Comic Sans MS" panose="030F0702030302020204" pitchFamily="66" charset="0"/>
              </a:rPr>
              <a:t>即 </a:t>
            </a:r>
            <a:r>
              <a:rPr lang="en-US" altLang="zh-CN" sz="2200" dirty="0">
                <a:latin typeface="Comic Sans MS" panose="030F0702030302020204" pitchFamily="66" charset="0"/>
              </a:rPr>
              <a:t>sum(.) </a:t>
            </a:r>
            <a:r>
              <a:rPr lang="zh-CN" altLang="en-US" sz="2200" dirty="0">
                <a:latin typeface="Comic Sans MS" panose="030F0702030302020204" pitchFamily="66" charset="0"/>
              </a:rPr>
              <a:t>等于 </a:t>
            </a:r>
            <a:r>
              <a:rPr lang="en-US" altLang="zh-CN" sz="2200" dirty="0">
                <a:latin typeface="Comic Sans MS" panose="030F0702030302020204" pitchFamily="66" charset="0"/>
              </a:rPr>
              <a:t>2 </a:t>
            </a:r>
          </a:p>
          <a:p>
            <a:endParaRPr lang="en-US" altLang="zh-CN" sz="2800" dirty="0"/>
          </a:p>
          <a:p>
            <a:r>
              <a:rPr lang="en-US" altLang="zh-CN" sz="2800" dirty="0"/>
              <a:t>x</a:t>
            </a:r>
            <a:r>
              <a:rPr lang="zh-CN" altLang="en-US" sz="2800" dirty="0"/>
              <a:t>等于</a:t>
            </a:r>
            <a:r>
              <a:rPr lang="en-US" altLang="zh-CN" sz="2800" dirty="0"/>
              <a:t>2</a:t>
            </a:r>
            <a:r>
              <a:rPr lang="zh-CN" altLang="en-US" sz="2800" dirty="0"/>
              <a:t>与</a:t>
            </a:r>
            <a:r>
              <a:rPr lang="en-US" altLang="zh-CN" sz="2800" dirty="0"/>
              <a:t>y</a:t>
            </a:r>
            <a:r>
              <a:rPr lang="zh-CN" altLang="en-US" sz="2800" dirty="0"/>
              <a:t>等于</a:t>
            </a:r>
            <a:r>
              <a:rPr lang="en-US" altLang="zh-CN" sz="2800" dirty="0"/>
              <a:t>3</a:t>
            </a:r>
            <a:r>
              <a:rPr lang="zh-CN" altLang="en-US" sz="2800" dirty="0">
                <a:solidFill>
                  <a:srgbClr val="C00000"/>
                </a:solidFill>
              </a:rPr>
              <a:t>有且只有一个</a:t>
            </a:r>
            <a:r>
              <a:rPr lang="zh-CN" altLang="en-US" sz="2800" dirty="0"/>
              <a:t>成立</a:t>
            </a:r>
            <a:endParaRPr lang="en-US" altLang="zh-CN" sz="2800" dirty="0"/>
          </a:p>
          <a:p>
            <a:pPr lvl="1"/>
            <a:r>
              <a:rPr lang="en-US" altLang="zh-CN" sz="2400" dirty="0" smtClean="0">
                <a:latin typeface="Comic Sans MS" panose="030F0702030302020204" pitchFamily="66" charset="0"/>
              </a:rPr>
              <a:t>(</a:t>
            </a:r>
            <a:r>
              <a:rPr lang="en-US" altLang="zh-CN" sz="2400" dirty="0">
                <a:latin typeface="Comic Sans MS" panose="030F0702030302020204" pitchFamily="66" charset="0"/>
              </a:rPr>
              <a:t>x==2 </a:t>
            </a:r>
            <a:r>
              <a:rPr lang="en-US" altLang="zh-CN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and</a:t>
            </a:r>
            <a:r>
              <a:rPr lang="en-US" altLang="zh-CN" sz="2400" dirty="0">
                <a:latin typeface="Comic Sans MS" panose="030F0702030302020204" pitchFamily="66" charset="0"/>
              </a:rPr>
              <a:t> y!=3) </a:t>
            </a:r>
            <a:r>
              <a:rPr lang="en-US" altLang="zh-CN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or</a:t>
            </a:r>
            <a:r>
              <a:rPr lang="en-US" altLang="zh-CN" sz="2400" dirty="0">
                <a:latin typeface="Comic Sans MS" panose="030F0702030302020204" pitchFamily="66" charset="0"/>
              </a:rPr>
              <a:t> (x!=2 </a:t>
            </a:r>
            <a:r>
              <a:rPr lang="en-US" altLang="zh-CN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and</a:t>
            </a:r>
            <a:r>
              <a:rPr lang="en-US" altLang="zh-CN" sz="2400" dirty="0">
                <a:latin typeface="Comic Sans MS" panose="030F0702030302020204" pitchFamily="66" charset="0"/>
              </a:rPr>
              <a:t> y==3) :</a:t>
            </a:r>
            <a:r>
              <a:rPr lang="en-US" altLang="zh-CN" sz="2400" dirty="0"/>
              <a:t> </a:t>
            </a:r>
          </a:p>
          <a:p>
            <a:pPr lvl="1"/>
            <a:r>
              <a:rPr lang="en-US" altLang="zh-CN" sz="2400" dirty="0" smtClean="0">
                <a:latin typeface="Comic Sans MS" panose="030F0702030302020204" pitchFamily="66" charset="0"/>
              </a:rPr>
              <a:t>(</a:t>
            </a:r>
            <a:r>
              <a:rPr lang="en-US" altLang="zh-CN" sz="2400" dirty="0">
                <a:latin typeface="Comic Sans MS" panose="030F0702030302020204" pitchFamily="66" charset="0"/>
              </a:rPr>
              <a:t>x==2) != (y==3) </a:t>
            </a:r>
          </a:p>
          <a:p>
            <a:pPr lvl="1"/>
            <a:r>
              <a:rPr lang="en-US" altLang="zh-CN" sz="2400" dirty="0" smtClean="0">
                <a:latin typeface="Comic Sans MS" panose="030F0702030302020204" pitchFamily="66" charset="0"/>
              </a:rPr>
              <a:t>(x</a:t>
            </a:r>
            <a:r>
              <a:rPr lang="en-US" altLang="zh-CN" sz="2400" dirty="0">
                <a:latin typeface="Comic Sans MS" panose="030F0702030302020204" pitchFamily="66" charset="0"/>
              </a:rPr>
              <a:t>==2) + (y==3) == 1 </a:t>
            </a:r>
          </a:p>
          <a:p>
            <a:pPr lvl="1"/>
            <a:r>
              <a:rPr lang="en-US" altLang="zh-CN" sz="2400" dirty="0" smtClean="0">
                <a:latin typeface="Comic Sans MS" panose="030F0702030302020204" pitchFamily="66" charset="0"/>
              </a:rPr>
              <a:t>sum</a:t>
            </a:r>
            <a:r>
              <a:rPr lang="en-US" altLang="zh-CN" sz="2400" dirty="0">
                <a:latin typeface="Comic Sans MS" panose="030F0702030302020204" pitchFamily="66" charset="0"/>
              </a:rPr>
              <a:t>( [x==2, y==3] ) == 1 </a:t>
            </a:r>
            <a:r>
              <a:rPr lang="en-US" altLang="zh-CN" sz="2400" dirty="0" smtClean="0">
                <a:latin typeface="Comic Sans MS" panose="030F0702030302020204" pitchFamily="66" charset="0"/>
              </a:rPr>
              <a:t>    # </a:t>
            </a:r>
            <a:r>
              <a:rPr lang="zh-CN" altLang="en-US" sz="2400" dirty="0">
                <a:latin typeface="Comic Sans MS" panose="030F0702030302020204" pitchFamily="66" charset="0"/>
              </a:rPr>
              <a:t>即 </a:t>
            </a:r>
            <a:r>
              <a:rPr lang="en-US" altLang="zh-CN" sz="2400" dirty="0">
                <a:latin typeface="Comic Sans MS" panose="030F0702030302020204" pitchFamily="66" charset="0"/>
              </a:rPr>
              <a:t>sum(.) </a:t>
            </a:r>
            <a:r>
              <a:rPr lang="zh-CN" altLang="en-US" sz="2400" dirty="0">
                <a:latin typeface="Comic Sans MS" panose="030F0702030302020204" pitchFamily="66" charset="0"/>
              </a:rPr>
              <a:t>等于 </a:t>
            </a:r>
            <a:r>
              <a:rPr lang="en-US" altLang="zh-CN" sz="2400" dirty="0"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3353-9371-4039-B692-C669DE521740}" type="slidenum">
              <a:rPr lang="zh-CN" altLang="zh-CN" smtClean="0"/>
              <a:pPr/>
              <a:t>52</a:t>
            </a:fld>
            <a:endParaRPr lang="zh-CN" altLang="zh-CN"/>
          </a:p>
        </p:txBody>
      </p:sp>
      <p:sp>
        <p:nvSpPr>
          <p:cNvPr id="5" name="矩形 4"/>
          <p:cNvSpPr/>
          <p:nvPr/>
        </p:nvSpPr>
        <p:spPr>
          <a:xfrm>
            <a:off x="2398216" y="5398210"/>
            <a:ext cx="4792293" cy="125488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98216" y="1926117"/>
            <a:ext cx="4792293" cy="88165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398216" y="3491138"/>
            <a:ext cx="4792293" cy="125488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46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zh-CN" sz="3600" dirty="0" smtClean="0">
                <a:solidFill>
                  <a:srgbClr val="0000FF"/>
                </a:solidFill>
              </a:rPr>
              <a:t>(x</a:t>
            </a:r>
            <a:r>
              <a:rPr lang="en-US" altLang="zh-CN" sz="3600" dirty="0">
                <a:solidFill>
                  <a:srgbClr val="0000FF"/>
                </a:solidFill>
              </a:rPr>
              <a:t>==2) </a:t>
            </a:r>
            <a:r>
              <a:rPr lang="en-US" altLang="zh-CN" sz="3600" dirty="0">
                <a:solidFill>
                  <a:schemeClr val="tx1"/>
                </a:solidFill>
              </a:rPr>
              <a:t>!=</a:t>
            </a:r>
            <a:r>
              <a:rPr lang="en-US" altLang="zh-CN" sz="3600" dirty="0">
                <a:solidFill>
                  <a:srgbClr val="0000FF"/>
                </a:solidFill>
              </a:rPr>
              <a:t> </a:t>
            </a:r>
            <a:r>
              <a:rPr lang="en-US" altLang="zh-CN" sz="3600" dirty="0">
                <a:solidFill>
                  <a:srgbClr val="C00000"/>
                </a:solidFill>
              </a:rPr>
              <a:t>(y==3) </a:t>
            </a:r>
            <a:endParaRPr lang="zh-CN" altLang="en-US" sz="2800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2676144"/>
          <a:ext cx="8229600" cy="2023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0402995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698018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78661478"/>
                    </a:ext>
                  </a:extLst>
                </a:gridCol>
              </a:tblGrid>
              <a:tr h="674624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x</a:t>
                      </a:r>
                      <a:r>
                        <a:rPr lang="zh-CN" altLang="en-US" dirty="0" smtClean="0"/>
                        <a:t>的取值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y</a:t>
                      </a:r>
                      <a:r>
                        <a:rPr lang="zh-CN" altLang="en-US" dirty="0" smtClean="0"/>
                        <a:t>的取值</a:t>
                      </a:r>
                      <a:endParaRPr lang="zh-CN" altLang="en-US" dirty="0"/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x </a:t>
                      </a:r>
                      <a:r>
                        <a:rPr lang="zh-CN" altLang="en-US" sz="2000" dirty="0" smtClean="0"/>
                        <a:t>为 </a:t>
                      </a:r>
                      <a:r>
                        <a:rPr lang="en-US" altLang="zh-CN" sz="2000" dirty="0" smtClean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x</a:t>
                      </a:r>
                      <a:r>
                        <a:rPr lang="en-US" altLang="zh-CN" sz="2000" baseline="0" dirty="0" smtClean="0"/>
                        <a:t> </a:t>
                      </a:r>
                      <a:r>
                        <a:rPr lang="zh-CN" altLang="en-US" sz="2000" baseline="0" dirty="0" smtClean="0"/>
                        <a:t>不为 </a:t>
                      </a:r>
                      <a:r>
                        <a:rPr lang="en-US" altLang="zh-CN" sz="2000" dirty="0" smtClean="0"/>
                        <a:t>2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7143"/>
                  </a:ext>
                </a:extLst>
              </a:tr>
              <a:tr h="6746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y </a:t>
                      </a:r>
                      <a:r>
                        <a:rPr lang="zh-CN" altLang="en-US" sz="2000" dirty="0" smtClean="0"/>
                        <a:t>为 </a:t>
                      </a:r>
                      <a:r>
                        <a:rPr lang="en-US" altLang="zh-CN" sz="2000" dirty="0" smtClean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rgbClr val="0000FF"/>
                          </a:solidFill>
                        </a:rPr>
                        <a:t>True</a:t>
                      </a:r>
                      <a:r>
                        <a:rPr lang="en-US" altLang="zh-CN" dirty="0" smtClean="0"/>
                        <a:t> != 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True 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False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0000FF"/>
                          </a:solidFill>
                        </a:rPr>
                        <a:t>False</a:t>
                      </a:r>
                      <a:r>
                        <a:rPr lang="en-US" altLang="zh-CN" dirty="0" smtClean="0"/>
                        <a:t> != 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True</a:t>
                      </a:r>
                      <a:r>
                        <a:rPr lang="en-US" altLang="zh-CN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baseline="0" dirty="0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True</a:t>
                      </a:r>
                      <a:endParaRPr lang="zh-CN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173566"/>
                  </a:ext>
                </a:extLst>
              </a:tr>
              <a:tr h="6746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y </a:t>
                      </a:r>
                      <a:r>
                        <a:rPr lang="zh-CN" altLang="en-US" sz="2000" dirty="0" smtClean="0"/>
                        <a:t>不为 </a:t>
                      </a:r>
                      <a:r>
                        <a:rPr lang="en-US" altLang="zh-CN" sz="2000" dirty="0" smtClean="0"/>
                        <a:t>3</a:t>
                      </a:r>
                      <a:endParaRPr lang="zh-CN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0000FF"/>
                          </a:solidFill>
                        </a:rPr>
                        <a:t>True</a:t>
                      </a:r>
                      <a:r>
                        <a:rPr lang="en-US" altLang="zh-CN" dirty="0" smtClean="0"/>
                        <a:t> != 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False 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True</a:t>
                      </a:r>
                      <a:endParaRPr lang="zh-CN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rgbClr val="0000FF"/>
                          </a:solidFill>
                        </a:rPr>
                        <a:t>False</a:t>
                      </a:r>
                      <a:r>
                        <a:rPr lang="en-US" altLang="zh-CN" dirty="0" smtClean="0"/>
                        <a:t> != 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False 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False</a:t>
                      </a:r>
                      <a:endParaRPr lang="zh-CN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335376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3353-9371-4039-B692-C669DE521740}" type="slidenum">
              <a:rPr lang="zh-CN" altLang="zh-CN" smtClean="0"/>
              <a:pPr/>
              <a:t>53</a:t>
            </a:fld>
            <a:endParaRPr lang="zh-CN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6641731" y="3381756"/>
            <a:ext cx="3366239" cy="1284732"/>
            <a:chOff x="5117731" y="3381756"/>
            <a:chExt cx="3366239" cy="1284732"/>
          </a:xfrm>
        </p:grpSpPr>
        <p:sp>
          <p:nvSpPr>
            <p:cNvPr id="6" name="椭圆 5"/>
            <p:cNvSpPr/>
            <p:nvPr/>
          </p:nvSpPr>
          <p:spPr>
            <a:xfrm>
              <a:off x="7871322" y="3381756"/>
              <a:ext cx="612648" cy="612648"/>
            </a:xfrm>
            <a:prstGeom prst="ellipse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117731" y="4053840"/>
              <a:ext cx="612648" cy="612648"/>
            </a:xfrm>
            <a:prstGeom prst="ellipse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180266" y="5589190"/>
            <a:ext cx="561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两个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分别对</a:t>
            </a:r>
            <a:r>
              <a:rPr lang="zh-CN" altLang="en-US" dirty="0"/>
              <a:t>应</a:t>
            </a:r>
            <a:r>
              <a:rPr lang="en-US" altLang="zh-CN" dirty="0"/>
              <a:t>x==2</a:t>
            </a:r>
            <a:r>
              <a:rPr lang="zh-CN" altLang="en-US" dirty="0"/>
              <a:t>与</a:t>
            </a:r>
            <a:r>
              <a:rPr lang="en-US" altLang="zh-CN" dirty="0"/>
              <a:t>y==3</a:t>
            </a:r>
            <a:r>
              <a:rPr lang="zh-CN" altLang="en-US" dirty="0"/>
              <a:t>不能同时成立的情况。</a:t>
            </a:r>
          </a:p>
        </p:txBody>
      </p:sp>
    </p:spTree>
    <p:extLst>
      <p:ext uri="{BB962C8B-B14F-4D97-AF65-F5344CB8AC3E}">
        <p14:creationId xmlns:p14="http://schemas.microsoft.com/office/powerpoint/2010/main" val="337812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</a:t>
            </a:r>
            <a:r>
              <a:rPr lang="zh-CN" altLang="en-US" dirty="0" smtClean="0"/>
              <a:t>赋值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22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C45819B-DA7E-6544-A02D-9BD3E0F6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65567"/>
              </p:ext>
            </p:extLst>
          </p:nvPr>
        </p:nvGraphicFramePr>
        <p:xfrm>
          <a:off x="2092776" y="935179"/>
          <a:ext cx="9095015" cy="50257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7597">
                  <a:extLst>
                    <a:ext uri="{9D8B030D-6E8A-4147-A177-3AD203B41FA5}">
                      <a16:colId xmlns:a16="http://schemas.microsoft.com/office/drawing/2014/main" val="2568870968"/>
                    </a:ext>
                  </a:extLst>
                </a:gridCol>
                <a:gridCol w="3904632">
                  <a:extLst>
                    <a:ext uri="{9D8B030D-6E8A-4147-A177-3AD203B41FA5}">
                      <a16:colId xmlns:a16="http://schemas.microsoft.com/office/drawing/2014/main" val="1908641567"/>
                    </a:ext>
                  </a:extLst>
                </a:gridCol>
                <a:gridCol w="4252786">
                  <a:extLst>
                    <a:ext uri="{9D8B030D-6E8A-4147-A177-3AD203B41FA5}">
                      <a16:colId xmlns:a16="http://schemas.microsoft.com/office/drawing/2014/main" val="721858562"/>
                    </a:ext>
                  </a:extLst>
                </a:gridCol>
              </a:tblGrid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运算符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描述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实例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7643659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+=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加法赋值运算符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+=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+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18045154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-=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减法赋值运算符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-=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-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5157736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*=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乘法赋值运算符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*=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*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7850560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/=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浮点除法赋值运算符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/=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/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15648417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//=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整除赋值运算符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//=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//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4735839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%=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取模赋值运算符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%=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%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3276519"/>
                  </a:ext>
                </a:extLst>
              </a:tr>
              <a:tr h="628218"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**=</a:t>
                      </a:r>
                      <a:endParaRPr lang="zh-CN" sz="40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幂赋值运算符</a:t>
                      </a:r>
                      <a:endParaRPr lang="zh-CN" sz="2800" kern="10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 dirty="0">
                          <a:effectLst/>
                        </a:rPr>
                        <a:t>a 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effectLst/>
                        </a:rPr>
                        <a:t>**=</a:t>
                      </a:r>
                      <a:r>
                        <a:rPr lang="en-US" sz="1600" kern="100" dirty="0">
                          <a:effectLst/>
                        </a:rPr>
                        <a:t> b </a:t>
                      </a:r>
                      <a:r>
                        <a:rPr lang="zh-CN" sz="1600" kern="100" dirty="0">
                          <a:effectLst/>
                        </a:rPr>
                        <a:t>等价于 </a:t>
                      </a:r>
                      <a:r>
                        <a:rPr lang="en-US" sz="1600" kern="100" dirty="0">
                          <a:effectLst/>
                        </a:rPr>
                        <a:t>a = a ** b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655752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8ECC9B6-0041-33E7-6BE1-298D4B733D00}"/>
              </a:ext>
            </a:extLst>
          </p:cNvPr>
          <p:cNvSpPr txBox="1"/>
          <p:nvPr/>
        </p:nvSpPr>
        <p:spPr>
          <a:xfrm>
            <a:off x="2503711" y="6250068"/>
            <a:ext cx="8273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所有复合赋值运算符的优先级和赋值运算</a:t>
            </a:r>
            <a:r>
              <a:rPr lang="zh-CN" altLang="zh-CN" sz="24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符</a:t>
            </a:r>
            <a:r>
              <a:rPr lang="zh-CN" altLang="en-US" sz="24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400" kern="100" dirty="0" smtClean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样。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13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表达式及运算优先级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58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表达式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表达式由运算符和参与运算的数</a:t>
            </a:r>
            <a:r>
              <a:rPr lang="zh-CN" altLang="en-US" dirty="0" smtClean="0"/>
              <a:t>（即操</a:t>
            </a:r>
            <a:r>
              <a:rPr lang="zh-CN" altLang="en-US" dirty="0"/>
              <a:t>作数）组成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操</a:t>
            </a:r>
            <a:r>
              <a:rPr lang="zh-CN" altLang="en-US" dirty="0"/>
              <a:t>作数可以是常量、变量，甚至可以是函数的返回值。</a:t>
            </a:r>
          </a:p>
          <a:p>
            <a:r>
              <a:rPr lang="zh-CN" altLang="en-US" dirty="0"/>
              <a:t>按照运算符的种类，表达式可以分成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算术表</a:t>
            </a:r>
            <a:r>
              <a:rPr lang="zh-CN" altLang="en-US" dirty="0"/>
              <a:t>达</a:t>
            </a:r>
            <a:r>
              <a:rPr lang="zh-CN" altLang="en-US" dirty="0" smtClean="0"/>
              <a:t>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</a:t>
            </a:r>
            <a:r>
              <a:rPr lang="zh-CN" altLang="en-US" dirty="0"/>
              <a:t>系表达</a:t>
            </a:r>
            <a:r>
              <a:rPr lang="zh-CN" altLang="en-US" dirty="0" smtClean="0"/>
              <a:t>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逻</a:t>
            </a:r>
            <a:r>
              <a:rPr lang="zh-CN" altLang="en-US" dirty="0"/>
              <a:t>辑表达</a:t>
            </a:r>
            <a:r>
              <a:rPr lang="zh-CN" altLang="en-US" dirty="0" smtClean="0"/>
              <a:t>式</a:t>
            </a:r>
            <a:r>
              <a:rPr lang="en-US" altLang="zh-CN" dirty="0"/>
              <a:t> </a:t>
            </a:r>
            <a:r>
              <a:rPr lang="zh-CN" altLang="en-US" smtClean="0"/>
              <a:t>等</a:t>
            </a:r>
            <a:endParaRPr lang="zh-CN" altLang="en-US" dirty="0"/>
          </a:p>
          <a:p>
            <a:r>
              <a:rPr lang="zh-CN" altLang="en-US" dirty="0"/>
              <a:t>多种运算符混合运算形成复合表达式，按照运算符的优先级和结合性依次进行运算。</a:t>
            </a:r>
          </a:p>
          <a:p>
            <a:r>
              <a:rPr lang="zh-CN" altLang="en-US" dirty="0"/>
              <a:t>当存在圆括号时，运算次序会发生变化。</a:t>
            </a:r>
          </a:p>
        </p:txBody>
      </p:sp>
    </p:spTree>
    <p:extLst>
      <p:ext uri="{BB962C8B-B14F-4D97-AF65-F5344CB8AC3E}">
        <p14:creationId xmlns:p14="http://schemas.microsoft.com/office/powerpoint/2010/main" val="70705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运算符的优先级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1860"/>
              </p:ext>
            </p:extLst>
          </p:nvPr>
        </p:nvGraphicFramePr>
        <p:xfrm>
          <a:off x="1991544" y="1268761"/>
          <a:ext cx="9784820" cy="5137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9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0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优先级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运算符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名称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**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指数运算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+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-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一元正、负运算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*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/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//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%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乘、除、整除、余数运算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+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-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二元加、减运算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&lt;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&lt;=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&gt;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&gt;=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==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!=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in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not in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is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is not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关系运算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not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逻辑否运算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and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逻辑且运算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056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or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逻辑或运算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936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/>
                        <a:t>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+=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-=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*=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/=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//=</a:t>
                      </a:r>
                      <a:r>
                        <a:rPr lang="zh-CN" altLang="en-US" sz="1800" b="1" dirty="0" smtClean="0"/>
                        <a:t>、</a:t>
                      </a:r>
                      <a:r>
                        <a:rPr lang="en-US" altLang="zh-CN" sz="1800" b="1" dirty="0" smtClean="0"/>
                        <a:t>%=</a:t>
                      </a:r>
                      <a:endParaRPr lang="zh-CN" alt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赋值运算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93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00" dirty="0" smtClean="0">
                          <a:effectLst/>
                        </a:rPr>
                        <a:t> expr1 </a:t>
                      </a:r>
                      <a:r>
                        <a:rPr lang="en-US" altLang="zh-CN" sz="18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if</a:t>
                      </a:r>
                      <a:r>
                        <a:rPr lang="en-US" altLang="zh-CN" sz="1800" b="1" kern="100" dirty="0" smtClean="0">
                          <a:effectLst/>
                        </a:rPr>
                        <a:t> condition </a:t>
                      </a:r>
                      <a:r>
                        <a:rPr lang="en-US" altLang="zh-CN" sz="18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else</a:t>
                      </a:r>
                      <a:r>
                        <a:rPr lang="en-US" altLang="zh-CN" sz="1800" b="1" kern="100" dirty="0" smtClean="0">
                          <a:effectLst/>
                        </a:rPr>
                        <a:t> expr2</a:t>
                      </a:r>
                      <a:endParaRPr lang="zh-CN" altLang="zh-CN" sz="1800" b="1" kern="100" dirty="0" smtClean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条件运算</a:t>
                      </a:r>
                      <a:r>
                        <a:rPr lang="en-US" altLang="zh-CN" sz="16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三目</a:t>
                      </a:r>
                      <a:r>
                        <a:rPr lang="en-US" altLang="zh-CN" sz="16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1600" kern="100" dirty="0" smtClean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34740196"/>
                  </a:ext>
                </a:extLst>
              </a:tr>
              <a:tr h="372936"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00" dirty="0" smtClean="0">
                          <a:effectLst/>
                        </a:rPr>
                        <a:t> </a:t>
                      </a:r>
                      <a:r>
                        <a:rPr lang="en-US" altLang="zh-CN" sz="18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lambda</a:t>
                      </a:r>
                      <a:r>
                        <a:rPr lang="en-US" altLang="zh-CN" sz="1800" b="1" kern="100" dirty="0" smtClean="0">
                          <a:effectLst/>
                        </a:rPr>
                        <a:t> arguments </a:t>
                      </a:r>
                      <a:r>
                        <a:rPr lang="en-US" altLang="zh-CN" sz="18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:</a:t>
                      </a:r>
                      <a:r>
                        <a:rPr lang="en-US" altLang="zh-CN" sz="1800" b="1" kern="100" dirty="0" smtClean="0">
                          <a:effectLst/>
                        </a:rPr>
                        <a:t> expression</a:t>
                      </a:r>
                      <a:endParaRPr lang="zh-CN" altLang="zh-CN" sz="1800" b="1" kern="100" dirty="0" smtClean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kern="100" dirty="0" smtClean="0">
                          <a:effectLst/>
                        </a:rPr>
                        <a:t>Lambda</a:t>
                      </a:r>
                      <a:r>
                        <a:rPr lang="zh-CN" altLang="en-US" sz="1600" kern="100" dirty="0" smtClean="0">
                          <a:effectLst/>
                        </a:rPr>
                        <a:t>表达式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9054639"/>
                  </a:ext>
                </a:extLst>
              </a:tr>
              <a:tr h="372936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1800" b="1" kern="1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 </a:t>
                      </a:r>
                      <a:r>
                        <a:rPr kumimoji="0" lang="en-US" altLang="zh-CN" sz="1800" b="1" kern="1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kumimoji="0" lang="zh-CN" sz="18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列表</a:t>
                      </a:r>
                      <a:r>
                        <a:rPr lang="zh-CN" altLang="en-US" sz="1600" kern="100" smtClean="0">
                          <a:effectLst/>
                          <a:latin typeface="+mn-lt"/>
                          <a:ea typeface="+mn-ea"/>
                          <a:cs typeface="+mn-cs"/>
                        </a:rPr>
                        <a:t>推</a:t>
                      </a:r>
                      <a:r>
                        <a:rPr lang="zh-CN" altLang="en-US" sz="1600" kern="100" smtClean="0">
                          <a:effectLst/>
                          <a:latin typeface="+mn-lt"/>
                          <a:ea typeface="+mn-ea"/>
                          <a:cs typeface="+mn-cs"/>
                        </a:rPr>
                        <a:t>导式</a:t>
                      </a:r>
                      <a:endParaRPr lang="zh-CN" sz="2800" kern="10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0238431"/>
                  </a:ext>
                </a:extLst>
              </a:tr>
              <a:tr h="372936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括号</a:t>
                      </a:r>
                      <a:r>
                        <a:rPr lang="en-US" altLang="zh-CN" sz="1600" b="1" dirty="0" smtClean="0">
                          <a:solidFill>
                            <a:srgbClr val="FF0000"/>
                          </a:solidFill>
                        </a:rPr>
                        <a:t>( )</a:t>
                      </a:r>
                      <a:r>
                        <a:rPr lang="zh-CN" altLang="en-US" sz="1600" b="1" dirty="0" smtClean="0"/>
                        <a:t>改变运算的优先级</a:t>
                      </a:r>
                      <a:endParaRPr lang="zh-CN" altLang="en-US" sz="16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20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下箭头 5"/>
          <p:cNvSpPr/>
          <p:nvPr/>
        </p:nvSpPr>
        <p:spPr>
          <a:xfrm rot="10800000">
            <a:off x="2415103" y="1754637"/>
            <a:ext cx="1080120" cy="4175107"/>
          </a:xfrm>
          <a:prstGeom prst="downArrow">
            <a:avLst/>
          </a:prstGeom>
          <a:gradFill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690335" y="2057895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0335" y="5406394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低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3353-9371-4039-B692-C669DE521740}" type="slidenum">
              <a:rPr lang="zh-CN" altLang="zh-CN" smtClean="0"/>
              <a:pPr/>
              <a:t>58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5731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25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r>
              <a:rPr lang="en-US" altLang="zh-CN" dirty="0"/>
              <a:t>3</a:t>
            </a:r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 smtClean="0"/>
              <a:t>用</a:t>
            </a:r>
            <a:r>
              <a:rPr lang="zh-CN" altLang="zh-CN" dirty="0"/>
              <a:t>户输入一个三位自然数，计</a:t>
            </a:r>
            <a:r>
              <a:rPr lang="zh-CN" altLang="zh-CN" dirty="0" smtClean="0"/>
              <a:t>算</a:t>
            </a:r>
            <a:r>
              <a:rPr lang="zh-CN" altLang="en-US" dirty="0" smtClean="0"/>
              <a:t>各位数字之和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界面如下图，蓝色为程序输出，黑色为用户输入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346" y="3361422"/>
            <a:ext cx="6301908" cy="1773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260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</a:t>
            </a:r>
            <a:r>
              <a:rPr lang="zh-CN" altLang="en-US" dirty="0" smtClean="0"/>
              <a:t>业</a:t>
            </a:r>
            <a:r>
              <a:rPr lang="en-US" altLang="zh-CN" dirty="0" smtClean="0"/>
              <a:t>3-2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计算三角形面积，保留小数点后</a:t>
            </a:r>
            <a:r>
              <a:rPr lang="en-US" altLang="zh-CN" dirty="0"/>
              <a:t>2</a:t>
            </a:r>
            <a:r>
              <a:rPr lang="zh-CN" altLang="en-US" dirty="0" smtClean="0"/>
              <a:t>位。</a:t>
            </a:r>
            <a:endParaRPr lang="en-US" altLang="zh-CN" dirty="0" smtClean="0"/>
          </a:p>
          <a:p>
            <a:r>
              <a:rPr lang="zh-CN" altLang="en-US" dirty="0" smtClean="0"/>
              <a:t>界面如下图，蓝色为程序输出，黑色为用户输入。假设用户输入的三边可以构成三角形。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10" y="3716853"/>
            <a:ext cx="9071821" cy="1732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8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END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513</TotalTime>
  <Words>3899</Words>
  <Application>Microsoft Office PowerPoint</Application>
  <PresentationFormat>宽屏</PresentationFormat>
  <Paragraphs>552</Paragraphs>
  <Slides>62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6" baseType="lpstr">
      <vt:lpstr>DengXian</vt:lpstr>
      <vt:lpstr>DengXian</vt:lpstr>
      <vt:lpstr>宋体</vt:lpstr>
      <vt:lpstr>幼圆</vt:lpstr>
      <vt:lpstr>Arial</vt:lpstr>
      <vt:lpstr>Cambria Math</vt:lpstr>
      <vt:lpstr>Century Gothic</vt:lpstr>
      <vt:lpstr>Comic Sans MS</vt:lpstr>
      <vt:lpstr>Times New Roman</vt:lpstr>
      <vt:lpstr>Wingdings</vt:lpstr>
      <vt:lpstr>Wingdings 2</vt:lpstr>
      <vt:lpstr>Wingdings 3</vt:lpstr>
      <vt:lpstr>丝状</vt:lpstr>
      <vt:lpstr>公式</vt:lpstr>
      <vt:lpstr>Python程序设计（AIB110002）  — 03 简单数据类型及运算</vt:lpstr>
      <vt:lpstr>提纲</vt:lpstr>
      <vt:lpstr>Python数据类型  Python作为一种擅长数据处理的程序设计语言，有着丰富的数据类型。包括但不限于：</vt:lpstr>
      <vt:lpstr>整数</vt:lpstr>
      <vt:lpstr>整数的写法</vt:lpstr>
      <vt:lpstr>PowerPoint 演示文稿</vt:lpstr>
      <vt:lpstr>用print()显示整数的不同进制</vt:lpstr>
      <vt:lpstr>进制的转换函数</vt:lpstr>
      <vt:lpstr>另一种显示整数不同进制的方法</vt:lpstr>
      <vt:lpstr>从字符串转换成整数 方法1：eval()</vt:lpstr>
      <vt:lpstr>从字符串转换成整数 方法2：int()</vt:lpstr>
      <vt:lpstr>进制的转换</vt:lpstr>
      <vt:lpstr>函数 int(.) 的另一用法</vt:lpstr>
      <vt:lpstr>课堂练习 —— 提示：使用eval()或者int()</vt:lpstr>
      <vt:lpstr>浮点数</vt:lpstr>
      <vt:lpstr>浮点数的写法</vt:lpstr>
      <vt:lpstr>浮点数输出</vt:lpstr>
      <vt:lpstr>从字符串转换成浮点数：eval()或float()</vt:lpstr>
      <vt:lpstr>eval() v.s. float()</vt:lpstr>
      <vt:lpstr>复数的写法</vt:lpstr>
      <vt:lpstr>课堂练习</vt:lpstr>
      <vt:lpstr>算术运算</vt:lpstr>
      <vt:lpstr>算术运算符</vt:lpstr>
      <vt:lpstr>算术运算符</vt:lpstr>
      <vt:lpstr>内置数学函数</vt:lpstr>
      <vt:lpstr>math模块</vt:lpstr>
      <vt:lpstr>math模块:三角函数和角度转换 </vt:lpstr>
      <vt:lpstr>注意运算结果的数据类型</vt:lpstr>
      <vt:lpstr>课堂练习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布尔值</vt:lpstr>
      <vt:lpstr>布尔值参加算术运算</vt:lpstr>
      <vt:lpstr>逻辑值与数值相互转换 —— bool()、int()、float()</vt:lpstr>
      <vt:lpstr>逻辑运算符</vt:lpstr>
      <vt:lpstr>PowerPoint 演示文稿</vt:lpstr>
      <vt:lpstr>短路运算</vt:lpstr>
      <vt:lpstr>示例</vt:lpstr>
      <vt:lpstr>PowerPoint 演示文稿</vt:lpstr>
      <vt:lpstr>关系运算</vt:lpstr>
      <vt:lpstr>关系运算符</vt:lpstr>
      <vt:lpstr>PowerPoint 演示文稿</vt:lpstr>
      <vt:lpstr>ord( ) 与chr( )</vt:lpstr>
      <vt:lpstr>大小写字母转换</vt:lpstr>
      <vt:lpstr>浮点数的等值比较</vt:lpstr>
      <vt:lpstr>链式比较</vt:lpstr>
      <vt:lpstr>常见的复合条件</vt:lpstr>
      <vt:lpstr>(x==2) != (y==3) </vt:lpstr>
      <vt:lpstr>复合赋值</vt:lpstr>
      <vt:lpstr>PowerPoint 演示文稿</vt:lpstr>
      <vt:lpstr>表达式及运算优先级</vt:lpstr>
      <vt:lpstr>表达式</vt:lpstr>
      <vt:lpstr>运算符的优先级</vt:lpstr>
      <vt:lpstr>作业</vt:lpstr>
      <vt:lpstr>作业3-1</vt:lpstr>
      <vt:lpstr>作业3-2</vt:lpstr>
      <vt:lpstr>END</vt:lpstr>
    </vt:vector>
  </TitlesOfParts>
  <Company>F.D.U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river</dc:creator>
  <cp:lastModifiedBy>river</cp:lastModifiedBy>
  <cp:revision>228</cp:revision>
  <dcterms:created xsi:type="dcterms:W3CDTF">2024-09-08T02:29:15Z</dcterms:created>
  <dcterms:modified xsi:type="dcterms:W3CDTF">2024-09-13T06:07:30Z</dcterms:modified>
</cp:coreProperties>
</file>